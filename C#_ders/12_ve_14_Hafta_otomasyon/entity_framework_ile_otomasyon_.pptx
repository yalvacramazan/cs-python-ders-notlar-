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2" r:id="rId7"/>
    <p:sldId id="261"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 id="321" r:id="rId66"/>
    <p:sldId id="322" r:id="rId67"/>
    <p:sldId id="323" r:id="rId68"/>
    <p:sldId id="324" r:id="rId69"/>
    <p:sldId id="325" r:id="rId70"/>
    <p:sldId id="326" r:id="rId71"/>
    <p:sldId id="327" r:id="rId72"/>
    <p:sldId id="328" r:id="rId73"/>
    <p:sldId id="329" r:id="rId74"/>
    <p:sldId id="330" r:id="rId75"/>
    <p:sldId id="331" r:id="rId76"/>
    <p:sldId id="332" r:id="rId77"/>
    <p:sldId id="333" r:id="rId78"/>
    <p:sldId id="334" r:id="rId79"/>
    <p:sldId id="335" r:id="rId80"/>
    <p:sldId id="336" r:id="rId81"/>
    <p:sldId id="337" r:id="rId82"/>
    <p:sldId id="338" r:id="rId83"/>
    <p:sldId id="339" r:id="rId84"/>
    <p:sldId id="340" r:id="rId85"/>
    <p:sldId id="341" r:id="rId86"/>
    <p:sldId id="342" r:id="rId87"/>
    <p:sldId id="343" r:id="rId88"/>
    <p:sldId id="344" r:id="rId89"/>
    <p:sldId id="345" r:id="rId90"/>
    <p:sldId id="346" r:id="rId91"/>
    <p:sldId id="347" r:id="rId92"/>
    <p:sldId id="348" r:id="rId93"/>
    <p:sldId id="349" r:id="rId94"/>
    <p:sldId id="350" r:id="rId95"/>
    <p:sldId id="351" r:id="rId96"/>
    <p:sldId id="352" r:id="rId97"/>
    <p:sldId id="353" r:id="rId98"/>
    <p:sldId id="354" r:id="rId99"/>
    <p:sldId id="355" r:id="rId100"/>
    <p:sldId id="356" r:id="rId101"/>
    <p:sldId id="357" r:id="rId102"/>
    <p:sldId id="358" r:id="rId103"/>
    <p:sldId id="359" r:id="rId104"/>
    <p:sldId id="360" r:id="rId105"/>
    <p:sldId id="361" r:id="rId106"/>
    <p:sldId id="362" r:id="rId107"/>
    <p:sldId id="363" r:id="rId108"/>
    <p:sldId id="364" r:id="rId109"/>
    <p:sldId id="365" r:id="rId110"/>
    <p:sldId id="366" r:id="rId111"/>
    <p:sldId id="367" r:id="rId112"/>
    <p:sldId id="368" r:id="rId113"/>
    <p:sldId id="369" r:id="rId114"/>
    <p:sldId id="370" r:id="rId115"/>
    <p:sldId id="371" r:id="rId116"/>
    <p:sldId id="372" r:id="rId117"/>
    <p:sldId id="373" r:id="rId118"/>
    <p:sldId id="374" r:id="rId119"/>
    <p:sldId id="375" r:id="rId120"/>
    <p:sldId id="376" r:id="rId121"/>
    <p:sldId id="377" r:id="rId122"/>
    <p:sldId id="378" r:id="rId123"/>
    <p:sldId id="379" r:id="rId124"/>
    <p:sldId id="380" r:id="rId125"/>
    <p:sldId id="381" r:id="rId126"/>
    <p:sldId id="382" r:id="rId127"/>
    <p:sldId id="383" r:id="rId128"/>
    <p:sldId id="384" r:id="rId129"/>
    <p:sldId id="385" r:id="rId130"/>
    <p:sldId id="386" r:id="rId131"/>
    <p:sldId id="387" r:id="rId132"/>
    <p:sldId id="388" r:id="rId133"/>
    <p:sldId id="389" r:id="rId134"/>
    <p:sldId id="390" r:id="rId135"/>
    <p:sldId id="391" r:id="rId136"/>
    <p:sldId id="392" r:id="rId137"/>
    <p:sldId id="393" r:id="rId138"/>
    <p:sldId id="394" r:id="rId139"/>
    <p:sldId id="395" r:id="rId140"/>
    <p:sldId id="396" r:id="rId141"/>
    <p:sldId id="397" r:id="rId142"/>
    <p:sldId id="398" r:id="rId143"/>
    <p:sldId id="399" r:id="rId144"/>
    <p:sldId id="400" r:id="rId145"/>
    <p:sldId id="401" r:id="rId146"/>
    <p:sldId id="402" r:id="rId147"/>
    <p:sldId id="403" r:id="rId148"/>
    <p:sldId id="404" r:id="rId149"/>
    <p:sldId id="431"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2" r:id="rId177"/>
    <p:sldId id="433" r:id="rId178"/>
    <p:sldId id="434" r:id="rId179"/>
    <p:sldId id="435" r:id="rId180"/>
    <p:sldId id="436" r:id="rId181"/>
    <p:sldId id="437" r:id="rId182"/>
    <p:sldId id="438" r:id="rId183"/>
    <p:sldId id="439" r:id="rId184"/>
    <p:sldId id="440" r:id="rId185"/>
    <p:sldId id="441" r:id="rId186"/>
    <p:sldId id="443" r:id="rId187"/>
    <p:sldId id="442" r:id="rId188"/>
    <p:sldId id="444" r:id="rId189"/>
    <p:sldId id="445" r:id="rId190"/>
    <p:sldId id="446" r:id="rId191"/>
    <p:sldId id="447" r:id="rId192"/>
    <p:sldId id="448" r:id="rId193"/>
    <p:sldId id="449" r:id="rId194"/>
    <p:sldId id="450" r:id="rId195"/>
    <p:sldId id="451" r:id="rId196"/>
    <p:sldId id="458" r:id="rId197"/>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821"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190" Type="http://schemas.openxmlformats.org/officeDocument/2006/relationships/slide" Target="slides/slide189.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theme" Target="theme/theme1.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tableStyles" Target="tableStyles.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presProps" Target="presProps.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12C7D00-E5FB-6C2F-16A0-916E5447ED7C}"/>
              </a:ext>
            </a:extLst>
          </p:cNvPr>
          <p:cNvSpPr>
            <a:spLocks noGrp="1"/>
          </p:cNvSpPr>
          <p:nvPr>
            <p:ph type="ctrTitle"/>
          </p:nvPr>
        </p:nvSpPr>
        <p:spPr>
          <a:xfrm>
            <a:off x="1524000" y="1122363"/>
            <a:ext cx="9144000" cy="2387600"/>
          </a:xfrm>
        </p:spPr>
        <p:txBody>
          <a:bodyPr anchor="b"/>
          <a:lstStyle>
            <a:lvl1pPr algn="ctr">
              <a:defRPr sz="6000"/>
            </a:lvl1pPr>
          </a:lstStyle>
          <a:p>
            <a:r>
              <a:rPr lang="tr-TR"/>
              <a:t>Asıl başlık stilini düzenlemek için tıklayın</a:t>
            </a:r>
          </a:p>
        </p:txBody>
      </p:sp>
      <p:sp>
        <p:nvSpPr>
          <p:cNvPr id="3" name="Alt Başlık 2">
            <a:extLst>
              <a:ext uri="{FF2B5EF4-FFF2-40B4-BE49-F238E27FC236}">
                <a16:creationId xmlns:a16="http://schemas.microsoft.com/office/drawing/2014/main" id="{878E0D7C-4E2C-06C5-55FF-4868C562CC4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p>
        </p:txBody>
      </p:sp>
      <p:sp>
        <p:nvSpPr>
          <p:cNvPr id="4" name="Veri Yer Tutucusu 3">
            <a:extLst>
              <a:ext uri="{FF2B5EF4-FFF2-40B4-BE49-F238E27FC236}">
                <a16:creationId xmlns:a16="http://schemas.microsoft.com/office/drawing/2014/main" id="{AC5AA32A-BD88-0857-94FE-2949DCD404C8}"/>
              </a:ext>
            </a:extLst>
          </p:cNvPr>
          <p:cNvSpPr>
            <a:spLocks noGrp="1"/>
          </p:cNvSpPr>
          <p:nvPr>
            <p:ph type="dt" sz="half" idx="10"/>
          </p:nvPr>
        </p:nvSpPr>
        <p:spPr/>
        <p:txBody>
          <a:bodyPr/>
          <a:lstStyle/>
          <a:p>
            <a:fld id="{8C37002D-F6DD-4C19-8519-9F4F98981C13}" type="datetimeFigureOut">
              <a:rPr lang="tr-TR" smtClean="0"/>
              <a:t>4.05.2025</a:t>
            </a:fld>
            <a:endParaRPr lang="tr-TR"/>
          </a:p>
        </p:txBody>
      </p:sp>
      <p:sp>
        <p:nvSpPr>
          <p:cNvPr id="5" name="Alt Bilgi Yer Tutucusu 4">
            <a:extLst>
              <a:ext uri="{FF2B5EF4-FFF2-40B4-BE49-F238E27FC236}">
                <a16:creationId xmlns:a16="http://schemas.microsoft.com/office/drawing/2014/main" id="{723FCA97-4559-D97E-B27D-E56EEC810638}"/>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AACC6EA4-02C6-042C-84FB-5C359FE027B0}"/>
              </a:ext>
            </a:extLst>
          </p:cNvPr>
          <p:cNvSpPr>
            <a:spLocks noGrp="1"/>
          </p:cNvSpPr>
          <p:nvPr>
            <p:ph type="sldNum" sz="quarter" idx="12"/>
          </p:nvPr>
        </p:nvSpPr>
        <p:spPr/>
        <p:txBody>
          <a:bodyPr/>
          <a:lstStyle/>
          <a:p>
            <a:fld id="{DAED6D29-C9BD-44FD-8323-69BF0961AEDA}" type="slidenum">
              <a:rPr lang="tr-TR" smtClean="0"/>
              <a:t>‹#›</a:t>
            </a:fld>
            <a:endParaRPr lang="tr-TR"/>
          </a:p>
        </p:txBody>
      </p:sp>
    </p:spTree>
    <p:extLst>
      <p:ext uri="{BB962C8B-B14F-4D97-AF65-F5344CB8AC3E}">
        <p14:creationId xmlns:p14="http://schemas.microsoft.com/office/powerpoint/2010/main" val="29810276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1377860-73B3-670B-1059-69052B37D5CA}"/>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590E0680-060C-7862-5868-7BAD03B1DAB6}"/>
              </a:ext>
            </a:extLst>
          </p:cNvPr>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63F9AB56-CB6C-416C-044A-3EFFCA9ACB9C}"/>
              </a:ext>
            </a:extLst>
          </p:cNvPr>
          <p:cNvSpPr>
            <a:spLocks noGrp="1"/>
          </p:cNvSpPr>
          <p:nvPr>
            <p:ph type="dt" sz="half" idx="10"/>
          </p:nvPr>
        </p:nvSpPr>
        <p:spPr/>
        <p:txBody>
          <a:bodyPr/>
          <a:lstStyle/>
          <a:p>
            <a:fld id="{8C37002D-F6DD-4C19-8519-9F4F98981C13}" type="datetimeFigureOut">
              <a:rPr lang="tr-TR" smtClean="0"/>
              <a:t>4.05.2025</a:t>
            </a:fld>
            <a:endParaRPr lang="tr-TR"/>
          </a:p>
        </p:txBody>
      </p:sp>
      <p:sp>
        <p:nvSpPr>
          <p:cNvPr id="5" name="Alt Bilgi Yer Tutucusu 4">
            <a:extLst>
              <a:ext uri="{FF2B5EF4-FFF2-40B4-BE49-F238E27FC236}">
                <a16:creationId xmlns:a16="http://schemas.microsoft.com/office/drawing/2014/main" id="{A84CEE91-B569-80BC-5FCA-92C77BD2BC8B}"/>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29287035-1542-7CA6-736E-1C27E0965C5D}"/>
              </a:ext>
            </a:extLst>
          </p:cNvPr>
          <p:cNvSpPr>
            <a:spLocks noGrp="1"/>
          </p:cNvSpPr>
          <p:nvPr>
            <p:ph type="sldNum" sz="quarter" idx="12"/>
          </p:nvPr>
        </p:nvSpPr>
        <p:spPr/>
        <p:txBody>
          <a:bodyPr/>
          <a:lstStyle/>
          <a:p>
            <a:fld id="{DAED6D29-C9BD-44FD-8323-69BF0961AEDA}" type="slidenum">
              <a:rPr lang="tr-TR" smtClean="0"/>
              <a:t>‹#›</a:t>
            </a:fld>
            <a:endParaRPr lang="tr-TR"/>
          </a:p>
        </p:txBody>
      </p:sp>
    </p:spTree>
    <p:extLst>
      <p:ext uri="{BB962C8B-B14F-4D97-AF65-F5344CB8AC3E}">
        <p14:creationId xmlns:p14="http://schemas.microsoft.com/office/powerpoint/2010/main" val="33513578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D2D5B14-B380-1D28-2C18-B1B962895A04}"/>
              </a:ext>
            </a:extLst>
          </p:cNvPr>
          <p:cNvSpPr>
            <a:spLocks noGrp="1"/>
          </p:cNvSpPr>
          <p:nvPr>
            <p:ph type="title"/>
          </p:nvPr>
        </p:nvSpPr>
        <p:spPr>
          <a:xfrm>
            <a:off x="831850" y="1709738"/>
            <a:ext cx="10515600" cy="2852737"/>
          </a:xfrm>
        </p:spPr>
        <p:txBody>
          <a:bodyPr anchor="b"/>
          <a:lstStyle>
            <a:lvl1pPr>
              <a:defRPr sz="6000"/>
            </a:lvl1pPr>
          </a:lstStyle>
          <a:p>
            <a:r>
              <a:rPr lang="tr-TR"/>
              <a:t>Asıl başlık stilini düzenlemek için tıklayın</a:t>
            </a:r>
          </a:p>
        </p:txBody>
      </p:sp>
      <p:sp>
        <p:nvSpPr>
          <p:cNvPr id="3" name="Metin Yer Tutucusu 2">
            <a:extLst>
              <a:ext uri="{FF2B5EF4-FFF2-40B4-BE49-F238E27FC236}">
                <a16:creationId xmlns:a16="http://schemas.microsoft.com/office/drawing/2014/main" id="{0A0834C7-3106-EA37-AB5D-06EAD54C1F0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tr-TR"/>
              <a:t>Asıl metin stillerini düzenlemek için tıklayın</a:t>
            </a:r>
          </a:p>
        </p:txBody>
      </p:sp>
      <p:sp>
        <p:nvSpPr>
          <p:cNvPr id="4" name="Veri Yer Tutucusu 3">
            <a:extLst>
              <a:ext uri="{FF2B5EF4-FFF2-40B4-BE49-F238E27FC236}">
                <a16:creationId xmlns:a16="http://schemas.microsoft.com/office/drawing/2014/main" id="{FC22840A-5A71-0703-60D7-7FB1981AFC85}"/>
              </a:ext>
            </a:extLst>
          </p:cNvPr>
          <p:cNvSpPr>
            <a:spLocks noGrp="1"/>
          </p:cNvSpPr>
          <p:nvPr>
            <p:ph type="dt" sz="half" idx="10"/>
          </p:nvPr>
        </p:nvSpPr>
        <p:spPr/>
        <p:txBody>
          <a:bodyPr/>
          <a:lstStyle/>
          <a:p>
            <a:fld id="{8C37002D-F6DD-4C19-8519-9F4F98981C13}" type="datetimeFigureOut">
              <a:rPr lang="tr-TR" smtClean="0"/>
              <a:t>4.05.2025</a:t>
            </a:fld>
            <a:endParaRPr lang="tr-TR"/>
          </a:p>
        </p:txBody>
      </p:sp>
      <p:sp>
        <p:nvSpPr>
          <p:cNvPr id="5" name="Alt Bilgi Yer Tutucusu 4">
            <a:extLst>
              <a:ext uri="{FF2B5EF4-FFF2-40B4-BE49-F238E27FC236}">
                <a16:creationId xmlns:a16="http://schemas.microsoft.com/office/drawing/2014/main" id="{92EB2B78-A499-9386-6361-CE603A73AB1A}"/>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8172FCDA-439E-C3B5-4061-4239444D9277}"/>
              </a:ext>
            </a:extLst>
          </p:cNvPr>
          <p:cNvSpPr>
            <a:spLocks noGrp="1"/>
          </p:cNvSpPr>
          <p:nvPr>
            <p:ph type="sldNum" sz="quarter" idx="12"/>
          </p:nvPr>
        </p:nvSpPr>
        <p:spPr/>
        <p:txBody>
          <a:bodyPr/>
          <a:lstStyle/>
          <a:p>
            <a:fld id="{DAED6D29-C9BD-44FD-8323-69BF0961AEDA}" type="slidenum">
              <a:rPr lang="tr-TR" smtClean="0"/>
              <a:t>‹#›</a:t>
            </a:fld>
            <a:endParaRPr lang="tr-TR"/>
          </a:p>
        </p:txBody>
      </p:sp>
    </p:spTree>
    <p:extLst>
      <p:ext uri="{BB962C8B-B14F-4D97-AF65-F5344CB8AC3E}">
        <p14:creationId xmlns:p14="http://schemas.microsoft.com/office/powerpoint/2010/main" val="1000924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FCD8BED-643E-ED64-702E-A8322EB1834E}"/>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14183B6D-301A-9DE2-9BEF-70494B6B8128}"/>
              </a:ext>
            </a:extLst>
          </p:cNvPr>
          <p:cNvSpPr>
            <a:spLocks noGrp="1"/>
          </p:cNvSpPr>
          <p:nvPr>
            <p:ph sz="half" idx="1"/>
          </p:nvPr>
        </p:nvSpPr>
        <p:spPr>
          <a:xfrm>
            <a:off x="838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a:extLst>
              <a:ext uri="{FF2B5EF4-FFF2-40B4-BE49-F238E27FC236}">
                <a16:creationId xmlns:a16="http://schemas.microsoft.com/office/drawing/2014/main" id="{E01CAE87-8FF3-709E-1949-091E0E2698E9}"/>
              </a:ext>
            </a:extLst>
          </p:cNvPr>
          <p:cNvSpPr>
            <a:spLocks noGrp="1"/>
          </p:cNvSpPr>
          <p:nvPr>
            <p:ph sz="half" idx="2"/>
          </p:nvPr>
        </p:nvSpPr>
        <p:spPr>
          <a:xfrm>
            <a:off x="6172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a:extLst>
              <a:ext uri="{FF2B5EF4-FFF2-40B4-BE49-F238E27FC236}">
                <a16:creationId xmlns:a16="http://schemas.microsoft.com/office/drawing/2014/main" id="{05DCEEEA-8CE0-4BBA-1A8D-D27F4CFC81A4}"/>
              </a:ext>
            </a:extLst>
          </p:cNvPr>
          <p:cNvSpPr>
            <a:spLocks noGrp="1"/>
          </p:cNvSpPr>
          <p:nvPr>
            <p:ph type="dt" sz="half" idx="10"/>
          </p:nvPr>
        </p:nvSpPr>
        <p:spPr/>
        <p:txBody>
          <a:bodyPr/>
          <a:lstStyle/>
          <a:p>
            <a:fld id="{8C37002D-F6DD-4C19-8519-9F4F98981C13}" type="datetimeFigureOut">
              <a:rPr lang="tr-TR" smtClean="0"/>
              <a:t>4.05.2025</a:t>
            </a:fld>
            <a:endParaRPr lang="tr-TR"/>
          </a:p>
        </p:txBody>
      </p:sp>
      <p:sp>
        <p:nvSpPr>
          <p:cNvPr id="6" name="Alt Bilgi Yer Tutucusu 5">
            <a:extLst>
              <a:ext uri="{FF2B5EF4-FFF2-40B4-BE49-F238E27FC236}">
                <a16:creationId xmlns:a16="http://schemas.microsoft.com/office/drawing/2014/main" id="{64F0C573-E24F-9E16-98EC-C8F0C4E5ABCE}"/>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DA2100E4-F971-A15F-3393-9142DCA29F12}"/>
              </a:ext>
            </a:extLst>
          </p:cNvPr>
          <p:cNvSpPr>
            <a:spLocks noGrp="1"/>
          </p:cNvSpPr>
          <p:nvPr>
            <p:ph type="sldNum" sz="quarter" idx="12"/>
          </p:nvPr>
        </p:nvSpPr>
        <p:spPr/>
        <p:txBody>
          <a:bodyPr/>
          <a:lstStyle/>
          <a:p>
            <a:fld id="{DAED6D29-C9BD-44FD-8323-69BF0961AEDA}" type="slidenum">
              <a:rPr lang="tr-TR" smtClean="0"/>
              <a:t>‹#›</a:t>
            </a:fld>
            <a:endParaRPr lang="tr-TR"/>
          </a:p>
        </p:txBody>
      </p:sp>
    </p:spTree>
    <p:extLst>
      <p:ext uri="{BB962C8B-B14F-4D97-AF65-F5344CB8AC3E}">
        <p14:creationId xmlns:p14="http://schemas.microsoft.com/office/powerpoint/2010/main" val="24477595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73C6CB4-080D-991F-C8FD-B8AAC5BD908A}"/>
              </a:ext>
            </a:extLst>
          </p:cNvPr>
          <p:cNvSpPr>
            <a:spLocks noGrp="1"/>
          </p:cNvSpPr>
          <p:nvPr>
            <p:ph type="title"/>
          </p:nvPr>
        </p:nvSpPr>
        <p:spPr>
          <a:xfrm>
            <a:off x="839788" y="365125"/>
            <a:ext cx="10515600" cy="1325563"/>
          </a:xfrm>
        </p:spPr>
        <p:txBody>
          <a:bodyPr/>
          <a:lstStyle/>
          <a:p>
            <a:r>
              <a:rPr lang="tr-TR"/>
              <a:t>Asıl başlık stilini düzenlemek için tıklayın</a:t>
            </a:r>
          </a:p>
        </p:txBody>
      </p:sp>
      <p:sp>
        <p:nvSpPr>
          <p:cNvPr id="3" name="Metin Yer Tutucusu 2">
            <a:extLst>
              <a:ext uri="{FF2B5EF4-FFF2-40B4-BE49-F238E27FC236}">
                <a16:creationId xmlns:a16="http://schemas.microsoft.com/office/drawing/2014/main" id="{6D88C883-E7CB-F110-DFEE-C44974E6C0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İçerik Yer Tutucusu 3">
            <a:extLst>
              <a:ext uri="{FF2B5EF4-FFF2-40B4-BE49-F238E27FC236}">
                <a16:creationId xmlns:a16="http://schemas.microsoft.com/office/drawing/2014/main" id="{1D0852DE-2822-E53F-0F1B-C93EE61A720D}"/>
              </a:ext>
            </a:extLst>
          </p:cNvPr>
          <p:cNvSpPr>
            <a:spLocks noGrp="1"/>
          </p:cNvSpPr>
          <p:nvPr>
            <p:ph sz="half" idx="2"/>
          </p:nvPr>
        </p:nvSpPr>
        <p:spPr>
          <a:xfrm>
            <a:off x="839788" y="2505075"/>
            <a:ext cx="5157787"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a:extLst>
              <a:ext uri="{FF2B5EF4-FFF2-40B4-BE49-F238E27FC236}">
                <a16:creationId xmlns:a16="http://schemas.microsoft.com/office/drawing/2014/main" id="{A4F49A42-C37D-D173-DE9D-904C06D9A67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İçerik Yer Tutucusu 5">
            <a:extLst>
              <a:ext uri="{FF2B5EF4-FFF2-40B4-BE49-F238E27FC236}">
                <a16:creationId xmlns:a16="http://schemas.microsoft.com/office/drawing/2014/main" id="{4BC87C23-154D-B3DC-187A-FBBB8FBD997D}"/>
              </a:ext>
            </a:extLst>
          </p:cNvPr>
          <p:cNvSpPr>
            <a:spLocks noGrp="1"/>
          </p:cNvSpPr>
          <p:nvPr>
            <p:ph sz="quarter" idx="4"/>
          </p:nvPr>
        </p:nvSpPr>
        <p:spPr>
          <a:xfrm>
            <a:off x="6172200" y="2505075"/>
            <a:ext cx="5183188"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a:extLst>
              <a:ext uri="{FF2B5EF4-FFF2-40B4-BE49-F238E27FC236}">
                <a16:creationId xmlns:a16="http://schemas.microsoft.com/office/drawing/2014/main" id="{8F48CED6-36D9-9C33-30BA-C29F0D168764}"/>
              </a:ext>
            </a:extLst>
          </p:cNvPr>
          <p:cNvSpPr>
            <a:spLocks noGrp="1"/>
          </p:cNvSpPr>
          <p:nvPr>
            <p:ph type="dt" sz="half" idx="10"/>
          </p:nvPr>
        </p:nvSpPr>
        <p:spPr/>
        <p:txBody>
          <a:bodyPr/>
          <a:lstStyle/>
          <a:p>
            <a:fld id="{8C37002D-F6DD-4C19-8519-9F4F98981C13}" type="datetimeFigureOut">
              <a:rPr lang="tr-TR" smtClean="0"/>
              <a:t>4.05.2025</a:t>
            </a:fld>
            <a:endParaRPr lang="tr-TR"/>
          </a:p>
        </p:txBody>
      </p:sp>
      <p:sp>
        <p:nvSpPr>
          <p:cNvPr id="8" name="Alt Bilgi Yer Tutucusu 7">
            <a:extLst>
              <a:ext uri="{FF2B5EF4-FFF2-40B4-BE49-F238E27FC236}">
                <a16:creationId xmlns:a16="http://schemas.microsoft.com/office/drawing/2014/main" id="{9F797726-7E1F-9BDC-B5D6-C9E86D1865A2}"/>
              </a:ext>
            </a:extLst>
          </p:cNvPr>
          <p:cNvSpPr>
            <a:spLocks noGrp="1"/>
          </p:cNvSpPr>
          <p:nvPr>
            <p:ph type="ftr" sz="quarter" idx="11"/>
          </p:nvPr>
        </p:nvSpPr>
        <p:spPr/>
        <p:txBody>
          <a:bodyPr/>
          <a:lstStyle/>
          <a:p>
            <a:endParaRPr lang="tr-TR"/>
          </a:p>
        </p:txBody>
      </p:sp>
      <p:sp>
        <p:nvSpPr>
          <p:cNvPr id="9" name="Slayt Numarası Yer Tutucusu 8">
            <a:extLst>
              <a:ext uri="{FF2B5EF4-FFF2-40B4-BE49-F238E27FC236}">
                <a16:creationId xmlns:a16="http://schemas.microsoft.com/office/drawing/2014/main" id="{9AC91FCC-A867-E1CC-40BF-F27104B56214}"/>
              </a:ext>
            </a:extLst>
          </p:cNvPr>
          <p:cNvSpPr>
            <a:spLocks noGrp="1"/>
          </p:cNvSpPr>
          <p:nvPr>
            <p:ph type="sldNum" sz="quarter" idx="12"/>
          </p:nvPr>
        </p:nvSpPr>
        <p:spPr/>
        <p:txBody>
          <a:bodyPr/>
          <a:lstStyle/>
          <a:p>
            <a:fld id="{DAED6D29-C9BD-44FD-8323-69BF0961AEDA}" type="slidenum">
              <a:rPr lang="tr-TR" smtClean="0"/>
              <a:t>‹#›</a:t>
            </a:fld>
            <a:endParaRPr lang="tr-TR"/>
          </a:p>
        </p:txBody>
      </p:sp>
    </p:spTree>
    <p:extLst>
      <p:ext uri="{BB962C8B-B14F-4D97-AF65-F5344CB8AC3E}">
        <p14:creationId xmlns:p14="http://schemas.microsoft.com/office/powerpoint/2010/main" val="41169031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F9A64E6-F72A-BEEF-C41B-C1A4B7592435}"/>
              </a:ext>
            </a:extLst>
          </p:cNvPr>
          <p:cNvSpPr>
            <a:spLocks noGrp="1"/>
          </p:cNvSpPr>
          <p:nvPr>
            <p:ph type="title"/>
          </p:nvPr>
        </p:nvSpPr>
        <p:spPr/>
        <p:txBody>
          <a:bodyPr/>
          <a:lstStyle/>
          <a:p>
            <a:r>
              <a:rPr lang="tr-TR"/>
              <a:t>Asıl başlık stilini düzenlemek için tıklayın</a:t>
            </a:r>
          </a:p>
        </p:txBody>
      </p:sp>
      <p:sp>
        <p:nvSpPr>
          <p:cNvPr id="3" name="Veri Yer Tutucusu 2">
            <a:extLst>
              <a:ext uri="{FF2B5EF4-FFF2-40B4-BE49-F238E27FC236}">
                <a16:creationId xmlns:a16="http://schemas.microsoft.com/office/drawing/2014/main" id="{64DAE265-67CC-FD66-1BF3-42778941839F}"/>
              </a:ext>
            </a:extLst>
          </p:cNvPr>
          <p:cNvSpPr>
            <a:spLocks noGrp="1"/>
          </p:cNvSpPr>
          <p:nvPr>
            <p:ph type="dt" sz="half" idx="10"/>
          </p:nvPr>
        </p:nvSpPr>
        <p:spPr/>
        <p:txBody>
          <a:bodyPr/>
          <a:lstStyle/>
          <a:p>
            <a:fld id="{8C37002D-F6DD-4C19-8519-9F4F98981C13}" type="datetimeFigureOut">
              <a:rPr lang="tr-TR" smtClean="0"/>
              <a:t>4.05.2025</a:t>
            </a:fld>
            <a:endParaRPr lang="tr-TR"/>
          </a:p>
        </p:txBody>
      </p:sp>
      <p:sp>
        <p:nvSpPr>
          <p:cNvPr id="4" name="Alt Bilgi Yer Tutucusu 3">
            <a:extLst>
              <a:ext uri="{FF2B5EF4-FFF2-40B4-BE49-F238E27FC236}">
                <a16:creationId xmlns:a16="http://schemas.microsoft.com/office/drawing/2014/main" id="{27D4AD0C-E1FE-FAC3-2BF8-8A014073BDDB}"/>
              </a:ext>
            </a:extLst>
          </p:cNvPr>
          <p:cNvSpPr>
            <a:spLocks noGrp="1"/>
          </p:cNvSpPr>
          <p:nvPr>
            <p:ph type="ftr" sz="quarter" idx="11"/>
          </p:nvPr>
        </p:nvSpPr>
        <p:spPr/>
        <p:txBody>
          <a:bodyPr/>
          <a:lstStyle/>
          <a:p>
            <a:endParaRPr lang="tr-TR"/>
          </a:p>
        </p:txBody>
      </p:sp>
      <p:sp>
        <p:nvSpPr>
          <p:cNvPr id="5" name="Slayt Numarası Yer Tutucusu 4">
            <a:extLst>
              <a:ext uri="{FF2B5EF4-FFF2-40B4-BE49-F238E27FC236}">
                <a16:creationId xmlns:a16="http://schemas.microsoft.com/office/drawing/2014/main" id="{0AC297ED-6B42-77D8-DA23-AC0278EBFACB}"/>
              </a:ext>
            </a:extLst>
          </p:cNvPr>
          <p:cNvSpPr>
            <a:spLocks noGrp="1"/>
          </p:cNvSpPr>
          <p:nvPr>
            <p:ph type="sldNum" sz="quarter" idx="12"/>
          </p:nvPr>
        </p:nvSpPr>
        <p:spPr/>
        <p:txBody>
          <a:bodyPr/>
          <a:lstStyle/>
          <a:p>
            <a:fld id="{DAED6D29-C9BD-44FD-8323-69BF0961AEDA}" type="slidenum">
              <a:rPr lang="tr-TR" smtClean="0"/>
              <a:t>‹#›</a:t>
            </a:fld>
            <a:endParaRPr lang="tr-TR"/>
          </a:p>
        </p:txBody>
      </p:sp>
    </p:spTree>
    <p:extLst>
      <p:ext uri="{BB962C8B-B14F-4D97-AF65-F5344CB8AC3E}">
        <p14:creationId xmlns:p14="http://schemas.microsoft.com/office/powerpoint/2010/main" val="7890179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a:extLst>
              <a:ext uri="{FF2B5EF4-FFF2-40B4-BE49-F238E27FC236}">
                <a16:creationId xmlns:a16="http://schemas.microsoft.com/office/drawing/2014/main" id="{F08A9537-F52F-A4A7-EAFF-292C699F5372}"/>
              </a:ext>
            </a:extLst>
          </p:cNvPr>
          <p:cNvSpPr>
            <a:spLocks noGrp="1"/>
          </p:cNvSpPr>
          <p:nvPr>
            <p:ph type="dt" sz="half" idx="10"/>
          </p:nvPr>
        </p:nvSpPr>
        <p:spPr/>
        <p:txBody>
          <a:bodyPr/>
          <a:lstStyle/>
          <a:p>
            <a:fld id="{8C37002D-F6DD-4C19-8519-9F4F98981C13}" type="datetimeFigureOut">
              <a:rPr lang="tr-TR" smtClean="0"/>
              <a:t>4.05.2025</a:t>
            </a:fld>
            <a:endParaRPr lang="tr-TR"/>
          </a:p>
        </p:txBody>
      </p:sp>
      <p:sp>
        <p:nvSpPr>
          <p:cNvPr id="3" name="Alt Bilgi Yer Tutucusu 2">
            <a:extLst>
              <a:ext uri="{FF2B5EF4-FFF2-40B4-BE49-F238E27FC236}">
                <a16:creationId xmlns:a16="http://schemas.microsoft.com/office/drawing/2014/main" id="{CF5157FA-948D-BF91-CFB9-E651E7FD3F97}"/>
              </a:ext>
            </a:extLst>
          </p:cNvPr>
          <p:cNvSpPr>
            <a:spLocks noGrp="1"/>
          </p:cNvSpPr>
          <p:nvPr>
            <p:ph type="ftr" sz="quarter" idx="11"/>
          </p:nvPr>
        </p:nvSpPr>
        <p:spPr/>
        <p:txBody>
          <a:bodyPr/>
          <a:lstStyle/>
          <a:p>
            <a:endParaRPr lang="tr-TR"/>
          </a:p>
        </p:txBody>
      </p:sp>
      <p:sp>
        <p:nvSpPr>
          <p:cNvPr id="4" name="Slayt Numarası Yer Tutucusu 3">
            <a:extLst>
              <a:ext uri="{FF2B5EF4-FFF2-40B4-BE49-F238E27FC236}">
                <a16:creationId xmlns:a16="http://schemas.microsoft.com/office/drawing/2014/main" id="{DB8D33ED-B3BD-793B-C8AB-EB5BE42AEC8D}"/>
              </a:ext>
            </a:extLst>
          </p:cNvPr>
          <p:cNvSpPr>
            <a:spLocks noGrp="1"/>
          </p:cNvSpPr>
          <p:nvPr>
            <p:ph type="sldNum" sz="quarter" idx="12"/>
          </p:nvPr>
        </p:nvSpPr>
        <p:spPr/>
        <p:txBody>
          <a:bodyPr/>
          <a:lstStyle/>
          <a:p>
            <a:fld id="{DAED6D29-C9BD-44FD-8323-69BF0961AEDA}" type="slidenum">
              <a:rPr lang="tr-TR" smtClean="0"/>
              <a:t>‹#›</a:t>
            </a:fld>
            <a:endParaRPr lang="tr-TR"/>
          </a:p>
        </p:txBody>
      </p:sp>
    </p:spTree>
    <p:extLst>
      <p:ext uri="{BB962C8B-B14F-4D97-AF65-F5344CB8AC3E}">
        <p14:creationId xmlns:p14="http://schemas.microsoft.com/office/powerpoint/2010/main" val="1960683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ECE2115-33EC-F32E-1E5A-1E9F116CD8A5}"/>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İçerik Yer Tutucusu 2">
            <a:extLst>
              <a:ext uri="{FF2B5EF4-FFF2-40B4-BE49-F238E27FC236}">
                <a16:creationId xmlns:a16="http://schemas.microsoft.com/office/drawing/2014/main" id="{EDAD2FE0-3592-109C-DD88-8D62229E0A1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a:extLst>
              <a:ext uri="{FF2B5EF4-FFF2-40B4-BE49-F238E27FC236}">
                <a16:creationId xmlns:a16="http://schemas.microsoft.com/office/drawing/2014/main" id="{D677E3AD-5D4F-B57A-E6BF-5D1F5B2C01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DEA48B2B-845F-022E-5943-C42CA92AA6BA}"/>
              </a:ext>
            </a:extLst>
          </p:cNvPr>
          <p:cNvSpPr>
            <a:spLocks noGrp="1"/>
          </p:cNvSpPr>
          <p:nvPr>
            <p:ph type="dt" sz="half" idx="10"/>
          </p:nvPr>
        </p:nvSpPr>
        <p:spPr/>
        <p:txBody>
          <a:bodyPr/>
          <a:lstStyle/>
          <a:p>
            <a:fld id="{8C37002D-F6DD-4C19-8519-9F4F98981C13}" type="datetimeFigureOut">
              <a:rPr lang="tr-TR" smtClean="0"/>
              <a:t>4.05.2025</a:t>
            </a:fld>
            <a:endParaRPr lang="tr-TR"/>
          </a:p>
        </p:txBody>
      </p:sp>
      <p:sp>
        <p:nvSpPr>
          <p:cNvPr id="6" name="Alt Bilgi Yer Tutucusu 5">
            <a:extLst>
              <a:ext uri="{FF2B5EF4-FFF2-40B4-BE49-F238E27FC236}">
                <a16:creationId xmlns:a16="http://schemas.microsoft.com/office/drawing/2014/main" id="{583F928B-E26A-75A6-BCED-6C46EC551890}"/>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58E93928-A1A7-7172-396A-5C7A0A94037B}"/>
              </a:ext>
            </a:extLst>
          </p:cNvPr>
          <p:cNvSpPr>
            <a:spLocks noGrp="1"/>
          </p:cNvSpPr>
          <p:nvPr>
            <p:ph type="sldNum" sz="quarter" idx="12"/>
          </p:nvPr>
        </p:nvSpPr>
        <p:spPr/>
        <p:txBody>
          <a:bodyPr/>
          <a:lstStyle/>
          <a:p>
            <a:fld id="{DAED6D29-C9BD-44FD-8323-69BF0961AEDA}" type="slidenum">
              <a:rPr lang="tr-TR" smtClean="0"/>
              <a:t>‹#›</a:t>
            </a:fld>
            <a:endParaRPr lang="tr-TR"/>
          </a:p>
        </p:txBody>
      </p:sp>
    </p:spTree>
    <p:extLst>
      <p:ext uri="{BB962C8B-B14F-4D97-AF65-F5344CB8AC3E}">
        <p14:creationId xmlns:p14="http://schemas.microsoft.com/office/powerpoint/2010/main" val="41164110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C34F1D1-A828-D58E-A843-D06CF0D10F4B}"/>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Resim Yer Tutucusu 2">
            <a:extLst>
              <a:ext uri="{FF2B5EF4-FFF2-40B4-BE49-F238E27FC236}">
                <a16:creationId xmlns:a16="http://schemas.microsoft.com/office/drawing/2014/main" id="{5B103031-E448-FA6B-A08D-0AC9772C6B6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a:extLst>
              <a:ext uri="{FF2B5EF4-FFF2-40B4-BE49-F238E27FC236}">
                <a16:creationId xmlns:a16="http://schemas.microsoft.com/office/drawing/2014/main" id="{2496946C-B065-4702-897D-2C7BC474C7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5D66810C-EC07-BACA-C191-5E5F43A075A8}"/>
              </a:ext>
            </a:extLst>
          </p:cNvPr>
          <p:cNvSpPr>
            <a:spLocks noGrp="1"/>
          </p:cNvSpPr>
          <p:nvPr>
            <p:ph type="dt" sz="half" idx="10"/>
          </p:nvPr>
        </p:nvSpPr>
        <p:spPr/>
        <p:txBody>
          <a:bodyPr/>
          <a:lstStyle/>
          <a:p>
            <a:fld id="{8C37002D-F6DD-4C19-8519-9F4F98981C13}" type="datetimeFigureOut">
              <a:rPr lang="tr-TR" smtClean="0"/>
              <a:t>4.05.2025</a:t>
            </a:fld>
            <a:endParaRPr lang="tr-TR"/>
          </a:p>
        </p:txBody>
      </p:sp>
      <p:sp>
        <p:nvSpPr>
          <p:cNvPr id="6" name="Alt Bilgi Yer Tutucusu 5">
            <a:extLst>
              <a:ext uri="{FF2B5EF4-FFF2-40B4-BE49-F238E27FC236}">
                <a16:creationId xmlns:a16="http://schemas.microsoft.com/office/drawing/2014/main" id="{449835D7-3A73-C85B-8F9B-C13A9D707C3A}"/>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3A2A3EDC-B71D-2607-CB0E-4DA1124517B8}"/>
              </a:ext>
            </a:extLst>
          </p:cNvPr>
          <p:cNvSpPr>
            <a:spLocks noGrp="1"/>
          </p:cNvSpPr>
          <p:nvPr>
            <p:ph type="sldNum" sz="quarter" idx="12"/>
          </p:nvPr>
        </p:nvSpPr>
        <p:spPr/>
        <p:txBody>
          <a:bodyPr/>
          <a:lstStyle/>
          <a:p>
            <a:fld id="{DAED6D29-C9BD-44FD-8323-69BF0961AEDA}" type="slidenum">
              <a:rPr lang="tr-TR" smtClean="0"/>
              <a:t>‹#›</a:t>
            </a:fld>
            <a:endParaRPr lang="tr-TR"/>
          </a:p>
        </p:txBody>
      </p:sp>
    </p:spTree>
    <p:extLst>
      <p:ext uri="{BB962C8B-B14F-4D97-AF65-F5344CB8AC3E}">
        <p14:creationId xmlns:p14="http://schemas.microsoft.com/office/powerpoint/2010/main" val="353709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2F0ED46-4F76-585E-A4C4-4D10888DF4F8}"/>
              </a:ext>
            </a:extLst>
          </p:cNvPr>
          <p:cNvSpPr>
            <a:spLocks noGrp="1"/>
          </p:cNvSpPr>
          <p:nvPr>
            <p:ph type="title"/>
          </p:nvPr>
        </p:nvSpPr>
        <p:spPr/>
        <p:txBody>
          <a:bodyPr/>
          <a:lstStyle/>
          <a:p>
            <a:r>
              <a:rPr lang="tr-TR"/>
              <a:t>Asıl başlık stilini düzenlemek için tıklayın</a:t>
            </a:r>
          </a:p>
        </p:txBody>
      </p:sp>
      <p:sp>
        <p:nvSpPr>
          <p:cNvPr id="3" name="Dikey Metin Yer Tutucusu 2">
            <a:extLst>
              <a:ext uri="{FF2B5EF4-FFF2-40B4-BE49-F238E27FC236}">
                <a16:creationId xmlns:a16="http://schemas.microsoft.com/office/drawing/2014/main" id="{3E74FBB4-158C-D563-9695-473D32880C91}"/>
              </a:ext>
            </a:extLst>
          </p:cNvPr>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B30EEB36-1007-03F3-61CF-FFFC7DEAF49C}"/>
              </a:ext>
            </a:extLst>
          </p:cNvPr>
          <p:cNvSpPr>
            <a:spLocks noGrp="1"/>
          </p:cNvSpPr>
          <p:nvPr>
            <p:ph type="dt" sz="half" idx="10"/>
          </p:nvPr>
        </p:nvSpPr>
        <p:spPr/>
        <p:txBody>
          <a:bodyPr/>
          <a:lstStyle/>
          <a:p>
            <a:fld id="{8C37002D-F6DD-4C19-8519-9F4F98981C13}" type="datetimeFigureOut">
              <a:rPr lang="tr-TR" smtClean="0"/>
              <a:t>4.05.2025</a:t>
            </a:fld>
            <a:endParaRPr lang="tr-TR"/>
          </a:p>
        </p:txBody>
      </p:sp>
      <p:sp>
        <p:nvSpPr>
          <p:cNvPr id="5" name="Alt Bilgi Yer Tutucusu 4">
            <a:extLst>
              <a:ext uri="{FF2B5EF4-FFF2-40B4-BE49-F238E27FC236}">
                <a16:creationId xmlns:a16="http://schemas.microsoft.com/office/drawing/2014/main" id="{D14D8C1D-FF39-046A-3F3F-FD6F2DA8742E}"/>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EB17D762-37A2-0F75-DC55-6FC28CF88DE5}"/>
              </a:ext>
            </a:extLst>
          </p:cNvPr>
          <p:cNvSpPr>
            <a:spLocks noGrp="1"/>
          </p:cNvSpPr>
          <p:nvPr>
            <p:ph type="sldNum" sz="quarter" idx="12"/>
          </p:nvPr>
        </p:nvSpPr>
        <p:spPr/>
        <p:txBody>
          <a:bodyPr/>
          <a:lstStyle/>
          <a:p>
            <a:fld id="{DAED6D29-C9BD-44FD-8323-69BF0961AEDA}" type="slidenum">
              <a:rPr lang="tr-TR" smtClean="0"/>
              <a:t>‹#›</a:t>
            </a:fld>
            <a:endParaRPr lang="tr-TR"/>
          </a:p>
        </p:txBody>
      </p:sp>
    </p:spTree>
    <p:extLst>
      <p:ext uri="{BB962C8B-B14F-4D97-AF65-F5344CB8AC3E}">
        <p14:creationId xmlns:p14="http://schemas.microsoft.com/office/powerpoint/2010/main" val="42292661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a:extLst>
              <a:ext uri="{FF2B5EF4-FFF2-40B4-BE49-F238E27FC236}">
                <a16:creationId xmlns:a16="http://schemas.microsoft.com/office/drawing/2014/main" id="{AC1029EA-DE59-38A1-492F-2D6F2A3CCF18}"/>
              </a:ext>
            </a:extLst>
          </p:cNvPr>
          <p:cNvSpPr>
            <a:spLocks noGrp="1"/>
          </p:cNvSpPr>
          <p:nvPr>
            <p:ph type="title" orient="vert"/>
          </p:nvPr>
        </p:nvSpPr>
        <p:spPr>
          <a:xfrm>
            <a:off x="8724900" y="365125"/>
            <a:ext cx="2628900" cy="5811838"/>
          </a:xfrm>
        </p:spPr>
        <p:txBody>
          <a:bodyPr vert="eaVert"/>
          <a:lstStyle/>
          <a:p>
            <a:r>
              <a:rPr lang="tr-TR"/>
              <a:t>Asıl başlık stilini düzenlemek için tıklayın</a:t>
            </a:r>
          </a:p>
        </p:txBody>
      </p:sp>
      <p:sp>
        <p:nvSpPr>
          <p:cNvPr id="3" name="Dikey Metin Yer Tutucusu 2">
            <a:extLst>
              <a:ext uri="{FF2B5EF4-FFF2-40B4-BE49-F238E27FC236}">
                <a16:creationId xmlns:a16="http://schemas.microsoft.com/office/drawing/2014/main" id="{730121C3-7396-D7FF-4A9B-CAB0710E0232}"/>
              </a:ext>
            </a:extLst>
          </p:cNvPr>
          <p:cNvSpPr>
            <a:spLocks noGrp="1"/>
          </p:cNvSpPr>
          <p:nvPr>
            <p:ph type="body" orient="vert" idx="1"/>
          </p:nvPr>
        </p:nvSpPr>
        <p:spPr>
          <a:xfrm>
            <a:off x="838200" y="365125"/>
            <a:ext cx="7734300" cy="5811838"/>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00525DA0-C043-191F-D641-BBEBF927FE10}"/>
              </a:ext>
            </a:extLst>
          </p:cNvPr>
          <p:cNvSpPr>
            <a:spLocks noGrp="1"/>
          </p:cNvSpPr>
          <p:nvPr>
            <p:ph type="dt" sz="half" idx="10"/>
          </p:nvPr>
        </p:nvSpPr>
        <p:spPr/>
        <p:txBody>
          <a:bodyPr/>
          <a:lstStyle/>
          <a:p>
            <a:fld id="{8C37002D-F6DD-4C19-8519-9F4F98981C13}" type="datetimeFigureOut">
              <a:rPr lang="tr-TR" smtClean="0"/>
              <a:t>4.05.2025</a:t>
            </a:fld>
            <a:endParaRPr lang="tr-TR"/>
          </a:p>
        </p:txBody>
      </p:sp>
      <p:sp>
        <p:nvSpPr>
          <p:cNvPr id="5" name="Alt Bilgi Yer Tutucusu 4">
            <a:extLst>
              <a:ext uri="{FF2B5EF4-FFF2-40B4-BE49-F238E27FC236}">
                <a16:creationId xmlns:a16="http://schemas.microsoft.com/office/drawing/2014/main" id="{07977D6C-966F-E8D7-42B2-BE33B5234DEA}"/>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05DD1B9A-50B6-BCD0-45FD-12D88244A8E1}"/>
              </a:ext>
            </a:extLst>
          </p:cNvPr>
          <p:cNvSpPr>
            <a:spLocks noGrp="1"/>
          </p:cNvSpPr>
          <p:nvPr>
            <p:ph type="sldNum" sz="quarter" idx="12"/>
          </p:nvPr>
        </p:nvSpPr>
        <p:spPr/>
        <p:txBody>
          <a:bodyPr/>
          <a:lstStyle/>
          <a:p>
            <a:fld id="{DAED6D29-C9BD-44FD-8323-69BF0961AEDA}" type="slidenum">
              <a:rPr lang="tr-TR" smtClean="0"/>
              <a:t>‹#›</a:t>
            </a:fld>
            <a:endParaRPr lang="tr-TR"/>
          </a:p>
        </p:txBody>
      </p:sp>
    </p:spTree>
    <p:extLst>
      <p:ext uri="{BB962C8B-B14F-4D97-AF65-F5344CB8AC3E}">
        <p14:creationId xmlns:p14="http://schemas.microsoft.com/office/powerpoint/2010/main" val="2305790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a:extLst>
              <a:ext uri="{FF2B5EF4-FFF2-40B4-BE49-F238E27FC236}">
                <a16:creationId xmlns:a16="http://schemas.microsoft.com/office/drawing/2014/main" id="{C03148ED-CA52-B649-5F64-51CB82CC793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stilini düzenlemek için tıklayın</a:t>
            </a:r>
          </a:p>
        </p:txBody>
      </p:sp>
      <p:sp>
        <p:nvSpPr>
          <p:cNvPr id="3" name="Metin Yer Tutucusu 2">
            <a:extLst>
              <a:ext uri="{FF2B5EF4-FFF2-40B4-BE49-F238E27FC236}">
                <a16:creationId xmlns:a16="http://schemas.microsoft.com/office/drawing/2014/main" id="{6327163E-3A16-4603-9FAA-E12CB9B25FA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766F0B60-1481-44E7-C216-BE9A983B741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C37002D-F6DD-4C19-8519-9F4F98981C13}" type="datetimeFigureOut">
              <a:rPr lang="tr-TR" smtClean="0"/>
              <a:t>4.05.2025</a:t>
            </a:fld>
            <a:endParaRPr lang="tr-TR"/>
          </a:p>
        </p:txBody>
      </p:sp>
      <p:sp>
        <p:nvSpPr>
          <p:cNvPr id="5" name="Alt Bilgi Yer Tutucusu 4">
            <a:extLst>
              <a:ext uri="{FF2B5EF4-FFF2-40B4-BE49-F238E27FC236}">
                <a16:creationId xmlns:a16="http://schemas.microsoft.com/office/drawing/2014/main" id="{24853C45-B05C-D7C8-E079-8F109EBB54A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tr-TR"/>
          </a:p>
        </p:txBody>
      </p:sp>
      <p:sp>
        <p:nvSpPr>
          <p:cNvPr id="6" name="Slayt Numarası Yer Tutucusu 5">
            <a:extLst>
              <a:ext uri="{FF2B5EF4-FFF2-40B4-BE49-F238E27FC236}">
                <a16:creationId xmlns:a16="http://schemas.microsoft.com/office/drawing/2014/main" id="{78E7C632-59F9-D4D3-CF96-FF7E0876046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AED6D29-C9BD-44FD-8323-69BF0961AEDA}" type="slidenum">
              <a:rPr lang="tr-TR" smtClean="0"/>
              <a:t>‹#›</a:t>
            </a:fld>
            <a:endParaRPr lang="tr-TR"/>
          </a:p>
        </p:txBody>
      </p:sp>
    </p:spTree>
    <p:extLst>
      <p:ext uri="{BB962C8B-B14F-4D97-AF65-F5344CB8AC3E}">
        <p14:creationId xmlns:p14="http://schemas.microsoft.com/office/powerpoint/2010/main" val="16027861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7937782-BE58-E0E4-1918-267188D86F2E}"/>
              </a:ext>
            </a:extLst>
          </p:cNvPr>
          <p:cNvSpPr>
            <a:spLocks noGrp="1"/>
          </p:cNvSpPr>
          <p:nvPr>
            <p:ph type="ctrTitle"/>
          </p:nvPr>
        </p:nvSpPr>
        <p:spPr/>
        <p:txBody>
          <a:bodyPr/>
          <a:lstStyle/>
          <a:p>
            <a:r>
              <a:rPr lang="tr-TR" dirty="0"/>
              <a:t>ENTITY FRAMEWORK İLE OTOMASYON PROJESİ</a:t>
            </a:r>
          </a:p>
        </p:txBody>
      </p:sp>
    </p:spTree>
    <p:extLst>
      <p:ext uri="{BB962C8B-B14F-4D97-AF65-F5344CB8AC3E}">
        <p14:creationId xmlns:p14="http://schemas.microsoft.com/office/powerpoint/2010/main" val="36830179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D357488-F55F-9CB1-0680-C63DF77257AF}"/>
              </a:ext>
            </a:extLst>
          </p:cNvPr>
          <p:cNvSpPr>
            <a:spLocks noGrp="1"/>
          </p:cNvSpPr>
          <p:nvPr>
            <p:ph type="title"/>
          </p:nvPr>
        </p:nvSpPr>
        <p:spPr>
          <a:xfrm>
            <a:off x="838200" y="248495"/>
            <a:ext cx="10515600" cy="432542"/>
          </a:xfrm>
        </p:spPr>
        <p:txBody>
          <a:bodyPr>
            <a:noAutofit/>
          </a:bodyPr>
          <a:lstStyle/>
          <a:p>
            <a:pPr algn="ctr"/>
            <a:r>
              <a:rPr lang="tr-TR" sz="2800" dirty="0"/>
              <a:t>MSSQL İLE VERİ TABANI VE TABLOLARIN OLUŞTURULMASI</a:t>
            </a:r>
          </a:p>
        </p:txBody>
      </p:sp>
      <p:sp>
        <p:nvSpPr>
          <p:cNvPr id="3" name="İçerik Yer Tutucusu 2">
            <a:extLst>
              <a:ext uri="{FF2B5EF4-FFF2-40B4-BE49-F238E27FC236}">
                <a16:creationId xmlns:a16="http://schemas.microsoft.com/office/drawing/2014/main" id="{35FAAB37-73C9-D0C5-E0AF-33361FFF931E}"/>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Bu otomasyon projesinde, bir müşterinin bir ürün almasını sağlayan proje yapılmaktadır. Bu nedenle, SQL tarafında tabloları oluştururken;</a:t>
            </a:r>
          </a:p>
          <a:p>
            <a:pPr marL="0" indent="0" algn="just">
              <a:lnSpc>
                <a:spcPct val="100000"/>
              </a:lnSpc>
              <a:spcBef>
                <a:spcPts val="600"/>
              </a:spcBef>
              <a:spcAft>
                <a:spcPts val="600"/>
              </a:spcAft>
              <a:buNone/>
            </a:pPr>
            <a:r>
              <a:rPr lang="tr-TR" sz="1800" dirty="0"/>
              <a:t>Ürün bilgilerini içeren </a:t>
            </a:r>
            <a:r>
              <a:rPr lang="tr-TR" sz="1800" dirty="0" err="1"/>
              <a:t>Table_Product</a:t>
            </a:r>
            <a:r>
              <a:rPr lang="tr-TR" sz="1800" dirty="0"/>
              <a:t>,</a:t>
            </a:r>
          </a:p>
          <a:p>
            <a:pPr marL="0" indent="0" algn="just">
              <a:lnSpc>
                <a:spcPct val="100000"/>
              </a:lnSpc>
              <a:spcBef>
                <a:spcPts val="600"/>
              </a:spcBef>
              <a:spcAft>
                <a:spcPts val="600"/>
              </a:spcAft>
              <a:buNone/>
            </a:pPr>
            <a:r>
              <a:rPr lang="tr-TR" sz="1800" dirty="0"/>
              <a:t>Müşteri bilgilerini içeren Table_Customer,</a:t>
            </a:r>
          </a:p>
          <a:p>
            <a:pPr marL="0" indent="0" algn="just">
              <a:lnSpc>
                <a:spcPct val="100000"/>
              </a:lnSpc>
              <a:spcBef>
                <a:spcPts val="600"/>
              </a:spcBef>
              <a:spcAft>
                <a:spcPts val="600"/>
              </a:spcAft>
              <a:buNone/>
            </a:pPr>
            <a:r>
              <a:rPr lang="tr-TR" sz="1800" dirty="0"/>
              <a:t>Ürünün hangi kategoriye ait olduğunu içeren Table_Category,</a:t>
            </a:r>
          </a:p>
          <a:p>
            <a:pPr marL="0" indent="0" algn="just">
              <a:lnSpc>
                <a:spcPct val="100000"/>
              </a:lnSpc>
              <a:spcBef>
                <a:spcPts val="600"/>
              </a:spcBef>
              <a:spcAft>
                <a:spcPts val="600"/>
              </a:spcAft>
              <a:buNone/>
            </a:pPr>
            <a:r>
              <a:rPr lang="tr-TR" sz="1800" dirty="0"/>
              <a:t>Hangi müşterinin hangi ürünü aldığı bilgisini tutan </a:t>
            </a:r>
            <a:r>
              <a:rPr lang="tr-TR" sz="1800" dirty="0" err="1"/>
              <a:t>Table_CustomerProduct</a:t>
            </a:r>
            <a:r>
              <a:rPr lang="tr-TR" sz="1800" dirty="0"/>
              <a:t> isimli 4 adet tablomuz vardır.</a:t>
            </a:r>
          </a:p>
          <a:p>
            <a:pPr marL="0" indent="0" algn="just">
              <a:lnSpc>
                <a:spcPct val="100000"/>
              </a:lnSpc>
              <a:spcBef>
                <a:spcPts val="600"/>
              </a:spcBef>
              <a:spcAft>
                <a:spcPts val="600"/>
              </a:spcAft>
              <a:buNone/>
            </a:pPr>
            <a:r>
              <a:rPr lang="tr-TR" sz="1800" dirty="0"/>
              <a:t>Burada amaç, bir ürün satın alınırken, gerekli olan asgari bilgilerin saklanması ve işlenmesidir.</a:t>
            </a:r>
          </a:p>
          <a:p>
            <a:pPr marL="0" indent="0" algn="just">
              <a:lnSpc>
                <a:spcPct val="100000"/>
              </a:lnSpc>
              <a:spcBef>
                <a:spcPts val="600"/>
              </a:spcBef>
              <a:spcAft>
                <a:spcPts val="600"/>
              </a:spcAft>
              <a:buNone/>
            </a:pPr>
            <a:r>
              <a:rPr lang="tr-TR" sz="1800" dirty="0"/>
              <a:t>SQL tarafındaki Tabloların sütunları ve veri tipleri sonraki sayfalarda yer almaktadır.</a:t>
            </a:r>
          </a:p>
          <a:p>
            <a:pPr marL="0" indent="0" algn="just">
              <a:lnSpc>
                <a:spcPct val="100000"/>
              </a:lnSpc>
              <a:spcBef>
                <a:spcPts val="600"/>
              </a:spcBef>
              <a:spcAft>
                <a:spcPts val="600"/>
              </a:spcAft>
              <a:buNone/>
            </a:pPr>
            <a:r>
              <a:rPr lang="tr-TR" sz="1800" dirty="0"/>
              <a:t> </a:t>
            </a:r>
          </a:p>
        </p:txBody>
      </p:sp>
    </p:spTree>
    <p:extLst>
      <p:ext uri="{BB962C8B-B14F-4D97-AF65-F5344CB8AC3E}">
        <p14:creationId xmlns:p14="http://schemas.microsoft.com/office/powerpoint/2010/main" val="15321672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8D36D9-3C09-A215-91E3-6C9383B92D15}"/>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F722B21E-B598-EFD3-C26B-B71CD7E7342C}"/>
              </a:ext>
            </a:extLst>
          </p:cNvPr>
          <p:cNvSpPr>
            <a:spLocks noGrp="1"/>
          </p:cNvSpPr>
          <p:nvPr>
            <p:ph type="title"/>
          </p:nvPr>
        </p:nvSpPr>
        <p:spPr>
          <a:xfrm>
            <a:off x="838200" y="248495"/>
            <a:ext cx="10515600" cy="432542"/>
          </a:xfrm>
        </p:spPr>
        <p:txBody>
          <a:bodyPr>
            <a:noAutofit/>
          </a:bodyPr>
          <a:lstStyle/>
          <a:p>
            <a:pPr algn="ctr"/>
            <a:r>
              <a:rPr lang="tr-TR" sz="2800" dirty="0"/>
              <a:t>MSSQL İLE VERİ TABANI VE TABLOLARIN OLUŞTURULMASI</a:t>
            </a:r>
          </a:p>
        </p:txBody>
      </p:sp>
      <p:pic>
        <p:nvPicPr>
          <p:cNvPr id="5" name="İçerik Yer Tutucusu 4" descr="metin, ekran görüntüsü, yazı tipi, sayı, numara içeren bir resim&#10;&#10;Yapay zeka tarafından oluşturulan içerik yanlış olabilir.">
            <a:extLst>
              <a:ext uri="{FF2B5EF4-FFF2-40B4-BE49-F238E27FC236}">
                <a16:creationId xmlns:a16="http://schemas.microsoft.com/office/drawing/2014/main" id="{2D679A90-A1BA-3AA2-7A18-A2C86269974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83029" y="981330"/>
            <a:ext cx="10089754" cy="3688400"/>
          </a:xfrm>
        </p:spPr>
      </p:pic>
      <p:sp>
        <p:nvSpPr>
          <p:cNvPr id="6" name="Metin kutusu 5">
            <a:extLst>
              <a:ext uri="{FF2B5EF4-FFF2-40B4-BE49-F238E27FC236}">
                <a16:creationId xmlns:a16="http://schemas.microsoft.com/office/drawing/2014/main" id="{1C58D6BB-1EA2-CA5F-EF67-96D3314F8999}"/>
              </a:ext>
            </a:extLst>
          </p:cNvPr>
          <p:cNvSpPr txBox="1"/>
          <p:nvPr/>
        </p:nvSpPr>
        <p:spPr>
          <a:xfrm>
            <a:off x="838199" y="5252936"/>
            <a:ext cx="10786353" cy="430887"/>
          </a:xfrm>
          <a:prstGeom prst="rect">
            <a:avLst/>
          </a:prstGeom>
          <a:noFill/>
        </p:spPr>
        <p:txBody>
          <a:bodyPr wrap="square" rtlCol="0">
            <a:spAutoFit/>
          </a:bodyPr>
          <a:lstStyle/>
          <a:p>
            <a:r>
              <a:rPr lang="tr-TR" sz="2200" b="1" dirty="0"/>
              <a:t>a: Table_Product, b: Table_Customer, c: Table_Category, d: </a:t>
            </a:r>
            <a:r>
              <a:rPr lang="tr-TR" sz="2200" b="1" dirty="0" err="1"/>
              <a:t>Table_CustomerProduct</a:t>
            </a:r>
            <a:endParaRPr lang="tr-TR" sz="2200" b="1" dirty="0"/>
          </a:p>
        </p:txBody>
      </p:sp>
    </p:spTree>
    <p:extLst>
      <p:ext uri="{BB962C8B-B14F-4D97-AF65-F5344CB8AC3E}">
        <p14:creationId xmlns:p14="http://schemas.microsoft.com/office/powerpoint/2010/main" val="4509421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7B585-9511-859B-18CD-E97FF47D1847}"/>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901492D6-DE2F-2D38-5CCF-8F1174B95747}"/>
              </a:ext>
            </a:extLst>
          </p:cNvPr>
          <p:cNvSpPr>
            <a:spLocks noGrp="1"/>
          </p:cNvSpPr>
          <p:nvPr>
            <p:ph type="title"/>
          </p:nvPr>
        </p:nvSpPr>
        <p:spPr>
          <a:xfrm>
            <a:off x="838200" y="248495"/>
            <a:ext cx="10515600" cy="432542"/>
          </a:xfrm>
        </p:spPr>
        <p:txBody>
          <a:bodyPr>
            <a:noAutofit/>
          </a:bodyPr>
          <a:lstStyle/>
          <a:p>
            <a:pPr algn="ctr"/>
            <a:r>
              <a:rPr lang="tr-TR" sz="2800" dirty="0"/>
              <a:t>VISUAL STUDIO İLE WINDOWS FORM PROJESİ OLUŞTURULMASI</a:t>
            </a:r>
          </a:p>
        </p:txBody>
      </p:sp>
      <p:sp>
        <p:nvSpPr>
          <p:cNvPr id="3" name="İçerik Yer Tutucusu 2">
            <a:extLst>
              <a:ext uri="{FF2B5EF4-FFF2-40B4-BE49-F238E27FC236}">
                <a16:creationId xmlns:a16="http://schemas.microsoft.com/office/drawing/2014/main" id="{B1ABE362-4C5C-5E42-F5B0-ED497CC8B8CA}"/>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Şimdi de, Visual Studio’yu açıp .Net </a:t>
            </a:r>
            <a:r>
              <a:rPr lang="tr-TR" sz="1800" dirty="0" err="1"/>
              <a:t>framework</a:t>
            </a:r>
            <a:r>
              <a:rPr lang="tr-TR" sz="1800" dirty="0"/>
              <a:t> ortamında Windows Form Uygulaması oluşturacağız. Bunu, otomasyon projemize arayüz sağlamak için gerçekleştiriyoruz.</a:t>
            </a:r>
          </a:p>
          <a:p>
            <a:pPr marL="0" indent="0" algn="just">
              <a:lnSpc>
                <a:spcPct val="100000"/>
              </a:lnSpc>
              <a:spcBef>
                <a:spcPts val="600"/>
              </a:spcBef>
              <a:spcAft>
                <a:spcPts val="600"/>
              </a:spcAft>
              <a:buNone/>
            </a:pPr>
            <a:r>
              <a:rPr lang="tr-TR" sz="1800" dirty="0"/>
              <a:t>Visual Studio’yu açtıktan sonra sağ taraftaki 4. seçenek olan Yeni bir proje oluştur butonuna tıklayınız.</a:t>
            </a:r>
          </a:p>
        </p:txBody>
      </p:sp>
    </p:spTree>
    <p:extLst>
      <p:ext uri="{BB962C8B-B14F-4D97-AF65-F5344CB8AC3E}">
        <p14:creationId xmlns:p14="http://schemas.microsoft.com/office/powerpoint/2010/main" val="30476187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54D8D-14E3-9DBE-7A68-C14F99FC022B}"/>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17FC86FD-B9E4-F042-94A3-C2C5F3BF515C}"/>
              </a:ext>
            </a:extLst>
          </p:cNvPr>
          <p:cNvSpPr>
            <a:spLocks noGrp="1"/>
          </p:cNvSpPr>
          <p:nvPr>
            <p:ph type="title"/>
          </p:nvPr>
        </p:nvSpPr>
        <p:spPr>
          <a:xfrm>
            <a:off x="838200" y="248495"/>
            <a:ext cx="10515600" cy="432542"/>
          </a:xfrm>
        </p:spPr>
        <p:txBody>
          <a:bodyPr>
            <a:noAutofit/>
          </a:bodyPr>
          <a:lstStyle/>
          <a:p>
            <a:pPr algn="ctr"/>
            <a:r>
              <a:rPr lang="tr-TR" sz="2800" dirty="0"/>
              <a:t>VISUAL STUDIO İLE WINDOWS FORM PROJESİ OLUŞTURULMASI</a:t>
            </a:r>
          </a:p>
        </p:txBody>
      </p:sp>
      <p:sp>
        <p:nvSpPr>
          <p:cNvPr id="3" name="İçerik Yer Tutucusu 2">
            <a:extLst>
              <a:ext uri="{FF2B5EF4-FFF2-40B4-BE49-F238E27FC236}">
                <a16:creationId xmlns:a16="http://schemas.microsoft.com/office/drawing/2014/main" id="{80CD9BC8-7EE2-DF89-6835-D14236BF7A1A}"/>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Karşınıza gelen menüden arama çubuğuna «Windows» yazınız ve çıkan sonuçlardan Windows Form Uygulaması (.Net Framework) seçeneğini seçiniz.</a:t>
            </a:r>
          </a:p>
          <a:p>
            <a:pPr marL="0" indent="0" algn="just">
              <a:lnSpc>
                <a:spcPct val="100000"/>
              </a:lnSpc>
              <a:spcBef>
                <a:spcPts val="600"/>
              </a:spcBef>
              <a:spcAft>
                <a:spcPts val="600"/>
              </a:spcAft>
              <a:buNone/>
            </a:pPr>
            <a:r>
              <a:rPr lang="tr-TR" sz="1800" dirty="0"/>
              <a:t> </a:t>
            </a:r>
          </a:p>
        </p:txBody>
      </p:sp>
      <p:pic>
        <p:nvPicPr>
          <p:cNvPr id="5" name="Resim 4" descr="metin, ekran görüntüsü, yazılım, yazı tipi içeren bir resim&#10;&#10;Yapay zeka tarafından oluşturulan içerik yanlış olabilir.">
            <a:extLst>
              <a:ext uri="{FF2B5EF4-FFF2-40B4-BE49-F238E27FC236}">
                <a16:creationId xmlns:a16="http://schemas.microsoft.com/office/drawing/2014/main" id="{99140A81-687A-8BAF-AF19-71AF406316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24727" y="1867947"/>
            <a:ext cx="8179829" cy="3720053"/>
          </a:xfrm>
          <a:prstGeom prst="rect">
            <a:avLst/>
          </a:prstGeom>
        </p:spPr>
      </p:pic>
    </p:spTree>
    <p:extLst>
      <p:ext uri="{BB962C8B-B14F-4D97-AF65-F5344CB8AC3E}">
        <p14:creationId xmlns:p14="http://schemas.microsoft.com/office/powerpoint/2010/main" val="8168413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B145D-9F5C-69CE-E9BF-205A7DB45E5F}"/>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B6BA0FCD-EC09-0C70-2F92-2E83ECDD5C22}"/>
              </a:ext>
            </a:extLst>
          </p:cNvPr>
          <p:cNvSpPr>
            <a:spLocks noGrp="1"/>
          </p:cNvSpPr>
          <p:nvPr>
            <p:ph type="title"/>
          </p:nvPr>
        </p:nvSpPr>
        <p:spPr>
          <a:xfrm>
            <a:off x="838200" y="248495"/>
            <a:ext cx="10515600" cy="432542"/>
          </a:xfrm>
        </p:spPr>
        <p:txBody>
          <a:bodyPr>
            <a:noAutofit/>
          </a:bodyPr>
          <a:lstStyle/>
          <a:p>
            <a:pPr algn="ctr"/>
            <a:r>
              <a:rPr lang="tr-TR" sz="2800" dirty="0"/>
              <a:t>VISUAL STUDIO İLE WINDOWS FORM PROJESİ OLUŞTURULMASI</a:t>
            </a:r>
          </a:p>
        </p:txBody>
      </p:sp>
      <p:sp>
        <p:nvSpPr>
          <p:cNvPr id="3" name="İçerik Yer Tutucusu 2">
            <a:extLst>
              <a:ext uri="{FF2B5EF4-FFF2-40B4-BE49-F238E27FC236}">
                <a16:creationId xmlns:a16="http://schemas.microsoft.com/office/drawing/2014/main" id="{6EC86927-66A3-C5B9-0660-6934EB368239}"/>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Projemizin türünü seçtikten sonra projemize isim olarak </a:t>
            </a:r>
            <a:r>
              <a:rPr lang="tr-TR" sz="1800" dirty="0" err="1"/>
              <a:t>Otomasyon_Projesi</a:t>
            </a:r>
            <a:r>
              <a:rPr lang="tr-TR" sz="1800" dirty="0"/>
              <a:t> adını veriyoruz ve Oluştur butonuna tıklayarak projemizi oluşturuyoruz.</a:t>
            </a:r>
          </a:p>
          <a:p>
            <a:pPr marL="0" indent="0" algn="just">
              <a:lnSpc>
                <a:spcPct val="100000"/>
              </a:lnSpc>
              <a:spcBef>
                <a:spcPts val="600"/>
              </a:spcBef>
              <a:spcAft>
                <a:spcPts val="600"/>
              </a:spcAft>
              <a:buNone/>
            </a:pPr>
            <a:endParaRPr lang="tr-TR" sz="1800" dirty="0"/>
          </a:p>
        </p:txBody>
      </p:sp>
      <p:pic>
        <p:nvPicPr>
          <p:cNvPr id="5" name="Resim 4" descr="metin, ekran görüntüsü, yazılım, multimedya yazılımı içeren bir resim&#10;&#10;Yapay zeka tarafından oluşturulan içerik yanlış olabilir.">
            <a:extLst>
              <a:ext uri="{FF2B5EF4-FFF2-40B4-BE49-F238E27FC236}">
                <a16:creationId xmlns:a16="http://schemas.microsoft.com/office/drawing/2014/main" id="{F1C7A6EC-CBEA-4EF0-01C1-B76FA26037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69720" y="1472863"/>
            <a:ext cx="9784080" cy="5136642"/>
          </a:xfrm>
          <a:prstGeom prst="rect">
            <a:avLst/>
          </a:prstGeom>
        </p:spPr>
      </p:pic>
    </p:spTree>
    <p:extLst>
      <p:ext uri="{BB962C8B-B14F-4D97-AF65-F5344CB8AC3E}">
        <p14:creationId xmlns:p14="http://schemas.microsoft.com/office/powerpoint/2010/main" val="36806901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23CAAF-93DC-69C6-761F-41FE90D9B52B}"/>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581A6109-5036-DDAC-BDCF-D08F0D0AB2CA}"/>
              </a:ext>
            </a:extLst>
          </p:cNvPr>
          <p:cNvSpPr>
            <a:spLocks noGrp="1"/>
          </p:cNvSpPr>
          <p:nvPr>
            <p:ph type="title"/>
          </p:nvPr>
        </p:nvSpPr>
        <p:spPr>
          <a:xfrm>
            <a:off x="838200" y="248495"/>
            <a:ext cx="10515600" cy="432542"/>
          </a:xfrm>
        </p:spPr>
        <p:txBody>
          <a:bodyPr>
            <a:noAutofit/>
          </a:bodyPr>
          <a:lstStyle/>
          <a:p>
            <a:pPr algn="ctr"/>
            <a:r>
              <a:rPr lang="tr-TR" sz="2800" dirty="0"/>
              <a:t>FORM BİLEŞENLERİNİN OLUŞTURULMASI</a:t>
            </a:r>
          </a:p>
        </p:txBody>
      </p:sp>
      <p:sp>
        <p:nvSpPr>
          <p:cNvPr id="3" name="İçerik Yer Tutucusu 2">
            <a:extLst>
              <a:ext uri="{FF2B5EF4-FFF2-40B4-BE49-F238E27FC236}">
                <a16:creationId xmlns:a16="http://schemas.microsoft.com/office/drawing/2014/main" id="{BB40916B-6D6A-398D-DE31-F47F489DF0F1}"/>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Karşınıza gelen boş Windows form içerisine aşağıdaki bileşenleri ekliyoruz:</a:t>
            </a:r>
          </a:p>
          <a:p>
            <a:pPr marL="0" indent="0" algn="just">
              <a:lnSpc>
                <a:spcPct val="100000"/>
              </a:lnSpc>
              <a:spcBef>
                <a:spcPts val="600"/>
              </a:spcBef>
              <a:spcAft>
                <a:spcPts val="600"/>
              </a:spcAft>
              <a:buNone/>
            </a:pPr>
            <a:r>
              <a:rPr lang="tr-TR" sz="1800" dirty="0"/>
              <a:t>1 adet datagridview,</a:t>
            </a:r>
          </a:p>
          <a:p>
            <a:pPr marL="0" indent="0" algn="just">
              <a:lnSpc>
                <a:spcPct val="100000"/>
              </a:lnSpc>
              <a:spcBef>
                <a:spcPts val="600"/>
              </a:spcBef>
              <a:spcAft>
                <a:spcPts val="600"/>
              </a:spcAft>
              <a:buNone/>
            </a:pPr>
            <a:r>
              <a:rPr lang="tr-TR" sz="1800" dirty="0"/>
              <a:t>4 adet buton (ekleme, silme, güncelleme ve </a:t>
            </a:r>
            <a:r>
              <a:rPr lang="tr-TR" sz="1800" dirty="0" err="1"/>
              <a:t>listemele</a:t>
            </a:r>
            <a:r>
              <a:rPr lang="tr-TR" sz="1800" dirty="0"/>
              <a:t> işlemleri için)</a:t>
            </a:r>
          </a:p>
          <a:p>
            <a:pPr marL="0" indent="0" algn="just">
              <a:lnSpc>
                <a:spcPct val="100000"/>
              </a:lnSpc>
              <a:spcBef>
                <a:spcPts val="600"/>
              </a:spcBef>
              <a:spcAft>
                <a:spcPts val="600"/>
              </a:spcAft>
              <a:buNone/>
            </a:pPr>
            <a:r>
              <a:rPr lang="tr-TR" sz="1800" dirty="0"/>
              <a:t>1 adet </a:t>
            </a:r>
            <a:r>
              <a:rPr lang="tr-TR" sz="1800" dirty="0" err="1"/>
              <a:t>groupBox</a:t>
            </a:r>
            <a:r>
              <a:rPr lang="tr-TR" sz="1800" dirty="0"/>
              <a:t> ve </a:t>
            </a:r>
            <a:r>
              <a:rPr lang="tr-TR" sz="1800" dirty="0" err="1"/>
              <a:t>groupBox</a:t>
            </a:r>
            <a:r>
              <a:rPr lang="tr-TR" sz="1800" dirty="0"/>
              <a:t> içerisine (4 adet </a:t>
            </a:r>
            <a:r>
              <a:rPr lang="tr-TR" sz="1800" dirty="0" err="1"/>
              <a:t>label</a:t>
            </a:r>
            <a:r>
              <a:rPr lang="tr-TR" sz="1800" dirty="0"/>
              <a:t>, 4 adet </a:t>
            </a:r>
            <a:r>
              <a:rPr lang="tr-TR" sz="1800" dirty="0" err="1"/>
              <a:t>textbox</a:t>
            </a:r>
            <a:r>
              <a:rPr lang="tr-TR" sz="1800" dirty="0"/>
              <a:t>) ekliyoruz.</a:t>
            </a:r>
          </a:p>
          <a:p>
            <a:pPr marL="0" indent="0" algn="just">
              <a:lnSpc>
                <a:spcPct val="100000"/>
              </a:lnSpc>
              <a:spcBef>
                <a:spcPts val="600"/>
              </a:spcBef>
              <a:spcAft>
                <a:spcPts val="600"/>
              </a:spcAft>
              <a:buNone/>
            </a:pPr>
            <a:endParaRPr lang="tr-TR" sz="1800" dirty="0"/>
          </a:p>
          <a:p>
            <a:pPr marL="0" indent="0" algn="just">
              <a:lnSpc>
                <a:spcPct val="100000"/>
              </a:lnSpc>
              <a:spcBef>
                <a:spcPts val="600"/>
              </a:spcBef>
              <a:spcAft>
                <a:spcPts val="600"/>
              </a:spcAft>
              <a:buNone/>
            </a:pPr>
            <a:r>
              <a:rPr lang="tr-TR" sz="1800" dirty="0" err="1"/>
              <a:t>groupBox</a:t>
            </a:r>
            <a:r>
              <a:rPr lang="tr-TR" sz="1800" dirty="0"/>
              <a:t> içerisindeki bileşenleri veri ekleme ve veri güncelleme işlemleri için ekliyoruz.</a:t>
            </a:r>
          </a:p>
        </p:txBody>
      </p:sp>
    </p:spTree>
    <p:extLst>
      <p:ext uri="{BB962C8B-B14F-4D97-AF65-F5344CB8AC3E}">
        <p14:creationId xmlns:p14="http://schemas.microsoft.com/office/powerpoint/2010/main" val="25824348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39A61-6195-64AD-03CA-DF8CC55946EE}"/>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542E2E91-6F60-B2ED-5817-7BED39FE1485}"/>
              </a:ext>
            </a:extLst>
          </p:cNvPr>
          <p:cNvSpPr>
            <a:spLocks noGrp="1"/>
          </p:cNvSpPr>
          <p:nvPr>
            <p:ph type="title"/>
          </p:nvPr>
        </p:nvSpPr>
        <p:spPr>
          <a:xfrm>
            <a:off x="838200" y="248495"/>
            <a:ext cx="10515600" cy="432542"/>
          </a:xfrm>
        </p:spPr>
        <p:txBody>
          <a:bodyPr>
            <a:noAutofit/>
          </a:bodyPr>
          <a:lstStyle/>
          <a:p>
            <a:pPr algn="ctr"/>
            <a:r>
              <a:rPr lang="tr-TR" sz="2800" dirty="0"/>
              <a:t>FORM BİLEŞENLERİNİN OLUŞTURULMASI</a:t>
            </a:r>
          </a:p>
        </p:txBody>
      </p:sp>
      <p:sp>
        <p:nvSpPr>
          <p:cNvPr id="3" name="İçerik Yer Tutucusu 2">
            <a:extLst>
              <a:ext uri="{FF2B5EF4-FFF2-40B4-BE49-F238E27FC236}">
                <a16:creationId xmlns:a16="http://schemas.microsoft.com/office/drawing/2014/main" id="{9FBE7847-E054-9588-FD2D-6D4393E432F6}"/>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Eklediğimiz bileşenler arasında butonların ve </a:t>
            </a:r>
            <a:r>
              <a:rPr lang="tr-TR" sz="1800" dirty="0" err="1"/>
              <a:t>textbox’ların</a:t>
            </a:r>
            <a:r>
              <a:rPr lang="tr-TR" sz="1800" dirty="0"/>
              <a:t> id bilgisini değiştirmeliyiz. Bunun nedeni, işlemler esnasında bu bileşenler kullanılırken hangi bileşenin hangi görev için ayarlandığını unutmamaktır. Örneğin, yeni bir müşteri eklerken 1. </a:t>
            </a:r>
            <a:r>
              <a:rPr lang="tr-TR" sz="1800" dirty="0" err="1"/>
              <a:t>textbox</a:t>
            </a:r>
            <a:r>
              <a:rPr lang="tr-TR" sz="1800" dirty="0"/>
              <a:t> bileşenine kullanıcı adı bilgisini gireceğimiz için bu bileşene txt_isim diyeceğiz ya da güncelleme işlemi için eklediğimiz butonun id bilgisine </a:t>
            </a:r>
            <a:r>
              <a:rPr lang="tr-TR" sz="1800" dirty="0" err="1"/>
              <a:t>btn_guncelle</a:t>
            </a:r>
            <a:r>
              <a:rPr lang="tr-TR" sz="1800" dirty="0"/>
              <a:t> diyeceğiz.</a:t>
            </a:r>
          </a:p>
          <a:p>
            <a:pPr marL="0" indent="0" algn="just">
              <a:lnSpc>
                <a:spcPct val="100000"/>
              </a:lnSpc>
              <a:spcBef>
                <a:spcPts val="600"/>
              </a:spcBef>
              <a:spcAft>
                <a:spcPts val="600"/>
              </a:spcAft>
              <a:buNone/>
            </a:pPr>
            <a:r>
              <a:rPr lang="tr-TR" sz="1800" dirty="0"/>
              <a:t>Visual studio’da bir bileşenin (</a:t>
            </a:r>
            <a:r>
              <a:rPr lang="tr-TR" sz="1800" dirty="0" err="1"/>
              <a:t>toolbox</a:t>
            </a:r>
            <a:r>
              <a:rPr lang="tr-TR" sz="1800" dirty="0"/>
              <a:t> penceresinden eklenen bir form öğesinin) id ya da text bilgisini değiştirmek için o bileşene bir defa sol tıklayıp seçtikten sonra sağ tıklayıp Özellikler (Properties) seçeneğini seçerseniz sağ alt tarafa Özellikler penceresi eklenecektir.</a:t>
            </a:r>
          </a:p>
          <a:p>
            <a:pPr marL="0" indent="0" algn="just">
              <a:lnSpc>
                <a:spcPct val="100000"/>
              </a:lnSpc>
              <a:spcBef>
                <a:spcPts val="600"/>
              </a:spcBef>
              <a:spcAft>
                <a:spcPts val="600"/>
              </a:spcAft>
              <a:buNone/>
            </a:pPr>
            <a:r>
              <a:rPr lang="tr-TR" sz="1800" dirty="0"/>
              <a:t>Oradan, ilgili bileşenin text bilgisini (Örneğin bir butonun üzerinde EKLE yazması için), ya da id bilgisini (bir butonun tıklama işlevi için kod yazarken hangi buton olduğunu belirtmek için) düzenleyebilirsiniz.</a:t>
            </a:r>
          </a:p>
        </p:txBody>
      </p:sp>
    </p:spTree>
    <p:extLst>
      <p:ext uri="{BB962C8B-B14F-4D97-AF65-F5344CB8AC3E}">
        <p14:creationId xmlns:p14="http://schemas.microsoft.com/office/powerpoint/2010/main" val="26506870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CCF7B3-932B-5537-BCBB-E2BC5FD5B18D}"/>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3E49E8FF-4969-01BF-E1C3-E26D6495B553}"/>
              </a:ext>
            </a:extLst>
          </p:cNvPr>
          <p:cNvSpPr>
            <a:spLocks noGrp="1"/>
          </p:cNvSpPr>
          <p:nvPr>
            <p:ph type="title"/>
          </p:nvPr>
        </p:nvSpPr>
        <p:spPr>
          <a:xfrm>
            <a:off x="838200" y="248495"/>
            <a:ext cx="10515600" cy="432542"/>
          </a:xfrm>
        </p:spPr>
        <p:txBody>
          <a:bodyPr>
            <a:noAutofit/>
          </a:bodyPr>
          <a:lstStyle/>
          <a:p>
            <a:pPr algn="ctr"/>
            <a:r>
              <a:rPr lang="tr-TR" sz="2800" dirty="0"/>
              <a:t>FORM BİLEŞENLERİNİN OLUŞTURULMASI</a:t>
            </a:r>
          </a:p>
        </p:txBody>
      </p:sp>
      <p:sp>
        <p:nvSpPr>
          <p:cNvPr id="3" name="İçerik Yer Tutucusu 2">
            <a:extLst>
              <a:ext uri="{FF2B5EF4-FFF2-40B4-BE49-F238E27FC236}">
                <a16:creationId xmlns:a16="http://schemas.microsoft.com/office/drawing/2014/main" id="{2FB126F2-527E-93D2-38E1-C5E69E8D4A96}"/>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Form’a eklediğimiz bileşenler arasında butonların ve </a:t>
            </a:r>
            <a:r>
              <a:rPr lang="tr-TR" sz="1800" dirty="0" err="1"/>
              <a:t>textbox’ların</a:t>
            </a:r>
            <a:r>
              <a:rPr lang="tr-TR" sz="1800" dirty="0"/>
              <a:t> id bilgileri aşağıdaki gibidir:</a:t>
            </a:r>
          </a:p>
          <a:p>
            <a:pPr marL="0" indent="0" algn="just">
              <a:lnSpc>
                <a:spcPct val="100000"/>
              </a:lnSpc>
              <a:spcBef>
                <a:spcPts val="600"/>
              </a:spcBef>
              <a:spcAft>
                <a:spcPts val="600"/>
              </a:spcAft>
              <a:buNone/>
            </a:pPr>
            <a:r>
              <a:rPr lang="tr-TR" sz="1800" dirty="0" err="1"/>
              <a:t>btn_ekle</a:t>
            </a:r>
            <a:r>
              <a:rPr lang="tr-TR" sz="1800" dirty="0"/>
              <a:t>, </a:t>
            </a:r>
            <a:r>
              <a:rPr lang="tr-TR" sz="1800" dirty="0" err="1"/>
              <a:t>btn_guncelle</a:t>
            </a:r>
            <a:r>
              <a:rPr lang="tr-TR" sz="1800" dirty="0"/>
              <a:t>, </a:t>
            </a:r>
            <a:r>
              <a:rPr lang="tr-TR" sz="1800" dirty="0" err="1"/>
              <a:t>btn_sil</a:t>
            </a:r>
            <a:r>
              <a:rPr lang="tr-TR" sz="1800" dirty="0"/>
              <a:t>, </a:t>
            </a:r>
            <a:r>
              <a:rPr lang="tr-TR" sz="1800" dirty="0" err="1"/>
              <a:t>btn_listele</a:t>
            </a:r>
            <a:endParaRPr lang="tr-TR" sz="1800" dirty="0"/>
          </a:p>
          <a:p>
            <a:pPr marL="0" indent="0" algn="just">
              <a:lnSpc>
                <a:spcPct val="100000"/>
              </a:lnSpc>
              <a:spcBef>
                <a:spcPts val="600"/>
              </a:spcBef>
              <a:spcAft>
                <a:spcPts val="600"/>
              </a:spcAft>
              <a:buNone/>
            </a:pPr>
            <a:r>
              <a:rPr lang="tr-TR" sz="1800" dirty="0"/>
              <a:t>txt_isim, </a:t>
            </a:r>
            <a:r>
              <a:rPr lang="tr-TR" sz="1800" dirty="0" err="1"/>
              <a:t>txt_soyisim</a:t>
            </a:r>
            <a:r>
              <a:rPr lang="tr-TR" sz="1800" dirty="0"/>
              <a:t>, </a:t>
            </a:r>
            <a:r>
              <a:rPr lang="tr-TR" sz="1800" dirty="0" err="1"/>
              <a:t>txt_email</a:t>
            </a:r>
            <a:r>
              <a:rPr lang="tr-TR" sz="1800" dirty="0"/>
              <a:t>, </a:t>
            </a:r>
            <a:r>
              <a:rPr lang="tr-TR" sz="1800" dirty="0" err="1"/>
              <a:t>txt_telefon</a:t>
            </a:r>
            <a:endParaRPr lang="tr-TR" sz="1800" dirty="0"/>
          </a:p>
        </p:txBody>
      </p:sp>
    </p:spTree>
    <p:extLst>
      <p:ext uri="{BB962C8B-B14F-4D97-AF65-F5344CB8AC3E}">
        <p14:creationId xmlns:p14="http://schemas.microsoft.com/office/powerpoint/2010/main" val="35593620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90EF40-7A5F-1368-7272-707C8307FF1A}"/>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8AE3FF6D-540B-8336-2F09-AF983932B2E8}"/>
              </a:ext>
            </a:extLst>
          </p:cNvPr>
          <p:cNvSpPr>
            <a:spLocks noGrp="1"/>
          </p:cNvSpPr>
          <p:nvPr>
            <p:ph type="title"/>
          </p:nvPr>
        </p:nvSpPr>
        <p:spPr>
          <a:xfrm>
            <a:off x="838200" y="248495"/>
            <a:ext cx="10515600" cy="432542"/>
          </a:xfrm>
        </p:spPr>
        <p:txBody>
          <a:bodyPr>
            <a:noAutofit/>
          </a:bodyPr>
          <a:lstStyle/>
          <a:p>
            <a:pPr algn="ctr"/>
            <a:r>
              <a:rPr lang="tr-TR" sz="2800" dirty="0"/>
              <a:t>FORM BİLEŞENLERİNİN OLUŞTURULMASI</a:t>
            </a:r>
          </a:p>
        </p:txBody>
      </p:sp>
      <p:sp>
        <p:nvSpPr>
          <p:cNvPr id="3" name="İçerik Yer Tutucusu 2">
            <a:extLst>
              <a:ext uri="{FF2B5EF4-FFF2-40B4-BE49-F238E27FC236}">
                <a16:creationId xmlns:a16="http://schemas.microsoft.com/office/drawing/2014/main" id="{683FDC95-EB81-FCE9-EA12-EABEBED760F6}"/>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err="1"/>
              <a:t>Form’u</a:t>
            </a:r>
            <a:r>
              <a:rPr lang="tr-TR" sz="1800" dirty="0"/>
              <a:t> oluşturup, özelliklerini tamamladıktan sonra görünümü aşağıdaki gibidir.</a:t>
            </a:r>
          </a:p>
        </p:txBody>
      </p:sp>
      <p:pic>
        <p:nvPicPr>
          <p:cNvPr id="5" name="Resim 4" descr="ekran görüntüsü, metin, ekran, görüntüleme, yazılım içeren bir resim&#10;&#10;Yapay zeka tarafından oluşturulan içerik yanlış olabilir.">
            <a:extLst>
              <a:ext uri="{FF2B5EF4-FFF2-40B4-BE49-F238E27FC236}">
                <a16:creationId xmlns:a16="http://schemas.microsoft.com/office/drawing/2014/main" id="{49654193-AA91-A7E9-FD36-40C4886CAD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4157" y="1170503"/>
            <a:ext cx="8983685" cy="5561037"/>
          </a:xfrm>
          <a:prstGeom prst="rect">
            <a:avLst/>
          </a:prstGeom>
        </p:spPr>
      </p:pic>
    </p:spTree>
    <p:extLst>
      <p:ext uri="{BB962C8B-B14F-4D97-AF65-F5344CB8AC3E}">
        <p14:creationId xmlns:p14="http://schemas.microsoft.com/office/powerpoint/2010/main" val="27540026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2360F-8427-6110-FC44-1CFF43E20C84}"/>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1254B77D-7DC8-C2C3-74AE-04BDA1E28FCE}"/>
              </a:ext>
            </a:extLst>
          </p:cNvPr>
          <p:cNvSpPr>
            <a:spLocks noGrp="1"/>
          </p:cNvSpPr>
          <p:nvPr>
            <p:ph type="title"/>
          </p:nvPr>
        </p:nvSpPr>
        <p:spPr>
          <a:xfrm>
            <a:off x="838200" y="248495"/>
            <a:ext cx="10515600" cy="432542"/>
          </a:xfrm>
        </p:spPr>
        <p:txBody>
          <a:bodyPr>
            <a:noAutofit/>
          </a:bodyPr>
          <a:lstStyle/>
          <a:p>
            <a:pPr algn="ctr"/>
            <a:r>
              <a:rPr lang="tr-TR" sz="2800" dirty="0"/>
              <a:t>PROJEYE ENTITY FRAMEWORK KURULUMU</a:t>
            </a:r>
          </a:p>
        </p:txBody>
      </p:sp>
      <p:sp>
        <p:nvSpPr>
          <p:cNvPr id="3" name="İçerik Yer Tutucusu 2">
            <a:extLst>
              <a:ext uri="{FF2B5EF4-FFF2-40B4-BE49-F238E27FC236}">
                <a16:creationId xmlns:a16="http://schemas.microsoft.com/office/drawing/2014/main" id="{2B266AFA-CB53-8F71-3A68-6562A6EBDC0B}"/>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Şimdi, projemize </a:t>
            </a:r>
            <a:r>
              <a:rPr lang="tr-TR" sz="1800" dirty="0" err="1"/>
              <a:t>Entity</a:t>
            </a:r>
            <a:r>
              <a:rPr lang="tr-TR" sz="1800" dirty="0"/>
              <a:t> </a:t>
            </a:r>
            <a:r>
              <a:rPr lang="tr-TR" sz="1800" dirty="0" err="1"/>
              <a:t>Framework’ü</a:t>
            </a:r>
            <a:r>
              <a:rPr lang="tr-TR" sz="1800" dirty="0"/>
              <a:t> eklememiz gerekli. Bunun için projemize sağ tıklayıp </a:t>
            </a:r>
            <a:r>
              <a:rPr lang="tr-TR" sz="1800" dirty="0" err="1"/>
              <a:t>NuGet</a:t>
            </a:r>
            <a:r>
              <a:rPr lang="tr-TR" sz="1800" dirty="0"/>
              <a:t> paketlerini yönet (</a:t>
            </a:r>
            <a:r>
              <a:rPr lang="tr-TR" sz="1800" dirty="0" err="1"/>
              <a:t>Manage</a:t>
            </a:r>
            <a:r>
              <a:rPr lang="tr-TR" sz="1800" dirty="0"/>
              <a:t> </a:t>
            </a:r>
            <a:r>
              <a:rPr lang="tr-TR" sz="1800" dirty="0" err="1"/>
              <a:t>NuGet</a:t>
            </a:r>
            <a:r>
              <a:rPr lang="tr-TR" sz="1800" dirty="0"/>
              <a:t> </a:t>
            </a:r>
            <a:r>
              <a:rPr lang="tr-TR" sz="1800" dirty="0" err="1"/>
              <a:t>Packages</a:t>
            </a:r>
            <a:r>
              <a:rPr lang="tr-TR" sz="1800" dirty="0"/>
              <a:t>) seçeneğini tıklıyoruz.</a:t>
            </a:r>
          </a:p>
          <a:p>
            <a:pPr marL="0" indent="0" algn="just">
              <a:lnSpc>
                <a:spcPct val="100000"/>
              </a:lnSpc>
              <a:spcBef>
                <a:spcPts val="600"/>
              </a:spcBef>
              <a:spcAft>
                <a:spcPts val="600"/>
              </a:spcAft>
              <a:buNone/>
            </a:pPr>
            <a:endParaRPr lang="tr-TR" sz="1800" dirty="0"/>
          </a:p>
        </p:txBody>
      </p:sp>
      <p:pic>
        <p:nvPicPr>
          <p:cNvPr id="5" name="Resim 4" descr="metin, ekran görüntüsü, yazılım, multimedya yazılımı içeren bir resim&#10;&#10;Yapay zeka tarafından oluşturulan içerik yanlış olabilir.">
            <a:extLst>
              <a:ext uri="{FF2B5EF4-FFF2-40B4-BE49-F238E27FC236}">
                <a16:creationId xmlns:a16="http://schemas.microsoft.com/office/drawing/2014/main" id="{0865702D-D032-A7C6-AEAC-8D17A1F083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38508" y="1561682"/>
            <a:ext cx="4177171" cy="5047823"/>
          </a:xfrm>
          <a:prstGeom prst="rect">
            <a:avLst/>
          </a:prstGeom>
        </p:spPr>
      </p:pic>
    </p:spTree>
    <p:extLst>
      <p:ext uri="{BB962C8B-B14F-4D97-AF65-F5344CB8AC3E}">
        <p14:creationId xmlns:p14="http://schemas.microsoft.com/office/powerpoint/2010/main" val="35033068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54A1C3-8835-6768-9B2C-6C68B449E446}"/>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E9B49D95-DC18-ECF6-6D58-FD2FFD4547A2}"/>
              </a:ext>
            </a:extLst>
          </p:cNvPr>
          <p:cNvSpPr>
            <a:spLocks noGrp="1"/>
          </p:cNvSpPr>
          <p:nvPr>
            <p:ph type="title"/>
          </p:nvPr>
        </p:nvSpPr>
        <p:spPr>
          <a:xfrm>
            <a:off x="838200" y="248495"/>
            <a:ext cx="10515600" cy="432542"/>
          </a:xfrm>
        </p:spPr>
        <p:txBody>
          <a:bodyPr>
            <a:noAutofit/>
          </a:bodyPr>
          <a:lstStyle/>
          <a:p>
            <a:pPr algn="ctr"/>
            <a:r>
              <a:rPr lang="tr-TR" sz="2800" dirty="0"/>
              <a:t>PROJEYE ENTITY FRAMEWORK KURULUMU</a:t>
            </a:r>
          </a:p>
        </p:txBody>
      </p:sp>
      <p:sp>
        <p:nvSpPr>
          <p:cNvPr id="3" name="İçerik Yer Tutucusu 2">
            <a:extLst>
              <a:ext uri="{FF2B5EF4-FFF2-40B4-BE49-F238E27FC236}">
                <a16:creationId xmlns:a16="http://schemas.microsoft.com/office/drawing/2014/main" id="{10E0C812-179F-DDF0-1951-1B93D7FBD6A2}"/>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Karşımıza gelen pencereden </a:t>
            </a:r>
            <a:r>
              <a:rPr lang="tr-TR" sz="1800" dirty="0" err="1"/>
              <a:t>Gözat</a:t>
            </a:r>
            <a:r>
              <a:rPr lang="tr-TR" sz="1800" dirty="0"/>
              <a:t>  (</a:t>
            </a:r>
            <a:r>
              <a:rPr lang="tr-TR" sz="1800" dirty="0" err="1"/>
              <a:t>Browse</a:t>
            </a:r>
            <a:r>
              <a:rPr lang="tr-TR" sz="1800" dirty="0"/>
              <a:t>) sekmesine tıklayınız. Ara kısmına </a:t>
            </a:r>
            <a:r>
              <a:rPr lang="tr-TR" sz="1800" dirty="0" err="1"/>
              <a:t>EntityFramework</a:t>
            </a:r>
            <a:r>
              <a:rPr lang="tr-TR" sz="1800" dirty="0"/>
              <a:t> yazınız ve çıkan sonuçlardan </a:t>
            </a:r>
            <a:r>
              <a:rPr lang="tr-TR" sz="1800" dirty="0" err="1"/>
              <a:t>EntityFramework’ü</a:t>
            </a:r>
            <a:r>
              <a:rPr lang="tr-TR" sz="1800" dirty="0"/>
              <a:t> tıklayınız ve  sağında yer alan indirmek simgesi olan aşağı ok simgesine tıklayınız. NOT: Bunun için internete bağlı olmanız gerekmektedir.</a:t>
            </a:r>
          </a:p>
          <a:p>
            <a:pPr marL="0" indent="0" algn="just">
              <a:lnSpc>
                <a:spcPct val="100000"/>
              </a:lnSpc>
              <a:spcBef>
                <a:spcPts val="600"/>
              </a:spcBef>
              <a:spcAft>
                <a:spcPts val="600"/>
              </a:spcAft>
              <a:buNone/>
            </a:pPr>
            <a:endParaRPr lang="tr-TR" sz="1800" dirty="0"/>
          </a:p>
        </p:txBody>
      </p:sp>
      <p:pic>
        <p:nvPicPr>
          <p:cNvPr id="5" name="Resim 4" descr="metin, ekran görüntüsü, yazılım, multimedya yazılımı içeren bir resim&#10;&#10;Yapay zeka tarafından oluşturulan içerik yanlış olabilir.">
            <a:extLst>
              <a:ext uri="{FF2B5EF4-FFF2-40B4-BE49-F238E27FC236}">
                <a16:creationId xmlns:a16="http://schemas.microsoft.com/office/drawing/2014/main" id="{4E4E2D25-3AD4-9632-F6A3-9C9F78698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4277" y="2087064"/>
            <a:ext cx="9943446" cy="3403718"/>
          </a:xfrm>
          <a:prstGeom prst="rect">
            <a:avLst/>
          </a:prstGeom>
        </p:spPr>
      </p:pic>
    </p:spTree>
    <p:extLst>
      <p:ext uri="{BB962C8B-B14F-4D97-AF65-F5344CB8AC3E}">
        <p14:creationId xmlns:p14="http://schemas.microsoft.com/office/powerpoint/2010/main" val="4702237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15DD6-F6B9-0C8A-B36E-1EBC79C7D364}"/>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E22097D5-9AEF-81F0-4C46-1624242A85D1}"/>
              </a:ext>
            </a:extLst>
          </p:cNvPr>
          <p:cNvSpPr>
            <a:spLocks noGrp="1"/>
          </p:cNvSpPr>
          <p:nvPr>
            <p:ph type="title"/>
          </p:nvPr>
        </p:nvSpPr>
        <p:spPr>
          <a:xfrm>
            <a:off x="838200" y="248495"/>
            <a:ext cx="10515600" cy="432542"/>
          </a:xfrm>
        </p:spPr>
        <p:txBody>
          <a:bodyPr>
            <a:noAutofit/>
          </a:bodyPr>
          <a:lstStyle/>
          <a:p>
            <a:pPr algn="ctr"/>
            <a:r>
              <a:rPr lang="tr-TR" sz="2800" dirty="0"/>
              <a:t>PROJEYE ENTITY FRAMEWORK KURULUMU</a:t>
            </a:r>
          </a:p>
        </p:txBody>
      </p:sp>
      <p:sp>
        <p:nvSpPr>
          <p:cNvPr id="3" name="İçerik Yer Tutucusu 2">
            <a:extLst>
              <a:ext uri="{FF2B5EF4-FFF2-40B4-BE49-F238E27FC236}">
                <a16:creationId xmlns:a16="http://schemas.microsoft.com/office/drawing/2014/main" id="{03014E91-6837-B926-E6C3-4E7C1A027D68}"/>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Karşınıza gelen penceredeki Uygula butonuna tıklayınız.</a:t>
            </a:r>
          </a:p>
          <a:p>
            <a:pPr marL="0" indent="0" algn="just">
              <a:lnSpc>
                <a:spcPct val="100000"/>
              </a:lnSpc>
              <a:spcBef>
                <a:spcPts val="600"/>
              </a:spcBef>
              <a:spcAft>
                <a:spcPts val="600"/>
              </a:spcAft>
              <a:buNone/>
            </a:pPr>
            <a:endParaRPr lang="tr-TR" sz="1800" dirty="0"/>
          </a:p>
        </p:txBody>
      </p:sp>
      <p:pic>
        <p:nvPicPr>
          <p:cNvPr id="5" name="Resim 4" descr="metin, ekran görüntüsü, yazılım, multimedya yazılımı içeren bir resim&#10;&#10;Yapay zeka tarafından oluşturulan içerik yanlış olabilir.">
            <a:extLst>
              <a:ext uri="{FF2B5EF4-FFF2-40B4-BE49-F238E27FC236}">
                <a16:creationId xmlns:a16="http://schemas.microsoft.com/office/drawing/2014/main" id="{AD983566-1783-9D38-83FA-792E79F251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3129" y="1108508"/>
            <a:ext cx="5283050" cy="5300457"/>
          </a:xfrm>
          <a:prstGeom prst="rect">
            <a:avLst/>
          </a:prstGeom>
        </p:spPr>
      </p:pic>
      <p:pic>
        <p:nvPicPr>
          <p:cNvPr id="6" name="Resim 5" descr="metin, ekran görüntüsü, yazılım, multimedya yazılımı içeren bir resim&#10;&#10;Yapay zeka tarafından oluşturulan içerik yanlış olabilir.">
            <a:extLst>
              <a:ext uri="{FF2B5EF4-FFF2-40B4-BE49-F238E27FC236}">
                <a16:creationId xmlns:a16="http://schemas.microsoft.com/office/drawing/2014/main" id="{34125CDD-4C1D-CDA6-F531-FC5AF6D90B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54475" y="1309048"/>
            <a:ext cx="5283050" cy="5300457"/>
          </a:xfrm>
          <a:prstGeom prst="rect">
            <a:avLst/>
          </a:prstGeom>
        </p:spPr>
      </p:pic>
    </p:spTree>
    <p:extLst>
      <p:ext uri="{BB962C8B-B14F-4D97-AF65-F5344CB8AC3E}">
        <p14:creationId xmlns:p14="http://schemas.microsoft.com/office/powerpoint/2010/main" val="3368689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2FE5E7-B1A2-EA09-981D-19566F8D71CA}"/>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2248C81F-9286-DEF1-39D1-7C65D0A197D6}"/>
              </a:ext>
            </a:extLst>
          </p:cNvPr>
          <p:cNvSpPr>
            <a:spLocks noGrp="1"/>
          </p:cNvSpPr>
          <p:nvPr>
            <p:ph type="title"/>
          </p:nvPr>
        </p:nvSpPr>
        <p:spPr>
          <a:xfrm>
            <a:off x="838200" y="248495"/>
            <a:ext cx="10515600" cy="432542"/>
          </a:xfrm>
        </p:spPr>
        <p:txBody>
          <a:bodyPr>
            <a:noAutofit/>
          </a:bodyPr>
          <a:lstStyle/>
          <a:p>
            <a:pPr algn="ctr"/>
            <a:r>
              <a:rPr lang="tr-TR" sz="2800" dirty="0"/>
              <a:t>PROJEYE ENTITY FRAMEWORK KURULUMU</a:t>
            </a:r>
          </a:p>
        </p:txBody>
      </p:sp>
      <p:sp>
        <p:nvSpPr>
          <p:cNvPr id="3" name="İçerik Yer Tutucusu 2">
            <a:extLst>
              <a:ext uri="{FF2B5EF4-FFF2-40B4-BE49-F238E27FC236}">
                <a16:creationId xmlns:a16="http://schemas.microsoft.com/office/drawing/2014/main" id="{CB9706C9-64CC-D748-1306-03D6AE9B8A96}"/>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Karşınıza gelen penceredeki Kabul Ediyorum butonuna tıklayınız.</a:t>
            </a:r>
          </a:p>
          <a:p>
            <a:pPr marL="0" indent="0" algn="just">
              <a:lnSpc>
                <a:spcPct val="100000"/>
              </a:lnSpc>
              <a:spcBef>
                <a:spcPts val="600"/>
              </a:spcBef>
              <a:spcAft>
                <a:spcPts val="600"/>
              </a:spcAft>
              <a:buNone/>
            </a:pPr>
            <a:endParaRPr lang="tr-TR" sz="1800" dirty="0"/>
          </a:p>
        </p:txBody>
      </p:sp>
      <p:pic>
        <p:nvPicPr>
          <p:cNvPr id="5" name="Resim 4" descr="metin, elektronik donanım, ekran görüntüsü, yazılım içeren bir resim&#10;&#10;Yapay zeka tarafından oluşturulan içerik yanlış olabilir.">
            <a:extLst>
              <a:ext uri="{FF2B5EF4-FFF2-40B4-BE49-F238E27FC236}">
                <a16:creationId xmlns:a16="http://schemas.microsoft.com/office/drawing/2014/main" id="{F1673277-C9C0-0726-4D6E-885C9E9165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64759" y="1230091"/>
            <a:ext cx="5311321" cy="5379414"/>
          </a:xfrm>
          <a:prstGeom prst="rect">
            <a:avLst/>
          </a:prstGeom>
        </p:spPr>
      </p:pic>
    </p:spTree>
    <p:extLst>
      <p:ext uri="{BB962C8B-B14F-4D97-AF65-F5344CB8AC3E}">
        <p14:creationId xmlns:p14="http://schemas.microsoft.com/office/powerpoint/2010/main" val="31755031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CE4249-1D2B-CA1E-77EC-F6A4EBDC7321}"/>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0ED6E755-8C8C-B5BB-6135-C6ED1D4DCE5D}"/>
              </a:ext>
            </a:extLst>
          </p:cNvPr>
          <p:cNvSpPr>
            <a:spLocks noGrp="1"/>
          </p:cNvSpPr>
          <p:nvPr>
            <p:ph type="title"/>
          </p:nvPr>
        </p:nvSpPr>
        <p:spPr>
          <a:xfrm>
            <a:off x="838200" y="248495"/>
            <a:ext cx="10515600" cy="432542"/>
          </a:xfrm>
        </p:spPr>
        <p:txBody>
          <a:bodyPr>
            <a:noAutofit/>
          </a:bodyPr>
          <a:lstStyle/>
          <a:p>
            <a:pPr algn="ctr"/>
            <a:r>
              <a:rPr lang="tr-TR" sz="2800" dirty="0"/>
              <a:t>PROJEYE ENTITY FRAMEWORK KURULUMU</a:t>
            </a:r>
          </a:p>
        </p:txBody>
      </p:sp>
      <p:sp>
        <p:nvSpPr>
          <p:cNvPr id="3" name="İçerik Yer Tutucusu 2">
            <a:extLst>
              <a:ext uri="{FF2B5EF4-FFF2-40B4-BE49-F238E27FC236}">
                <a16:creationId xmlns:a16="http://schemas.microsoft.com/office/drawing/2014/main" id="{5D8FD99D-3BE0-8F72-1501-8A81CB718883}"/>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Bu şekilde </a:t>
            </a:r>
            <a:r>
              <a:rPr lang="tr-TR" sz="1800" dirty="0" err="1"/>
              <a:t>EntityFramework’ü</a:t>
            </a:r>
            <a:r>
              <a:rPr lang="tr-TR" sz="1800" dirty="0"/>
              <a:t> projemize kurmuş olduk. Eğer kurulumda bir sorun yaşarsanız. Aşağıdaki gibi Paket Kaynağı: kısmında nuget.org yazdığından emin olun.</a:t>
            </a:r>
          </a:p>
        </p:txBody>
      </p:sp>
      <p:pic>
        <p:nvPicPr>
          <p:cNvPr id="5" name="Resim 4" descr="metin, yazılım, multimedya yazılımı, ekran görüntüsü içeren bir resim&#10;&#10;Yapay zeka tarafından oluşturulan içerik yanlış olabilir.">
            <a:extLst>
              <a:ext uri="{FF2B5EF4-FFF2-40B4-BE49-F238E27FC236}">
                <a16:creationId xmlns:a16="http://schemas.microsoft.com/office/drawing/2014/main" id="{3DC5B8CE-54D7-299F-BBD1-A0BA8879AE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868" y="1859144"/>
            <a:ext cx="12048264" cy="3139712"/>
          </a:xfrm>
          <a:prstGeom prst="rect">
            <a:avLst/>
          </a:prstGeom>
        </p:spPr>
      </p:pic>
    </p:spTree>
    <p:extLst>
      <p:ext uri="{BB962C8B-B14F-4D97-AF65-F5344CB8AC3E}">
        <p14:creationId xmlns:p14="http://schemas.microsoft.com/office/powerpoint/2010/main" val="39804756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495AA-8E66-EC5C-4930-C1CC313EE805}"/>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16ADB9E6-A2F7-6D4C-4AC9-EF821E169167}"/>
              </a:ext>
            </a:extLst>
          </p:cNvPr>
          <p:cNvSpPr>
            <a:spLocks noGrp="1"/>
          </p:cNvSpPr>
          <p:nvPr>
            <p:ph type="title"/>
          </p:nvPr>
        </p:nvSpPr>
        <p:spPr>
          <a:xfrm>
            <a:off x="838200" y="248495"/>
            <a:ext cx="10515600" cy="432542"/>
          </a:xfrm>
        </p:spPr>
        <p:txBody>
          <a:bodyPr>
            <a:noAutofit/>
          </a:bodyPr>
          <a:lstStyle/>
          <a:p>
            <a:pPr algn="ctr"/>
            <a:r>
              <a:rPr lang="tr-TR" sz="2800" dirty="0"/>
              <a:t>PROJEYE ENTITY FRAMEWORK KURULUMU</a:t>
            </a:r>
          </a:p>
        </p:txBody>
      </p:sp>
      <p:sp>
        <p:nvSpPr>
          <p:cNvPr id="3" name="İçerik Yer Tutucusu 2">
            <a:extLst>
              <a:ext uri="{FF2B5EF4-FFF2-40B4-BE49-F238E27FC236}">
                <a16:creationId xmlns:a16="http://schemas.microsoft.com/office/drawing/2014/main" id="{FF8AC029-56D5-1D00-40ED-0D2D8096AE0A}"/>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Eğer paket kaynağı olarak nuget.org seçili değilse Ayarlar simgesine tıklayınız.</a:t>
            </a:r>
          </a:p>
        </p:txBody>
      </p:sp>
      <p:pic>
        <p:nvPicPr>
          <p:cNvPr id="5" name="Resim 4" descr="metin, yazılım, multimedya yazılımı, ekran görüntüsü içeren bir resim&#10;&#10;Yapay zeka tarafından oluşturulan içerik yanlış olabilir.">
            <a:extLst>
              <a:ext uri="{FF2B5EF4-FFF2-40B4-BE49-F238E27FC236}">
                <a16:creationId xmlns:a16="http://schemas.microsoft.com/office/drawing/2014/main" id="{FF460641-9B20-0445-6210-143E8FEAC2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868" y="1859144"/>
            <a:ext cx="12048264" cy="3139712"/>
          </a:xfrm>
          <a:prstGeom prst="rect">
            <a:avLst/>
          </a:prstGeom>
        </p:spPr>
      </p:pic>
    </p:spTree>
    <p:extLst>
      <p:ext uri="{BB962C8B-B14F-4D97-AF65-F5344CB8AC3E}">
        <p14:creationId xmlns:p14="http://schemas.microsoft.com/office/powerpoint/2010/main" val="11878665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9374A9-46E4-3317-7FA5-5299A97ABB72}"/>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27BDB05C-E655-E240-0DC7-7458778E5664}"/>
              </a:ext>
            </a:extLst>
          </p:cNvPr>
          <p:cNvSpPr>
            <a:spLocks noGrp="1"/>
          </p:cNvSpPr>
          <p:nvPr>
            <p:ph type="title"/>
          </p:nvPr>
        </p:nvSpPr>
        <p:spPr>
          <a:xfrm>
            <a:off x="838200" y="248495"/>
            <a:ext cx="10515600" cy="432542"/>
          </a:xfrm>
        </p:spPr>
        <p:txBody>
          <a:bodyPr>
            <a:noAutofit/>
          </a:bodyPr>
          <a:lstStyle/>
          <a:p>
            <a:pPr algn="ctr"/>
            <a:r>
              <a:rPr lang="tr-TR" sz="2800" dirty="0"/>
              <a:t>PROJEYE ENTITY FRAMEWORK KURULUMU</a:t>
            </a:r>
          </a:p>
        </p:txBody>
      </p:sp>
      <p:sp>
        <p:nvSpPr>
          <p:cNvPr id="3" name="İçerik Yer Tutucusu 2">
            <a:extLst>
              <a:ext uri="{FF2B5EF4-FFF2-40B4-BE49-F238E27FC236}">
                <a16:creationId xmlns:a16="http://schemas.microsoft.com/office/drawing/2014/main" id="{4CED2394-3EF5-7D00-B280-C1A82380AC59}"/>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Karşınıza gelen pencereden + simgesine tıklayınız.</a:t>
            </a:r>
          </a:p>
          <a:p>
            <a:pPr marL="0" indent="0" algn="just">
              <a:lnSpc>
                <a:spcPct val="100000"/>
              </a:lnSpc>
              <a:spcBef>
                <a:spcPts val="600"/>
              </a:spcBef>
              <a:spcAft>
                <a:spcPts val="600"/>
              </a:spcAft>
              <a:buNone/>
            </a:pPr>
            <a:endParaRPr lang="tr-TR" sz="1800" dirty="0"/>
          </a:p>
        </p:txBody>
      </p:sp>
      <p:pic>
        <p:nvPicPr>
          <p:cNvPr id="5" name="Resim 4" descr="metin, ekran görüntüsü, yazılım, sayı, numara içeren bir resim&#10;&#10;Yapay zeka tarafından oluşturulan içerik yanlış olabilir.">
            <a:extLst>
              <a:ext uri="{FF2B5EF4-FFF2-40B4-BE49-F238E27FC236}">
                <a16:creationId xmlns:a16="http://schemas.microsoft.com/office/drawing/2014/main" id="{44E8CAEC-7E49-575A-9033-60D20A4679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01675" y="1440002"/>
            <a:ext cx="8588650" cy="5011598"/>
          </a:xfrm>
          <a:prstGeom prst="rect">
            <a:avLst/>
          </a:prstGeom>
        </p:spPr>
      </p:pic>
    </p:spTree>
    <p:extLst>
      <p:ext uri="{BB962C8B-B14F-4D97-AF65-F5344CB8AC3E}">
        <p14:creationId xmlns:p14="http://schemas.microsoft.com/office/powerpoint/2010/main" val="1147574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B9772-E78E-68CD-2B95-7B815F4ADD08}"/>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AE8CCEE0-467A-A66C-C19E-8BD20C2E1E29}"/>
              </a:ext>
            </a:extLst>
          </p:cNvPr>
          <p:cNvSpPr>
            <a:spLocks noGrp="1"/>
          </p:cNvSpPr>
          <p:nvPr>
            <p:ph type="title"/>
          </p:nvPr>
        </p:nvSpPr>
        <p:spPr>
          <a:xfrm>
            <a:off x="838200" y="248495"/>
            <a:ext cx="10515600" cy="432542"/>
          </a:xfrm>
        </p:spPr>
        <p:txBody>
          <a:bodyPr>
            <a:noAutofit/>
          </a:bodyPr>
          <a:lstStyle/>
          <a:p>
            <a:pPr algn="ctr"/>
            <a:r>
              <a:rPr lang="tr-TR" sz="2800" dirty="0"/>
              <a:t>PROJEYE ENTITY FRAMEWORK KURULUMU</a:t>
            </a:r>
          </a:p>
        </p:txBody>
      </p:sp>
      <p:sp>
        <p:nvSpPr>
          <p:cNvPr id="3" name="İçerik Yer Tutucusu 2">
            <a:extLst>
              <a:ext uri="{FF2B5EF4-FFF2-40B4-BE49-F238E27FC236}">
                <a16:creationId xmlns:a16="http://schemas.microsoft.com/office/drawing/2014/main" id="{78AD9198-549C-CB32-A7C9-C6E178239A4E}"/>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Karşınıza aşağıdaki gibi bir menü gelecek. Bu menüde Ad ve Kaynak kısımlarına aşağıdaki kodları yapıştırıp Tamam butonuna tıklayınız ve önceki işlemleri tekrarlayınız (</a:t>
            </a:r>
            <a:r>
              <a:rPr lang="tr-TR" sz="1800" dirty="0" err="1"/>
              <a:t>EntityFramework</a:t>
            </a:r>
            <a:r>
              <a:rPr lang="tr-TR" sz="1800" dirty="0"/>
              <a:t> yazıp kurunuz)</a:t>
            </a:r>
          </a:p>
          <a:p>
            <a:pPr marL="0" indent="0" algn="just">
              <a:lnSpc>
                <a:spcPct val="100000"/>
              </a:lnSpc>
              <a:spcBef>
                <a:spcPts val="600"/>
              </a:spcBef>
              <a:spcAft>
                <a:spcPts val="600"/>
              </a:spcAft>
              <a:buNone/>
            </a:pPr>
            <a:endParaRPr lang="tr-TR" sz="1800" dirty="0"/>
          </a:p>
          <a:p>
            <a:pPr marL="0" indent="0" algn="just">
              <a:lnSpc>
                <a:spcPct val="100000"/>
              </a:lnSpc>
              <a:spcBef>
                <a:spcPts val="600"/>
              </a:spcBef>
              <a:spcAft>
                <a:spcPts val="600"/>
              </a:spcAft>
              <a:buNone/>
            </a:pPr>
            <a:endParaRPr lang="tr-TR" sz="1800" dirty="0"/>
          </a:p>
          <a:p>
            <a:pPr marL="0" indent="0" algn="just">
              <a:lnSpc>
                <a:spcPct val="100000"/>
              </a:lnSpc>
              <a:spcBef>
                <a:spcPts val="600"/>
              </a:spcBef>
              <a:spcAft>
                <a:spcPts val="600"/>
              </a:spcAft>
              <a:buNone/>
            </a:pPr>
            <a:endParaRPr lang="tr-TR" sz="1800" dirty="0"/>
          </a:p>
          <a:p>
            <a:pPr marL="0" indent="0" algn="just">
              <a:lnSpc>
                <a:spcPct val="100000"/>
              </a:lnSpc>
              <a:spcBef>
                <a:spcPts val="600"/>
              </a:spcBef>
              <a:spcAft>
                <a:spcPts val="600"/>
              </a:spcAft>
              <a:buNone/>
            </a:pPr>
            <a:endParaRPr lang="tr-TR" sz="1800" dirty="0"/>
          </a:p>
          <a:p>
            <a:pPr marL="0" indent="0" algn="just">
              <a:lnSpc>
                <a:spcPct val="100000"/>
              </a:lnSpc>
              <a:spcBef>
                <a:spcPts val="600"/>
              </a:spcBef>
              <a:spcAft>
                <a:spcPts val="600"/>
              </a:spcAft>
              <a:buNone/>
            </a:pPr>
            <a:endParaRPr lang="tr-TR" sz="1800" dirty="0"/>
          </a:p>
          <a:p>
            <a:pPr marL="0" indent="0" algn="just">
              <a:lnSpc>
                <a:spcPct val="100000"/>
              </a:lnSpc>
              <a:spcBef>
                <a:spcPts val="600"/>
              </a:spcBef>
              <a:spcAft>
                <a:spcPts val="600"/>
              </a:spcAft>
              <a:buNone/>
            </a:pPr>
            <a:endParaRPr lang="tr-TR" sz="1800" dirty="0"/>
          </a:p>
          <a:p>
            <a:pPr marL="0" indent="0" algn="just">
              <a:lnSpc>
                <a:spcPct val="100000"/>
              </a:lnSpc>
              <a:spcBef>
                <a:spcPts val="600"/>
              </a:spcBef>
              <a:spcAft>
                <a:spcPts val="600"/>
              </a:spcAft>
              <a:buNone/>
            </a:pPr>
            <a:endParaRPr lang="tr-TR" sz="1800" dirty="0"/>
          </a:p>
          <a:p>
            <a:pPr marL="0" indent="0" algn="just">
              <a:lnSpc>
                <a:spcPct val="100000"/>
              </a:lnSpc>
              <a:spcBef>
                <a:spcPts val="600"/>
              </a:spcBef>
              <a:spcAft>
                <a:spcPts val="600"/>
              </a:spcAft>
              <a:buNone/>
            </a:pPr>
            <a:endParaRPr lang="tr-TR" sz="1800" dirty="0"/>
          </a:p>
          <a:p>
            <a:pPr marL="0" indent="0" algn="just">
              <a:lnSpc>
                <a:spcPct val="100000"/>
              </a:lnSpc>
              <a:spcBef>
                <a:spcPts val="600"/>
              </a:spcBef>
              <a:spcAft>
                <a:spcPts val="600"/>
              </a:spcAft>
              <a:buNone/>
            </a:pPr>
            <a:endParaRPr lang="tr-TR" sz="1800" dirty="0"/>
          </a:p>
          <a:p>
            <a:pPr marL="0" indent="0" algn="just">
              <a:lnSpc>
                <a:spcPct val="100000"/>
              </a:lnSpc>
              <a:spcBef>
                <a:spcPts val="600"/>
              </a:spcBef>
              <a:spcAft>
                <a:spcPts val="600"/>
              </a:spcAft>
              <a:buNone/>
            </a:pPr>
            <a:endParaRPr lang="tr-TR" sz="1800" dirty="0"/>
          </a:p>
          <a:p>
            <a:pPr marL="0" indent="0" algn="just">
              <a:lnSpc>
                <a:spcPct val="100000"/>
              </a:lnSpc>
              <a:spcBef>
                <a:spcPts val="600"/>
              </a:spcBef>
              <a:spcAft>
                <a:spcPts val="600"/>
              </a:spcAft>
              <a:buNone/>
            </a:pPr>
            <a:r>
              <a:rPr lang="tr-TR" sz="1800" dirty="0"/>
              <a:t>Ad: nuget.org   Kaynak: https://api.nuget.org/v3/index.json</a:t>
            </a:r>
          </a:p>
          <a:p>
            <a:pPr marL="0" indent="0" algn="just">
              <a:lnSpc>
                <a:spcPct val="100000"/>
              </a:lnSpc>
              <a:spcBef>
                <a:spcPts val="600"/>
              </a:spcBef>
              <a:spcAft>
                <a:spcPts val="600"/>
              </a:spcAft>
              <a:buNone/>
            </a:pPr>
            <a:endParaRPr lang="tr-TR" sz="1800" dirty="0"/>
          </a:p>
        </p:txBody>
      </p:sp>
      <p:pic>
        <p:nvPicPr>
          <p:cNvPr id="5" name="Resim 4">
            <a:extLst>
              <a:ext uri="{FF2B5EF4-FFF2-40B4-BE49-F238E27FC236}">
                <a16:creationId xmlns:a16="http://schemas.microsoft.com/office/drawing/2014/main" id="{8CBE896B-C58B-192F-D37A-79A59A755018}"/>
              </a:ext>
            </a:extLst>
          </p:cNvPr>
          <p:cNvPicPr>
            <a:picLocks noChangeAspect="1"/>
          </p:cNvPicPr>
          <p:nvPr/>
        </p:nvPicPr>
        <p:blipFill>
          <a:blip r:embed="rId2"/>
          <a:stretch>
            <a:fillRect/>
          </a:stretch>
        </p:blipFill>
        <p:spPr>
          <a:xfrm>
            <a:off x="2196526" y="1537781"/>
            <a:ext cx="7501951" cy="4347076"/>
          </a:xfrm>
          <a:prstGeom prst="rect">
            <a:avLst/>
          </a:prstGeom>
        </p:spPr>
      </p:pic>
    </p:spTree>
    <p:extLst>
      <p:ext uri="{BB962C8B-B14F-4D97-AF65-F5344CB8AC3E}">
        <p14:creationId xmlns:p14="http://schemas.microsoft.com/office/powerpoint/2010/main" val="3257932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168E3-0ED6-9420-54B7-3EBE3BE04454}"/>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02C2802E-D296-CB22-1CE9-95245E9C266C}"/>
              </a:ext>
            </a:extLst>
          </p:cNvPr>
          <p:cNvSpPr>
            <a:spLocks noGrp="1"/>
          </p:cNvSpPr>
          <p:nvPr>
            <p:ph type="title"/>
          </p:nvPr>
        </p:nvSpPr>
        <p:spPr>
          <a:xfrm>
            <a:off x="838200" y="248495"/>
            <a:ext cx="10515600" cy="432542"/>
          </a:xfrm>
        </p:spPr>
        <p:txBody>
          <a:bodyPr>
            <a:noAutofit/>
          </a:bodyPr>
          <a:lstStyle/>
          <a:p>
            <a:pPr algn="ctr"/>
            <a:r>
              <a:rPr lang="tr-TR" sz="2800" dirty="0" err="1"/>
              <a:t>ConnectionString</a:t>
            </a:r>
            <a:r>
              <a:rPr lang="tr-TR" sz="2800" dirty="0"/>
              <a:t> Bilgisini Eklemek</a:t>
            </a:r>
          </a:p>
        </p:txBody>
      </p:sp>
      <p:sp>
        <p:nvSpPr>
          <p:cNvPr id="3" name="İçerik Yer Tutucusu 2">
            <a:extLst>
              <a:ext uri="{FF2B5EF4-FFF2-40B4-BE49-F238E27FC236}">
                <a16:creationId xmlns:a16="http://schemas.microsoft.com/office/drawing/2014/main" id="{A91C31C3-B2D8-6EC9-1CA3-E0919D7FD474}"/>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err="1"/>
              <a:t>EntityFramework’ü</a:t>
            </a:r>
            <a:r>
              <a:rPr lang="tr-TR" sz="1800" dirty="0"/>
              <a:t> projemize kurduktan sonra şimdi de veri tabanı bağlantısını tanıtmak için Proje menüsünde yer alan </a:t>
            </a:r>
            <a:r>
              <a:rPr lang="tr-TR" sz="1800" dirty="0" err="1"/>
              <a:t>App.config</a:t>
            </a:r>
            <a:r>
              <a:rPr lang="tr-TR" sz="1800" dirty="0"/>
              <a:t> dosyası içerisine </a:t>
            </a:r>
            <a:r>
              <a:rPr lang="tr-TR" sz="1800" dirty="0" err="1"/>
              <a:t>connectionstring</a:t>
            </a:r>
            <a:r>
              <a:rPr lang="tr-TR" sz="1800" dirty="0"/>
              <a:t> bilgisini eklemeliyiz.</a:t>
            </a:r>
          </a:p>
          <a:p>
            <a:pPr marL="0" indent="0" algn="just">
              <a:lnSpc>
                <a:spcPct val="100000"/>
              </a:lnSpc>
              <a:spcBef>
                <a:spcPts val="600"/>
              </a:spcBef>
              <a:spcAft>
                <a:spcPts val="600"/>
              </a:spcAft>
              <a:buNone/>
            </a:pPr>
            <a:r>
              <a:rPr lang="tr-TR" sz="1800" dirty="0" err="1"/>
              <a:t>App.config</a:t>
            </a:r>
            <a:r>
              <a:rPr lang="tr-TR" sz="1800" dirty="0"/>
              <a:t> dosyasına çift tıklayarak açınız.</a:t>
            </a:r>
          </a:p>
          <a:p>
            <a:pPr marL="0" indent="0" algn="just">
              <a:lnSpc>
                <a:spcPct val="100000"/>
              </a:lnSpc>
              <a:spcBef>
                <a:spcPts val="600"/>
              </a:spcBef>
              <a:spcAft>
                <a:spcPts val="600"/>
              </a:spcAft>
              <a:buNone/>
            </a:pPr>
            <a:endParaRPr lang="tr-TR" sz="1800" dirty="0"/>
          </a:p>
        </p:txBody>
      </p:sp>
      <p:pic>
        <p:nvPicPr>
          <p:cNvPr id="5" name="Resim 4" descr="ekran görüntüsü, yazılım, multimedya yazılımı, grafik yazılımı içeren bir resim&#10;&#10;Yapay zeka tarafından oluşturulan içerik yanlış olabilir.">
            <a:extLst>
              <a:ext uri="{FF2B5EF4-FFF2-40B4-BE49-F238E27FC236}">
                <a16:creationId xmlns:a16="http://schemas.microsoft.com/office/drawing/2014/main" id="{F694DDA1-901C-8780-5C9B-B1CF72CA0C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082800"/>
            <a:ext cx="12192000" cy="2692400"/>
          </a:xfrm>
          <a:prstGeom prst="rect">
            <a:avLst/>
          </a:prstGeom>
        </p:spPr>
      </p:pic>
    </p:spTree>
    <p:extLst>
      <p:ext uri="{BB962C8B-B14F-4D97-AF65-F5344CB8AC3E}">
        <p14:creationId xmlns:p14="http://schemas.microsoft.com/office/powerpoint/2010/main" val="13001822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EA11A0-7024-424D-E909-80442A697598}"/>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EDD23033-A901-F2B9-5518-AD2216F0305E}"/>
              </a:ext>
            </a:extLst>
          </p:cNvPr>
          <p:cNvSpPr>
            <a:spLocks noGrp="1"/>
          </p:cNvSpPr>
          <p:nvPr>
            <p:ph type="title"/>
          </p:nvPr>
        </p:nvSpPr>
        <p:spPr>
          <a:xfrm>
            <a:off x="838200" y="248495"/>
            <a:ext cx="10515600" cy="432542"/>
          </a:xfrm>
        </p:spPr>
        <p:txBody>
          <a:bodyPr>
            <a:noAutofit/>
          </a:bodyPr>
          <a:lstStyle/>
          <a:p>
            <a:pPr algn="ctr"/>
            <a:r>
              <a:rPr lang="tr-TR" sz="2800" dirty="0" err="1"/>
              <a:t>ConnectionString</a:t>
            </a:r>
            <a:r>
              <a:rPr lang="tr-TR" sz="2800" dirty="0"/>
              <a:t> Bilgisini Eklemek</a:t>
            </a:r>
          </a:p>
        </p:txBody>
      </p:sp>
      <p:sp>
        <p:nvSpPr>
          <p:cNvPr id="3" name="İçerik Yer Tutucusu 2">
            <a:extLst>
              <a:ext uri="{FF2B5EF4-FFF2-40B4-BE49-F238E27FC236}">
                <a16:creationId xmlns:a16="http://schemas.microsoft.com/office/drawing/2014/main" id="{00031417-B19E-6A9A-2180-C6F6EF916EFF}"/>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Aşağıda bir </a:t>
            </a:r>
            <a:r>
              <a:rPr lang="tr-TR" sz="1800" dirty="0" err="1"/>
              <a:t>connectionstring</a:t>
            </a:r>
            <a:r>
              <a:rPr lang="tr-TR" sz="1800" dirty="0"/>
              <a:t> dizgesi yer almaktadır. </a:t>
            </a:r>
          </a:p>
          <a:p>
            <a:pPr marL="0" indent="0" algn="just">
              <a:lnSpc>
                <a:spcPct val="100000"/>
              </a:lnSpc>
              <a:spcBef>
                <a:spcPts val="600"/>
              </a:spcBef>
              <a:spcAft>
                <a:spcPts val="600"/>
              </a:spcAft>
              <a:buNone/>
            </a:pPr>
            <a:r>
              <a:rPr lang="tr-TR" sz="1800" dirty="0"/>
              <a:t>&lt;</a:t>
            </a:r>
            <a:r>
              <a:rPr lang="tr-TR" sz="1800" dirty="0" err="1"/>
              <a:t>connectionStrings</a:t>
            </a:r>
            <a:r>
              <a:rPr lang="tr-TR" sz="1800" dirty="0"/>
              <a:t>&gt;</a:t>
            </a:r>
          </a:p>
          <a:p>
            <a:pPr marL="0" indent="0" algn="just">
              <a:lnSpc>
                <a:spcPct val="100000"/>
              </a:lnSpc>
              <a:spcBef>
                <a:spcPts val="600"/>
              </a:spcBef>
              <a:spcAft>
                <a:spcPts val="600"/>
              </a:spcAft>
              <a:buNone/>
            </a:pPr>
            <a:r>
              <a:rPr lang="tr-TR" sz="1800" dirty="0"/>
              <a:t>  &lt;add name="</a:t>
            </a:r>
            <a:r>
              <a:rPr lang="tr-TR" sz="1800" dirty="0" err="1"/>
              <a:t>CustomerDbContext</a:t>
            </a:r>
            <a:r>
              <a:rPr lang="tr-TR" sz="1800" dirty="0"/>
              <a:t>" </a:t>
            </a:r>
          </a:p>
          <a:p>
            <a:pPr marL="0" indent="0" algn="just">
              <a:lnSpc>
                <a:spcPct val="100000"/>
              </a:lnSpc>
              <a:spcBef>
                <a:spcPts val="600"/>
              </a:spcBef>
              <a:spcAft>
                <a:spcPts val="600"/>
              </a:spcAft>
              <a:buNone/>
            </a:pPr>
            <a:r>
              <a:rPr lang="tr-TR" sz="1800" dirty="0"/>
              <a:t>       </a:t>
            </a:r>
            <a:r>
              <a:rPr lang="tr-TR" sz="1800" dirty="0" err="1"/>
              <a:t>connectionString</a:t>
            </a:r>
            <a:r>
              <a:rPr lang="tr-TR" sz="1800" dirty="0"/>
              <a:t>="Data Source= </a:t>
            </a:r>
            <a:r>
              <a:rPr lang="tr-TR" sz="1800" dirty="0" err="1"/>
              <a:t>server_adını_yazınız;Initial</a:t>
            </a:r>
            <a:r>
              <a:rPr lang="tr-TR" sz="1800" dirty="0"/>
              <a:t> </a:t>
            </a:r>
            <a:r>
              <a:rPr lang="tr-TR" sz="1800" dirty="0" err="1"/>
              <a:t>Catalog</a:t>
            </a:r>
            <a:r>
              <a:rPr lang="tr-TR" sz="1800" dirty="0"/>
              <a:t>= </a:t>
            </a:r>
            <a:r>
              <a:rPr lang="tr-TR" sz="1800" dirty="0" err="1"/>
              <a:t>veri_tabanı_adını_yazınız;Integrated</a:t>
            </a:r>
            <a:r>
              <a:rPr lang="tr-TR" sz="1800" dirty="0"/>
              <a:t> Security=True" </a:t>
            </a:r>
          </a:p>
          <a:p>
            <a:pPr marL="0" indent="0" algn="just">
              <a:lnSpc>
                <a:spcPct val="100000"/>
              </a:lnSpc>
              <a:spcBef>
                <a:spcPts val="600"/>
              </a:spcBef>
              <a:spcAft>
                <a:spcPts val="600"/>
              </a:spcAft>
              <a:buNone/>
            </a:pPr>
            <a:r>
              <a:rPr lang="tr-TR" sz="1800" dirty="0"/>
              <a:t>       </a:t>
            </a:r>
            <a:r>
              <a:rPr lang="tr-TR" sz="1800" dirty="0" err="1"/>
              <a:t>providerName</a:t>
            </a:r>
            <a:r>
              <a:rPr lang="tr-TR" sz="1800" dirty="0"/>
              <a:t>="</a:t>
            </a:r>
            <a:r>
              <a:rPr lang="tr-TR" sz="1800" dirty="0" err="1"/>
              <a:t>System.Data.SqlClient</a:t>
            </a:r>
            <a:r>
              <a:rPr lang="tr-TR" sz="1800" dirty="0"/>
              <a:t>" /&gt;</a:t>
            </a:r>
          </a:p>
          <a:p>
            <a:pPr marL="0" indent="0" algn="just">
              <a:lnSpc>
                <a:spcPct val="100000"/>
              </a:lnSpc>
              <a:spcBef>
                <a:spcPts val="600"/>
              </a:spcBef>
              <a:spcAft>
                <a:spcPts val="600"/>
              </a:spcAft>
              <a:buNone/>
            </a:pPr>
            <a:r>
              <a:rPr lang="tr-TR" sz="1800" dirty="0"/>
              <a:t>&lt;/</a:t>
            </a:r>
            <a:r>
              <a:rPr lang="tr-TR" sz="1800" dirty="0" err="1"/>
              <a:t>connectionStrings</a:t>
            </a:r>
            <a:r>
              <a:rPr lang="tr-TR" sz="1800" dirty="0"/>
              <a:t>&gt;</a:t>
            </a:r>
          </a:p>
          <a:p>
            <a:pPr marL="0" indent="0" algn="just">
              <a:lnSpc>
                <a:spcPct val="100000"/>
              </a:lnSpc>
              <a:spcBef>
                <a:spcPts val="600"/>
              </a:spcBef>
              <a:spcAft>
                <a:spcPts val="600"/>
              </a:spcAft>
              <a:buNone/>
            </a:pPr>
            <a:endParaRPr lang="tr-TR" sz="1800" dirty="0"/>
          </a:p>
          <a:p>
            <a:pPr marL="0" indent="0" algn="just">
              <a:lnSpc>
                <a:spcPct val="100000"/>
              </a:lnSpc>
              <a:spcBef>
                <a:spcPts val="600"/>
              </a:spcBef>
              <a:spcAft>
                <a:spcPts val="600"/>
              </a:spcAft>
              <a:buNone/>
            </a:pPr>
            <a:r>
              <a:rPr lang="tr-TR" sz="1800" dirty="0"/>
              <a:t>Buradaki name=, </a:t>
            </a:r>
            <a:r>
              <a:rPr lang="tr-TR" sz="1800" dirty="0" err="1"/>
              <a:t>server_adını_yazınız</a:t>
            </a:r>
            <a:r>
              <a:rPr lang="tr-TR" sz="1800" dirty="0"/>
              <a:t> ve </a:t>
            </a:r>
            <a:r>
              <a:rPr lang="tr-TR" sz="1800" dirty="0" err="1"/>
              <a:t>veri_tabanı_adını_yazınız</a:t>
            </a:r>
            <a:r>
              <a:rPr lang="tr-TR" sz="1800" dirty="0"/>
              <a:t> yazan yerlere kendi bilgilerinizi girmelisiniz:</a:t>
            </a:r>
          </a:p>
          <a:p>
            <a:pPr marL="0" indent="0" algn="just">
              <a:lnSpc>
                <a:spcPct val="100000"/>
              </a:lnSpc>
              <a:spcBef>
                <a:spcPts val="600"/>
              </a:spcBef>
              <a:spcAft>
                <a:spcPts val="600"/>
              </a:spcAft>
              <a:buNone/>
            </a:pPr>
            <a:r>
              <a:rPr lang="tr-TR" sz="1800" dirty="0"/>
              <a:t>Özellikle name="</a:t>
            </a:r>
            <a:r>
              <a:rPr lang="tr-TR" sz="1800" dirty="0" err="1"/>
              <a:t>CustomerDbContext</a:t>
            </a:r>
            <a:r>
              <a:rPr lang="tr-TR" sz="1800" dirty="0"/>
              <a:t>" kısmı çok önemlidir. Siz, kendi </a:t>
            </a:r>
            <a:r>
              <a:rPr lang="tr-TR" sz="1800" dirty="0" err="1"/>
              <a:t>connectionstring</a:t>
            </a:r>
            <a:r>
              <a:rPr lang="tr-TR" sz="1800" dirty="0"/>
              <a:t> bilginizde bu alanı da değiştirip kendi projenize uygun bir isim vermelisiniz.</a:t>
            </a:r>
          </a:p>
          <a:p>
            <a:pPr marL="0" indent="0" algn="just">
              <a:lnSpc>
                <a:spcPct val="100000"/>
              </a:lnSpc>
              <a:spcBef>
                <a:spcPts val="600"/>
              </a:spcBef>
              <a:spcAft>
                <a:spcPts val="600"/>
              </a:spcAft>
              <a:buNone/>
            </a:pPr>
            <a:endParaRPr lang="tr-TR" sz="1800" dirty="0"/>
          </a:p>
        </p:txBody>
      </p:sp>
    </p:spTree>
    <p:extLst>
      <p:ext uri="{BB962C8B-B14F-4D97-AF65-F5344CB8AC3E}">
        <p14:creationId xmlns:p14="http://schemas.microsoft.com/office/powerpoint/2010/main" val="3838119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7E4E57-48FA-E54F-D888-36AFFF39FE7E}"/>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818D92B0-CDBA-0983-3170-5919B7A473C3}"/>
              </a:ext>
            </a:extLst>
          </p:cNvPr>
          <p:cNvSpPr>
            <a:spLocks noGrp="1"/>
          </p:cNvSpPr>
          <p:nvPr>
            <p:ph type="title"/>
          </p:nvPr>
        </p:nvSpPr>
        <p:spPr>
          <a:xfrm>
            <a:off x="838200" y="248495"/>
            <a:ext cx="10515600" cy="432542"/>
          </a:xfrm>
        </p:spPr>
        <p:txBody>
          <a:bodyPr>
            <a:noAutofit/>
          </a:bodyPr>
          <a:lstStyle/>
          <a:p>
            <a:pPr algn="ctr"/>
            <a:r>
              <a:rPr lang="tr-TR" sz="2800" dirty="0" err="1"/>
              <a:t>ConnectionString</a:t>
            </a:r>
            <a:r>
              <a:rPr lang="tr-TR" sz="2800" dirty="0"/>
              <a:t> Bilgisini Eklemek</a:t>
            </a:r>
          </a:p>
        </p:txBody>
      </p:sp>
      <p:sp>
        <p:nvSpPr>
          <p:cNvPr id="3" name="İçerik Yer Tutucusu 2">
            <a:extLst>
              <a:ext uri="{FF2B5EF4-FFF2-40B4-BE49-F238E27FC236}">
                <a16:creationId xmlns:a16="http://schemas.microsoft.com/office/drawing/2014/main" id="{ADA02B43-6E4F-687C-EE84-9FCE83E4AD53}"/>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Server name bilgisini öğrenmek için SQL SERVER MANAGEMENT </a:t>
            </a:r>
            <a:r>
              <a:rPr lang="tr-TR" sz="1800" dirty="0" err="1"/>
              <a:t>STUDIO’yu</a:t>
            </a:r>
            <a:r>
              <a:rPr lang="tr-TR" sz="1800" dirty="0"/>
              <a:t> açınız:</a:t>
            </a:r>
          </a:p>
          <a:p>
            <a:pPr marL="0" indent="0" algn="just">
              <a:lnSpc>
                <a:spcPct val="100000"/>
              </a:lnSpc>
              <a:spcBef>
                <a:spcPts val="600"/>
              </a:spcBef>
              <a:spcAft>
                <a:spcPts val="600"/>
              </a:spcAft>
              <a:buNone/>
            </a:pPr>
            <a:r>
              <a:rPr lang="tr-TR" sz="1800" dirty="0"/>
              <a:t>Görseldeki kırmızı alan ile seçili yerdeki bilgi, sizin server name bilginizdir. Bunu kopyalayıp, sizinle paylaşılan </a:t>
            </a:r>
            <a:r>
              <a:rPr lang="tr-TR" sz="1800" dirty="0" err="1"/>
              <a:t>connectionstring</a:t>
            </a:r>
            <a:r>
              <a:rPr lang="tr-TR" sz="1800" dirty="0"/>
              <a:t> kodlarındaki </a:t>
            </a:r>
            <a:r>
              <a:rPr lang="tr-TR" sz="1800" dirty="0" err="1"/>
              <a:t>server_adını_yazınız</a:t>
            </a:r>
            <a:r>
              <a:rPr lang="tr-TR" sz="1800" dirty="0"/>
              <a:t> yazan yere yapıştırın</a:t>
            </a:r>
          </a:p>
          <a:p>
            <a:pPr marL="0" indent="0" algn="just">
              <a:lnSpc>
                <a:spcPct val="100000"/>
              </a:lnSpc>
              <a:spcBef>
                <a:spcPts val="600"/>
              </a:spcBef>
              <a:spcAft>
                <a:spcPts val="600"/>
              </a:spcAft>
              <a:buNone/>
            </a:pPr>
            <a:endParaRPr lang="tr-TR" sz="1800" dirty="0"/>
          </a:p>
        </p:txBody>
      </p:sp>
      <p:pic>
        <p:nvPicPr>
          <p:cNvPr id="7" name="Resim 6" descr="metin, elektronik donanım, ekran görüntüsü, sayı, numara içeren bir resim&#10;&#10;Yapay zeka tarafından oluşturulan içerik yanlış olabilir.">
            <a:extLst>
              <a:ext uri="{FF2B5EF4-FFF2-40B4-BE49-F238E27FC236}">
                <a16:creationId xmlns:a16="http://schemas.microsoft.com/office/drawing/2014/main" id="{DC950DDC-B12A-E7E7-FF78-F75189A902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91681" y="1991489"/>
            <a:ext cx="4808637" cy="4740051"/>
          </a:xfrm>
          <a:prstGeom prst="rect">
            <a:avLst/>
          </a:prstGeom>
        </p:spPr>
      </p:pic>
    </p:spTree>
    <p:extLst>
      <p:ext uri="{BB962C8B-B14F-4D97-AF65-F5344CB8AC3E}">
        <p14:creationId xmlns:p14="http://schemas.microsoft.com/office/powerpoint/2010/main" val="1234765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6DB79B-E164-38F1-CAB7-09BE544B28F1}"/>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004DE8AC-AE5D-7AB7-367F-25B5112AC0FC}"/>
              </a:ext>
            </a:extLst>
          </p:cNvPr>
          <p:cNvSpPr>
            <a:spLocks noGrp="1"/>
          </p:cNvSpPr>
          <p:nvPr>
            <p:ph type="title"/>
          </p:nvPr>
        </p:nvSpPr>
        <p:spPr>
          <a:xfrm>
            <a:off x="838200" y="248495"/>
            <a:ext cx="10515600" cy="432542"/>
          </a:xfrm>
        </p:spPr>
        <p:txBody>
          <a:bodyPr>
            <a:noAutofit/>
          </a:bodyPr>
          <a:lstStyle/>
          <a:p>
            <a:pPr algn="ctr"/>
            <a:r>
              <a:rPr lang="tr-TR" sz="2800" dirty="0" err="1"/>
              <a:t>ConnectionString</a:t>
            </a:r>
            <a:r>
              <a:rPr lang="tr-TR" sz="2800" dirty="0"/>
              <a:t> Bilgisini Eklemek</a:t>
            </a:r>
          </a:p>
        </p:txBody>
      </p:sp>
      <p:sp>
        <p:nvSpPr>
          <p:cNvPr id="3" name="İçerik Yer Tutucusu 2">
            <a:extLst>
              <a:ext uri="{FF2B5EF4-FFF2-40B4-BE49-F238E27FC236}">
                <a16:creationId xmlns:a16="http://schemas.microsoft.com/office/drawing/2014/main" id="{D4B63BB6-1389-6F62-622B-C577ACD101B3}"/>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Veri tabanı adı da zaten SQL’e bağlandıktan sonra kendi oluşturduğunuz veri tabanınızın adıdır. Dolayısıyla, bu proje için </a:t>
            </a:r>
            <a:r>
              <a:rPr lang="tr-TR" sz="1800" dirty="0" err="1"/>
              <a:t>connectionstring</a:t>
            </a:r>
            <a:r>
              <a:rPr lang="tr-TR" sz="1800" dirty="0"/>
              <a:t> bilgisi aşağıdaki gibi olmalıdır.</a:t>
            </a:r>
          </a:p>
          <a:p>
            <a:pPr marL="0" indent="0" algn="just">
              <a:lnSpc>
                <a:spcPct val="100000"/>
              </a:lnSpc>
              <a:spcBef>
                <a:spcPts val="600"/>
              </a:spcBef>
              <a:spcAft>
                <a:spcPts val="600"/>
              </a:spcAft>
              <a:buNone/>
            </a:pPr>
            <a:r>
              <a:rPr lang="tr-TR" sz="1800" dirty="0"/>
              <a:t>NOT: Siz de kendi bilgilerinize göre </a:t>
            </a:r>
            <a:r>
              <a:rPr lang="tr-TR" sz="1800" dirty="0" err="1"/>
              <a:t>connectionstring</a:t>
            </a:r>
            <a:r>
              <a:rPr lang="tr-TR" sz="1800" dirty="0"/>
              <a:t> bilginizi oluşturun!!!!!</a:t>
            </a:r>
          </a:p>
          <a:p>
            <a:pPr marL="0" indent="0" algn="just">
              <a:lnSpc>
                <a:spcPct val="100000"/>
              </a:lnSpc>
              <a:spcBef>
                <a:spcPts val="600"/>
              </a:spcBef>
              <a:spcAft>
                <a:spcPts val="600"/>
              </a:spcAft>
              <a:buNone/>
            </a:pPr>
            <a:endParaRPr lang="tr-TR" sz="1800" dirty="0"/>
          </a:p>
          <a:p>
            <a:pPr marL="0" indent="0" algn="just">
              <a:lnSpc>
                <a:spcPct val="100000"/>
              </a:lnSpc>
              <a:spcBef>
                <a:spcPts val="600"/>
              </a:spcBef>
              <a:spcAft>
                <a:spcPts val="600"/>
              </a:spcAft>
              <a:buNone/>
            </a:pPr>
            <a:r>
              <a:rPr lang="tr-TR" sz="1800" dirty="0"/>
              <a:t>&lt;</a:t>
            </a:r>
            <a:r>
              <a:rPr lang="tr-TR" sz="1800" dirty="0" err="1"/>
              <a:t>connectionStrings</a:t>
            </a:r>
            <a:r>
              <a:rPr lang="tr-TR" sz="1800" dirty="0"/>
              <a:t>&gt;</a:t>
            </a:r>
          </a:p>
          <a:p>
            <a:pPr marL="0" indent="0" algn="just">
              <a:lnSpc>
                <a:spcPct val="100000"/>
              </a:lnSpc>
              <a:spcBef>
                <a:spcPts val="600"/>
              </a:spcBef>
              <a:spcAft>
                <a:spcPts val="600"/>
              </a:spcAft>
              <a:buNone/>
            </a:pPr>
            <a:r>
              <a:rPr lang="tr-TR" sz="1800" dirty="0"/>
              <a:t>  &lt;add name="</a:t>
            </a:r>
            <a:r>
              <a:rPr lang="tr-TR" sz="1800" dirty="0" err="1"/>
              <a:t>CustomerDbContext</a:t>
            </a:r>
            <a:r>
              <a:rPr lang="tr-TR" sz="1800" dirty="0"/>
              <a:t>" </a:t>
            </a:r>
          </a:p>
          <a:p>
            <a:pPr marL="0" indent="0" algn="just">
              <a:lnSpc>
                <a:spcPct val="100000"/>
              </a:lnSpc>
              <a:spcBef>
                <a:spcPts val="600"/>
              </a:spcBef>
              <a:spcAft>
                <a:spcPts val="600"/>
              </a:spcAft>
              <a:buNone/>
            </a:pPr>
            <a:r>
              <a:rPr lang="tr-TR" sz="1800" dirty="0"/>
              <a:t>       </a:t>
            </a:r>
            <a:r>
              <a:rPr lang="tr-TR" sz="1800" dirty="0" err="1"/>
              <a:t>connectionString</a:t>
            </a:r>
            <a:r>
              <a:rPr lang="tr-TR" sz="1800" dirty="0"/>
              <a:t>="Data Source=DESKTOP-7DAR20I\</a:t>
            </a:r>
            <a:r>
              <a:rPr lang="tr-TR" sz="1800" dirty="0" err="1"/>
              <a:t>SQLEXPRESS;Initial</a:t>
            </a:r>
            <a:r>
              <a:rPr lang="tr-TR" sz="1800" dirty="0"/>
              <a:t> </a:t>
            </a:r>
            <a:r>
              <a:rPr lang="tr-TR" sz="1800" dirty="0" err="1"/>
              <a:t>Catalog</a:t>
            </a:r>
            <a:r>
              <a:rPr lang="tr-TR" sz="1800" dirty="0"/>
              <a:t>=Otomasyon_Ybs2b;Integrated Security=True" </a:t>
            </a:r>
          </a:p>
          <a:p>
            <a:pPr marL="0" indent="0" algn="just">
              <a:lnSpc>
                <a:spcPct val="100000"/>
              </a:lnSpc>
              <a:spcBef>
                <a:spcPts val="600"/>
              </a:spcBef>
              <a:spcAft>
                <a:spcPts val="600"/>
              </a:spcAft>
              <a:buNone/>
            </a:pPr>
            <a:r>
              <a:rPr lang="tr-TR" sz="1800" dirty="0"/>
              <a:t>       </a:t>
            </a:r>
            <a:r>
              <a:rPr lang="tr-TR" sz="1800" dirty="0" err="1"/>
              <a:t>providerName</a:t>
            </a:r>
            <a:r>
              <a:rPr lang="tr-TR" sz="1800" dirty="0"/>
              <a:t>="</a:t>
            </a:r>
            <a:r>
              <a:rPr lang="tr-TR" sz="1800" dirty="0" err="1"/>
              <a:t>System.Data.SqlClient</a:t>
            </a:r>
            <a:r>
              <a:rPr lang="tr-TR" sz="1800" dirty="0"/>
              <a:t>" /&gt;</a:t>
            </a:r>
          </a:p>
          <a:p>
            <a:pPr marL="0" indent="0" algn="just">
              <a:lnSpc>
                <a:spcPct val="100000"/>
              </a:lnSpc>
              <a:spcBef>
                <a:spcPts val="600"/>
              </a:spcBef>
              <a:spcAft>
                <a:spcPts val="600"/>
              </a:spcAft>
              <a:buNone/>
            </a:pPr>
            <a:r>
              <a:rPr lang="tr-TR" sz="1800" dirty="0"/>
              <a:t>&lt;/</a:t>
            </a:r>
            <a:r>
              <a:rPr lang="tr-TR" sz="1800" dirty="0" err="1"/>
              <a:t>connectionStrings</a:t>
            </a:r>
            <a:r>
              <a:rPr lang="tr-TR" sz="1800" dirty="0"/>
              <a:t>&gt;</a:t>
            </a:r>
          </a:p>
        </p:txBody>
      </p:sp>
    </p:spTree>
    <p:extLst>
      <p:ext uri="{BB962C8B-B14F-4D97-AF65-F5344CB8AC3E}">
        <p14:creationId xmlns:p14="http://schemas.microsoft.com/office/powerpoint/2010/main" val="10359618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F1DCFD-0128-319D-E8D1-3BF290AE393D}"/>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520B5242-16C9-847C-4C39-18A983DED7F9}"/>
              </a:ext>
            </a:extLst>
          </p:cNvPr>
          <p:cNvSpPr>
            <a:spLocks noGrp="1"/>
          </p:cNvSpPr>
          <p:nvPr>
            <p:ph type="title"/>
          </p:nvPr>
        </p:nvSpPr>
        <p:spPr>
          <a:xfrm>
            <a:off x="838200" y="248495"/>
            <a:ext cx="10515600" cy="432542"/>
          </a:xfrm>
        </p:spPr>
        <p:txBody>
          <a:bodyPr>
            <a:noAutofit/>
          </a:bodyPr>
          <a:lstStyle/>
          <a:p>
            <a:pPr algn="ctr"/>
            <a:r>
              <a:rPr lang="tr-TR" sz="2800" dirty="0" err="1"/>
              <a:t>ConnectionString</a:t>
            </a:r>
            <a:r>
              <a:rPr lang="tr-TR" sz="2800" dirty="0"/>
              <a:t> Bilgisini Eklemek</a:t>
            </a:r>
          </a:p>
        </p:txBody>
      </p:sp>
      <p:sp>
        <p:nvSpPr>
          <p:cNvPr id="3" name="İçerik Yer Tutucusu 2">
            <a:extLst>
              <a:ext uri="{FF2B5EF4-FFF2-40B4-BE49-F238E27FC236}">
                <a16:creationId xmlns:a16="http://schemas.microsoft.com/office/drawing/2014/main" id="{1BDD2B3E-429A-8767-E423-55AFB54ADCEC}"/>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Şimdi, </a:t>
            </a:r>
            <a:r>
              <a:rPr lang="tr-TR" sz="1800" dirty="0" err="1"/>
              <a:t>connectionstring</a:t>
            </a:r>
            <a:r>
              <a:rPr lang="tr-TR" sz="1800" dirty="0"/>
              <a:t> bilgimizi oluşturduğumuza göre bunu </a:t>
            </a:r>
            <a:r>
              <a:rPr lang="tr-TR" sz="1800" dirty="0" err="1"/>
              <a:t>App.config</a:t>
            </a:r>
            <a:r>
              <a:rPr lang="tr-TR" sz="1800" dirty="0"/>
              <a:t> içerisindeki uygun etiketler arasına kopyala-yapıştır yapıyoruz.</a:t>
            </a:r>
          </a:p>
          <a:p>
            <a:pPr marL="0" indent="0" algn="just">
              <a:lnSpc>
                <a:spcPct val="100000"/>
              </a:lnSpc>
              <a:spcBef>
                <a:spcPts val="600"/>
              </a:spcBef>
              <a:spcAft>
                <a:spcPts val="600"/>
              </a:spcAft>
              <a:buNone/>
            </a:pPr>
            <a:endParaRPr lang="tr-TR" sz="1800" dirty="0"/>
          </a:p>
          <a:p>
            <a:pPr marL="0" indent="0" algn="just">
              <a:lnSpc>
                <a:spcPct val="100000"/>
              </a:lnSpc>
              <a:spcBef>
                <a:spcPts val="600"/>
              </a:spcBef>
              <a:spcAft>
                <a:spcPts val="600"/>
              </a:spcAft>
              <a:buNone/>
            </a:pPr>
            <a:endParaRPr lang="tr-TR" sz="1800" dirty="0"/>
          </a:p>
          <a:p>
            <a:pPr marL="0" indent="0" algn="just">
              <a:lnSpc>
                <a:spcPct val="100000"/>
              </a:lnSpc>
              <a:spcBef>
                <a:spcPts val="600"/>
              </a:spcBef>
              <a:spcAft>
                <a:spcPts val="600"/>
              </a:spcAft>
              <a:buNone/>
            </a:pPr>
            <a:endParaRPr lang="tr-TR" sz="1800" dirty="0"/>
          </a:p>
          <a:p>
            <a:pPr marL="0" indent="0" algn="just">
              <a:lnSpc>
                <a:spcPct val="100000"/>
              </a:lnSpc>
              <a:spcBef>
                <a:spcPts val="600"/>
              </a:spcBef>
              <a:spcAft>
                <a:spcPts val="600"/>
              </a:spcAft>
              <a:buNone/>
            </a:pPr>
            <a:endParaRPr lang="tr-TR" sz="1800" dirty="0"/>
          </a:p>
          <a:p>
            <a:pPr marL="0" indent="0" algn="just">
              <a:lnSpc>
                <a:spcPct val="100000"/>
              </a:lnSpc>
              <a:spcBef>
                <a:spcPts val="600"/>
              </a:spcBef>
              <a:spcAft>
                <a:spcPts val="600"/>
              </a:spcAft>
              <a:buNone/>
            </a:pPr>
            <a:endParaRPr lang="tr-TR" sz="1800" dirty="0"/>
          </a:p>
          <a:p>
            <a:pPr marL="0" indent="0" algn="just">
              <a:lnSpc>
                <a:spcPct val="100000"/>
              </a:lnSpc>
              <a:spcBef>
                <a:spcPts val="600"/>
              </a:spcBef>
              <a:spcAft>
                <a:spcPts val="600"/>
              </a:spcAft>
              <a:buNone/>
            </a:pPr>
            <a:endParaRPr lang="tr-TR" sz="1800" dirty="0"/>
          </a:p>
          <a:p>
            <a:pPr marL="0" indent="0" algn="just">
              <a:lnSpc>
                <a:spcPct val="100000"/>
              </a:lnSpc>
              <a:spcBef>
                <a:spcPts val="600"/>
              </a:spcBef>
              <a:spcAft>
                <a:spcPts val="600"/>
              </a:spcAft>
              <a:buNone/>
            </a:pPr>
            <a:endParaRPr lang="tr-TR" sz="1800" dirty="0"/>
          </a:p>
          <a:p>
            <a:pPr marL="0" indent="0" algn="just">
              <a:lnSpc>
                <a:spcPct val="100000"/>
              </a:lnSpc>
              <a:spcBef>
                <a:spcPts val="600"/>
              </a:spcBef>
              <a:spcAft>
                <a:spcPts val="600"/>
              </a:spcAft>
              <a:buNone/>
            </a:pPr>
            <a:endParaRPr lang="tr-TR" sz="1800" dirty="0"/>
          </a:p>
          <a:p>
            <a:pPr marL="0" indent="0" algn="just">
              <a:lnSpc>
                <a:spcPct val="100000"/>
              </a:lnSpc>
              <a:spcBef>
                <a:spcPts val="600"/>
              </a:spcBef>
              <a:spcAft>
                <a:spcPts val="600"/>
              </a:spcAft>
              <a:buNone/>
            </a:pPr>
            <a:endParaRPr lang="tr-TR" sz="1800" dirty="0"/>
          </a:p>
          <a:p>
            <a:pPr marL="0" indent="0" algn="just">
              <a:lnSpc>
                <a:spcPct val="100000"/>
              </a:lnSpc>
              <a:spcBef>
                <a:spcPts val="600"/>
              </a:spcBef>
              <a:spcAft>
                <a:spcPts val="600"/>
              </a:spcAft>
              <a:buNone/>
            </a:pPr>
            <a:endParaRPr lang="tr-TR" sz="1800" dirty="0"/>
          </a:p>
          <a:p>
            <a:pPr marL="0" indent="0" algn="just">
              <a:lnSpc>
                <a:spcPct val="100000"/>
              </a:lnSpc>
              <a:spcBef>
                <a:spcPts val="600"/>
              </a:spcBef>
              <a:spcAft>
                <a:spcPts val="600"/>
              </a:spcAft>
              <a:buNone/>
            </a:pPr>
            <a:r>
              <a:rPr lang="tr-TR" sz="1800" dirty="0" err="1"/>
              <a:t>Configurations</a:t>
            </a:r>
            <a:r>
              <a:rPr lang="tr-TR" sz="1800" dirty="0"/>
              <a:t> etiketi kapandıktan sonra (/</a:t>
            </a:r>
            <a:r>
              <a:rPr lang="tr-TR" sz="1800" dirty="0" err="1"/>
              <a:t>configurations</a:t>
            </a:r>
            <a:r>
              <a:rPr lang="tr-TR" sz="1800" dirty="0"/>
              <a:t>) enter tuşuna basıp yapıştırıyoruz. CTRL tuşuna</a:t>
            </a:r>
          </a:p>
          <a:p>
            <a:pPr marL="0" indent="0" algn="just">
              <a:lnSpc>
                <a:spcPct val="100000"/>
              </a:lnSpc>
              <a:spcBef>
                <a:spcPts val="600"/>
              </a:spcBef>
              <a:spcAft>
                <a:spcPts val="600"/>
              </a:spcAft>
              <a:buNone/>
            </a:pPr>
            <a:r>
              <a:rPr lang="tr-TR" sz="1800" dirty="0"/>
              <a:t>Basılı tutarken s tuşuna basıp kaydediyoruz.</a:t>
            </a:r>
          </a:p>
        </p:txBody>
      </p:sp>
      <p:pic>
        <p:nvPicPr>
          <p:cNvPr id="5" name="Resim 4" descr="metin, ekran görüntüsü, yazılım, multimedya yazılımı içeren bir resim&#10;&#10;Yapay zeka tarafından oluşturulan içerik yanlış olabilir.">
            <a:extLst>
              <a:ext uri="{FF2B5EF4-FFF2-40B4-BE49-F238E27FC236}">
                <a16:creationId xmlns:a16="http://schemas.microsoft.com/office/drawing/2014/main" id="{2D7F65D3-8CCF-4899-F850-CE51AA3782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0555" y="1596231"/>
            <a:ext cx="10950889" cy="3665538"/>
          </a:xfrm>
          <a:prstGeom prst="rect">
            <a:avLst/>
          </a:prstGeom>
        </p:spPr>
      </p:pic>
    </p:spTree>
    <p:extLst>
      <p:ext uri="{BB962C8B-B14F-4D97-AF65-F5344CB8AC3E}">
        <p14:creationId xmlns:p14="http://schemas.microsoft.com/office/powerpoint/2010/main" val="8302928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5EAB6F-BB72-BE1F-5294-4B0CB8CBA13C}"/>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3AC63B01-1B38-4DA8-06C2-0D2FC2ADA6D9}"/>
              </a:ext>
            </a:extLst>
          </p:cNvPr>
          <p:cNvSpPr>
            <a:spLocks noGrp="1"/>
          </p:cNvSpPr>
          <p:nvPr>
            <p:ph type="title"/>
          </p:nvPr>
        </p:nvSpPr>
        <p:spPr>
          <a:xfrm>
            <a:off x="838200" y="248495"/>
            <a:ext cx="10515600" cy="432542"/>
          </a:xfrm>
        </p:spPr>
        <p:txBody>
          <a:bodyPr>
            <a:noAutofit/>
          </a:bodyPr>
          <a:lstStyle/>
          <a:p>
            <a:pPr algn="ctr"/>
            <a:r>
              <a:rPr lang="tr-TR" sz="2800" dirty="0"/>
              <a:t>Model Sınıfını Eklemek</a:t>
            </a:r>
          </a:p>
        </p:txBody>
      </p:sp>
      <p:sp>
        <p:nvSpPr>
          <p:cNvPr id="3" name="İçerik Yer Tutucusu 2">
            <a:extLst>
              <a:ext uri="{FF2B5EF4-FFF2-40B4-BE49-F238E27FC236}">
                <a16:creationId xmlns:a16="http://schemas.microsoft.com/office/drawing/2014/main" id="{0FE809BC-27C7-6461-7B1A-84C785B58831}"/>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Hatırlarsanız, bu proje için oluşturulan 4 tablo vardı. Şimdi, ilk tablo olan Table_Customer için bir sınıf ekliyoruz. Yani, SQL tarafındaki tablomuzu Visual Studio tarafına bir class (sınıf) olarak tanıtıyoruz. Tablodaki sütun adları ve bu sütunların veri tiplerini olduğu gibi bir class olarak tanımlayacağız.</a:t>
            </a:r>
          </a:p>
          <a:p>
            <a:pPr marL="0" indent="0" algn="just">
              <a:lnSpc>
                <a:spcPct val="100000"/>
              </a:lnSpc>
              <a:spcBef>
                <a:spcPts val="600"/>
              </a:spcBef>
              <a:spcAft>
                <a:spcPts val="600"/>
              </a:spcAft>
              <a:buNone/>
            </a:pPr>
            <a:r>
              <a:rPr lang="tr-TR" sz="1800" dirty="0"/>
              <a:t>Şimdi projemize sağ tıklayıp Ekle-&gt;Sınıf seçeneğini seçiniz (Add-&gt;Class) daha sonra sınıfınıza bir isim veriniz. Ben, Table_Customer tablosu için bu sınıfa Customer ismini veriyorum.</a:t>
            </a:r>
          </a:p>
          <a:p>
            <a:pPr marL="0" indent="0" algn="just">
              <a:lnSpc>
                <a:spcPct val="100000"/>
              </a:lnSpc>
              <a:spcBef>
                <a:spcPts val="600"/>
              </a:spcBef>
              <a:spcAft>
                <a:spcPts val="600"/>
              </a:spcAft>
              <a:buNone/>
            </a:pPr>
            <a:endParaRPr lang="tr-TR" sz="1800" dirty="0"/>
          </a:p>
        </p:txBody>
      </p:sp>
    </p:spTree>
    <p:extLst>
      <p:ext uri="{BB962C8B-B14F-4D97-AF65-F5344CB8AC3E}">
        <p14:creationId xmlns:p14="http://schemas.microsoft.com/office/powerpoint/2010/main" val="16703067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BCC84-EE19-812F-B140-8461C72CE34E}"/>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1E1A573C-8B63-D56E-0C6E-219024D881BF}"/>
              </a:ext>
            </a:extLst>
          </p:cNvPr>
          <p:cNvSpPr>
            <a:spLocks noGrp="1"/>
          </p:cNvSpPr>
          <p:nvPr>
            <p:ph type="title"/>
          </p:nvPr>
        </p:nvSpPr>
        <p:spPr>
          <a:xfrm>
            <a:off x="838200" y="248495"/>
            <a:ext cx="10515600" cy="432542"/>
          </a:xfrm>
        </p:spPr>
        <p:txBody>
          <a:bodyPr>
            <a:noAutofit/>
          </a:bodyPr>
          <a:lstStyle/>
          <a:p>
            <a:pPr algn="ctr"/>
            <a:r>
              <a:rPr lang="tr-TR" sz="2800" dirty="0"/>
              <a:t>Model Sınıfını Eklemek</a:t>
            </a:r>
          </a:p>
        </p:txBody>
      </p:sp>
      <p:pic>
        <p:nvPicPr>
          <p:cNvPr id="5" name="İçerik Yer Tutucusu 4" descr="metin, ekran görüntüsü, yazılım, multimedya yazılımı içeren bir resim&#10;&#10;Yapay zeka tarafından oluşturulan içerik yanlış olabilir.">
            <a:extLst>
              <a:ext uri="{FF2B5EF4-FFF2-40B4-BE49-F238E27FC236}">
                <a16:creationId xmlns:a16="http://schemas.microsoft.com/office/drawing/2014/main" id="{DA380CC5-4BE3-D800-0713-A4343CA617A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63140" y="583491"/>
            <a:ext cx="5823659" cy="6239164"/>
          </a:xfrm>
        </p:spPr>
      </p:pic>
    </p:spTree>
    <p:extLst>
      <p:ext uri="{BB962C8B-B14F-4D97-AF65-F5344CB8AC3E}">
        <p14:creationId xmlns:p14="http://schemas.microsoft.com/office/powerpoint/2010/main" val="6010808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6304F-E865-231F-199E-1456A7CD4F81}"/>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18D26CA2-C748-4067-40DB-78F9D86206E8}"/>
              </a:ext>
            </a:extLst>
          </p:cNvPr>
          <p:cNvSpPr>
            <a:spLocks noGrp="1"/>
          </p:cNvSpPr>
          <p:nvPr>
            <p:ph type="title"/>
          </p:nvPr>
        </p:nvSpPr>
        <p:spPr>
          <a:xfrm>
            <a:off x="838200" y="248495"/>
            <a:ext cx="10515600" cy="432542"/>
          </a:xfrm>
        </p:spPr>
        <p:txBody>
          <a:bodyPr>
            <a:noAutofit/>
          </a:bodyPr>
          <a:lstStyle/>
          <a:p>
            <a:pPr algn="ctr"/>
            <a:r>
              <a:rPr lang="tr-TR" sz="2800" dirty="0"/>
              <a:t>Model Sınıfını Eklemek</a:t>
            </a:r>
          </a:p>
        </p:txBody>
      </p:sp>
      <p:pic>
        <p:nvPicPr>
          <p:cNvPr id="5" name="İçerik Yer Tutucusu 4" descr="metin, yazılım, ekran görüntüsü, multimedya yazılımı içeren bir resim&#10;&#10;Yapay zeka tarafından oluşturulan içerik yanlış olabilir.">
            <a:extLst>
              <a:ext uri="{FF2B5EF4-FFF2-40B4-BE49-F238E27FC236}">
                <a16:creationId xmlns:a16="http://schemas.microsoft.com/office/drawing/2014/main" id="{906877F0-067D-91D5-50A0-8732FD263E24}"/>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b="16143"/>
          <a:stretch/>
        </p:blipFill>
        <p:spPr>
          <a:xfrm>
            <a:off x="2063832" y="816954"/>
            <a:ext cx="8656050" cy="5894233"/>
          </a:xfrm>
        </p:spPr>
      </p:pic>
    </p:spTree>
    <p:extLst>
      <p:ext uri="{BB962C8B-B14F-4D97-AF65-F5344CB8AC3E}">
        <p14:creationId xmlns:p14="http://schemas.microsoft.com/office/powerpoint/2010/main" val="29423887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1D12F-A766-99A1-ECA7-049415A77343}"/>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0399158B-423C-C147-A52A-E5A38FC17C32}"/>
              </a:ext>
            </a:extLst>
          </p:cNvPr>
          <p:cNvSpPr>
            <a:spLocks noGrp="1"/>
          </p:cNvSpPr>
          <p:nvPr>
            <p:ph type="title"/>
          </p:nvPr>
        </p:nvSpPr>
        <p:spPr>
          <a:xfrm>
            <a:off x="838200" y="248495"/>
            <a:ext cx="10515600" cy="432542"/>
          </a:xfrm>
        </p:spPr>
        <p:txBody>
          <a:bodyPr>
            <a:noAutofit/>
          </a:bodyPr>
          <a:lstStyle/>
          <a:p>
            <a:pPr algn="ctr"/>
            <a:r>
              <a:rPr lang="tr-TR" sz="2800" dirty="0"/>
              <a:t>Model Sınıfını Eklemek</a:t>
            </a:r>
          </a:p>
        </p:txBody>
      </p:sp>
      <p:sp>
        <p:nvSpPr>
          <p:cNvPr id="3" name="İçerik Yer Tutucusu 2">
            <a:extLst>
              <a:ext uri="{FF2B5EF4-FFF2-40B4-BE49-F238E27FC236}">
                <a16:creationId xmlns:a16="http://schemas.microsoft.com/office/drawing/2014/main" id="{11186856-397C-BC6B-5FA8-689994883B39}"/>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Sınıfınızı oluşturduktan sonra ilk olarak using System blokları arasına aşağıdaki kodları yapıştırın:</a:t>
            </a:r>
          </a:p>
          <a:p>
            <a:pPr marL="0" indent="0" algn="just">
              <a:lnSpc>
                <a:spcPct val="100000"/>
              </a:lnSpc>
              <a:spcBef>
                <a:spcPts val="600"/>
              </a:spcBef>
              <a:spcAft>
                <a:spcPts val="600"/>
              </a:spcAft>
              <a:buNone/>
            </a:pPr>
            <a:r>
              <a:rPr lang="tr-TR" sz="1800" dirty="0"/>
              <a:t>using </a:t>
            </a:r>
            <a:r>
              <a:rPr lang="tr-TR" sz="1800" dirty="0" err="1"/>
              <a:t>System.ComponentModel.DataAnnotations</a:t>
            </a:r>
            <a:r>
              <a:rPr lang="tr-TR" sz="1800" dirty="0"/>
              <a:t>;</a:t>
            </a:r>
          </a:p>
          <a:p>
            <a:pPr marL="0" indent="0" algn="just">
              <a:lnSpc>
                <a:spcPct val="100000"/>
              </a:lnSpc>
              <a:spcBef>
                <a:spcPts val="600"/>
              </a:spcBef>
              <a:spcAft>
                <a:spcPts val="600"/>
              </a:spcAft>
              <a:buNone/>
            </a:pPr>
            <a:r>
              <a:rPr lang="tr-TR" sz="1800" dirty="0"/>
              <a:t>using </a:t>
            </a:r>
            <a:r>
              <a:rPr lang="tr-TR" sz="1800" dirty="0" err="1"/>
              <a:t>System.ComponentModel.DataAnnotations.Schema</a:t>
            </a:r>
            <a:r>
              <a:rPr lang="tr-TR" sz="1800" dirty="0"/>
              <a:t>;</a:t>
            </a:r>
          </a:p>
          <a:p>
            <a:pPr marL="0" indent="0" algn="just">
              <a:lnSpc>
                <a:spcPct val="100000"/>
              </a:lnSpc>
              <a:spcBef>
                <a:spcPts val="600"/>
              </a:spcBef>
              <a:spcAft>
                <a:spcPts val="600"/>
              </a:spcAft>
              <a:buNone/>
            </a:pPr>
            <a:endParaRPr lang="tr-TR" sz="1800" dirty="0"/>
          </a:p>
        </p:txBody>
      </p:sp>
      <p:pic>
        <p:nvPicPr>
          <p:cNvPr id="5" name="Resim 4" descr="metin, ekran görüntüsü, yazılım, multimedya yazılımı içeren bir resim&#10;&#10;Yapay zeka tarafından oluşturulan içerik yanlış olabilir.">
            <a:extLst>
              <a:ext uri="{FF2B5EF4-FFF2-40B4-BE49-F238E27FC236}">
                <a16:creationId xmlns:a16="http://schemas.microsoft.com/office/drawing/2014/main" id="{074BD272-8EA2-FA0A-3D06-AA809CA03F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54051" y="2471290"/>
            <a:ext cx="7361338" cy="3807589"/>
          </a:xfrm>
          <a:prstGeom prst="rect">
            <a:avLst/>
          </a:prstGeom>
        </p:spPr>
      </p:pic>
    </p:spTree>
    <p:extLst>
      <p:ext uri="{BB962C8B-B14F-4D97-AF65-F5344CB8AC3E}">
        <p14:creationId xmlns:p14="http://schemas.microsoft.com/office/powerpoint/2010/main" val="7162396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527B4-DFDA-AFD2-8C7F-14E9BA2674C5}"/>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272981DF-D961-AC29-441F-B1DB5447305F}"/>
              </a:ext>
            </a:extLst>
          </p:cNvPr>
          <p:cNvSpPr>
            <a:spLocks noGrp="1"/>
          </p:cNvSpPr>
          <p:nvPr>
            <p:ph type="title"/>
          </p:nvPr>
        </p:nvSpPr>
        <p:spPr>
          <a:xfrm>
            <a:off x="838200" y="248495"/>
            <a:ext cx="10515600" cy="432542"/>
          </a:xfrm>
        </p:spPr>
        <p:txBody>
          <a:bodyPr>
            <a:noAutofit/>
          </a:bodyPr>
          <a:lstStyle/>
          <a:p>
            <a:pPr algn="ctr"/>
            <a:r>
              <a:rPr lang="tr-TR" sz="2800" dirty="0"/>
              <a:t>Model Sınıfını Eklemek</a:t>
            </a:r>
          </a:p>
        </p:txBody>
      </p:sp>
      <p:sp>
        <p:nvSpPr>
          <p:cNvPr id="3" name="İçerik Yer Tutucusu 2">
            <a:extLst>
              <a:ext uri="{FF2B5EF4-FFF2-40B4-BE49-F238E27FC236}">
                <a16:creationId xmlns:a16="http://schemas.microsoft.com/office/drawing/2014/main" id="{090C5BB4-F62B-C13E-2CB0-D3A2E6D719BC}"/>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Şimdi de </a:t>
            </a:r>
            <a:r>
              <a:rPr lang="tr-TR" sz="1800" dirty="0" err="1"/>
              <a:t>internal</a:t>
            </a:r>
            <a:r>
              <a:rPr lang="tr-TR" sz="1800" dirty="0"/>
              <a:t> class Customer yazan yerin hemen üstüne (public alana) aşağıdaki kodu yapıştırıyoruz:</a:t>
            </a:r>
          </a:p>
          <a:p>
            <a:pPr marL="0" indent="0" algn="just">
              <a:lnSpc>
                <a:spcPct val="100000"/>
              </a:lnSpc>
              <a:spcBef>
                <a:spcPts val="600"/>
              </a:spcBef>
              <a:spcAft>
                <a:spcPts val="600"/>
              </a:spcAft>
              <a:buNone/>
            </a:pPr>
            <a:r>
              <a:rPr lang="tr-TR" sz="1800" dirty="0"/>
              <a:t>[Table("Table_Customer")]  böylelikle </a:t>
            </a:r>
            <a:r>
              <a:rPr lang="tr-TR" sz="1800" dirty="0" err="1"/>
              <a:t>sql</a:t>
            </a:r>
            <a:r>
              <a:rPr lang="tr-TR" sz="1800" dirty="0"/>
              <a:t> ve c# bağlantısını kurmaya çalışıyoruz (</a:t>
            </a:r>
            <a:r>
              <a:rPr lang="tr-TR" sz="1800" dirty="0" err="1"/>
              <a:t>entity</a:t>
            </a:r>
            <a:r>
              <a:rPr lang="tr-TR" sz="1800" dirty="0"/>
              <a:t> </a:t>
            </a:r>
            <a:r>
              <a:rPr lang="tr-TR" sz="1800" dirty="0" err="1"/>
              <a:t>framework</a:t>
            </a:r>
            <a:r>
              <a:rPr lang="tr-TR" sz="1800" dirty="0"/>
              <a:t> konsepti dahilinde)</a:t>
            </a:r>
          </a:p>
          <a:p>
            <a:pPr marL="0" indent="0" algn="just">
              <a:lnSpc>
                <a:spcPct val="100000"/>
              </a:lnSpc>
              <a:spcBef>
                <a:spcPts val="600"/>
              </a:spcBef>
              <a:spcAft>
                <a:spcPts val="600"/>
              </a:spcAft>
              <a:buNone/>
            </a:pPr>
            <a:r>
              <a:rPr lang="tr-TR" sz="1800" dirty="0"/>
              <a:t>NOT: Sizler de kendi tablonuza göre bu kodu ekleyiniz.</a:t>
            </a:r>
          </a:p>
        </p:txBody>
      </p:sp>
      <p:pic>
        <p:nvPicPr>
          <p:cNvPr id="5" name="Resim 4" descr="metin, ekran görüntüsü, yazılım, multimedya yazılımı içeren bir resim&#10;&#10;Yapay zeka tarafından oluşturulan içerik yanlış olabilir.">
            <a:extLst>
              <a:ext uri="{FF2B5EF4-FFF2-40B4-BE49-F238E27FC236}">
                <a16:creationId xmlns:a16="http://schemas.microsoft.com/office/drawing/2014/main" id="{096E3535-7DF5-4631-F3A5-62275C1170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22434" y="2392057"/>
            <a:ext cx="6776605" cy="4368566"/>
          </a:xfrm>
          <a:prstGeom prst="rect">
            <a:avLst/>
          </a:prstGeom>
        </p:spPr>
      </p:pic>
    </p:spTree>
    <p:extLst>
      <p:ext uri="{BB962C8B-B14F-4D97-AF65-F5344CB8AC3E}">
        <p14:creationId xmlns:p14="http://schemas.microsoft.com/office/powerpoint/2010/main" val="35148295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A5D750-B691-82E8-C774-CA3FD37F21A4}"/>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B3AF7E50-BF62-A3EE-6F2B-1C3B9EC22850}"/>
              </a:ext>
            </a:extLst>
          </p:cNvPr>
          <p:cNvSpPr>
            <a:spLocks noGrp="1"/>
          </p:cNvSpPr>
          <p:nvPr>
            <p:ph type="title"/>
          </p:nvPr>
        </p:nvSpPr>
        <p:spPr>
          <a:xfrm>
            <a:off x="838200" y="248495"/>
            <a:ext cx="10515600" cy="432542"/>
          </a:xfrm>
        </p:spPr>
        <p:txBody>
          <a:bodyPr>
            <a:noAutofit/>
          </a:bodyPr>
          <a:lstStyle/>
          <a:p>
            <a:pPr algn="ctr"/>
            <a:r>
              <a:rPr lang="tr-TR" sz="2800" dirty="0"/>
              <a:t>Model Sınıfını Eklemek</a:t>
            </a:r>
          </a:p>
        </p:txBody>
      </p:sp>
      <p:sp>
        <p:nvSpPr>
          <p:cNvPr id="3" name="İçerik Yer Tutucusu 2">
            <a:extLst>
              <a:ext uri="{FF2B5EF4-FFF2-40B4-BE49-F238E27FC236}">
                <a16:creationId xmlns:a16="http://schemas.microsoft.com/office/drawing/2014/main" id="{29FE9638-38AD-93B6-37E0-7A1B41E5A611}"/>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Şimdi, Bu class’ın (Customer) Table_Customer tablosu olduğunu tanıttık. Sıra geldi, Table_Customer tablosunun sütunlarını burada birer </a:t>
            </a:r>
            <a:r>
              <a:rPr lang="tr-TR" sz="1800" dirty="0" err="1"/>
              <a:t>property</a:t>
            </a:r>
            <a:r>
              <a:rPr lang="tr-TR" sz="1800" dirty="0"/>
              <a:t> (özellik) olarak tanıtmaya. Bunun için, Table_Customer tablosunun sütun isimlerine ve bu sütunları veri tipleri bilgisine ihtiyacımız var. Aşağıda, bu projedeki Table_Customer tablosunun sütun isimleri ve bu sütunların veri tipleri verilmektedir.</a:t>
            </a:r>
          </a:p>
          <a:p>
            <a:pPr marL="0" indent="0" algn="just">
              <a:lnSpc>
                <a:spcPct val="100000"/>
              </a:lnSpc>
              <a:spcBef>
                <a:spcPts val="600"/>
              </a:spcBef>
              <a:spcAft>
                <a:spcPts val="600"/>
              </a:spcAft>
              <a:buNone/>
            </a:pPr>
            <a:endParaRPr lang="tr-TR" sz="1800" dirty="0"/>
          </a:p>
        </p:txBody>
      </p:sp>
      <p:pic>
        <p:nvPicPr>
          <p:cNvPr id="5" name="Resim 4" descr="metin, ekran görüntüsü, yazı tipi, sayı, numara içeren bir resim&#10;&#10;Yapay zeka tarafından oluşturulan içerik yanlış olabilir.">
            <a:extLst>
              <a:ext uri="{FF2B5EF4-FFF2-40B4-BE49-F238E27FC236}">
                <a16:creationId xmlns:a16="http://schemas.microsoft.com/office/drawing/2014/main" id="{CB7FF7B7-9489-2020-B3C8-0D2B332C77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67363" y="2329556"/>
            <a:ext cx="7376849" cy="1978283"/>
          </a:xfrm>
          <a:prstGeom prst="rect">
            <a:avLst/>
          </a:prstGeom>
        </p:spPr>
      </p:pic>
    </p:spTree>
    <p:extLst>
      <p:ext uri="{BB962C8B-B14F-4D97-AF65-F5344CB8AC3E}">
        <p14:creationId xmlns:p14="http://schemas.microsoft.com/office/powerpoint/2010/main" val="1378218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EB933D-F836-9C17-F4DD-00E6BA38345A}"/>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0335BFE5-6251-973F-6911-25E7529445CD}"/>
              </a:ext>
            </a:extLst>
          </p:cNvPr>
          <p:cNvSpPr>
            <a:spLocks noGrp="1"/>
          </p:cNvSpPr>
          <p:nvPr>
            <p:ph type="title"/>
          </p:nvPr>
        </p:nvSpPr>
        <p:spPr>
          <a:xfrm>
            <a:off x="838200" y="248495"/>
            <a:ext cx="10515600" cy="432542"/>
          </a:xfrm>
        </p:spPr>
        <p:txBody>
          <a:bodyPr>
            <a:noAutofit/>
          </a:bodyPr>
          <a:lstStyle/>
          <a:p>
            <a:pPr algn="ctr"/>
            <a:r>
              <a:rPr lang="tr-TR" sz="2800" dirty="0"/>
              <a:t>Model Sınıfını Eklemek</a:t>
            </a:r>
          </a:p>
        </p:txBody>
      </p:sp>
      <p:sp>
        <p:nvSpPr>
          <p:cNvPr id="3" name="İçerik Yer Tutucusu 2">
            <a:extLst>
              <a:ext uri="{FF2B5EF4-FFF2-40B4-BE49-F238E27FC236}">
                <a16:creationId xmlns:a16="http://schemas.microsoft.com/office/drawing/2014/main" id="{2715037A-D39C-0622-8C25-1FDDAE515C68}"/>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C# tarafında bir sütunun </a:t>
            </a:r>
            <a:r>
              <a:rPr lang="tr-TR" sz="1800" dirty="0" err="1"/>
              <a:t>property</a:t>
            </a:r>
            <a:r>
              <a:rPr lang="tr-TR" sz="1800" dirty="0"/>
              <a:t> olarak eklenmesinde eğer bu sütun SQL tarafında bir primary </a:t>
            </a:r>
            <a:r>
              <a:rPr lang="tr-TR" sz="1800" dirty="0" err="1"/>
              <a:t>key’e</a:t>
            </a:r>
            <a:r>
              <a:rPr lang="tr-TR" sz="1800" dirty="0"/>
              <a:t> karşılık geliyorsa bunun için onu [Key] olarak belirtiriz.</a:t>
            </a:r>
          </a:p>
          <a:p>
            <a:pPr marL="0" indent="0" algn="just">
              <a:lnSpc>
                <a:spcPct val="100000"/>
              </a:lnSpc>
              <a:spcBef>
                <a:spcPts val="600"/>
              </a:spcBef>
              <a:spcAft>
                <a:spcPts val="600"/>
              </a:spcAft>
              <a:buNone/>
            </a:pPr>
            <a:r>
              <a:rPr lang="tr-TR" sz="1800" dirty="0"/>
              <a:t>Eğer bu sütunun boş geçilmemesi gerekirse (Allow Nulls kısmı işaretlenmemişse boş geçilemez demekti)</a:t>
            </a:r>
          </a:p>
          <a:p>
            <a:pPr marL="0" indent="0" algn="just">
              <a:lnSpc>
                <a:spcPct val="100000"/>
              </a:lnSpc>
              <a:spcBef>
                <a:spcPts val="600"/>
              </a:spcBef>
              <a:spcAft>
                <a:spcPts val="600"/>
              </a:spcAft>
              <a:buNone/>
            </a:pPr>
            <a:r>
              <a:rPr lang="tr-TR" sz="1800" dirty="0"/>
              <a:t>[</a:t>
            </a:r>
            <a:r>
              <a:rPr lang="tr-TR" sz="1800" dirty="0" err="1"/>
              <a:t>Required</a:t>
            </a:r>
            <a:r>
              <a:rPr lang="tr-TR" sz="1800" dirty="0"/>
              <a:t>] olarak belirtiriz. Eğer SQL tarafındaki bu sütunun tipi </a:t>
            </a:r>
            <a:r>
              <a:rPr lang="tr-TR" sz="1800" dirty="0" err="1"/>
              <a:t>string</a:t>
            </a:r>
            <a:r>
              <a:rPr lang="tr-TR" sz="1800" dirty="0"/>
              <a:t> tipteyse (</a:t>
            </a:r>
            <a:r>
              <a:rPr lang="tr-TR" sz="1800" dirty="0" err="1"/>
              <a:t>nvarchar</a:t>
            </a:r>
            <a:r>
              <a:rPr lang="tr-TR" sz="1800" dirty="0"/>
              <a:t>, </a:t>
            </a:r>
            <a:r>
              <a:rPr lang="tr-TR" sz="1800" dirty="0" err="1"/>
              <a:t>varchar</a:t>
            </a:r>
            <a:r>
              <a:rPr lang="tr-TR" sz="1800" dirty="0"/>
              <a:t>, </a:t>
            </a:r>
            <a:r>
              <a:rPr lang="tr-TR" sz="1800" dirty="0" err="1"/>
              <a:t>char</a:t>
            </a:r>
            <a:r>
              <a:rPr lang="tr-TR" sz="1800" dirty="0"/>
              <a:t>) ve bir uzunluğu varsa (en fazla 10 karakter ya da 20 karakter ya da x karakter) bunu da [</a:t>
            </a:r>
            <a:r>
              <a:rPr lang="tr-TR" sz="1800" dirty="0" err="1"/>
              <a:t>MaxLength</a:t>
            </a:r>
            <a:r>
              <a:rPr lang="tr-TR" sz="1800" dirty="0"/>
              <a:t>(</a:t>
            </a:r>
            <a:r>
              <a:rPr lang="tr-TR" sz="1800" dirty="0" err="1"/>
              <a:t>karakter_sayisi</a:t>
            </a:r>
            <a:r>
              <a:rPr lang="tr-TR" sz="1800" dirty="0"/>
              <a:t>)] olarak belirtiriz.</a:t>
            </a:r>
          </a:p>
          <a:p>
            <a:pPr marL="0" indent="0" algn="just">
              <a:lnSpc>
                <a:spcPct val="100000"/>
              </a:lnSpc>
              <a:spcBef>
                <a:spcPts val="600"/>
              </a:spcBef>
              <a:spcAft>
                <a:spcPts val="600"/>
              </a:spcAft>
              <a:buNone/>
            </a:pPr>
            <a:r>
              <a:rPr lang="tr-TR" sz="1800" dirty="0"/>
              <a:t>Örneğin </a:t>
            </a:r>
            <a:r>
              <a:rPr lang="tr-TR" sz="1800" dirty="0" err="1"/>
              <a:t>nvarchar</a:t>
            </a:r>
            <a:r>
              <a:rPr lang="tr-TR" sz="1800" dirty="0"/>
              <a:t>(10) için [</a:t>
            </a:r>
            <a:r>
              <a:rPr lang="tr-TR" sz="1800" dirty="0" err="1"/>
              <a:t>MaxLength</a:t>
            </a:r>
            <a:r>
              <a:rPr lang="tr-TR" sz="1800" dirty="0"/>
              <a:t>(10)] olarak belirtiriz.</a:t>
            </a:r>
          </a:p>
          <a:p>
            <a:pPr marL="0" indent="0" algn="just">
              <a:lnSpc>
                <a:spcPct val="100000"/>
              </a:lnSpc>
              <a:spcBef>
                <a:spcPts val="600"/>
              </a:spcBef>
              <a:spcAft>
                <a:spcPts val="600"/>
              </a:spcAft>
              <a:buNone/>
            </a:pPr>
            <a:r>
              <a:rPr lang="tr-TR" sz="1800" dirty="0"/>
              <a:t>Tüm bunlara göre bu projedeki Table_Customer tablosunun sütunlarının, veri tipleriyle birlikte bir class olarak tanımlanması sonraki sayfadaki kodlarda verilmektedir.</a:t>
            </a:r>
          </a:p>
          <a:p>
            <a:pPr marL="0" indent="0" algn="just">
              <a:lnSpc>
                <a:spcPct val="100000"/>
              </a:lnSpc>
              <a:spcBef>
                <a:spcPts val="600"/>
              </a:spcBef>
              <a:spcAft>
                <a:spcPts val="600"/>
              </a:spcAft>
              <a:buNone/>
            </a:pPr>
            <a:endParaRPr lang="tr-TR" sz="1800" dirty="0"/>
          </a:p>
        </p:txBody>
      </p:sp>
    </p:spTree>
    <p:extLst>
      <p:ext uri="{BB962C8B-B14F-4D97-AF65-F5344CB8AC3E}">
        <p14:creationId xmlns:p14="http://schemas.microsoft.com/office/powerpoint/2010/main" val="24364309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80D140-DA12-B87D-5EC9-6A406A589CD6}"/>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A068D765-C465-244E-0E47-4C1BED7A4694}"/>
              </a:ext>
            </a:extLst>
          </p:cNvPr>
          <p:cNvSpPr>
            <a:spLocks noGrp="1"/>
          </p:cNvSpPr>
          <p:nvPr>
            <p:ph type="title"/>
          </p:nvPr>
        </p:nvSpPr>
        <p:spPr>
          <a:xfrm>
            <a:off x="838200" y="248495"/>
            <a:ext cx="10515600" cy="432542"/>
          </a:xfrm>
        </p:spPr>
        <p:txBody>
          <a:bodyPr>
            <a:noAutofit/>
          </a:bodyPr>
          <a:lstStyle/>
          <a:p>
            <a:pPr algn="ctr"/>
            <a:r>
              <a:rPr lang="tr-TR" sz="2800" dirty="0"/>
              <a:t>Model Sınıfını Eklemek</a:t>
            </a:r>
          </a:p>
        </p:txBody>
      </p:sp>
      <p:sp>
        <p:nvSpPr>
          <p:cNvPr id="3" name="İçerik Yer Tutucusu 2">
            <a:extLst>
              <a:ext uri="{FF2B5EF4-FFF2-40B4-BE49-F238E27FC236}">
                <a16:creationId xmlns:a16="http://schemas.microsoft.com/office/drawing/2014/main" id="{404BB781-9E22-B9A4-F491-AE0D2FCF9F99}"/>
              </a:ext>
            </a:extLst>
          </p:cNvPr>
          <p:cNvSpPr>
            <a:spLocks noGrp="1"/>
          </p:cNvSpPr>
          <p:nvPr>
            <p:ph idx="1"/>
          </p:nvPr>
        </p:nvSpPr>
        <p:spPr>
          <a:xfrm>
            <a:off x="838200" y="846306"/>
            <a:ext cx="10515600" cy="5885234"/>
          </a:xfrm>
        </p:spPr>
        <p:txBody>
          <a:bodyPr>
            <a:normAutofit fontScale="70000" lnSpcReduction="20000"/>
          </a:bodyPr>
          <a:lstStyle/>
          <a:p>
            <a:pPr marL="0" indent="0">
              <a:buNone/>
            </a:pPr>
            <a:r>
              <a:rPr lang="tr-TR" sz="1800" dirty="0">
                <a:solidFill>
                  <a:srgbClr val="000000"/>
                </a:solidFill>
                <a:highlight>
                  <a:srgbClr val="FFFFFF"/>
                </a:highlight>
                <a:latin typeface="Cascadia Mono" panose="020B0609020000020004" pitchFamily="49" charset="0"/>
              </a:rPr>
              <a:t>[</a:t>
            </a:r>
            <a:r>
              <a:rPr lang="tr-TR" sz="1800" dirty="0">
                <a:solidFill>
                  <a:srgbClr val="2B91AF"/>
                </a:solidFill>
                <a:highlight>
                  <a:srgbClr val="FFFFFF"/>
                </a:highlight>
                <a:latin typeface="Cascadia Mono" panose="020B0609020000020004" pitchFamily="49" charset="0"/>
              </a:rPr>
              <a:t>Table</a:t>
            </a:r>
            <a:r>
              <a:rPr lang="tr-TR" sz="1800" dirty="0">
                <a:solidFill>
                  <a:srgbClr val="000000"/>
                </a:solidFill>
                <a:highlight>
                  <a:srgbClr val="FFFFFF"/>
                </a:highlight>
                <a:latin typeface="Cascadia Mono" panose="020B0609020000020004" pitchFamily="49" charset="0"/>
              </a:rPr>
              <a:t>(</a:t>
            </a:r>
            <a:r>
              <a:rPr lang="tr-TR" sz="1800" dirty="0">
                <a:solidFill>
                  <a:srgbClr val="A31515"/>
                </a:solidFill>
                <a:highlight>
                  <a:srgbClr val="FFFFFF"/>
                </a:highlight>
                <a:latin typeface="Cascadia Mono" panose="020B0609020000020004" pitchFamily="49" charset="0"/>
              </a:rPr>
              <a:t>"Table_Customer"</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err="1">
                <a:solidFill>
                  <a:srgbClr val="0000FF"/>
                </a:solidFill>
                <a:highlight>
                  <a:srgbClr val="FFFFFF"/>
                </a:highlight>
                <a:latin typeface="Cascadia Mono" panose="020B0609020000020004" pitchFamily="49" charset="0"/>
              </a:rPr>
              <a:t>internal</a:t>
            </a:r>
            <a:r>
              <a:rPr lang="tr-TR" sz="1800" dirty="0">
                <a:solidFill>
                  <a:srgbClr val="000000"/>
                </a:solidFill>
                <a:highlight>
                  <a:srgbClr val="FFFFFF"/>
                </a:highlight>
                <a:latin typeface="Cascadia Mono" panose="020B0609020000020004" pitchFamily="49" charset="0"/>
              </a:rPr>
              <a:t> </a:t>
            </a:r>
            <a:r>
              <a:rPr lang="tr-TR" sz="1800" dirty="0">
                <a:solidFill>
                  <a:srgbClr val="0000FF"/>
                </a:solidFill>
                <a:highlight>
                  <a:srgbClr val="FFFFFF"/>
                </a:highlight>
                <a:latin typeface="Cascadia Mono" panose="020B0609020000020004" pitchFamily="49" charset="0"/>
              </a:rPr>
              <a:t>class</a:t>
            </a:r>
            <a:r>
              <a:rPr lang="tr-TR" sz="1800" dirty="0">
                <a:solidFill>
                  <a:srgbClr val="000000"/>
                </a:solidFill>
                <a:highlight>
                  <a:srgbClr val="FFFFFF"/>
                </a:highlight>
                <a:latin typeface="Cascadia Mono" panose="020B0609020000020004" pitchFamily="49" charset="0"/>
              </a:rPr>
              <a:t> </a:t>
            </a:r>
            <a:r>
              <a:rPr lang="tr-TR" sz="1800" dirty="0">
                <a:solidFill>
                  <a:srgbClr val="2B91AF"/>
                </a:solidFill>
                <a:highlight>
                  <a:srgbClr val="FFFFFF"/>
                </a:highlight>
                <a:latin typeface="Cascadia Mono" panose="020B0609020000020004" pitchFamily="49" charset="0"/>
              </a:rPr>
              <a:t>Customer</a:t>
            </a:r>
          </a:p>
          <a:p>
            <a:pPr marL="0" indent="0">
              <a:buNone/>
            </a:pP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a:solidFill>
                  <a:srgbClr val="2B91AF"/>
                </a:solidFill>
                <a:highlight>
                  <a:srgbClr val="FFFFFF"/>
                </a:highlight>
                <a:latin typeface="Cascadia Mono" panose="020B0609020000020004" pitchFamily="49" charset="0"/>
              </a:rPr>
              <a:t>Key</a:t>
            </a:r>
            <a:r>
              <a:rPr lang="tr-TR" sz="1800" dirty="0">
                <a:solidFill>
                  <a:srgbClr val="000000"/>
                </a:solidFill>
                <a:highlight>
                  <a:srgbClr val="FFFFFF"/>
                </a:highlight>
                <a:latin typeface="Cascadia Mono" panose="020B0609020000020004" pitchFamily="49" charset="0"/>
              </a:rPr>
              <a:t>]</a:t>
            </a:r>
          </a:p>
          <a:p>
            <a:pPr marL="0" indent="0">
              <a:buNone/>
            </a:pP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public</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int</a:t>
            </a:r>
            <a:r>
              <a:rPr lang="en-US" sz="1800" dirty="0">
                <a:solidFill>
                  <a:srgbClr val="000000"/>
                </a:solidFill>
                <a:highlight>
                  <a:srgbClr val="FFFFFF"/>
                </a:highlight>
                <a:latin typeface="Cascadia Mono" panose="020B0609020000020004" pitchFamily="49" charset="0"/>
              </a:rPr>
              <a:t> </a:t>
            </a:r>
            <a:r>
              <a:rPr lang="en-US" sz="1800" dirty="0" err="1">
                <a:solidFill>
                  <a:srgbClr val="000000"/>
                </a:solidFill>
                <a:highlight>
                  <a:srgbClr val="FFFFFF"/>
                </a:highlight>
                <a:latin typeface="Cascadia Mono" panose="020B0609020000020004" pitchFamily="49" charset="0"/>
              </a:rPr>
              <a:t>Customer_Id</a:t>
            </a:r>
            <a:r>
              <a:rPr lang="en-US" sz="1800" dirty="0">
                <a:solidFill>
                  <a:srgbClr val="000000"/>
                </a:solidFill>
                <a:highlight>
                  <a:srgbClr val="FFFFFF"/>
                </a:highlight>
                <a:latin typeface="Cascadia Mono" panose="020B0609020000020004" pitchFamily="49" charset="0"/>
              </a:rPr>
              <a:t> { </a:t>
            </a:r>
            <a:r>
              <a:rPr lang="en-US" sz="1800" dirty="0">
                <a:solidFill>
                  <a:srgbClr val="0000FF"/>
                </a:solidFill>
                <a:highlight>
                  <a:srgbClr val="FFFFFF"/>
                </a:highlight>
                <a:latin typeface="Cascadia Mono" panose="020B0609020000020004" pitchFamily="49" charset="0"/>
              </a:rPr>
              <a:t>get</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set</a:t>
            </a:r>
            <a:r>
              <a:rPr lang="en-US" sz="1800" dirty="0">
                <a:solidFill>
                  <a:srgbClr val="000000"/>
                </a:solidFill>
                <a:highlight>
                  <a:srgbClr val="FFFFFF"/>
                </a:highlight>
                <a:latin typeface="Cascadia Mono" panose="020B0609020000020004" pitchFamily="49" charset="0"/>
              </a:rPr>
              <a:t>; }</a:t>
            </a:r>
          </a:p>
          <a:p>
            <a:pPr marL="0" indent="0">
              <a:buNone/>
            </a:pPr>
            <a:endParaRPr lang="tr-TR" sz="1800" dirty="0">
              <a:solidFill>
                <a:srgbClr val="000000"/>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Required</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MaxLength</a:t>
            </a:r>
            <a:r>
              <a:rPr lang="tr-TR" sz="1800" dirty="0">
                <a:solidFill>
                  <a:srgbClr val="000000"/>
                </a:solidFill>
                <a:highlight>
                  <a:srgbClr val="FFFFFF"/>
                </a:highlight>
                <a:latin typeface="Cascadia Mono" panose="020B0609020000020004" pitchFamily="49" charset="0"/>
              </a:rPr>
              <a:t>(50)]</a:t>
            </a:r>
          </a:p>
          <a:p>
            <a:pPr marL="0" indent="0">
              <a:buNone/>
            </a:pP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public</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string</a:t>
            </a:r>
            <a:r>
              <a:rPr lang="en-US" sz="1800" dirty="0">
                <a:solidFill>
                  <a:srgbClr val="000000"/>
                </a:solidFill>
                <a:highlight>
                  <a:srgbClr val="FFFFFF"/>
                </a:highlight>
                <a:latin typeface="Cascadia Mono" panose="020B0609020000020004" pitchFamily="49" charset="0"/>
              </a:rPr>
              <a:t> </a:t>
            </a:r>
            <a:r>
              <a:rPr lang="en-US" sz="1800" dirty="0" err="1">
                <a:solidFill>
                  <a:srgbClr val="000000"/>
                </a:solidFill>
                <a:highlight>
                  <a:srgbClr val="FFFFFF"/>
                </a:highlight>
                <a:latin typeface="Cascadia Mono" panose="020B0609020000020004" pitchFamily="49" charset="0"/>
              </a:rPr>
              <a:t>Customer_Name</a:t>
            </a:r>
            <a:r>
              <a:rPr lang="en-US" sz="1800" dirty="0">
                <a:solidFill>
                  <a:srgbClr val="000000"/>
                </a:solidFill>
                <a:highlight>
                  <a:srgbClr val="FFFFFF"/>
                </a:highlight>
                <a:latin typeface="Cascadia Mono" panose="020B0609020000020004" pitchFamily="49" charset="0"/>
              </a:rPr>
              <a:t> { </a:t>
            </a:r>
            <a:r>
              <a:rPr lang="en-US" sz="1800" dirty="0">
                <a:solidFill>
                  <a:srgbClr val="0000FF"/>
                </a:solidFill>
                <a:highlight>
                  <a:srgbClr val="FFFFFF"/>
                </a:highlight>
                <a:latin typeface="Cascadia Mono" panose="020B0609020000020004" pitchFamily="49" charset="0"/>
              </a:rPr>
              <a:t>get</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set</a:t>
            </a:r>
            <a:r>
              <a:rPr lang="en-US" sz="1800" dirty="0">
                <a:solidFill>
                  <a:srgbClr val="000000"/>
                </a:solidFill>
                <a:highlight>
                  <a:srgbClr val="FFFFFF"/>
                </a:highlight>
                <a:latin typeface="Cascadia Mono" panose="020B0609020000020004" pitchFamily="49" charset="0"/>
              </a:rPr>
              <a:t>; }</a:t>
            </a:r>
          </a:p>
          <a:p>
            <a:pPr marL="0" indent="0">
              <a:buNone/>
            </a:pPr>
            <a:endParaRPr lang="tr-TR" sz="1800" dirty="0">
              <a:solidFill>
                <a:srgbClr val="000000"/>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Required</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MaxLength</a:t>
            </a:r>
            <a:r>
              <a:rPr lang="tr-TR" sz="1800" dirty="0">
                <a:solidFill>
                  <a:srgbClr val="000000"/>
                </a:solidFill>
                <a:highlight>
                  <a:srgbClr val="FFFFFF"/>
                </a:highlight>
                <a:latin typeface="Cascadia Mono" panose="020B0609020000020004" pitchFamily="49" charset="0"/>
              </a:rPr>
              <a:t>(50)]</a:t>
            </a:r>
          </a:p>
          <a:p>
            <a:pPr marL="0" indent="0">
              <a:buNone/>
            </a:pP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public</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string</a:t>
            </a:r>
            <a:r>
              <a:rPr lang="en-US" sz="1800" dirty="0">
                <a:solidFill>
                  <a:srgbClr val="000000"/>
                </a:solidFill>
                <a:highlight>
                  <a:srgbClr val="FFFFFF"/>
                </a:highlight>
                <a:latin typeface="Cascadia Mono" panose="020B0609020000020004" pitchFamily="49" charset="0"/>
              </a:rPr>
              <a:t> </a:t>
            </a:r>
            <a:r>
              <a:rPr lang="en-US" sz="1800" dirty="0" err="1">
                <a:solidFill>
                  <a:srgbClr val="000000"/>
                </a:solidFill>
                <a:highlight>
                  <a:srgbClr val="FFFFFF"/>
                </a:highlight>
                <a:latin typeface="Cascadia Mono" panose="020B0609020000020004" pitchFamily="49" charset="0"/>
              </a:rPr>
              <a:t>Customer_Surname</a:t>
            </a:r>
            <a:r>
              <a:rPr lang="en-US" sz="1800" dirty="0">
                <a:solidFill>
                  <a:srgbClr val="000000"/>
                </a:solidFill>
                <a:highlight>
                  <a:srgbClr val="FFFFFF"/>
                </a:highlight>
                <a:latin typeface="Cascadia Mono" panose="020B0609020000020004" pitchFamily="49" charset="0"/>
              </a:rPr>
              <a:t> { </a:t>
            </a:r>
            <a:r>
              <a:rPr lang="en-US" sz="1800" dirty="0">
                <a:solidFill>
                  <a:srgbClr val="0000FF"/>
                </a:solidFill>
                <a:highlight>
                  <a:srgbClr val="FFFFFF"/>
                </a:highlight>
                <a:latin typeface="Cascadia Mono" panose="020B0609020000020004" pitchFamily="49" charset="0"/>
              </a:rPr>
              <a:t>get</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set</a:t>
            </a:r>
            <a:r>
              <a:rPr lang="en-US" sz="1800" dirty="0">
                <a:solidFill>
                  <a:srgbClr val="000000"/>
                </a:solidFill>
                <a:highlight>
                  <a:srgbClr val="FFFFFF"/>
                </a:highlight>
                <a:latin typeface="Cascadia Mono" panose="020B0609020000020004" pitchFamily="49" charset="0"/>
              </a:rPr>
              <a:t>; }</a:t>
            </a:r>
          </a:p>
          <a:p>
            <a:pPr marL="0" indent="0">
              <a:buNone/>
            </a:pPr>
            <a:endParaRPr lang="tr-TR" sz="1800" dirty="0">
              <a:solidFill>
                <a:srgbClr val="000000"/>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Required</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MaxLength</a:t>
            </a:r>
            <a:r>
              <a:rPr lang="tr-TR" sz="1800" dirty="0">
                <a:solidFill>
                  <a:srgbClr val="000000"/>
                </a:solidFill>
                <a:highlight>
                  <a:srgbClr val="FFFFFF"/>
                </a:highlight>
                <a:latin typeface="Cascadia Mono" panose="020B0609020000020004" pitchFamily="49" charset="0"/>
              </a:rPr>
              <a:t>(50)]</a:t>
            </a:r>
          </a:p>
          <a:p>
            <a:pPr marL="0" indent="0">
              <a:buNone/>
            </a:pP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public</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string</a:t>
            </a:r>
            <a:r>
              <a:rPr lang="en-US" sz="1800" dirty="0">
                <a:solidFill>
                  <a:srgbClr val="000000"/>
                </a:solidFill>
                <a:highlight>
                  <a:srgbClr val="FFFFFF"/>
                </a:highlight>
                <a:latin typeface="Cascadia Mono" panose="020B0609020000020004" pitchFamily="49" charset="0"/>
              </a:rPr>
              <a:t> </a:t>
            </a:r>
            <a:r>
              <a:rPr lang="en-US" sz="1800" dirty="0" err="1">
                <a:solidFill>
                  <a:srgbClr val="000000"/>
                </a:solidFill>
                <a:highlight>
                  <a:srgbClr val="FFFFFF"/>
                </a:highlight>
                <a:latin typeface="Cascadia Mono" panose="020B0609020000020004" pitchFamily="49" charset="0"/>
              </a:rPr>
              <a:t>Customer_email</a:t>
            </a:r>
            <a:r>
              <a:rPr lang="en-US" sz="1800" dirty="0">
                <a:solidFill>
                  <a:srgbClr val="000000"/>
                </a:solidFill>
                <a:highlight>
                  <a:srgbClr val="FFFFFF"/>
                </a:highlight>
                <a:latin typeface="Cascadia Mono" panose="020B0609020000020004" pitchFamily="49" charset="0"/>
              </a:rPr>
              <a:t> { </a:t>
            </a:r>
            <a:r>
              <a:rPr lang="en-US" sz="1800" dirty="0">
                <a:solidFill>
                  <a:srgbClr val="0000FF"/>
                </a:solidFill>
                <a:highlight>
                  <a:srgbClr val="FFFFFF"/>
                </a:highlight>
                <a:latin typeface="Cascadia Mono" panose="020B0609020000020004" pitchFamily="49" charset="0"/>
              </a:rPr>
              <a:t>get</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set</a:t>
            </a:r>
            <a:r>
              <a:rPr lang="en-US" sz="1800" dirty="0">
                <a:solidFill>
                  <a:srgbClr val="000000"/>
                </a:solidFill>
                <a:highlight>
                  <a:srgbClr val="FFFFFF"/>
                </a:highlight>
                <a:latin typeface="Cascadia Mono" panose="020B0609020000020004" pitchFamily="49" charset="0"/>
              </a:rPr>
              <a:t>; }</a:t>
            </a:r>
          </a:p>
          <a:p>
            <a:pPr marL="0" indent="0">
              <a:buNone/>
            </a:pPr>
            <a:endParaRPr lang="tr-TR" sz="1800" dirty="0">
              <a:solidFill>
                <a:srgbClr val="000000"/>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Required</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MaxLength</a:t>
            </a:r>
            <a:r>
              <a:rPr lang="tr-TR" sz="1800" dirty="0">
                <a:solidFill>
                  <a:srgbClr val="000000"/>
                </a:solidFill>
                <a:highlight>
                  <a:srgbClr val="FFFFFF"/>
                </a:highlight>
                <a:latin typeface="Cascadia Mono" panose="020B0609020000020004" pitchFamily="49" charset="0"/>
              </a:rPr>
              <a:t>(50)]</a:t>
            </a:r>
          </a:p>
          <a:p>
            <a:pPr marL="0" indent="0">
              <a:buNone/>
            </a:pP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public</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string</a:t>
            </a:r>
            <a:r>
              <a:rPr lang="en-US" sz="1800" dirty="0">
                <a:solidFill>
                  <a:srgbClr val="000000"/>
                </a:solidFill>
                <a:highlight>
                  <a:srgbClr val="FFFFFF"/>
                </a:highlight>
                <a:latin typeface="Cascadia Mono" panose="020B0609020000020004" pitchFamily="49" charset="0"/>
              </a:rPr>
              <a:t> </a:t>
            </a:r>
            <a:r>
              <a:rPr lang="en-US" sz="1800" dirty="0" err="1">
                <a:solidFill>
                  <a:srgbClr val="000000"/>
                </a:solidFill>
                <a:highlight>
                  <a:srgbClr val="FFFFFF"/>
                </a:highlight>
                <a:latin typeface="Cascadia Mono" panose="020B0609020000020004" pitchFamily="49" charset="0"/>
              </a:rPr>
              <a:t>Customer_telephone</a:t>
            </a:r>
            <a:r>
              <a:rPr lang="en-US" sz="1800" dirty="0">
                <a:solidFill>
                  <a:srgbClr val="000000"/>
                </a:solidFill>
                <a:highlight>
                  <a:srgbClr val="FFFFFF"/>
                </a:highlight>
                <a:latin typeface="Cascadia Mono" panose="020B0609020000020004" pitchFamily="49" charset="0"/>
              </a:rPr>
              <a:t> { </a:t>
            </a:r>
            <a:r>
              <a:rPr lang="en-US" sz="1800" dirty="0">
                <a:solidFill>
                  <a:srgbClr val="0000FF"/>
                </a:solidFill>
                <a:highlight>
                  <a:srgbClr val="FFFFFF"/>
                </a:highlight>
                <a:latin typeface="Cascadia Mono" panose="020B0609020000020004" pitchFamily="49" charset="0"/>
              </a:rPr>
              <a:t>get</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set</a:t>
            </a:r>
            <a:r>
              <a:rPr lang="en-US" sz="1800" dirty="0">
                <a:solidFill>
                  <a:srgbClr val="000000"/>
                </a:solidFill>
                <a:highlight>
                  <a:srgbClr val="FFFFFF"/>
                </a:highlight>
                <a:latin typeface="Cascadia Mono" panose="020B0609020000020004" pitchFamily="49" charset="0"/>
              </a:rPr>
              <a:t>; }</a:t>
            </a:r>
          </a:p>
          <a:p>
            <a:pPr marL="0" indent="0">
              <a:buNone/>
            </a:pPr>
            <a:r>
              <a:rPr lang="tr-TR" sz="1800" dirty="0">
                <a:solidFill>
                  <a:srgbClr val="000000"/>
                </a:solidFill>
                <a:highlight>
                  <a:srgbClr val="FFFFFF"/>
                </a:highlight>
                <a:latin typeface="Cascadia Mono" panose="020B0609020000020004" pitchFamily="49" charset="0"/>
              </a:rPr>
              <a:t>}</a:t>
            </a:r>
            <a:endParaRPr lang="tr-TR" sz="1800" dirty="0"/>
          </a:p>
        </p:txBody>
      </p:sp>
    </p:spTree>
    <p:extLst>
      <p:ext uri="{BB962C8B-B14F-4D97-AF65-F5344CB8AC3E}">
        <p14:creationId xmlns:p14="http://schemas.microsoft.com/office/powerpoint/2010/main" val="8632023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BD3DE-0014-C952-B7A6-9E27C601D97E}"/>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6D39B839-89CB-92FD-F338-064A04FA8BED}"/>
              </a:ext>
            </a:extLst>
          </p:cNvPr>
          <p:cNvSpPr>
            <a:spLocks noGrp="1"/>
          </p:cNvSpPr>
          <p:nvPr>
            <p:ph type="title"/>
          </p:nvPr>
        </p:nvSpPr>
        <p:spPr>
          <a:xfrm>
            <a:off x="838200" y="248495"/>
            <a:ext cx="10515600" cy="432542"/>
          </a:xfrm>
        </p:spPr>
        <p:txBody>
          <a:bodyPr>
            <a:noAutofit/>
          </a:bodyPr>
          <a:lstStyle/>
          <a:p>
            <a:pPr algn="ctr"/>
            <a:r>
              <a:rPr lang="tr-TR" sz="2800" dirty="0"/>
              <a:t>Model Sınıfını Eklemek</a:t>
            </a:r>
          </a:p>
        </p:txBody>
      </p:sp>
      <p:pic>
        <p:nvPicPr>
          <p:cNvPr id="5" name="İçerik Yer Tutucusu 4" descr="metin, ekran görüntüsü, yazılım, multimedya yazılımı içeren bir resim&#10;&#10;Yapay zeka tarafından oluşturulan içerik yanlış olabilir.">
            <a:extLst>
              <a:ext uri="{FF2B5EF4-FFF2-40B4-BE49-F238E27FC236}">
                <a16:creationId xmlns:a16="http://schemas.microsoft.com/office/drawing/2014/main" id="{283B018A-7F54-CD2D-8B76-34179191B65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731842" y="681037"/>
            <a:ext cx="5107358" cy="6117178"/>
          </a:xfrm>
        </p:spPr>
      </p:pic>
    </p:spTree>
    <p:extLst>
      <p:ext uri="{BB962C8B-B14F-4D97-AF65-F5344CB8AC3E}">
        <p14:creationId xmlns:p14="http://schemas.microsoft.com/office/powerpoint/2010/main" val="27264499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322D4-E998-CF3E-7BC1-0FEE061C5CD9}"/>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C8679C77-9A24-D0B2-4FC6-94302A865B1F}"/>
              </a:ext>
            </a:extLst>
          </p:cNvPr>
          <p:cNvSpPr>
            <a:spLocks noGrp="1"/>
          </p:cNvSpPr>
          <p:nvPr>
            <p:ph type="title"/>
          </p:nvPr>
        </p:nvSpPr>
        <p:spPr>
          <a:xfrm>
            <a:off x="838200" y="248495"/>
            <a:ext cx="10515600" cy="432542"/>
          </a:xfrm>
        </p:spPr>
        <p:txBody>
          <a:bodyPr>
            <a:noAutofit/>
          </a:bodyPr>
          <a:lstStyle/>
          <a:p>
            <a:pPr algn="ctr"/>
            <a:r>
              <a:rPr lang="tr-TR" sz="2800" dirty="0"/>
              <a:t>Model Sınıfını Eklemek</a:t>
            </a:r>
          </a:p>
        </p:txBody>
      </p:sp>
      <p:sp>
        <p:nvSpPr>
          <p:cNvPr id="3" name="İçerik Yer Tutucusu 2">
            <a:extLst>
              <a:ext uri="{FF2B5EF4-FFF2-40B4-BE49-F238E27FC236}">
                <a16:creationId xmlns:a16="http://schemas.microsoft.com/office/drawing/2014/main" id="{186B4C91-3C63-B0AA-1F63-1E796ED49F0D}"/>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Böylelikle SQL tarafındaki ilk tablomuz için bir class tanımladık. Şimdi, veri tabanı işlemleri için (ekleme, silme, güncelleme, listeleme) yapacağımız işlemleri </a:t>
            </a:r>
            <a:r>
              <a:rPr lang="tr-TR" sz="1800" dirty="0" err="1"/>
              <a:t>EntityFramework</a:t>
            </a:r>
            <a:r>
              <a:rPr lang="tr-TR" sz="1800" dirty="0"/>
              <a:t> konseptinde tanımlanmış bir sistem </a:t>
            </a:r>
            <a:r>
              <a:rPr lang="tr-TR" sz="1800" dirty="0" err="1"/>
              <a:t>class’ı</a:t>
            </a:r>
            <a:r>
              <a:rPr lang="tr-TR" sz="1800" dirty="0"/>
              <a:t> olan </a:t>
            </a:r>
            <a:r>
              <a:rPr lang="tr-TR" sz="1800" dirty="0" err="1"/>
              <a:t>DbContext</a:t>
            </a:r>
            <a:r>
              <a:rPr lang="tr-TR" sz="1800" dirty="0"/>
              <a:t> sınıfına ihtiyacımız var.</a:t>
            </a:r>
          </a:p>
          <a:p>
            <a:pPr marL="0" indent="0" algn="just">
              <a:lnSpc>
                <a:spcPct val="100000"/>
              </a:lnSpc>
              <a:spcBef>
                <a:spcPts val="600"/>
              </a:spcBef>
              <a:spcAft>
                <a:spcPts val="600"/>
              </a:spcAft>
              <a:buNone/>
            </a:pPr>
            <a:r>
              <a:rPr lang="tr-TR" sz="1800" dirty="0"/>
              <a:t>Customer sınıfı içerisinde sadece Table_Customer tablosunun içerdiği bilgileri (sütun isimleri ve veri tipleri) oluşturduk. Ancak, bu tablo için yapacağımız insert into, </a:t>
            </a:r>
            <a:r>
              <a:rPr lang="tr-TR" sz="1800" dirty="0" err="1"/>
              <a:t>delete</a:t>
            </a:r>
            <a:r>
              <a:rPr lang="tr-TR" sz="1800" dirty="0"/>
              <a:t>, update ve select sorguları için C# tarafında başka bir class tanımlayacağız. Bu class içerisinde sadece ekleme, silme, güncelleme ve listeleme işlemlerine dair kodlar yer alacak. Bu sayede, her bir iş için bir class tanımlamış olacağız ve mantıksal kod bütünlüğünü sağlayacağız. Yani, her iş için o işe uygun bir class yazacağız.</a:t>
            </a:r>
          </a:p>
          <a:p>
            <a:pPr marL="0" indent="0" algn="just">
              <a:lnSpc>
                <a:spcPct val="100000"/>
              </a:lnSpc>
              <a:spcBef>
                <a:spcPts val="600"/>
              </a:spcBef>
              <a:spcAft>
                <a:spcPts val="600"/>
              </a:spcAft>
              <a:buNone/>
            </a:pPr>
            <a:endParaRPr lang="tr-TR" sz="1800" dirty="0"/>
          </a:p>
        </p:txBody>
      </p:sp>
    </p:spTree>
    <p:extLst>
      <p:ext uri="{BB962C8B-B14F-4D97-AF65-F5344CB8AC3E}">
        <p14:creationId xmlns:p14="http://schemas.microsoft.com/office/powerpoint/2010/main" val="29739253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5F826-989D-B5FF-3B37-49B62C5C224C}"/>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75D9D0C3-8503-9530-0923-1DD24E086B6D}"/>
              </a:ext>
            </a:extLst>
          </p:cNvPr>
          <p:cNvSpPr>
            <a:spLocks noGrp="1"/>
          </p:cNvSpPr>
          <p:nvPr>
            <p:ph type="title"/>
          </p:nvPr>
        </p:nvSpPr>
        <p:spPr>
          <a:xfrm>
            <a:off x="838200" y="248495"/>
            <a:ext cx="10515600" cy="432542"/>
          </a:xfrm>
        </p:spPr>
        <p:txBody>
          <a:bodyPr>
            <a:noAutofit/>
          </a:bodyPr>
          <a:lstStyle/>
          <a:p>
            <a:pPr algn="ctr"/>
            <a:r>
              <a:rPr lang="tr-TR" sz="2800" dirty="0"/>
              <a:t>Veri Tabanı İşlemleri için Sınıf Tanımlamak</a:t>
            </a:r>
          </a:p>
        </p:txBody>
      </p:sp>
      <p:sp>
        <p:nvSpPr>
          <p:cNvPr id="3" name="İçerik Yer Tutucusu 2">
            <a:extLst>
              <a:ext uri="{FF2B5EF4-FFF2-40B4-BE49-F238E27FC236}">
                <a16:creationId xmlns:a16="http://schemas.microsoft.com/office/drawing/2014/main" id="{845470FB-001F-43FA-F236-EB87EE4A3DF6}"/>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err="1"/>
              <a:t>EntityFramework</a:t>
            </a:r>
            <a:r>
              <a:rPr lang="tr-TR" sz="1800" dirty="0"/>
              <a:t> konseptinde veri tabanı işlemleri için hazırlanmış bir </a:t>
            </a:r>
            <a:r>
              <a:rPr lang="tr-TR" sz="1800" dirty="0" err="1"/>
              <a:t>DbContext</a:t>
            </a:r>
            <a:r>
              <a:rPr lang="tr-TR" sz="1800" dirty="0"/>
              <a:t> sınıfı vardır. Biz de kendi tablomuz için bir sınıf tanımlayıp, bu sınıftan miras alacağız. Bundan dolayı .Net geliştiricileri böyle bir class tanımlarken şu formülü izler: Tabloya karşılık gelen class adı (Örneğin bu örnekteki Customer) ve </a:t>
            </a:r>
            <a:r>
              <a:rPr lang="tr-TR" sz="1800" dirty="0" err="1"/>
              <a:t>DbContext</a:t>
            </a:r>
            <a:r>
              <a:rPr lang="tr-TR" sz="1800" dirty="0"/>
              <a:t> son eki (</a:t>
            </a:r>
            <a:r>
              <a:rPr lang="tr-TR" sz="1800" dirty="0" err="1"/>
              <a:t>DbContext</a:t>
            </a:r>
            <a:r>
              <a:rPr lang="tr-TR" sz="1800" dirty="0"/>
              <a:t> class’ını miras alacağımız için).</a:t>
            </a:r>
          </a:p>
          <a:p>
            <a:pPr marL="0" indent="0" algn="just">
              <a:lnSpc>
                <a:spcPct val="100000"/>
              </a:lnSpc>
              <a:spcBef>
                <a:spcPts val="600"/>
              </a:spcBef>
              <a:spcAft>
                <a:spcPts val="600"/>
              </a:spcAft>
              <a:buNone/>
            </a:pPr>
            <a:r>
              <a:rPr lang="tr-TR" sz="1800" dirty="0"/>
              <a:t>Şimdi biz de bu tanımlamaya sadık kalıp </a:t>
            </a:r>
            <a:r>
              <a:rPr lang="tr-TR" sz="1800" dirty="0" err="1"/>
              <a:t>CustomerDbContext</a:t>
            </a:r>
            <a:r>
              <a:rPr lang="tr-TR" sz="1800" dirty="0"/>
              <a:t> isimli bir class tanımlıyoruz.</a:t>
            </a:r>
          </a:p>
          <a:p>
            <a:pPr marL="0" indent="0" algn="just">
              <a:lnSpc>
                <a:spcPct val="100000"/>
              </a:lnSpc>
              <a:spcBef>
                <a:spcPts val="600"/>
              </a:spcBef>
              <a:spcAft>
                <a:spcPts val="600"/>
              </a:spcAft>
              <a:buNone/>
            </a:pPr>
            <a:r>
              <a:rPr lang="tr-TR" sz="1800" dirty="0"/>
              <a:t>Bunun için az önceki gibi Projemize sağ tıklayıp Ekle-&gt;Sınıf seçeneğini seçip </a:t>
            </a:r>
            <a:r>
              <a:rPr lang="tr-TR" sz="1800" dirty="0" err="1"/>
              <a:t>CustomerDbContext</a:t>
            </a:r>
            <a:r>
              <a:rPr lang="tr-TR" sz="1800" dirty="0"/>
              <a:t> adını veriyoruz.</a:t>
            </a:r>
          </a:p>
          <a:p>
            <a:pPr marL="0" indent="0" algn="just">
              <a:lnSpc>
                <a:spcPct val="100000"/>
              </a:lnSpc>
              <a:spcBef>
                <a:spcPts val="600"/>
              </a:spcBef>
              <a:spcAft>
                <a:spcPts val="600"/>
              </a:spcAft>
              <a:buNone/>
            </a:pPr>
            <a:endParaRPr lang="tr-TR" sz="1800" dirty="0"/>
          </a:p>
        </p:txBody>
      </p:sp>
    </p:spTree>
    <p:extLst>
      <p:ext uri="{BB962C8B-B14F-4D97-AF65-F5344CB8AC3E}">
        <p14:creationId xmlns:p14="http://schemas.microsoft.com/office/powerpoint/2010/main" val="40572456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5FC6D4-534D-7B60-4A86-84CCFE6A05A2}"/>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B6936A7D-2BDE-D0BE-99B1-6854FAA9EADC}"/>
              </a:ext>
            </a:extLst>
          </p:cNvPr>
          <p:cNvSpPr>
            <a:spLocks noGrp="1"/>
          </p:cNvSpPr>
          <p:nvPr>
            <p:ph type="title"/>
          </p:nvPr>
        </p:nvSpPr>
        <p:spPr>
          <a:xfrm>
            <a:off x="838200" y="248495"/>
            <a:ext cx="10515600" cy="432542"/>
          </a:xfrm>
        </p:spPr>
        <p:txBody>
          <a:bodyPr>
            <a:noAutofit/>
          </a:bodyPr>
          <a:lstStyle/>
          <a:p>
            <a:pPr algn="ctr"/>
            <a:r>
              <a:rPr lang="tr-TR" sz="2800" dirty="0"/>
              <a:t>Veri Tabanı İşlemleri için Sınıf Tanımlamak</a:t>
            </a:r>
          </a:p>
        </p:txBody>
      </p:sp>
      <p:sp>
        <p:nvSpPr>
          <p:cNvPr id="3" name="İçerik Yer Tutucusu 2">
            <a:extLst>
              <a:ext uri="{FF2B5EF4-FFF2-40B4-BE49-F238E27FC236}">
                <a16:creationId xmlns:a16="http://schemas.microsoft.com/office/drawing/2014/main" id="{EED76198-FE85-1571-1071-601E96C965E2}"/>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err="1"/>
              <a:t>CustomerDbContext</a:t>
            </a:r>
            <a:r>
              <a:rPr lang="tr-TR" sz="1800" dirty="0"/>
              <a:t> sınıfımızı oluşturduktan sonra using System blokları arasına aşağıdaki kodu ekliyoruz:</a:t>
            </a:r>
          </a:p>
          <a:p>
            <a:pPr marL="0" indent="0" algn="just">
              <a:lnSpc>
                <a:spcPct val="100000"/>
              </a:lnSpc>
              <a:spcBef>
                <a:spcPts val="600"/>
              </a:spcBef>
              <a:spcAft>
                <a:spcPts val="600"/>
              </a:spcAft>
              <a:buNone/>
            </a:pPr>
            <a:r>
              <a:rPr lang="tr-TR" sz="1800" dirty="0"/>
              <a:t>using </a:t>
            </a:r>
            <a:r>
              <a:rPr lang="tr-TR" sz="1800" dirty="0" err="1"/>
              <a:t>System.Data.Entity</a:t>
            </a:r>
            <a:r>
              <a:rPr lang="tr-TR" sz="1800" dirty="0"/>
              <a:t>;</a:t>
            </a:r>
          </a:p>
          <a:p>
            <a:pPr marL="0" indent="0" algn="just">
              <a:lnSpc>
                <a:spcPct val="100000"/>
              </a:lnSpc>
              <a:spcBef>
                <a:spcPts val="600"/>
              </a:spcBef>
              <a:spcAft>
                <a:spcPts val="600"/>
              </a:spcAft>
              <a:buNone/>
            </a:pPr>
            <a:endParaRPr lang="tr-TR" sz="1800" dirty="0"/>
          </a:p>
        </p:txBody>
      </p:sp>
      <p:pic>
        <p:nvPicPr>
          <p:cNvPr id="5" name="Resim 4" descr="metin, ekran görüntüsü, yazılım, multimedya yazılımı içeren bir resim&#10;&#10;Yapay zeka tarafından oluşturulan içerik yanlış olabilir.">
            <a:extLst>
              <a:ext uri="{FF2B5EF4-FFF2-40B4-BE49-F238E27FC236}">
                <a16:creationId xmlns:a16="http://schemas.microsoft.com/office/drawing/2014/main" id="{5968BBAF-1CBB-6B35-2D77-2FDBA16DC0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67297" y="2069977"/>
            <a:ext cx="5857405" cy="4334479"/>
          </a:xfrm>
          <a:prstGeom prst="rect">
            <a:avLst/>
          </a:prstGeom>
        </p:spPr>
      </p:pic>
    </p:spTree>
    <p:extLst>
      <p:ext uri="{BB962C8B-B14F-4D97-AF65-F5344CB8AC3E}">
        <p14:creationId xmlns:p14="http://schemas.microsoft.com/office/powerpoint/2010/main" val="16748016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1AC3E-1A8C-9C91-91F3-AFA5D01BE0CA}"/>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82BE8FCB-E826-B868-9FE3-F75F80D2FC34}"/>
              </a:ext>
            </a:extLst>
          </p:cNvPr>
          <p:cNvSpPr>
            <a:spLocks noGrp="1"/>
          </p:cNvSpPr>
          <p:nvPr>
            <p:ph type="title"/>
          </p:nvPr>
        </p:nvSpPr>
        <p:spPr>
          <a:xfrm>
            <a:off x="838200" y="248495"/>
            <a:ext cx="10515600" cy="432542"/>
          </a:xfrm>
        </p:spPr>
        <p:txBody>
          <a:bodyPr>
            <a:noAutofit/>
          </a:bodyPr>
          <a:lstStyle/>
          <a:p>
            <a:pPr algn="ctr"/>
            <a:r>
              <a:rPr lang="tr-TR" sz="2800" dirty="0"/>
              <a:t>Veri Tabanı İşlemleri için Sınıf Tanımlamak</a:t>
            </a:r>
          </a:p>
        </p:txBody>
      </p:sp>
      <p:sp>
        <p:nvSpPr>
          <p:cNvPr id="3" name="İçerik Yer Tutucusu 2">
            <a:extLst>
              <a:ext uri="{FF2B5EF4-FFF2-40B4-BE49-F238E27FC236}">
                <a16:creationId xmlns:a16="http://schemas.microsoft.com/office/drawing/2014/main" id="{FD4767CC-DABD-012B-8102-A9F3A4A009FB}"/>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Şimdi, ilk olarak kendi </a:t>
            </a:r>
            <a:r>
              <a:rPr lang="tr-TR" sz="1800" dirty="0" err="1"/>
              <a:t>CustomerDbContext</a:t>
            </a:r>
            <a:r>
              <a:rPr lang="tr-TR" sz="1800" dirty="0"/>
              <a:t> sınıfımızın , </a:t>
            </a:r>
            <a:r>
              <a:rPr lang="tr-TR" sz="1800" dirty="0" err="1"/>
              <a:t>EntityFramework</a:t>
            </a:r>
            <a:r>
              <a:rPr lang="tr-TR" sz="1800" dirty="0"/>
              <a:t> konsepti içerisinde tanımlanmış ve veri tabanı işlemleri için hazır metotlar barındıran </a:t>
            </a:r>
            <a:r>
              <a:rPr lang="tr-TR" sz="1800" dirty="0" err="1"/>
              <a:t>DbContext</a:t>
            </a:r>
            <a:r>
              <a:rPr lang="tr-TR" sz="1800" dirty="0"/>
              <a:t> sınıfından miras almasını sağlayacağız.</a:t>
            </a:r>
          </a:p>
          <a:p>
            <a:pPr marL="0" indent="0" algn="just">
              <a:lnSpc>
                <a:spcPct val="100000"/>
              </a:lnSpc>
              <a:spcBef>
                <a:spcPts val="600"/>
              </a:spcBef>
              <a:spcAft>
                <a:spcPts val="600"/>
              </a:spcAft>
              <a:buNone/>
            </a:pPr>
            <a:r>
              <a:rPr lang="tr-TR" sz="1800" dirty="0"/>
              <a:t>Bunun için, sınıfımızı ilk oluşturduğumuzda hazır gelen </a:t>
            </a:r>
            <a:r>
              <a:rPr lang="tr-TR" sz="1800" dirty="0" err="1"/>
              <a:t>internal</a:t>
            </a:r>
            <a:r>
              <a:rPr lang="tr-TR" sz="1800" dirty="0"/>
              <a:t> class </a:t>
            </a:r>
            <a:r>
              <a:rPr lang="tr-TR" sz="1800" dirty="0" err="1"/>
              <a:t>CustomerDbContext</a:t>
            </a:r>
            <a:r>
              <a:rPr lang="tr-TR" sz="1800" dirty="0"/>
              <a:t> kısmında miras alma (inheritance) işlemini gerçekleştiriyoruz.</a:t>
            </a:r>
          </a:p>
          <a:p>
            <a:pPr marL="0" indent="0" algn="just">
              <a:lnSpc>
                <a:spcPct val="100000"/>
              </a:lnSpc>
              <a:spcBef>
                <a:spcPts val="600"/>
              </a:spcBef>
              <a:spcAft>
                <a:spcPts val="600"/>
              </a:spcAft>
              <a:buNone/>
            </a:pPr>
            <a:r>
              <a:rPr lang="tr-TR" sz="1800" dirty="0"/>
              <a:t>public class </a:t>
            </a:r>
            <a:r>
              <a:rPr lang="tr-TR" sz="1800" dirty="0" err="1"/>
              <a:t>CustomerDbContext</a:t>
            </a:r>
            <a:r>
              <a:rPr lang="tr-TR" sz="1800" dirty="0"/>
              <a:t> : </a:t>
            </a:r>
            <a:r>
              <a:rPr lang="tr-TR" sz="1800" dirty="0" err="1"/>
              <a:t>DbContext</a:t>
            </a:r>
            <a:endParaRPr lang="tr-TR" sz="1800" dirty="0"/>
          </a:p>
          <a:p>
            <a:pPr marL="0" indent="0" algn="just">
              <a:lnSpc>
                <a:spcPct val="100000"/>
              </a:lnSpc>
              <a:spcBef>
                <a:spcPts val="600"/>
              </a:spcBef>
              <a:spcAft>
                <a:spcPts val="600"/>
              </a:spcAft>
              <a:buNone/>
            </a:pPr>
            <a:r>
              <a:rPr lang="tr-TR" sz="1800" dirty="0"/>
              <a:t>    {</a:t>
            </a:r>
          </a:p>
          <a:p>
            <a:pPr marL="0" indent="0" algn="just">
              <a:lnSpc>
                <a:spcPct val="100000"/>
              </a:lnSpc>
              <a:spcBef>
                <a:spcPts val="600"/>
              </a:spcBef>
              <a:spcAft>
                <a:spcPts val="600"/>
              </a:spcAft>
              <a:buNone/>
            </a:pPr>
            <a:r>
              <a:rPr lang="tr-TR" sz="1800" dirty="0"/>
              <a:t>    }</a:t>
            </a:r>
          </a:p>
          <a:p>
            <a:pPr marL="0" indent="0" algn="just">
              <a:lnSpc>
                <a:spcPct val="100000"/>
              </a:lnSpc>
              <a:spcBef>
                <a:spcPts val="600"/>
              </a:spcBef>
              <a:spcAft>
                <a:spcPts val="600"/>
              </a:spcAft>
              <a:buNone/>
            </a:pPr>
            <a:endParaRPr lang="tr-TR" sz="1800" dirty="0"/>
          </a:p>
        </p:txBody>
      </p:sp>
      <p:pic>
        <p:nvPicPr>
          <p:cNvPr id="5" name="Resim 4" descr="metin, yazı tipi, çizgi, ekran görüntüsü içeren bir resim&#10;&#10;Yapay zeka tarafından oluşturulan içerik yanlış olabilir.">
            <a:extLst>
              <a:ext uri="{FF2B5EF4-FFF2-40B4-BE49-F238E27FC236}">
                <a16:creationId xmlns:a16="http://schemas.microsoft.com/office/drawing/2014/main" id="{BDC9D113-B3AC-76E4-FEF5-88EF561501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33982" y="3429000"/>
            <a:ext cx="6124036" cy="2201451"/>
          </a:xfrm>
          <a:prstGeom prst="rect">
            <a:avLst/>
          </a:prstGeom>
        </p:spPr>
      </p:pic>
    </p:spTree>
    <p:extLst>
      <p:ext uri="{BB962C8B-B14F-4D97-AF65-F5344CB8AC3E}">
        <p14:creationId xmlns:p14="http://schemas.microsoft.com/office/powerpoint/2010/main" val="4834513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DB9CC-EBD6-45B9-5E5C-57B99B37931B}"/>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F86684E3-C7E3-8644-3120-8DA3BADFB4BB}"/>
              </a:ext>
            </a:extLst>
          </p:cNvPr>
          <p:cNvSpPr>
            <a:spLocks noGrp="1"/>
          </p:cNvSpPr>
          <p:nvPr>
            <p:ph type="title"/>
          </p:nvPr>
        </p:nvSpPr>
        <p:spPr>
          <a:xfrm>
            <a:off x="838200" y="248495"/>
            <a:ext cx="10515600" cy="432542"/>
          </a:xfrm>
        </p:spPr>
        <p:txBody>
          <a:bodyPr>
            <a:noAutofit/>
          </a:bodyPr>
          <a:lstStyle/>
          <a:p>
            <a:pPr algn="ctr"/>
            <a:r>
              <a:rPr lang="tr-TR" sz="2800" dirty="0"/>
              <a:t>Veri Tabanı İşlemleri için Sınıf Tanımlamak</a:t>
            </a:r>
          </a:p>
        </p:txBody>
      </p:sp>
      <p:sp>
        <p:nvSpPr>
          <p:cNvPr id="3" name="İçerik Yer Tutucusu 2">
            <a:extLst>
              <a:ext uri="{FF2B5EF4-FFF2-40B4-BE49-F238E27FC236}">
                <a16:creationId xmlns:a16="http://schemas.microsoft.com/office/drawing/2014/main" id="{94F25FD2-1C87-1233-801E-27CB73E0E650}"/>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Daha sonra </a:t>
            </a:r>
            <a:r>
              <a:rPr lang="tr-TR" sz="1800" dirty="0" err="1"/>
              <a:t>CustomerDbContext</a:t>
            </a:r>
            <a:r>
              <a:rPr lang="tr-TR" sz="1800" dirty="0"/>
              <a:t> sınıfımız için bir constructor (yapıcı) metot tanımlıyoruz ve bu metodun her çalıştığında yani bu sınıftan her </a:t>
            </a:r>
            <a:r>
              <a:rPr lang="tr-TR" sz="1800" dirty="0" err="1"/>
              <a:t>instance</a:t>
            </a:r>
            <a:r>
              <a:rPr lang="tr-TR" sz="1800" dirty="0"/>
              <a:t> (örnek) türetildiğinde veri tabanı bağlantısını hatırlaması için </a:t>
            </a:r>
            <a:r>
              <a:rPr lang="tr-TR" sz="1800" dirty="0" err="1"/>
              <a:t>base</a:t>
            </a:r>
            <a:r>
              <a:rPr lang="tr-TR" sz="1800" dirty="0"/>
              <a:t>(name="</a:t>
            </a:r>
            <a:r>
              <a:rPr lang="tr-TR" sz="1800" dirty="0" err="1"/>
              <a:t>CustomerDbContext</a:t>
            </a:r>
            <a:r>
              <a:rPr lang="tr-TR" sz="1800" dirty="0"/>
              <a:t>") kodunu ekliyoruz. Sınıfımızın son hali aşağıdaki gibidir:</a:t>
            </a:r>
          </a:p>
          <a:p>
            <a:pPr marL="0" indent="0" algn="just">
              <a:lnSpc>
                <a:spcPct val="100000"/>
              </a:lnSpc>
              <a:spcBef>
                <a:spcPts val="600"/>
              </a:spcBef>
              <a:spcAft>
                <a:spcPts val="600"/>
              </a:spcAft>
              <a:buNone/>
            </a:pPr>
            <a:r>
              <a:rPr lang="tr-TR" sz="1800" dirty="0" err="1"/>
              <a:t>internal</a:t>
            </a:r>
            <a:r>
              <a:rPr lang="tr-TR" sz="1800" dirty="0"/>
              <a:t> class </a:t>
            </a:r>
            <a:r>
              <a:rPr lang="tr-TR" sz="1800" dirty="0" err="1"/>
              <a:t>CustomerDbContext:DbContext</a:t>
            </a:r>
            <a:endParaRPr lang="tr-TR" sz="1800" dirty="0"/>
          </a:p>
          <a:p>
            <a:pPr marL="0" indent="0" algn="just">
              <a:lnSpc>
                <a:spcPct val="100000"/>
              </a:lnSpc>
              <a:spcBef>
                <a:spcPts val="600"/>
              </a:spcBef>
              <a:spcAft>
                <a:spcPts val="600"/>
              </a:spcAft>
              <a:buNone/>
            </a:pPr>
            <a:r>
              <a:rPr lang="tr-TR" sz="1800" dirty="0"/>
              <a:t>{</a:t>
            </a:r>
          </a:p>
          <a:p>
            <a:pPr marL="0" indent="0" algn="just">
              <a:lnSpc>
                <a:spcPct val="100000"/>
              </a:lnSpc>
              <a:spcBef>
                <a:spcPts val="600"/>
              </a:spcBef>
              <a:spcAft>
                <a:spcPts val="600"/>
              </a:spcAft>
              <a:buNone/>
            </a:pPr>
            <a:r>
              <a:rPr lang="tr-TR" sz="1800" dirty="0"/>
              <a:t>    public </a:t>
            </a:r>
            <a:r>
              <a:rPr lang="tr-TR" sz="1800" dirty="0" err="1"/>
              <a:t>CustomerDbContext</a:t>
            </a:r>
            <a:r>
              <a:rPr lang="tr-TR" sz="1800" dirty="0"/>
              <a:t>() : </a:t>
            </a:r>
            <a:r>
              <a:rPr lang="tr-TR" sz="1800" dirty="0" err="1"/>
              <a:t>base</a:t>
            </a:r>
            <a:r>
              <a:rPr lang="tr-TR" sz="1800" dirty="0"/>
              <a:t>("name=</a:t>
            </a:r>
            <a:r>
              <a:rPr lang="tr-TR" sz="1800" dirty="0" err="1"/>
              <a:t>CustomerDbContext</a:t>
            </a:r>
            <a:r>
              <a:rPr lang="tr-TR" sz="1800" dirty="0"/>
              <a:t>")</a:t>
            </a:r>
          </a:p>
          <a:p>
            <a:pPr marL="0" indent="0" algn="just">
              <a:lnSpc>
                <a:spcPct val="100000"/>
              </a:lnSpc>
              <a:spcBef>
                <a:spcPts val="600"/>
              </a:spcBef>
              <a:spcAft>
                <a:spcPts val="600"/>
              </a:spcAft>
              <a:buNone/>
            </a:pPr>
            <a:r>
              <a:rPr lang="tr-TR" sz="1800" dirty="0"/>
              <a:t>    {</a:t>
            </a:r>
          </a:p>
          <a:p>
            <a:pPr marL="0" indent="0" algn="just">
              <a:lnSpc>
                <a:spcPct val="100000"/>
              </a:lnSpc>
              <a:spcBef>
                <a:spcPts val="600"/>
              </a:spcBef>
              <a:spcAft>
                <a:spcPts val="600"/>
              </a:spcAft>
              <a:buNone/>
            </a:pPr>
            <a:endParaRPr lang="tr-TR" sz="1800" dirty="0"/>
          </a:p>
          <a:p>
            <a:pPr marL="0" indent="0" algn="just">
              <a:lnSpc>
                <a:spcPct val="100000"/>
              </a:lnSpc>
              <a:spcBef>
                <a:spcPts val="600"/>
              </a:spcBef>
              <a:spcAft>
                <a:spcPts val="600"/>
              </a:spcAft>
              <a:buNone/>
            </a:pPr>
            <a:r>
              <a:rPr lang="tr-TR" sz="1800" dirty="0"/>
              <a:t>    }</a:t>
            </a:r>
          </a:p>
          <a:p>
            <a:pPr marL="0" indent="0" algn="just">
              <a:lnSpc>
                <a:spcPct val="100000"/>
              </a:lnSpc>
              <a:spcBef>
                <a:spcPts val="600"/>
              </a:spcBef>
              <a:spcAft>
                <a:spcPts val="600"/>
              </a:spcAft>
              <a:buNone/>
            </a:pPr>
            <a:r>
              <a:rPr lang="tr-TR" sz="1800" dirty="0"/>
              <a:t>}</a:t>
            </a:r>
          </a:p>
        </p:txBody>
      </p:sp>
      <p:pic>
        <p:nvPicPr>
          <p:cNvPr id="5" name="Resim 4" descr="metin, ekran görüntüsü, yazı tipi, çizgi içeren bir resim&#10;&#10;Yapay zeka tarafından oluşturulan içerik yanlış olabilir.">
            <a:extLst>
              <a:ext uri="{FF2B5EF4-FFF2-40B4-BE49-F238E27FC236}">
                <a16:creationId xmlns:a16="http://schemas.microsoft.com/office/drawing/2014/main" id="{24B80C9A-92B1-BBE1-4F6F-471787479A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70220" y="4519492"/>
            <a:ext cx="6762275" cy="2003228"/>
          </a:xfrm>
          <a:prstGeom prst="rect">
            <a:avLst/>
          </a:prstGeom>
        </p:spPr>
      </p:pic>
    </p:spTree>
    <p:extLst>
      <p:ext uri="{BB962C8B-B14F-4D97-AF65-F5344CB8AC3E}">
        <p14:creationId xmlns:p14="http://schemas.microsoft.com/office/powerpoint/2010/main" val="390870942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B4011-6E85-AB6C-1CF9-3383C2DB149C}"/>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8DCF4741-106A-159B-7118-2BEFF41147B3}"/>
              </a:ext>
            </a:extLst>
          </p:cNvPr>
          <p:cNvSpPr>
            <a:spLocks noGrp="1"/>
          </p:cNvSpPr>
          <p:nvPr>
            <p:ph type="title"/>
          </p:nvPr>
        </p:nvSpPr>
        <p:spPr>
          <a:xfrm>
            <a:off x="838200" y="248495"/>
            <a:ext cx="10515600" cy="432542"/>
          </a:xfrm>
        </p:spPr>
        <p:txBody>
          <a:bodyPr>
            <a:noAutofit/>
          </a:bodyPr>
          <a:lstStyle/>
          <a:p>
            <a:pPr algn="ctr"/>
            <a:r>
              <a:rPr lang="tr-TR" sz="2800" dirty="0"/>
              <a:t>Veri Tabanı İşlemleri için Sınıf Tanımlamak</a:t>
            </a:r>
          </a:p>
        </p:txBody>
      </p:sp>
      <p:sp>
        <p:nvSpPr>
          <p:cNvPr id="3" name="İçerik Yer Tutucusu 2">
            <a:extLst>
              <a:ext uri="{FF2B5EF4-FFF2-40B4-BE49-F238E27FC236}">
                <a16:creationId xmlns:a16="http://schemas.microsoft.com/office/drawing/2014/main" id="{DE0A3024-D3D8-35DE-D531-56FACBCC674D}"/>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Şimdi de </a:t>
            </a:r>
            <a:r>
              <a:rPr lang="tr-TR" sz="1800" dirty="0" err="1"/>
              <a:t>EntityFramework</a:t>
            </a:r>
            <a:r>
              <a:rPr lang="tr-TR" sz="1800" dirty="0"/>
              <a:t>, bizim sınıfımızı bir tablo olarak algılayıp veri tabanı işlemleri için onu bir tablo olarak görsün diye </a:t>
            </a:r>
            <a:r>
              <a:rPr lang="en-US" sz="1800" dirty="0"/>
              <a:t>public </a:t>
            </a:r>
            <a:r>
              <a:rPr lang="en-US" sz="1800" dirty="0" err="1"/>
              <a:t>DbSet</a:t>
            </a:r>
            <a:r>
              <a:rPr lang="en-US" sz="1800" dirty="0"/>
              <a:t>&lt;Customer&gt; Customers { get; set; }</a:t>
            </a:r>
            <a:r>
              <a:rPr lang="tr-TR" sz="1800" dirty="0"/>
              <a:t> kodunu ekliyoruz. </a:t>
            </a:r>
            <a:r>
              <a:rPr lang="tr-TR" sz="1800" dirty="0" err="1"/>
              <a:t>CustomerDbContext</a:t>
            </a:r>
            <a:r>
              <a:rPr lang="tr-TR" sz="1800" dirty="0"/>
              <a:t> sınıfının son kodları aşağıdaki gibidir:</a:t>
            </a:r>
          </a:p>
          <a:p>
            <a:pPr marL="0" indent="0" algn="just">
              <a:lnSpc>
                <a:spcPct val="100000"/>
              </a:lnSpc>
              <a:spcBef>
                <a:spcPts val="600"/>
              </a:spcBef>
              <a:spcAft>
                <a:spcPts val="600"/>
              </a:spcAft>
              <a:buNone/>
            </a:pPr>
            <a:r>
              <a:rPr lang="tr-TR" sz="1800" dirty="0" err="1"/>
              <a:t>internal</a:t>
            </a:r>
            <a:r>
              <a:rPr lang="tr-TR" sz="1800" dirty="0"/>
              <a:t> class </a:t>
            </a:r>
            <a:r>
              <a:rPr lang="tr-TR" sz="1800" dirty="0" err="1"/>
              <a:t>CustomerDbContext:DbContext</a:t>
            </a:r>
            <a:endParaRPr lang="tr-TR" sz="1800" dirty="0"/>
          </a:p>
          <a:p>
            <a:pPr marL="0" indent="0" algn="just">
              <a:lnSpc>
                <a:spcPct val="100000"/>
              </a:lnSpc>
              <a:spcBef>
                <a:spcPts val="600"/>
              </a:spcBef>
              <a:spcAft>
                <a:spcPts val="600"/>
              </a:spcAft>
              <a:buNone/>
            </a:pPr>
            <a:r>
              <a:rPr lang="tr-TR" sz="1800" dirty="0"/>
              <a:t>{</a:t>
            </a:r>
          </a:p>
          <a:p>
            <a:pPr marL="0" indent="0" algn="just">
              <a:lnSpc>
                <a:spcPct val="100000"/>
              </a:lnSpc>
              <a:spcBef>
                <a:spcPts val="600"/>
              </a:spcBef>
              <a:spcAft>
                <a:spcPts val="600"/>
              </a:spcAft>
              <a:buNone/>
            </a:pPr>
            <a:r>
              <a:rPr lang="tr-TR" sz="1800" dirty="0"/>
              <a:t>    public </a:t>
            </a:r>
            <a:r>
              <a:rPr lang="tr-TR" sz="1800" dirty="0" err="1"/>
              <a:t>CustomerDbContext</a:t>
            </a:r>
            <a:r>
              <a:rPr lang="tr-TR" sz="1800" dirty="0"/>
              <a:t>() : </a:t>
            </a:r>
            <a:r>
              <a:rPr lang="tr-TR" sz="1800" dirty="0" err="1"/>
              <a:t>base</a:t>
            </a:r>
            <a:r>
              <a:rPr lang="tr-TR" sz="1800" dirty="0"/>
              <a:t>("name=</a:t>
            </a:r>
            <a:r>
              <a:rPr lang="tr-TR" sz="1800" dirty="0" err="1"/>
              <a:t>CustomerDbContext</a:t>
            </a:r>
            <a:r>
              <a:rPr lang="tr-TR" sz="1800" dirty="0"/>
              <a:t>")</a:t>
            </a:r>
          </a:p>
          <a:p>
            <a:pPr marL="0" indent="0" algn="just">
              <a:lnSpc>
                <a:spcPct val="100000"/>
              </a:lnSpc>
              <a:spcBef>
                <a:spcPts val="600"/>
              </a:spcBef>
              <a:spcAft>
                <a:spcPts val="600"/>
              </a:spcAft>
              <a:buNone/>
            </a:pPr>
            <a:r>
              <a:rPr lang="tr-TR" sz="1800" dirty="0"/>
              <a:t>    {</a:t>
            </a:r>
          </a:p>
          <a:p>
            <a:pPr marL="0" indent="0" algn="just">
              <a:lnSpc>
                <a:spcPct val="100000"/>
              </a:lnSpc>
              <a:spcBef>
                <a:spcPts val="600"/>
              </a:spcBef>
              <a:spcAft>
                <a:spcPts val="600"/>
              </a:spcAft>
              <a:buNone/>
            </a:pPr>
            <a:r>
              <a:rPr lang="tr-TR" sz="1800" dirty="0"/>
              <a:t>    }</a:t>
            </a:r>
          </a:p>
          <a:p>
            <a:pPr marL="0" indent="0" algn="just">
              <a:lnSpc>
                <a:spcPct val="100000"/>
              </a:lnSpc>
              <a:spcBef>
                <a:spcPts val="600"/>
              </a:spcBef>
              <a:spcAft>
                <a:spcPts val="600"/>
              </a:spcAft>
              <a:buNone/>
            </a:pPr>
            <a:r>
              <a:rPr lang="tr-TR" sz="1800" dirty="0"/>
              <a:t>    public </a:t>
            </a:r>
            <a:r>
              <a:rPr lang="tr-TR" sz="1800" dirty="0" err="1"/>
              <a:t>DbSet</a:t>
            </a:r>
            <a:r>
              <a:rPr lang="tr-TR" sz="1800" dirty="0"/>
              <a:t>&lt;Customer&gt; </a:t>
            </a:r>
            <a:r>
              <a:rPr lang="tr-TR" sz="1800" dirty="0" err="1"/>
              <a:t>Customers</a:t>
            </a:r>
            <a:r>
              <a:rPr lang="tr-TR" sz="1800" dirty="0"/>
              <a:t> { </a:t>
            </a:r>
            <a:r>
              <a:rPr lang="tr-TR" sz="1800" dirty="0" err="1"/>
              <a:t>get</a:t>
            </a:r>
            <a:r>
              <a:rPr lang="tr-TR" sz="1800" dirty="0"/>
              <a:t>; set; }</a:t>
            </a:r>
          </a:p>
          <a:p>
            <a:pPr marL="0" indent="0" algn="just">
              <a:lnSpc>
                <a:spcPct val="100000"/>
              </a:lnSpc>
              <a:spcBef>
                <a:spcPts val="600"/>
              </a:spcBef>
              <a:spcAft>
                <a:spcPts val="600"/>
              </a:spcAft>
              <a:buNone/>
            </a:pPr>
            <a:r>
              <a:rPr lang="tr-TR" sz="1800" dirty="0"/>
              <a:t>}</a:t>
            </a:r>
          </a:p>
        </p:txBody>
      </p:sp>
      <p:pic>
        <p:nvPicPr>
          <p:cNvPr id="5" name="Resim 4" descr="metin, ekran görüntüsü, yazı tipi içeren bir resim&#10;&#10;Yapay zeka tarafından oluşturulan içerik yanlış olabilir.">
            <a:extLst>
              <a:ext uri="{FF2B5EF4-FFF2-40B4-BE49-F238E27FC236}">
                <a16:creationId xmlns:a16="http://schemas.microsoft.com/office/drawing/2014/main" id="{B24C202C-0318-16B2-C66D-884075EDFF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24018" y="4318507"/>
            <a:ext cx="5713582" cy="2290998"/>
          </a:xfrm>
          <a:prstGeom prst="rect">
            <a:avLst/>
          </a:prstGeom>
        </p:spPr>
      </p:pic>
    </p:spTree>
    <p:extLst>
      <p:ext uri="{BB962C8B-B14F-4D97-AF65-F5344CB8AC3E}">
        <p14:creationId xmlns:p14="http://schemas.microsoft.com/office/powerpoint/2010/main" val="35775154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95C56-8A32-D2A0-8E83-2C1809202631}"/>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604157F0-67AE-BB18-0343-ADF5408E6072}"/>
              </a:ext>
            </a:extLst>
          </p:cNvPr>
          <p:cNvSpPr>
            <a:spLocks noGrp="1"/>
          </p:cNvSpPr>
          <p:nvPr>
            <p:ph type="title"/>
          </p:nvPr>
        </p:nvSpPr>
        <p:spPr>
          <a:xfrm>
            <a:off x="838200" y="248495"/>
            <a:ext cx="10515600" cy="432542"/>
          </a:xfrm>
        </p:spPr>
        <p:txBody>
          <a:bodyPr>
            <a:noAutofit/>
          </a:bodyPr>
          <a:lstStyle/>
          <a:p>
            <a:pPr algn="ctr"/>
            <a:r>
              <a:rPr lang="tr-TR" sz="2800" dirty="0"/>
              <a:t>Veri Tabanı İşlemleri için Sınıf Tanımlamak</a:t>
            </a:r>
          </a:p>
        </p:txBody>
      </p:sp>
      <p:sp>
        <p:nvSpPr>
          <p:cNvPr id="3" name="İçerik Yer Tutucusu 2">
            <a:extLst>
              <a:ext uri="{FF2B5EF4-FFF2-40B4-BE49-F238E27FC236}">
                <a16:creationId xmlns:a16="http://schemas.microsoft.com/office/drawing/2014/main" id="{AEE6BDF7-BF1B-577A-98DB-3823B6A0FE27}"/>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Artık veri tabanındaki tablomuz ve bu tabloyla yapacağımız işlemler için tanıtma kısmını bitirdik. Şimdi artık listeleme, ekleme, silme ve güncelleme işlemleri için kodlarımızı ilgili butonlara yazabiliriz.</a:t>
            </a:r>
          </a:p>
          <a:p>
            <a:pPr marL="0" indent="0" algn="just">
              <a:lnSpc>
                <a:spcPct val="100000"/>
              </a:lnSpc>
              <a:spcBef>
                <a:spcPts val="600"/>
              </a:spcBef>
              <a:spcAft>
                <a:spcPts val="600"/>
              </a:spcAft>
              <a:buNone/>
            </a:pPr>
            <a:r>
              <a:rPr lang="tr-TR" sz="1800" dirty="0"/>
              <a:t>Yani, üzerinde EKLE yazan butona tıklandığında ilgili </a:t>
            </a:r>
            <a:r>
              <a:rPr lang="tr-TR" sz="1800" dirty="0" err="1"/>
              <a:t>textbox’lardaki</a:t>
            </a:r>
            <a:r>
              <a:rPr lang="tr-TR" sz="1800" dirty="0"/>
              <a:t> verileri ekleyen ya da diğer işlemleri yapan kodları ilgili butonlara tanıtacağız. Bunun için Windows form kısmına gelip LİSTELE yazan butona çift tıklıyoruz ve kod tarafına yönlendiriliyoruz</a:t>
            </a:r>
          </a:p>
        </p:txBody>
      </p:sp>
      <p:pic>
        <p:nvPicPr>
          <p:cNvPr id="5" name="Resim 4" descr="metin, bilgisayar, yazılım, multimedya içeren bir resim&#10;&#10;Yapay zeka tarafından oluşturulan içerik yanlış olabilir.">
            <a:extLst>
              <a:ext uri="{FF2B5EF4-FFF2-40B4-BE49-F238E27FC236}">
                <a16:creationId xmlns:a16="http://schemas.microsoft.com/office/drawing/2014/main" id="{C912AEB4-EF7C-28F0-529F-1A713C44A4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1453" y="2654487"/>
            <a:ext cx="11469094" cy="4077053"/>
          </a:xfrm>
          <a:prstGeom prst="rect">
            <a:avLst/>
          </a:prstGeom>
        </p:spPr>
      </p:pic>
    </p:spTree>
    <p:extLst>
      <p:ext uri="{BB962C8B-B14F-4D97-AF65-F5344CB8AC3E}">
        <p14:creationId xmlns:p14="http://schemas.microsoft.com/office/powerpoint/2010/main" val="14588381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97FB7-E24F-F1FF-110F-4471F9E16D13}"/>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3CE4998B-2067-A258-E70D-631F509B9344}"/>
              </a:ext>
            </a:extLst>
          </p:cNvPr>
          <p:cNvSpPr>
            <a:spLocks noGrp="1"/>
          </p:cNvSpPr>
          <p:nvPr>
            <p:ph type="title"/>
          </p:nvPr>
        </p:nvSpPr>
        <p:spPr>
          <a:xfrm>
            <a:off x="838200" y="248495"/>
            <a:ext cx="10515600" cy="432542"/>
          </a:xfrm>
        </p:spPr>
        <p:txBody>
          <a:bodyPr>
            <a:noAutofit/>
          </a:bodyPr>
          <a:lstStyle/>
          <a:p>
            <a:pPr algn="ctr"/>
            <a:r>
              <a:rPr lang="tr-TR" sz="2800" dirty="0"/>
              <a:t>Listeleme İşlemi (Select </a:t>
            </a:r>
            <a:r>
              <a:rPr lang="tr-TR" sz="2800" dirty="0" err="1"/>
              <a:t>operations</a:t>
            </a:r>
            <a:r>
              <a:rPr lang="tr-TR" sz="2800" dirty="0"/>
              <a:t>)</a:t>
            </a:r>
          </a:p>
        </p:txBody>
      </p:sp>
      <p:sp>
        <p:nvSpPr>
          <p:cNvPr id="3" name="İçerik Yer Tutucusu 2">
            <a:extLst>
              <a:ext uri="{FF2B5EF4-FFF2-40B4-BE49-F238E27FC236}">
                <a16:creationId xmlns:a16="http://schemas.microsoft.com/office/drawing/2014/main" id="{966F604B-B700-A0E0-F480-75C18AFB08EF}"/>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Görüldüğü gibi butonumuzun id bilgisine </a:t>
            </a:r>
            <a:r>
              <a:rPr lang="tr-TR" sz="1800" dirty="0" err="1"/>
              <a:t>btn_listele</a:t>
            </a:r>
            <a:r>
              <a:rPr lang="tr-TR" sz="1800" dirty="0"/>
              <a:t> verdiğimiz için bunun click olayının kodları geldi. Şimdi, bu butona tıklandığında çalışmasını istediğimiz kodları bu click olayının içerisine (süslü parantezler içerisine) yazacağız.</a:t>
            </a:r>
          </a:p>
          <a:p>
            <a:pPr marL="0" indent="0" algn="just">
              <a:lnSpc>
                <a:spcPct val="100000"/>
              </a:lnSpc>
              <a:spcBef>
                <a:spcPts val="600"/>
              </a:spcBef>
              <a:spcAft>
                <a:spcPts val="600"/>
              </a:spcAft>
              <a:buNone/>
            </a:pPr>
            <a:endParaRPr lang="tr-TR" sz="1800" dirty="0"/>
          </a:p>
        </p:txBody>
      </p:sp>
      <p:pic>
        <p:nvPicPr>
          <p:cNvPr id="5" name="Resim 4" descr="metin, ekran görüntüsü, yazılım, multimedya yazılımı içeren bir resim&#10;&#10;Yapay zeka tarafından oluşturulan içerik yanlış olabilir.">
            <a:extLst>
              <a:ext uri="{FF2B5EF4-FFF2-40B4-BE49-F238E27FC236}">
                <a16:creationId xmlns:a16="http://schemas.microsoft.com/office/drawing/2014/main" id="{1E05514C-C92C-7B14-52A4-DE334AC184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32338" y="2083825"/>
            <a:ext cx="6332769" cy="3779848"/>
          </a:xfrm>
          <a:prstGeom prst="rect">
            <a:avLst/>
          </a:prstGeom>
        </p:spPr>
      </p:pic>
    </p:spTree>
    <p:extLst>
      <p:ext uri="{BB962C8B-B14F-4D97-AF65-F5344CB8AC3E}">
        <p14:creationId xmlns:p14="http://schemas.microsoft.com/office/powerpoint/2010/main" val="42872979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DD684-7D4B-4ED5-DF6D-C236BB448C1F}"/>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FDC8F937-0598-1B6D-6DC0-C9C4F00DC54F}"/>
              </a:ext>
            </a:extLst>
          </p:cNvPr>
          <p:cNvSpPr>
            <a:spLocks noGrp="1"/>
          </p:cNvSpPr>
          <p:nvPr>
            <p:ph type="title"/>
          </p:nvPr>
        </p:nvSpPr>
        <p:spPr>
          <a:xfrm>
            <a:off x="838200" y="248495"/>
            <a:ext cx="10515600" cy="432542"/>
          </a:xfrm>
        </p:spPr>
        <p:txBody>
          <a:bodyPr>
            <a:noAutofit/>
          </a:bodyPr>
          <a:lstStyle/>
          <a:p>
            <a:pPr algn="ctr"/>
            <a:r>
              <a:rPr lang="tr-TR" sz="2800" dirty="0"/>
              <a:t>Listeleme İşlemi (Select </a:t>
            </a:r>
            <a:r>
              <a:rPr lang="tr-TR" sz="2800" dirty="0" err="1"/>
              <a:t>operations</a:t>
            </a:r>
            <a:r>
              <a:rPr lang="tr-TR" sz="2800" dirty="0"/>
              <a:t>)</a:t>
            </a:r>
          </a:p>
        </p:txBody>
      </p:sp>
      <p:sp>
        <p:nvSpPr>
          <p:cNvPr id="3" name="İçerik Yer Tutucusu 2">
            <a:extLst>
              <a:ext uri="{FF2B5EF4-FFF2-40B4-BE49-F238E27FC236}">
                <a16:creationId xmlns:a16="http://schemas.microsoft.com/office/drawing/2014/main" id="{6C4081B8-C09A-4490-6010-DE75EDF44D8F}"/>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Öncelikle, </a:t>
            </a:r>
            <a:r>
              <a:rPr lang="tr-TR" sz="1800" dirty="0" err="1"/>
              <a:t>CustomerDbContext</a:t>
            </a:r>
            <a:r>
              <a:rPr lang="tr-TR" sz="1800" dirty="0"/>
              <a:t> sınıfımızdan bir </a:t>
            </a:r>
            <a:r>
              <a:rPr lang="tr-TR" sz="1800" dirty="0" err="1"/>
              <a:t>instance</a:t>
            </a:r>
            <a:r>
              <a:rPr lang="tr-TR" sz="1800" dirty="0"/>
              <a:t>(örnek) üretmemiz lazım. Her işlemde (listeleme, ekleme, silme ve güncelleme) bu türettiğimiz örneğe ihtiyacımız olacağı için public alanda bu tanımlamayı yapacağız. Aşağıdaki kodu public alana yapıştırıyoruz:</a:t>
            </a:r>
          </a:p>
          <a:p>
            <a:pPr marL="0" indent="0" algn="just">
              <a:lnSpc>
                <a:spcPct val="100000"/>
              </a:lnSpc>
              <a:spcBef>
                <a:spcPts val="600"/>
              </a:spcBef>
              <a:spcAft>
                <a:spcPts val="600"/>
              </a:spcAft>
              <a:buNone/>
            </a:pPr>
            <a:r>
              <a:rPr lang="tr-TR" sz="1800" dirty="0" err="1"/>
              <a:t>CustomerDbContext</a:t>
            </a:r>
            <a:r>
              <a:rPr lang="tr-TR" sz="1800" dirty="0"/>
              <a:t> </a:t>
            </a:r>
            <a:r>
              <a:rPr lang="tr-TR" sz="1800" dirty="0" err="1"/>
              <a:t>db</a:t>
            </a:r>
            <a:r>
              <a:rPr lang="tr-TR" sz="1800" dirty="0"/>
              <a:t> = </a:t>
            </a:r>
            <a:r>
              <a:rPr lang="tr-TR" sz="1800" dirty="0" err="1"/>
              <a:t>new</a:t>
            </a:r>
            <a:r>
              <a:rPr lang="tr-TR" sz="1800" dirty="0"/>
              <a:t> </a:t>
            </a:r>
            <a:r>
              <a:rPr lang="tr-TR" sz="1800" dirty="0" err="1"/>
              <a:t>CustomerDbContext</a:t>
            </a:r>
            <a:r>
              <a:rPr lang="tr-TR" sz="1800" dirty="0"/>
              <a:t>();</a:t>
            </a:r>
          </a:p>
          <a:p>
            <a:pPr marL="0" indent="0" algn="just">
              <a:lnSpc>
                <a:spcPct val="100000"/>
              </a:lnSpc>
              <a:spcBef>
                <a:spcPts val="600"/>
              </a:spcBef>
              <a:spcAft>
                <a:spcPts val="600"/>
              </a:spcAft>
              <a:buNone/>
            </a:pPr>
            <a:endParaRPr lang="tr-TR" sz="1800" dirty="0"/>
          </a:p>
        </p:txBody>
      </p:sp>
      <p:pic>
        <p:nvPicPr>
          <p:cNvPr id="5" name="Resim 4" descr="metin, ekran görüntüsü, yazılım, multimedya yazılımı içeren bir resim&#10;&#10;Yapay zeka tarafından oluşturulan içerik yanlış olabilir.">
            <a:extLst>
              <a:ext uri="{FF2B5EF4-FFF2-40B4-BE49-F238E27FC236}">
                <a16:creationId xmlns:a16="http://schemas.microsoft.com/office/drawing/2014/main" id="{F8BAAD14-8C8A-40E3-4784-606198EB87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39648" y="2320154"/>
            <a:ext cx="6397391" cy="4095525"/>
          </a:xfrm>
          <a:prstGeom prst="rect">
            <a:avLst/>
          </a:prstGeom>
        </p:spPr>
      </p:pic>
    </p:spTree>
    <p:extLst>
      <p:ext uri="{BB962C8B-B14F-4D97-AF65-F5344CB8AC3E}">
        <p14:creationId xmlns:p14="http://schemas.microsoft.com/office/powerpoint/2010/main" val="90558115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1CA18-E40A-A98D-5359-4CB9799C1411}"/>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3FA2C69A-54FE-7904-A095-F415AEF47899}"/>
              </a:ext>
            </a:extLst>
          </p:cNvPr>
          <p:cNvSpPr>
            <a:spLocks noGrp="1"/>
          </p:cNvSpPr>
          <p:nvPr>
            <p:ph type="title"/>
          </p:nvPr>
        </p:nvSpPr>
        <p:spPr>
          <a:xfrm>
            <a:off x="838200" y="248495"/>
            <a:ext cx="10515600" cy="432542"/>
          </a:xfrm>
        </p:spPr>
        <p:txBody>
          <a:bodyPr>
            <a:noAutofit/>
          </a:bodyPr>
          <a:lstStyle/>
          <a:p>
            <a:pPr algn="ctr"/>
            <a:r>
              <a:rPr lang="tr-TR" sz="2800" dirty="0"/>
              <a:t>Listeleme İşlemi (Select </a:t>
            </a:r>
            <a:r>
              <a:rPr lang="tr-TR" sz="2800" dirty="0" err="1"/>
              <a:t>operations</a:t>
            </a:r>
            <a:r>
              <a:rPr lang="tr-TR" sz="2800" dirty="0"/>
              <a:t>)</a:t>
            </a:r>
          </a:p>
        </p:txBody>
      </p:sp>
      <p:sp>
        <p:nvSpPr>
          <p:cNvPr id="3" name="İçerik Yer Tutucusu 2">
            <a:extLst>
              <a:ext uri="{FF2B5EF4-FFF2-40B4-BE49-F238E27FC236}">
                <a16:creationId xmlns:a16="http://schemas.microsoft.com/office/drawing/2014/main" id="{9E71E675-1CD7-50F7-DA0C-34D2676344EB}"/>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LİSTELE yazan butona tıklandığında, Table_Customer tablosundaki verilerin getirilmesini ve </a:t>
            </a:r>
            <a:r>
              <a:rPr lang="tr-TR" sz="1800" dirty="0" err="1"/>
              <a:t>datagridview’da</a:t>
            </a:r>
            <a:r>
              <a:rPr lang="tr-TR" sz="1800" dirty="0"/>
              <a:t> gösterilmesi için </a:t>
            </a:r>
            <a:r>
              <a:rPr lang="tr-TR" sz="1800" dirty="0" err="1"/>
              <a:t>datagridview’in</a:t>
            </a:r>
            <a:r>
              <a:rPr lang="tr-TR" sz="1800" dirty="0"/>
              <a:t> </a:t>
            </a:r>
            <a:r>
              <a:rPr lang="tr-TR" sz="1800" dirty="0" err="1"/>
              <a:t>DataSource</a:t>
            </a:r>
            <a:r>
              <a:rPr lang="tr-TR" sz="1800" dirty="0"/>
              <a:t> özelliğinin neye göre değişeceğini belirtmemiz gerek. Aşağıdaki kodla listeleme işlemini yapıyoruz ve Start butonuna tıklayıp projemizi çalıştırıyoruz.</a:t>
            </a:r>
          </a:p>
          <a:p>
            <a:pPr marL="0" indent="0" algn="just">
              <a:lnSpc>
                <a:spcPct val="100000"/>
              </a:lnSpc>
              <a:spcBef>
                <a:spcPts val="600"/>
              </a:spcBef>
              <a:spcAft>
                <a:spcPts val="600"/>
              </a:spcAft>
              <a:buNone/>
            </a:pPr>
            <a:r>
              <a:rPr lang="tr-TR" sz="1800" dirty="0"/>
              <a:t>dataGridView1.DataSource = </a:t>
            </a:r>
            <a:r>
              <a:rPr lang="tr-TR" sz="1800" dirty="0" err="1"/>
              <a:t>db.Customers.ToList</a:t>
            </a:r>
            <a:r>
              <a:rPr lang="tr-TR" sz="1800" dirty="0"/>
              <a:t>();</a:t>
            </a:r>
          </a:p>
          <a:p>
            <a:pPr marL="0" indent="0" algn="just">
              <a:lnSpc>
                <a:spcPct val="100000"/>
              </a:lnSpc>
              <a:spcBef>
                <a:spcPts val="600"/>
              </a:spcBef>
              <a:spcAft>
                <a:spcPts val="600"/>
              </a:spcAft>
              <a:buNone/>
            </a:pPr>
            <a:endParaRPr lang="tr-TR" sz="1800" dirty="0"/>
          </a:p>
        </p:txBody>
      </p:sp>
      <p:pic>
        <p:nvPicPr>
          <p:cNvPr id="5" name="Resim 4" descr="metin, ekran görüntüsü, yazılım, multimedya yazılımı içeren bir resim&#10;&#10;Yapay zeka tarafından oluşturulan içerik yanlış olabilir.">
            <a:extLst>
              <a:ext uri="{FF2B5EF4-FFF2-40B4-BE49-F238E27FC236}">
                <a16:creationId xmlns:a16="http://schemas.microsoft.com/office/drawing/2014/main" id="{3F0E1333-D26B-739A-1C2B-4B72E348EA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07987" y="2516743"/>
            <a:ext cx="5572413" cy="4254567"/>
          </a:xfrm>
          <a:prstGeom prst="rect">
            <a:avLst/>
          </a:prstGeom>
        </p:spPr>
      </p:pic>
    </p:spTree>
    <p:extLst>
      <p:ext uri="{BB962C8B-B14F-4D97-AF65-F5344CB8AC3E}">
        <p14:creationId xmlns:p14="http://schemas.microsoft.com/office/powerpoint/2010/main" val="420660845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4E4F9-05D8-E6D6-0765-630F07C69CAD}"/>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78EEBD67-2A37-B25B-14D7-EDFC8A0FDD20}"/>
              </a:ext>
            </a:extLst>
          </p:cNvPr>
          <p:cNvSpPr>
            <a:spLocks noGrp="1"/>
          </p:cNvSpPr>
          <p:nvPr>
            <p:ph type="title"/>
          </p:nvPr>
        </p:nvSpPr>
        <p:spPr>
          <a:xfrm>
            <a:off x="838200" y="248495"/>
            <a:ext cx="10515600" cy="432542"/>
          </a:xfrm>
        </p:spPr>
        <p:txBody>
          <a:bodyPr>
            <a:noAutofit/>
          </a:bodyPr>
          <a:lstStyle/>
          <a:p>
            <a:pPr algn="ctr"/>
            <a:r>
              <a:rPr lang="tr-TR" sz="2800" dirty="0"/>
              <a:t>Listeleme İşlemi (Select </a:t>
            </a:r>
            <a:r>
              <a:rPr lang="tr-TR" sz="2800" dirty="0" err="1"/>
              <a:t>operations</a:t>
            </a:r>
            <a:r>
              <a:rPr lang="tr-TR" sz="2800" dirty="0"/>
              <a:t>)</a:t>
            </a:r>
          </a:p>
        </p:txBody>
      </p:sp>
      <p:sp>
        <p:nvSpPr>
          <p:cNvPr id="3" name="İçerik Yer Tutucusu 2">
            <a:extLst>
              <a:ext uri="{FF2B5EF4-FFF2-40B4-BE49-F238E27FC236}">
                <a16:creationId xmlns:a16="http://schemas.microsoft.com/office/drawing/2014/main" id="{5035C608-3BB0-9F86-58F8-958838857C3B}"/>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Şekilde görüldüğü gibi LİSTELE butonuna tıkladığımızda, Table_Customer tablosundaki verileri getirdi</a:t>
            </a:r>
          </a:p>
        </p:txBody>
      </p:sp>
      <p:pic>
        <p:nvPicPr>
          <p:cNvPr id="5" name="Resim 4" descr="metin, ekran görüntüsü, ekran, görüntüleme, yazılım içeren bir resim&#10;&#10;Yapay zeka tarafından oluşturulan içerik yanlış olabilir.">
            <a:extLst>
              <a:ext uri="{FF2B5EF4-FFF2-40B4-BE49-F238E27FC236}">
                <a16:creationId xmlns:a16="http://schemas.microsoft.com/office/drawing/2014/main" id="{EA4C0B1A-BA0A-174A-1A79-F0A61ADD18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804" y="1441273"/>
            <a:ext cx="10172392" cy="5081447"/>
          </a:xfrm>
          <a:prstGeom prst="rect">
            <a:avLst/>
          </a:prstGeom>
        </p:spPr>
      </p:pic>
    </p:spTree>
    <p:extLst>
      <p:ext uri="{BB962C8B-B14F-4D97-AF65-F5344CB8AC3E}">
        <p14:creationId xmlns:p14="http://schemas.microsoft.com/office/powerpoint/2010/main" val="35216325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30FE69-94A6-A48F-CD99-1E7DE888FFBA}"/>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7DF43869-50DF-61C2-464F-3204DE7881CC}"/>
              </a:ext>
            </a:extLst>
          </p:cNvPr>
          <p:cNvSpPr>
            <a:spLocks noGrp="1"/>
          </p:cNvSpPr>
          <p:nvPr>
            <p:ph type="title"/>
          </p:nvPr>
        </p:nvSpPr>
        <p:spPr>
          <a:xfrm>
            <a:off x="838200" y="248495"/>
            <a:ext cx="10515600" cy="432542"/>
          </a:xfrm>
        </p:spPr>
        <p:txBody>
          <a:bodyPr>
            <a:noAutofit/>
          </a:bodyPr>
          <a:lstStyle/>
          <a:p>
            <a:pPr algn="ctr"/>
            <a:r>
              <a:rPr lang="tr-TR" sz="2800" dirty="0"/>
              <a:t>DÜZELTMELER</a:t>
            </a:r>
          </a:p>
        </p:txBody>
      </p:sp>
      <p:sp>
        <p:nvSpPr>
          <p:cNvPr id="3" name="İçerik Yer Tutucusu 2">
            <a:extLst>
              <a:ext uri="{FF2B5EF4-FFF2-40B4-BE49-F238E27FC236}">
                <a16:creationId xmlns:a16="http://schemas.microsoft.com/office/drawing/2014/main" id="{4FDDD326-7823-1835-F425-7C8F36189FB5}"/>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Şu an için ilk işlemimizi (listeleme) gerçekleştirdik. Ancak, birkaç hususun düzeltilmesinde fayda var. Öncelikle listeleme işleminde kullandığımız kodu hatırlayalım:</a:t>
            </a:r>
          </a:p>
          <a:p>
            <a:pPr marL="0" indent="0" algn="just">
              <a:lnSpc>
                <a:spcPct val="100000"/>
              </a:lnSpc>
              <a:spcBef>
                <a:spcPts val="600"/>
              </a:spcBef>
              <a:spcAft>
                <a:spcPts val="600"/>
              </a:spcAft>
              <a:buNone/>
            </a:pPr>
            <a:r>
              <a:rPr lang="tr-TR" sz="1800" dirty="0">
                <a:solidFill>
                  <a:srgbClr val="000000"/>
                </a:solidFill>
                <a:highlight>
                  <a:srgbClr val="FFFFFF"/>
                </a:highlight>
                <a:latin typeface="Cascadia Mono" panose="020B0609020000020004" pitchFamily="49" charset="0"/>
              </a:rPr>
              <a:t>dataGridView1.DataSource = </a:t>
            </a:r>
            <a:r>
              <a:rPr lang="tr-TR" sz="1800" dirty="0" err="1">
                <a:solidFill>
                  <a:srgbClr val="000000"/>
                </a:solidFill>
                <a:highlight>
                  <a:srgbClr val="FFFFFF"/>
                </a:highlight>
                <a:latin typeface="Cascadia Mono" panose="020B0609020000020004" pitchFamily="49" charset="0"/>
              </a:rPr>
              <a:t>db.Customers.ToList</a:t>
            </a:r>
            <a:r>
              <a:rPr lang="tr-TR" sz="1800" dirty="0">
                <a:solidFill>
                  <a:srgbClr val="000000"/>
                </a:solidFill>
                <a:highlight>
                  <a:srgbClr val="FFFFFF"/>
                </a:highlight>
                <a:latin typeface="Cascadia Mono" panose="020B0609020000020004" pitchFamily="49" charset="0"/>
              </a:rPr>
              <a:t>();</a:t>
            </a:r>
          </a:p>
          <a:p>
            <a:pPr marL="0" indent="0" algn="just">
              <a:lnSpc>
                <a:spcPct val="100000"/>
              </a:lnSpc>
              <a:spcBef>
                <a:spcPts val="600"/>
              </a:spcBef>
              <a:spcAft>
                <a:spcPts val="600"/>
              </a:spcAft>
              <a:buNone/>
            </a:pPr>
            <a:r>
              <a:rPr lang="tr-TR" sz="1800" dirty="0"/>
              <a:t>hatırlayalım: Buradaki </a:t>
            </a:r>
            <a:r>
              <a:rPr lang="tr-TR" sz="1800" dirty="0" err="1"/>
              <a:t>db</a:t>
            </a:r>
            <a:r>
              <a:rPr lang="tr-TR" sz="1800" dirty="0"/>
              <a:t> nesnesini </a:t>
            </a:r>
            <a:r>
              <a:rPr lang="tr-TR" sz="1800" dirty="0" err="1"/>
              <a:t>CustomerDbContext</a:t>
            </a:r>
            <a:r>
              <a:rPr lang="tr-TR" sz="1800" dirty="0"/>
              <a:t> sınıfından türetmiştik. </a:t>
            </a:r>
            <a:r>
              <a:rPr lang="tr-TR" sz="1800" dirty="0" err="1"/>
              <a:t>CustomerDbContext</a:t>
            </a:r>
            <a:r>
              <a:rPr lang="tr-TR" sz="1800" dirty="0"/>
              <a:t> sınıfı da bizim Customer sınıfımız (SQL’deki Table_Customer tablosuna karşılık gelen sınıfımız) için temel veri tabanı işlemlerini barındıran listeleme (select), ekleme (insert into), güncelleme (update) ve silme (</a:t>
            </a:r>
            <a:r>
              <a:rPr lang="tr-TR" sz="1800" dirty="0" err="1"/>
              <a:t>delete</a:t>
            </a:r>
            <a:r>
              <a:rPr lang="tr-TR" sz="1800" dirty="0"/>
              <a:t>) işlemlerini hazır bir şekilde içeren ve </a:t>
            </a:r>
            <a:r>
              <a:rPr lang="tr-TR" sz="1800" dirty="0" err="1"/>
              <a:t>EntityFramework’ün</a:t>
            </a:r>
            <a:r>
              <a:rPr lang="tr-TR" sz="1800" dirty="0"/>
              <a:t> kapsamında yer alan </a:t>
            </a:r>
            <a:r>
              <a:rPr lang="tr-TR" sz="1800" dirty="0" err="1"/>
              <a:t>DbContext</a:t>
            </a:r>
            <a:r>
              <a:rPr lang="tr-TR" sz="1800" dirty="0"/>
              <a:t> sınıfından türetilmişti.</a:t>
            </a:r>
          </a:p>
          <a:p>
            <a:pPr marL="0" indent="0" algn="just">
              <a:lnSpc>
                <a:spcPct val="100000"/>
              </a:lnSpc>
              <a:spcBef>
                <a:spcPts val="600"/>
              </a:spcBef>
              <a:spcAft>
                <a:spcPts val="600"/>
              </a:spcAft>
              <a:buNone/>
            </a:pPr>
            <a:r>
              <a:rPr lang="tr-TR" sz="1800" dirty="0"/>
              <a:t>Bu nedenle </a:t>
            </a:r>
            <a:r>
              <a:rPr lang="tr-TR" sz="1800" dirty="0" err="1"/>
              <a:t>db</a:t>
            </a:r>
            <a:r>
              <a:rPr lang="tr-TR" sz="1800" dirty="0"/>
              <a:t> nesnesinin altından kendi Customer sınıfımıza erişebildik. </a:t>
            </a:r>
            <a:r>
              <a:rPr lang="tr-TR" sz="1800" dirty="0" err="1"/>
              <a:t>Customers</a:t>
            </a:r>
            <a:r>
              <a:rPr lang="tr-TR" sz="1800" dirty="0"/>
              <a:t> sınıfımız bir nesne olarak değerlendirildiği için bu nesne altındaki hazır metotlarla listeleme, ekleme, güncelleme ve silme işlemlerini gerçekleştirebiliyoruz.</a:t>
            </a:r>
          </a:p>
          <a:p>
            <a:pPr marL="0" indent="0" algn="just">
              <a:lnSpc>
                <a:spcPct val="100000"/>
              </a:lnSpc>
              <a:spcBef>
                <a:spcPts val="600"/>
              </a:spcBef>
              <a:spcAft>
                <a:spcPts val="600"/>
              </a:spcAft>
              <a:buNone/>
            </a:pPr>
            <a:r>
              <a:rPr lang="tr-TR" sz="1800" dirty="0"/>
              <a:t>Örneğin, listeleme işlemi için </a:t>
            </a:r>
            <a:r>
              <a:rPr lang="tr-TR" sz="1800" dirty="0" err="1"/>
              <a:t>db.Customers’in</a:t>
            </a:r>
            <a:r>
              <a:rPr lang="tr-TR" sz="1800" dirty="0"/>
              <a:t> altındaki </a:t>
            </a:r>
            <a:r>
              <a:rPr lang="tr-TR" sz="1800" dirty="0" err="1"/>
              <a:t>ToList</a:t>
            </a:r>
            <a:r>
              <a:rPr lang="tr-TR" sz="1800" dirty="0"/>
              <a:t>() metodu, verilerimizi listelemeye yarıyor.</a:t>
            </a:r>
          </a:p>
          <a:p>
            <a:pPr marL="0" indent="0" algn="just">
              <a:lnSpc>
                <a:spcPct val="100000"/>
              </a:lnSpc>
              <a:spcBef>
                <a:spcPts val="600"/>
              </a:spcBef>
              <a:spcAft>
                <a:spcPts val="600"/>
              </a:spcAft>
              <a:buNone/>
            </a:pPr>
            <a:endParaRPr lang="tr-TR" sz="1800" dirty="0"/>
          </a:p>
        </p:txBody>
      </p:sp>
    </p:spTree>
    <p:extLst>
      <p:ext uri="{BB962C8B-B14F-4D97-AF65-F5344CB8AC3E}">
        <p14:creationId xmlns:p14="http://schemas.microsoft.com/office/powerpoint/2010/main" val="12955851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6F28C-D78B-2DFD-5A04-B3E42864AD5E}"/>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A7948EC7-C3D1-A00E-3B61-5BF02B2BDC52}"/>
              </a:ext>
            </a:extLst>
          </p:cNvPr>
          <p:cNvSpPr>
            <a:spLocks noGrp="1"/>
          </p:cNvSpPr>
          <p:nvPr>
            <p:ph type="title"/>
          </p:nvPr>
        </p:nvSpPr>
        <p:spPr>
          <a:xfrm>
            <a:off x="838200" y="248495"/>
            <a:ext cx="10515600" cy="432542"/>
          </a:xfrm>
        </p:spPr>
        <p:txBody>
          <a:bodyPr>
            <a:noAutofit/>
          </a:bodyPr>
          <a:lstStyle/>
          <a:p>
            <a:pPr algn="ctr"/>
            <a:r>
              <a:rPr lang="tr-TR" sz="2800" dirty="0"/>
              <a:t>DÜZELTMELER</a:t>
            </a:r>
          </a:p>
        </p:txBody>
      </p:sp>
      <p:sp>
        <p:nvSpPr>
          <p:cNvPr id="3" name="İçerik Yer Tutucusu 2">
            <a:extLst>
              <a:ext uri="{FF2B5EF4-FFF2-40B4-BE49-F238E27FC236}">
                <a16:creationId xmlns:a16="http://schemas.microsoft.com/office/drawing/2014/main" id="{C0D5867F-D92B-3460-3E32-7C8F8C1320C6}"/>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Düzeltilmesi gereken ilk husus, özellikle veri tabanı işlemleri içeren kodlar yazarken try-catch bloklarını kullanmamız gerekir. Eğer bu blokları kullanmazsak ve bir hata alırsak, programdan (otomasyondan) hemen çıkar. Bu durum hiç de istenilen bir durum değildir. Bir hatayla karşılaşıldığı anda yine programımızın açık kalmasını istiyorsak, çalışmasını istediğimiz kodları </a:t>
            </a:r>
            <a:r>
              <a:rPr lang="tr-TR" sz="1800" dirty="0" err="1"/>
              <a:t>try</a:t>
            </a:r>
            <a:r>
              <a:rPr lang="tr-TR" sz="1800" dirty="0"/>
              <a:t> blokları içerisine yazıp, </a:t>
            </a:r>
            <a:r>
              <a:rPr lang="tr-TR" sz="1800" dirty="0" err="1"/>
              <a:t>catch</a:t>
            </a:r>
            <a:r>
              <a:rPr lang="tr-TR" sz="1800" dirty="0"/>
              <a:t> blokları içerisine de bir hata tanımlarız.</a:t>
            </a:r>
          </a:p>
          <a:p>
            <a:pPr marL="0" indent="0" algn="just">
              <a:lnSpc>
                <a:spcPct val="100000"/>
              </a:lnSpc>
              <a:spcBef>
                <a:spcPts val="600"/>
              </a:spcBef>
              <a:spcAft>
                <a:spcPts val="600"/>
              </a:spcAft>
              <a:buNone/>
            </a:pPr>
            <a:r>
              <a:rPr lang="tr-TR" sz="1800" dirty="0"/>
              <a:t>Bir hata ile karşılaşıldığında program kapanmaz ve sadece hata mesajımızı yazdırır.</a:t>
            </a:r>
          </a:p>
          <a:p>
            <a:pPr marL="0" indent="0" algn="just">
              <a:lnSpc>
                <a:spcPct val="100000"/>
              </a:lnSpc>
              <a:spcBef>
                <a:spcPts val="600"/>
              </a:spcBef>
              <a:spcAft>
                <a:spcPts val="600"/>
              </a:spcAft>
              <a:buNone/>
            </a:pPr>
            <a:r>
              <a:rPr lang="tr-TR" sz="1800" dirty="0"/>
              <a:t>Şimdi, btn_listele kodlarına gidip, kodumuzu try-catch blokları arasına alalım.</a:t>
            </a:r>
          </a:p>
        </p:txBody>
      </p:sp>
    </p:spTree>
    <p:extLst>
      <p:ext uri="{BB962C8B-B14F-4D97-AF65-F5344CB8AC3E}">
        <p14:creationId xmlns:p14="http://schemas.microsoft.com/office/powerpoint/2010/main" val="26048960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36CA55-9937-4811-0B2F-F39D367813CA}"/>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2ECA45CE-949C-9C1E-6CAE-920E6E6BBE51}"/>
              </a:ext>
            </a:extLst>
          </p:cNvPr>
          <p:cNvSpPr>
            <a:spLocks noGrp="1"/>
          </p:cNvSpPr>
          <p:nvPr>
            <p:ph type="title"/>
          </p:nvPr>
        </p:nvSpPr>
        <p:spPr>
          <a:xfrm>
            <a:off x="838200" y="248495"/>
            <a:ext cx="10515600" cy="432542"/>
          </a:xfrm>
        </p:spPr>
        <p:txBody>
          <a:bodyPr>
            <a:noAutofit/>
          </a:bodyPr>
          <a:lstStyle/>
          <a:p>
            <a:pPr algn="ctr"/>
            <a:r>
              <a:rPr lang="tr-TR" sz="2800" dirty="0"/>
              <a:t>DÜZELTMELER (try-catch)</a:t>
            </a:r>
          </a:p>
        </p:txBody>
      </p:sp>
      <p:sp>
        <p:nvSpPr>
          <p:cNvPr id="3" name="İçerik Yer Tutucusu 2">
            <a:extLst>
              <a:ext uri="{FF2B5EF4-FFF2-40B4-BE49-F238E27FC236}">
                <a16:creationId xmlns:a16="http://schemas.microsoft.com/office/drawing/2014/main" id="{E5A712A7-8933-44C8-AD91-8CCB71EE1EF7}"/>
              </a:ext>
            </a:extLst>
          </p:cNvPr>
          <p:cNvSpPr>
            <a:spLocks noGrp="1"/>
          </p:cNvSpPr>
          <p:nvPr>
            <p:ph idx="1"/>
          </p:nvPr>
        </p:nvSpPr>
        <p:spPr>
          <a:xfrm>
            <a:off x="838200" y="846306"/>
            <a:ext cx="10515600" cy="5885234"/>
          </a:xfrm>
        </p:spPr>
        <p:txBody>
          <a:bodyPr>
            <a:normAutofit lnSpcReduction="10000"/>
          </a:bodyPr>
          <a:lstStyle/>
          <a:p>
            <a:pPr marL="0" indent="0" algn="just">
              <a:lnSpc>
                <a:spcPct val="100000"/>
              </a:lnSpc>
              <a:spcBef>
                <a:spcPts val="600"/>
              </a:spcBef>
              <a:spcAft>
                <a:spcPts val="600"/>
              </a:spcAft>
              <a:buNone/>
            </a:pPr>
            <a:r>
              <a:rPr lang="tr-TR" sz="1800" dirty="0"/>
              <a:t>btn_listele kodlarımızın son hali aşağıdaki gibi olmalıdır:</a:t>
            </a:r>
          </a:p>
          <a:p>
            <a:pPr marL="0" indent="0" algn="just">
              <a:lnSpc>
                <a:spcPct val="100000"/>
              </a:lnSpc>
              <a:spcBef>
                <a:spcPts val="600"/>
              </a:spcBef>
              <a:spcAft>
                <a:spcPts val="600"/>
              </a:spcAft>
              <a:buNone/>
            </a:pPr>
            <a:r>
              <a:rPr lang="tr-TR" sz="1800" dirty="0" err="1"/>
              <a:t>private</a:t>
            </a:r>
            <a:r>
              <a:rPr lang="tr-TR" sz="1800" dirty="0"/>
              <a:t> void </a:t>
            </a:r>
            <a:r>
              <a:rPr lang="tr-TR" sz="1800" dirty="0" err="1"/>
              <a:t>btn_listele_Click</a:t>
            </a:r>
            <a:r>
              <a:rPr lang="tr-TR" sz="1800" dirty="0"/>
              <a:t>(</a:t>
            </a:r>
            <a:r>
              <a:rPr lang="tr-TR" sz="1800" dirty="0" err="1"/>
              <a:t>object</a:t>
            </a:r>
            <a:r>
              <a:rPr lang="tr-TR" sz="1800" dirty="0"/>
              <a:t> </a:t>
            </a:r>
            <a:r>
              <a:rPr lang="tr-TR" sz="1800" dirty="0" err="1"/>
              <a:t>sender</a:t>
            </a:r>
            <a:r>
              <a:rPr lang="tr-TR" sz="1800" dirty="0"/>
              <a:t>, </a:t>
            </a:r>
            <a:r>
              <a:rPr lang="tr-TR" sz="1800" dirty="0" err="1"/>
              <a:t>EventArgs</a:t>
            </a:r>
            <a:r>
              <a:rPr lang="tr-TR" sz="1800" dirty="0"/>
              <a:t> e)</a:t>
            </a:r>
          </a:p>
          <a:p>
            <a:pPr marL="0" indent="0" algn="just">
              <a:lnSpc>
                <a:spcPct val="100000"/>
              </a:lnSpc>
              <a:spcBef>
                <a:spcPts val="600"/>
              </a:spcBef>
              <a:spcAft>
                <a:spcPts val="600"/>
              </a:spcAft>
              <a:buNone/>
            </a:pPr>
            <a:r>
              <a:rPr lang="tr-TR" sz="1800" dirty="0"/>
              <a:t>{</a:t>
            </a:r>
          </a:p>
          <a:p>
            <a:pPr marL="0" indent="0" algn="just">
              <a:lnSpc>
                <a:spcPct val="100000"/>
              </a:lnSpc>
              <a:spcBef>
                <a:spcPts val="600"/>
              </a:spcBef>
              <a:spcAft>
                <a:spcPts val="600"/>
              </a:spcAft>
              <a:buNone/>
            </a:pPr>
            <a:r>
              <a:rPr lang="tr-TR" sz="1800" dirty="0"/>
              <a:t>    </a:t>
            </a:r>
            <a:r>
              <a:rPr lang="tr-TR" sz="1800" dirty="0" err="1"/>
              <a:t>try</a:t>
            </a:r>
            <a:endParaRPr lang="tr-TR" sz="1800" dirty="0"/>
          </a:p>
          <a:p>
            <a:pPr marL="0" indent="0" algn="just">
              <a:lnSpc>
                <a:spcPct val="100000"/>
              </a:lnSpc>
              <a:spcBef>
                <a:spcPts val="600"/>
              </a:spcBef>
              <a:spcAft>
                <a:spcPts val="600"/>
              </a:spcAft>
              <a:buNone/>
            </a:pPr>
            <a:r>
              <a:rPr lang="tr-TR" sz="1800" dirty="0"/>
              <a:t>    {</a:t>
            </a:r>
          </a:p>
          <a:p>
            <a:pPr marL="0" indent="0" algn="just">
              <a:lnSpc>
                <a:spcPct val="100000"/>
              </a:lnSpc>
              <a:spcBef>
                <a:spcPts val="600"/>
              </a:spcBef>
              <a:spcAft>
                <a:spcPts val="600"/>
              </a:spcAft>
              <a:buNone/>
            </a:pPr>
            <a:r>
              <a:rPr lang="tr-TR" sz="1800" dirty="0"/>
              <a:t>        dataGridView1.DataSource = </a:t>
            </a:r>
            <a:r>
              <a:rPr lang="tr-TR" sz="1800" dirty="0" err="1"/>
              <a:t>db.Customers.ToList</a:t>
            </a:r>
            <a:r>
              <a:rPr lang="tr-TR" sz="1800" dirty="0"/>
              <a:t>();</a:t>
            </a:r>
          </a:p>
          <a:p>
            <a:pPr marL="0" indent="0" algn="just">
              <a:lnSpc>
                <a:spcPct val="100000"/>
              </a:lnSpc>
              <a:spcBef>
                <a:spcPts val="600"/>
              </a:spcBef>
              <a:spcAft>
                <a:spcPts val="600"/>
              </a:spcAft>
              <a:buNone/>
            </a:pPr>
            <a:r>
              <a:rPr lang="tr-TR" sz="1800" dirty="0"/>
              <a:t>    }</a:t>
            </a:r>
          </a:p>
          <a:p>
            <a:pPr marL="0" indent="0" algn="just">
              <a:lnSpc>
                <a:spcPct val="100000"/>
              </a:lnSpc>
              <a:spcBef>
                <a:spcPts val="600"/>
              </a:spcBef>
              <a:spcAft>
                <a:spcPts val="600"/>
              </a:spcAft>
              <a:buNone/>
            </a:pPr>
            <a:r>
              <a:rPr lang="tr-TR" sz="1800" dirty="0"/>
              <a:t>    </a:t>
            </a:r>
            <a:r>
              <a:rPr lang="tr-TR" sz="1800" dirty="0" err="1"/>
              <a:t>catch</a:t>
            </a:r>
            <a:r>
              <a:rPr lang="tr-TR" sz="1800" dirty="0"/>
              <a:t> (</a:t>
            </a:r>
            <a:r>
              <a:rPr lang="tr-TR" sz="1800" dirty="0" err="1"/>
              <a:t>Exception</a:t>
            </a:r>
            <a:r>
              <a:rPr lang="tr-TR" sz="1800" dirty="0"/>
              <a:t> </a:t>
            </a:r>
            <a:r>
              <a:rPr lang="tr-TR" sz="1800" dirty="0" err="1"/>
              <a:t>ex</a:t>
            </a:r>
            <a:r>
              <a:rPr lang="tr-TR" sz="1800" dirty="0"/>
              <a:t>)</a:t>
            </a:r>
          </a:p>
          <a:p>
            <a:pPr marL="0" indent="0" algn="just">
              <a:lnSpc>
                <a:spcPct val="100000"/>
              </a:lnSpc>
              <a:spcBef>
                <a:spcPts val="600"/>
              </a:spcBef>
              <a:spcAft>
                <a:spcPts val="600"/>
              </a:spcAft>
              <a:buNone/>
            </a:pPr>
            <a:r>
              <a:rPr lang="tr-TR" sz="1800" dirty="0"/>
              <a:t>    {</a:t>
            </a:r>
          </a:p>
          <a:p>
            <a:pPr marL="0" indent="0" algn="just">
              <a:lnSpc>
                <a:spcPct val="100000"/>
              </a:lnSpc>
              <a:spcBef>
                <a:spcPts val="600"/>
              </a:spcBef>
              <a:spcAft>
                <a:spcPts val="600"/>
              </a:spcAft>
              <a:buNone/>
            </a:pPr>
            <a:endParaRPr lang="tr-TR" sz="1800" dirty="0"/>
          </a:p>
          <a:p>
            <a:pPr marL="0" indent="0" algn="just">
              <a:lnSpc>
                <a:spcPct val="100000"/>
              </a:lnSpc>
              <a:spcBef>
                <a:spcPts val="600"/>
              </a:spcBef>
              <a:spcAft>
                <a:spcPts val="600"/>
              </a:spcAft>
              <a:buNone/>
            </a:pPr>
            <a:r>
              <a:rPr lang="tr-TR" sz="1800" dirty="0"/>
              <a:t>        </a:t>
            </a:r>
            <a:r>
              <a:rPr lang="tr-TR" sz="1800" dirty="0" err="1"/>
              <a:t>MessageBox.Show</a:t>
            </a:r>
            <a:r>
              <a:rPr lang="tr-TR" sz="1800" dirty="0"/>
              <a:t>($"Hata = {</a:t>
            </a:r>
            <a:r>
              <a:rPr lang="tr-TR" sz="1800" dirty="0" err="1"/>
              <a:t>ex.Message</a:t>
            </a:r>
            <a:r>
              <a:rPr lang="tr-TR" sz="1800" dirty="0"/>
              <a:t>}");</a:t>
            </a:r>
          </a:p>
          <a:p>
            <a:pPr marL="0" indent="0" algn="just">
              <a:lnSpc>
                <a:spcPct val="100000"/>
              </a:lnSpc>
              <a:spcBef>
                <a:spcPts val="600"/>
              </a:spcBef>
              <a:spcAft>
                <a:spcPts val="600"/>
              </a:spcAft>
              <a:buNone/>
            </a:pPr>
            <a:r>
              <a:rPr lang="tr-TR" sz="1800" dirty="0"/>
              <a:t>    }</a:t>
            </a:r>
          </a:p>
          <a:p>
            <a:pPr marL="0" indent="0" algn="just">
              <a:lnSpc>
                <a:spcPct val="100000"/>
              </a:lnSpc>
              <a:spcBef>
                <a:spcPts val="600"/>
              </a:spcBef>
              <a:spcAft>
                <a:spcPts val="600"/>
              </a:spcAft>
              <a:buNone/>
            </a:pPr>
            <a:r>
              <a:rPr lang="tr-TR" sz="1800" dirty="0"/>
              <a:t>}</a:t>
            </a:r>
          </a:p>
          <a:p>
            <a:pPr marL="0" indent="0" algn="just">
              <a:lnSpc>
                <a:spcPct val="100000"/>
              </a:lnSpc>
              <a:spcBef>
                <a:spcPts val="600"/>
              </a:spcBef>
              <a:spcAft>
                <a:spcPts val="600"/>
              </a:spcAft>
              <a:buNone/>
            </a:pPr>
            <a:r>
              <a:rPr lang="tr-TR" sz="1800" dirty="0"/>
              <a:t>NOT: </a:t>
            </a:r>
            <a:r>
              <a:rPr lang="tr-TR" sz="1800" dirty="0" err="1"/>
              <a:t>try</a:t>
            </a:r>
            <a:r>
              <a:rPr lang="tr-TR" sz="1800" dirty="0"/>
              <a:t> yazıp iki defa TAB tuşuna üst üste basarsanız. Boş bir try-catch bloku açılır ve siz de onu kendi ihtiyacınıza göre doldurursunuz.</a:t>
            </a:r>
          </a:p>
        </p:txBody>
      </p:sp>
    </p:spTree>
    <p:extLst>
      <p:ext uri="{BB962C8B-B14F-4D97-AF65-F5344CB8AC3E}">
        <p14:creationId xmlns:p14="http://schemas.microsoft.com/office/powerpoint/2010/main" val="225853169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10B2A-62BD-F5A6-C57E-11DF17F77F37}"/>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60454FA7-00D6-26E3-73DB-2DCA25E788DE}"/>
              </a:ext>
            </a:extLst>
          </p:cNvPr>
          <p:cNvSpPr>
            <a:spLocks noGrp="1"/>
          </p:cNvSpPr>
          <p:nvPr>
            <p:ph type="title"/>
          </p:nvPr>
        </p:nvSpPr>
        <p:spPr>
          <a:xfrm>
            <a:off x="838200" y="248495"/>
            <a:ext cx="10515600" cy="432542"/>
          </a:xfrm>
        </p:spPr>
        <p:txBody>
          <a:bodyPr>
            <a:noAutofit/>
          </a:bodyPr>
          <a:lstStyle/>
          <a:p>
            <a:pPr algn="ctr"/>
            <a:r>
              <a:rPr lang="tr-TR" sz="2800" dirty="0"/>
              <a:t>DÜZELTMELER (try-catch)</a:t>
            </a:r>
          </a:p>
        </p:txBody>
      </p:sp>
      <p:sp>
        <p:nvSpPr>
          <p:cNvPr id="3" name="İçerik Yer Tutucusu 2">
            <a:extLst>
              <a:ext uri="{FF2B5EF4-FFF2-40B4-BE49-F238E27FC236}">
                <a16:creationId xmlns:a16="http://schemas.microsoft.com/office/drawing/2014/main" id="{27BFCA16-2AEC-F6C4-24A6-6AB9363BF5D7}"/>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NOT: Bundan sonra, her işlemimizi try-catch blokları içerisinde gerçekleştireceğiz</a:t>
            </a:r>
          </a:p>
          <a:p>
            <a:pPr marL="0" indent="0" algn="just">
              <a:lnSpc>
                <a:spcPct val="100000"/>
              </a:lnSpc>
              <a:spcBef>
                <a:spcPts val="600"/>
              </a:spcBef>
              <a:spcAft>
                <a:spcPts val="600"/>
              </a:spcAft>
              <a:buNone/>
            </a:pPr>
            <a:endParaRPr lang="tr-TR" sz="1800" dirty="0"/>
          </a:p>
        </p:txBody>
      </p:sp>
      <p:pic>
        <p:nvPicPr>
          <p:cNvPr id="5" name="Resim 4">
            <a:extLst>
              <a:ext uri="{FF2B5EF4-FFF2-40B4-BE49-F238E27FC236}">
                <a16:creationId xmlns:a16="http://schemas.microsoft.com/office/drawing/2014/main" id="{201E5D3D-6AC9-B383-73EA-0447304FDACF}"/>
              </a:ext>
            </a:extLst>
          </p:cNvPr>
          <p:cNvPicPr>
            <a:picLocks noChangeAspect="1"/>
          </p:cNvPicPr>
          <p:nvPr/>
        </p:nvPicPr>
        <p:blipFill>
          <a:blip r:embed="rId2"/>
          <a:stretch>
            <a:fillRect/>
          </a:stretch>
        </p:blipFill>
        <p:spPr>
          <a:xfrm>
            <a:off x="2680984" y="1616818"/>
            <a:ext cx="7436444" cy="3392062"/>
          </a:xfrm>
          <a:prstGeom prst="rect">
            <a:avLst/>
          </a:prstGeom>
        </p:spPr>
      </p:pic>
    </p:spTree>
    <p:extLst>
      <p:ext uri="{BB962C8B-B14F-4D97-AF65-F5344CB8AC3E}">
        <p14:creationId xmlns:p14="http://schemas.microsoft.com/office/powerpoint/2010/main" val="257330174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34E454-8D3C-437B-92D0-B99ADFEEA743}"/>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C82121F5-E314-4C9E-3E46-3402922B365A}"/>
              </a:ext>
            </a:extLst>
          </p:cNvPr>
          <p:cNvSpPr>
            <a:spLocks noGrp="1"/>
          </p:cNvSpPr>
          <p:nvPr>
            <p:ph type="title"/>
          </p:nvPr>
        </p:nvSpPr>
        <p:spPr>
          <a:xfrm>
            <a:off x="838200" y="248495"/>
            <a:ext cx="10515600" cy="432542"/>
          </a:xfrm>
        </p:spPr>
        <p:txBody>
          <a:bodyPr>
            <a:noAutofit/>
          </a:bodyPr>
          <a:lstStyle/>
          <a:p>
            <a:pPr algn="ctr"/>
            <a:r>
              <a:rPr lang="tr-TR" sz="2800" dirty="0"/>
              <a:t>DÜZELTMELER (SÜTUN İSİMLERİ)</a:t>
            </a:r>
          </a:p>
        </p:txBody>
      </p:sp>
      <p:sp>
        <p:nvSpPr>
          <p:cNvPr id="3" name="İçerik Yer Tutucusu 2">
            <a:extLst>
              <a:ext uri="{FF2B5EF4-FFF2-40B4-BE49-F238E27FC236}">
                <a16:creationId xmlns:a16="http://schemas.microsoft.com/office/drawing/2014/main" id="{10F5597C-8C94-E9C0-7211-3D0FF660F97B}"/>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Şimdi kodumuzu tekrar çalıştıralım. Dikkat edecek olursanız, veriler </a:t>
            </a:r>
            <a:r>
              <a:rPr lang="tr-TR" sz="1800" dirty="0" err="1"/>
              <a:t>datagridview’a</a:t>
            </a:r>
            <a:r>
              <a:rPr lang="tr-TR" sz="1800" dirty="0"/>
              <a:t> yansıtıldığında 3 önemli sorun var:</a:t>
            </a:r>
          </a:p>
        </p:txBody>
      </p:sp>
      <p:pic>
        <p:nvPicPr>
          <p:cNvPr id="5" name="Resim 4" descr="metin, ekran görüntüsü, ekran, görüntüleme, yazılım içeren bir resim&#10;&#10;Yapay zeka tarafından oluşturulan içerik yanlış olabilir.">
            <a:extLst>
              <a:ext uri="{FF2B5EF4-FFF2-40B4-BE49-F238E27FC236}">
                <a16:creationId xmlns:a16="http://schemas.microsoft.com/office/drawing/2014/main" id="{BE5D351F-8D33-1ECC-91C7-237994E129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67663" y="1594754"/>
            <a:ext cx="9212134" cy="4601766"/>
          </a:xfrm>
          <a:prstGeom prst="rect">
            <a:avLst/>
          </a:prstGeom>
        </p:spPr>
      </p:pic>
    </p:spTree>
    <p:extLst>
      <p:ext uri="{BB962C8B-B14F-4D97-AF65-F5344CB8AC3E}">
        <p14:creationId xmlns:p14="http://schemas.microsoft.com/office/powerpoint/2010/main" val="230949472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43E93A-814A-DB5D-3F9C-1F674D3818FE}"/>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4C2B483F-C467-E1B9-C67D-08BDF0BE1446}"/>
              </a:ext>
            </a:extLst>
          </p:cNvPr>
          <p:cNvSpPr>
            <a:spLocks noGrp="1"/>
          </p:cNvSpPr>
          <p:nvPr>
            <p:ph type="title"/>
          </p:nvPr>
        </p:nvSpPr>
        <p:spPr>
          <a:xfrm>
            <a:off x="838200" y="248495"/>
            <a:ext cx="10515600" cy="432542"/>
          </a:xfrm>
        </p:spPr>
        <p:txBody>
          <a:bodyPr>
            <a:noAutofit/>
          </a:bodyPr>
          <a:lstStyle/>
          <a:p>
            <a:pPr algn="ctr"/>
            <a:r>
              <a:rPr lang="tr-TR" sz="2800" dirty="0"/>
              <a:t>DÜZELTMELER (SÜTUN İSİMLERİ)</a:t>
            </a:r>
          </a:p>
        </p:txBody>
      </p:sp>
      <p:sp>
        <p:nvSpPr>
          <p:cNvPr id="3" name="İçerik Yer Tutucusu 2">
            <a:extLst>
              <a:ext uri="{FF2B5EF4-FFF2-40B4-BE49-F238E27FC236}">
                <a16:creationId xmlns:a16="http://schemas.microsoft.com/office/drawing/2014/main" id="{5AA66FF9-0D7C-308E-DC64-84EF19CCAC32}"/>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Böyle bir listeleme işlemi oldukça sıkıntılıdır. Çünkü, SQL tarafındaki orijinal sütun isimleri görülebiliyor. Bu durum bir güvenlik sorunudur. Şimdi ilk olarak, veriler listelendiğinde orijinal sütun isimleriyle gelmesin. Bunun yerine, bizim belirlediğimiz-istediğimiz sütun isimleriyle gelsin.</a:t>
            </a:r>
          </a:p>
          <a:p>
            <a:pPr marL="0" indent="0" algn="just">
              <a:lnSpc>
                <a:spcPct val="100000"/>
              </a:lnSpc>
              <a:spcBef>
                <a:spcPts val="600"/>
              </a:spcBef>
              <a:spcAft>
                <a:spcPts val="600"/>
              </a:spcAft>
              <a:buNone/>
            </a:pPr>
            <a:r>
              <a:rPr lang="tr-TR" sz="1800" dirty="0" err="1"/>
              <a:t>C#’ta</a:t>
            </a:r>
            <a:r>
              <a:rPr lang="tr-TR" sz="1800" dirty="0"/>
              <a:t> </a:t>
            </a:r>
            <a:r>
              <a:rPr lang="tr-TR" sz="1800" dirty="0" err="1"/>
              <a:t>datagridview’daki</a:t>
            </a:r>
            <a:r>
              <a:rPr lang="tr-TR" sz="1800" dirty="0"/>
              <a:t> bir sütunun başlığını </a:t>
            </a:r>
            <a:r>
              <a:rPr lang="tr-TR" sz="1800" dirty="0" err="1"/>
              <a:t>HeaderText</a:t>
            </a:r>
            <a:r>
              <a:rPr lang="tr-TR" sz="1800" dirty="0"/>
              <a:t> özelliğiyle düzenleriz. Elimizdeki orijinal sütun isimlerine erişim, her birinin </a:t>
            </a:r>
            <a:r>
              <a:rPr lang="tr-TR" sz="1800" dirty="0" err="1"/>
              <a:t>HeaderText</a:t>
            </a:r>
            <a:r>
              <a:rPr lang="tr-TR" sz="1800" dirty="0"/>
              <a:t> özelliğine kendi istediğimiz ismi vereceğiz.</a:t>
            </a:r>
          </a:p>
          <a:p>
            <a:pPr marL="0" indent="0" algn="just">
              <a:lnSpc>
                <a:spcPct val="100000"/>
              </a:lnSpc>
              <a:spcBef>
                <a:spcPts val="600"/>
              </a:spcBef>
              <a:spcAft>
                <a:spcPts val="600"/>
              </a:spcAft>
              <a:buNone/>
            </a:pPr>
            <a:r>
              <a:rPr lang="tr-TR" sz="1800" dirty="0"/>
              <a:t>Buna göre, </a:t>
            </a:r>
            <a:r>
              <a:rPr lang="tr-TR" sz="1800" dirty="0" err="1"/>
              <a:t>btn_listele’nin</a:t>
            </a:r>
            <a:r>
              <a:rPr lang="tr-TR" sz="1800" dirty="0"/>
              <a:t> son kodlarının tamamı sonraki sayfada yer almaktadır.</a:t>
            </a:r>
          </a:p>
        </p:txBody>
      </p:sp>
    </p:spTree>
    <p:extLst>
      <p:ext uri="{BB962C8B-B14F-4D97-AF65-F5344CB8AC3E}">
        <p14:creationId xmlns:p14="http://schemas.microsoft.com/office/powerpoint/2010/main" val="236526077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43086-37C6-0A9C-809E-13B4C873DF30}"/>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22C134C7-EA62-CA88-9F10-D3220B22C6BF}"/>
              </a:ext>
            </a:extLst>
          </p:cNvPr>
          <p:cNvSpPr>
            <a:spLocks noGrp="1"/>
          </p:cNvSpPr>
          <p:nvPr>
            <p:ph type="title"/>
          </p:nvPr>
        </p:nvSpPr>
        <p:spPr>
          <a:xfrm>
            <a:off x="838200" y="248495"/>
            <a:ext cx="10515600" cy="432542"/>
          </a:xfrm>
        </p:spPr>
        <p:txBody>
          <a:bodyPr>
            <a:noAutofit/>
          </a:bodyPr>
          <a:lstStyle/>
          <a:p>
            <a:pPr algn="ctr"/>
            <a:r>
              <a:rPr lang="tr-TR" sz="2800" dirty="0"/>
              <a:t>DÜZELTMELER (SÜTUN İSİMLERİ)</a:t>
            </a:r>
          </a:p>
        </p:txBody>
      </p:sp>
      <p:sp>
        <p:nvSpPr>
          <p:cNvPr id="3" name="İçerik Yer Tutucusu 2">
            <a:extLst>
              <a:ext uri="{FF2B5EF4-FFF2-40B4-BE49-F238E27FC236}">
                <a16:creationId xmlns:a16="http://schemas.microsoft.com/office/drawing/2014/main" id="{CC0C12FB-A23A-1BD1-9C86-90DF4FE92759}"/>
              </a:ext>
            </a:extLst>
          </p:cNvPr>
          <p:cNvSpPr>
            <a:spLocks noGrp="1"/>
          </p:cNvSpPr>
          <p:nvPr>
            <p:ph idx="1"/>
          </p:nvPr>
        </p:nvSpPr>
        <p:spPr>
          <a:xfrm>
            <a:off x="838200" y="846306"/>
            <a:ext cx="10515600" cy="5885234"/>
          </a:xfrm>
        </p:spPr>
        <p:txBody>
          <a:bodyPr>
            <a:normAutofit fontScale="85000" lnSpcReduction="20000"/>
          </a:bodyPr>
          <a:lstStyle/>
          <a:p>
            <a:pPr marL="0" indent="0">
              <a:buNone/>
            </a:pPr>
            <a:r>
              <a:rPr lang="tr-TR" sz="1800" dirty="0" err="1">
                <a:solidFill>
                  <a:srgbClr val="0000FF"/>
                </a:solidFill>
                <a:highlight>
                  <a:srgbClr val="FFFFFF"/>
                </a:highlight>
                <a:latin typeface="Cascadia Mono" panose="020B0609020000020004" pitchFamily="49" charset="0"/>
              </a:rPr>
              <a:t>private</a:t>
            </a:r>
            <a:r>
              <a:rPr lang="tr-TR" sz="1800" dirty="0">
                <a:solidFill>
                  <a:srgbClr val="000000"/>
                </a:solidFill>
                <a:highlight>
                  <a:srgbClr val="FFFFFF"/>
                </a:highlight>
                <a:latin typeface="Cascadia Mono" panose="020B0609020000020004" pitchFamily="49" charset="0"/>
              </a:rPr>
              <a:t> </a:t>
            </a:r>
            <a:r>
              <a:rPr lang="tr-TR" sz="1800" dirty="0">
                <a:solidFill>
                  <a:srgbClr val="0000FF"/>
                </a:solidFill>
                <a:highlight>
                  <a:srgbClr val="FFFFFF"/>
                </a:highlight>
                <a:latin typeface="Cascadia Mono" panose="020B0609020000020004" pitchFamily="49" charset="0"/>
              </a:rPr>
              <a:t>void</a:t>
            </a: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btn_listele_Click</a:t>
            </a:r>
            <a:r>
              <a:rPr lang="tr-TR" sz="1800" dirty="0">
                <a:solidFill>
                  <a:srgbClr val="000000"/>
                </a:solidFill>
                <a:highlight>
                  <a:srgbClr val="FFFFFF"/>
                </a:highlight>
                <a:latin typeface="Cascadia Mono" panose="020B0609020000020004" pitchFamily="49" charset="0"/>
              </a:rPr>
              <a:t>(</a:t>
            </a:r>
            <a:r>
              <a:rPr lang="tr-TR" sz="1800" dirty="0" err="1">
                <a:solidFill>
                  <a:srgbClr val="0000FF"/>
                </a:solidFill>
                <a:highlight>
                  <a:srgbClr val="FFFFFF"/>
                </a:highlight>
                <a:latin typeface="Cascadia Mono" panose="020B0609020000020004" pitchFamily="49" charset="0"/>
              </a:rPr>
              <a:t>object</a:t>
            </a: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sender</a:t>
            </a: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EventArgs</a:t>
            </a:r>
            <a:r>
              <a:rPr lang="tr-TR" sz="1800" dirty="0">
                <a:solidFill>
                  <a:srgbClr val="000000"/>
                </a:solidFill>
                <a:highlight>
                  <a:srgbClr val="FFFFFF"/>
                </a:highlight>
                <a:latin typeface="Cascadia Mono" panose="020B0609020000020004" pitchFamily="49" charset="0"/>
              </a:rPr>
              <a:t> e)</a:t>
            </a:r>
          </a:p>
          <a:p>
            <a:pPr marL="0" indent="0">
              <a:buNone/>
            </a:pP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0000FF"/>
                </a:solidFill>
                <a:highlight>
                  <a:srgbClr val="FFFFFF"/>
                </a:highlight>
                <a:latin typeface="Cascadia Mono" panose="020B0609020000020004" pitchFamily="49" charset="0"/>
              </a:rPr>
              <a:t>try</a:t>
            </a:r>
            <a:endParaRPr lang="tr-TR" sz="1800" dirty="0">
              <a:solidFill>
                <a:srgbClr val="0000FF"/>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    {</a:t>
            </a:r>
          </a:p>
          <a:p>
            <a:pPr marL="0" indent="0">
              <a:buNone/>
            </a:pP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var</a:t>
            </a:r>
            <a:r>
              <a:rPr lang="en-US" sz="1800" dirty="0">
                <a:solidFill>
                  <a:srgbClr val="000000"/>
                </a:solidFill>
                <a:highlight>
                  <a:srgbClr val="FFFFFF"/>
                </a:highlight>
                <a:latin typeface="Cascadia Mono" panose="020B0609020000020004" pitchFamily="49" charset="0"/>
              </a:rPr>
              <a:t> customers = </a:t>
            </a:r>
            <a:r>
              <a:rPr lang="en-US" sz="1800" dirty="0" err="1">
                <a:solidFill>
                  <a:srgbClr val="000000"/>
                </a:solidFill>
                <a:highlight>
                  <a:srgbClr val="FFFFFF"/>
                </a:highlight>
                <a:latin typeface="Cascadia Mono" panose="020B0609020000020004" pitchFamily="49" charset="0"/>
              </a:rPr>
              <a:t>db.Customers.ToList</a:t>
            </a:r>
            <a:r>
              <a:rPr lang="en-US"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dataGridView1.DataSource = </a:t>
            </a:r>
            <a:r>
              <a:rPr lang="tr-TR" sz="1800" dirty="0" err="1">
                <a:solidFill>
                  <a:srgbClr val="000000"/>
                </a:solidFill>
                <a:highlight>
                  <a:srgbClr val="FFFFFF"/>
                </a:highlight>
                <a:latin typeface="Cascadia Mono" panose="020B0609020000020004" pitchFamily="49" charset="0"/>
              </a:rPr>
              <a:t>customers</a:t>
            </a:r>
            <a:r>
              <a:rPr lang="tr-TR" sz="1800" dirty="0">
                <a:solidFill>
                  <a:srgbClr val="000000"/>
                </a:solidFill>
                <a:highlight>
                  <a:srgbClr val="FFFFFF"/>
                </a:highlight>
                <a:latin typeface="Cascadia Mono" panose="020B0609020000020004" pitchFamily="49" charset="0"/>
              </a:rPr>
              <a:t>;</a:t>
            </a:r>
          </a:p>
          <a:p>
            <a:pPr marL="0" indent="0">
              <a:buNone/>
            </a:pPr>
            <a:endParaRPr lang="tr-TR" sz="1800" dirty="0">
              <a:solidFill>
                <a:srgbClr val="000000"/>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        </a:t>
            </a:r>
            <a:r>
              <a:rPr lang="tr-TR" sz="1800" dirty="0">
                <a:solidFill>
                  <a:srgbClr val="008000"/>
                </a:solidFill>
                <a:highlight>
                  <a:srgbClr val="FFFFFF"/>
                </a:highlight>
                <a:latin typeface="Cascadia Mono" panose="020B0609020000020004" pitchFamily="49" charset="0"/>
              </a:rPr>
              <a:t>// Sütun başlıklarını değiştirme</a:t>
            </a:r>
          </a:p>
          <a:p>
            <a:pPr marL="0" indent="0">
              <a:buNone/>
            </a:pPr>
            <a:r>
              <a:rPr lang="en-US" sz="1800" dirty="0">
                <a:solidFill>
                  <a:srgbClr val="000000"/>
                </a:solidFill>
                <a:highlight>
                  <a:srgbClr val="FFFFFF"/>
                </a:highlight>
                <a:latin typeface="Cascadia Mono" panose="020B0609020000020004" pitchFamily="49" charset="0"/>
              </a:rPr>
              <a:t>        dataGridView1.Columns[</a:t>
            </a:r>
            <a:r>
              <a:rPr lang="en-US" sz="1800" dirty="0">
                <a:solidFill>
                  <a:srgbClr val="A31515"/>
                </a:solidFill>
                <a:highlight>
                  <a:srgbClr val="FFFFFF"/>
                </a:highlight>
                <a:latin typeface="Cascadia Mono" panose="020B0609020000020004" pitchFamily="49" charset="0"/>
              </a:rPr>
              <a:t>"</a:t>
            </a:r>
            <a:r>
              <a:rPr lang="en-US" sz="1800" dirty="0" err="1">
                <a:solidFill>
                  <a:srgbClr val="A31515"/>
                </a:solidFill>
                <a:highlight>
                  <a:srgbClr val="FFFFFF"/>
                </a:highlight>
                <a:latin typeface="Cascadia Mono" panose="020B0609020000020004" pitchFamily="49" charset="0"/>
              </a:rPr>
              <a:t>Customer_Id</a:t>
            </a:r>
            <a:r>
              <a:rPr lang="en-US" sz="1800" dirty="0">
                <a:solidFill>
                  <a:srgbClr val="A31515"/>
                </a:solidFill>
                <a:highlight>
                  <a:srgbClr val="FFFFFF"/>
                </a:highlight>
                <a:latin typeface="Cascadia Mono" panose="020B0609020000020004" pitchFamily="49" charset="0"/>
              </a:rPr>
              <a:t>"</a:t>
            </a:r>
            <a:r>
              <a:rPr lang="en-US" sz="1800" dirty="0">
                <a:solidFill>
                  <a:srgbClr val="000000"/>
                </a:solidFill>
                <a:highlight>
                  <a:srgbClr val="FFFFFF"/>
                </a:highlight>
                <a:latin typeface="Cascadia Mono" panose="020B0609020000020004" pitchFamily="49" charset="0"/>
              </a:rPr>
              <a:t>].</a:t>
            </a:r>
            <a:r>
              <a:rPr lang="en-US" sz="1800" dirty="0" err="1">
                <a:solidFill>
                  <a:srgbClr val="000000"/>
                </a:solidFill>
                <a:highlight>
                  <a:srgbClr val="FFFFFF"/>
                </a:highlight>
                <a:latin typeface="Cascadia Mono" panose="020B0609020000020004" pitchFamily="49" charset="0"/>
              </a:rPr>
              <a:t>HeaderText</a:t>
            </a:r>
            <a:r>
              <a:rPr lang="en-US" sz="1800" dirty="0">
                <a:solidFill>
                  <a:srgbClr val="000000"/>
                </a:solidFill>
                <a:highlight>
                  <a:srgbClr val="FFFFFF"/>
                </a:highlight>
                <a:latin typeface="Cascadia Mono" panose="020B0609020000020004" pitchFamily="49" charset="0"/>
              </a:rPr>
              <a:t> = </a:t>
            </a:r>
            <a:r>
              <a:rPr lang="en-US" sz="1800" dirty="0">
                <a:solidFill>
                  <a:srgbClr val="A31515"/>
                </a:solidFill>
                <a:highlight>
                  <a:srgbClr val="FFFFFF"/>
                </a:highlight>
                <a:latin typeface="Cascadia Mono" panose="020B0609020000020004" pitchFamily="49" charset="0"/>
              </a:rPr>
              <a:t>"</a:t>
            </a:r>
            <a:r>
              <a:rPr lang="en-US" sz="1800" dirty="0" err="1">
                <a:solidFill>
                  <a:srgbClr val="A31515"/>
                </a:solidFill>
                <a:highlight>
                  <a:srgbClr val="FFFFFF"/>
                </a:highlight>
                <a:latin typeface="Cascadia Mono" panose="020B0609020000020004" pitchFamily="49" charset="0"/>
              </a:rPr>
              <a:t>Müşteri</a:t>
            </a:r>
            <a:r>
              <a:rPr lang="en-US" sz="1800" dirty="0">
                <a:solidFill>
                  <a:srgbClr val="A31515"/>
                </a:solidFill>
                <a:highlight>
                  <a:srgbClr val="FFFFFF"/>
                </a:highlight>
                <a:latin typeface="Cascadia Mono" panose="020B0609020000020004" pitchFamily="49" charset="0"/>
              </a:rPr>
              <a:t> ID"</a:t>
            </a:r>
            <a:r>
              <a:rPr lang="en-US" sz="1800" dirty="0">
                <a:solidFill>
                  <a:srgbClr val="000000"/>
                </a:solidFill>
                <a:highlight>
                  <a:srgbClr val="FFFFFF"/>
                </a:highlight>
                <a:latin typeface="Cascadia Mono" panose="020B0609020000020004" pitchFamily="49" charset="0"/>
              </a:rPr>
              <a:t>;</a:t>
            </a:r>
          </a:p>
          <a:p>
            <a:pPr marL="0" indent="0">
              <a:buNone/>
            </a:pPr>
            <a:r>
              <a:rPr lang="en-US" sz="1800" dirty="0">
                <a:solidFill>
                  <a:srgbClr val="000000"/>
                </a:solidFill>
                <a:highlight>
                  <a:srgbClr val="FFFFFF"/>
                </a:highlight>
                <a:latin typeface="Cascadia Mono" panose="020B0609020000020004" pitchFamily="49" charset="0"/>
              </a:rPr>
              <a:t>        dataGridView1.Columns[</a:t>
            </a:r>
            <a:r>
              <a:rPr lang="en-US" sz="1800" dirty="0">
                <a:solidFill>
                  <a:srgbClr val="A31515"/>
                </a:solidFill>
                <a:highlight>
                  <a:srgbClr val="FFFFFF"/>
                </a:highlight>
                <a:latin typeface="Cascadia Mono" panose="020B0609020000020004" pitchFamily="49" charset="0"/>
              </a:rPr>
              <a:t>"</a:t>
            </a:r>
            <a:r>
              <a:rPr lang="en-US" sz="1800" dirty="0" err="1">
                <a:solidFill>
                  <a:srgbClr val="A31515"/>
                </a:solidFill>
                <a:highlight>
                  <a:srgbClr val="FFFFFF"/>
                </a:highlight>
                <a:latin typeface="Cascadia Mono" panose="020B0609020000020004" pitchFamily="49" charset="0"/>
              </a:rPr>
              <a:t>Customer_Name</a:t>
            </a:r>
            <a:r>
              <a:rPr lang="en-US" sz="1800" dirty="0">
                <a:solidFill>
                  <a:srgbClr val="A31515"/>
                </a:solidFill>
                <a:highlight>
                  <a:srgbClr val="FFFFFF"/>
                </a:highlight>
                <a:latin typeface="Cascadia Mono" panose="020B0609020000020004" pitchFamily="49" charset="0"/>
              </a:rPr>
              <a:t>"</a:t>
            </a:r>
            <a:r>
              <a:rPr lang="en-US" sz="1800" dirty="0">
                <a:solidFill>
                  <a:srgbClr val="000000"/>
                </a:solidFill>
                <a:highlight>
                  <a:srgbClr val="FFFFFF"/>
                </a:highlight>
                <a:latin typeface="Cascadia Mono" panose="020B0609020000020004" pitchFamily="49" charset="0"/>
              </a:rPr>
              <a:t>].</a:t>
            </a:r>
            <a:r>
              <a:rPr lang="en-US" sz="1800" dirty="0" err="1">
                <a:solidFill>
                  <a:srgbClr val="000000"/>
                </a:solidFill>
                <a:highlight>
                  <a:srgbClr val="FFFFFF"/>
                </a:highlight>
                <a:latin typeface="Cascadia Mono" panose="020B0609020000020004" pitchFamily="49" charset="0"/>
              </a:rPr>
              <a:t>HeaderText</a:t>
            </a:r>
            <a:r>
              <a:rPr lang="en-US" sz="1800" dirty="0">
                <a:solidFill>
                  <a:srgbClr val="000000"/>
                </a:solidFill>
                <a:highlight>
                  <a:srgbClr val="FFFFFF"/>
                </a:highlight>
                <a:latin typeface="Cascadia Mono" panose="020B0609020000020004" pitchFamily="49" charset="0"/>
              </a:rPr>
              <a:t> = </a:t>
            </a:r>
            <a:r>
              <a:rPr lang="en-US" sz="1800" dirty="0">
                <a:solidFill>
                  <a:srgbClr val="A31515"/>
                </a:solidFill>
                <a:highlight>
                  <a:srgbClr val="FFFFFF"/>
                </a:highlight>
                <a:latin typeface="Cascadia Mono" panose="020B0609020000020004" pitchFamily="49" charset="0"/>
              </a:rPr>
              <a:t>"</a:t>
            </a:r>
            <a:r>
              <a:rPr lang="en-US" sz="1800" dirty="0" err="1">
                <a:solidFill>
                  <a:srgbClr val="A31515"/>
                </a:solidFill>
                <a:highlight>
                  <a:srgbClr val="FFFFFF"/>
                </a:highlight>
                <a:latin typeface="Cascadia Mono" panose="020B0609020000020004" pitchFamily="49" charset="0"/>
              </a:rPr>
              <a:t>Müşteri</a:t>
            </a:r>
            <a:r>
              <a:rPr lang="en-US" sz="1800" dirty="0">
                <a:solidFill>
                  <a:srgbClr val="A31515"/>
                </a:solidFill>
                <a:highlight>
                  <a:srgbClr val="FFFFFF"/>
                </a:highlight>
                <a:latin typeface="Cascadia Mono" panose="020B0609020000020004" pitchFamily="49" charset="0"/>
              </a:rPr>
              <a:t> </a:t>
            </a:r>
            <a:r>
              <a:rPr lang="en-US" sz="1800" dirty="0" err="1">
                <a:solidFill>
                  <a:srgbClr val="A31515"/>
                </a:solidFill>
                <a:highlight>
                  <a:srgbClr val="FFFFFF"/>
                </a:highlight>
                <a:latin typeface="Cascadia Mono" panose="020B0609020000020004" pitchFamily="49" charset="0"/>
              </a:rPr>
              <a:t>Adı</a:t>
            </a:r>
            <a:r>
              <a:rPr lang="en-US" sz="1800" dirty="0">
                <a:solidFill>
                  <a:srgbClr val="A31515"/>
                </a:solidFill>
                <a:highlight>
                  <a:srgbClr val="FFFFFF"/>
                </a:highlight>
                <a:latin typeface="Cascadia Mono" panose="020B0609020000020004" pitchFamily="49" charset="0"/>
              </a:rPr>
              <a:t>"</a:t>
            </a:r>
            <a:r>
              <a:rPr lang="en-US" sz="1800" dirty="0">
                <a:solidFill>
                  <a:srgbClr val="000000"/>
                </a:solidFill>
                <a:highlight>
                  <a:srgbClr val="FFFFFF"/>
                </a:highlight>
                <a:latin typeface="Cascadia Mono" panose="020B0609020000020004" pitchFamily="49" charset="0"/>
              </a:rPr>
              <a:t>;</a:t>
            </a:r>
          </a:p>
          <a:p>
            <a:pPr marL="0" indent="0">
              <a:buNone/>
            </a:pPr>
            <a:r>
              <a:rPr lang="en-US" sz="1800" dirty="0">
                <a:solidFill>
                  <a:srgbClr val="000000"/>
                </a:solidFill>
                <a:highlight>
                  <a:srgbClr val="FFFFFF"/>
                </a:highlight>
                <a:latin typeface="Cascadia Mono" panose="020B0609020000020004" pitchFamily="49" charset="0"/>
              </a:rPr>
              <a:t>        dataGridView1.Columns[</a:t>
            </a:r>
            <a:r>
              <a:rPr lang="en-US" sz="1800" dirty="0">
                <a:solidFill>
                  <a:srgbClr val="A31515"/>
                </a:solidFill>
                <a:highlight>
                  <a:srgbClr val="FFFFFF"/>
                </a:highlight>
                <a:latin typeface="Cascadia Mono" panose="020B0609020000020004" pitchFamily="49" charset="0"/>
              </a:rPr>
              <a:t>"</a:t>
            </a:r>
            <a:r>
              <a:rPr lang="en-US" sz="1800" dirty="0" err="1">
                <a:solidFill>
                  <a:srgbClr val="A31515"/>
                </a:solidFill>
                <a:highlight>
                  <a:srgbClr val="FFFFFF"/>
                </a:highlight>
                <a:latin typeface="Cascadia Mono" panose="020B0609020000020004" pitchFamily="49" charset="0"/>
              </a:rPr>
              <a:t>Customer_Surname</a:t>
            </a:r>
            <a:r>
              <a:rPr lang="en-US" sz="1800" dirty="0">
                <a:solidFill>
                  <a:srgbClr val="A31515"/>
                </a:solidFill>
                <a:highlight>
                  <a:srgbClr val="FFFFFF"/>
                </a:highlight>
                <a:latin typeface="Cascadia Mono" panose="020B0609020000020004" pitchFamily="49" charset="0"/>
              </a:rPr>
              <a:t>"</a:t>
            </a:r>
            <a:r>
              <a:rPr lang="en-US" sz="1800" dirty="0">
                <a:solidFill>
                  <a:srgbClr val="000000"/>
                </a:solidFill>
                <a:highlight>
                  <a:srgbClr val="FFFFFF"/>
                </a:highlight>
                <a:latin typeface="Cascadia Mono" panose="020B0609020000020004" pitchFamily="49" charset="0"/>
              </a:rPr>
              <a:t>].</a:t>
            </a:r>
            <a:r>
              <a:rPr lang="en-US" sz="1800" dirty="0" err="1">
                <a:solidFill>
                  <a:srgbClr val="000000"/>
                </a:solidFill>
                <a:highlight>
                  <a:srgbClr val="FFFFFF"/>
                </a:highlight>
                <a:latin typeface="Cascadia Mono" panose="020B0609020000020004" pitchFamily="49" charset="0"/>
              </a:rPr>
              <a:t>HeaderText</a:t>
            </a:r>
            <a:r>
              <a:rPr lang="en-US" sz="1800" dirty="0">
                <a:solidFill>
                  <a:srgbClr val="000000"/>
                </a:solidFill>
                <a:highlight>
                  <a:srgbClr val="FFFFFF"/>
                </a:highlight>
                <a:latin typeface="Cascadia Mono" panose="020B0609020000020004" pitchFamily="49" charset="0"/>
              </a:rPr>
              <a:t> = </a:t>
            </a:r>
            <a:r>
              <a:rPr lang="en-US" sz="1800" dirty="0">
                <a:solidFill>
                  <a:srgbClr val="A31515"/>
                </a:solidFill>
                <a:highlight>
                  <a:srgbClr val="FFFFFF"/>
                </a:highlight>
                <a:latin typeface="Cascadia Mono" panose="020B0609020000020004" pitchFamily="49" charset="0"/>
              </a:rPr>
              <a:t>"</a:t>
            </a:r>
            <a:r>
              <a:rPr lang="en-US" sz="1800" dirty="0" err="1">
                <a:solidFill>
                  <a:srgbClr val="A31515"/>
                </a:solidFill>
                <a:highlight>
                  <a:srgbClr val="FFFFFF"/>
                </a:highlight>
                <a:latin typeface="Cascadia Mono" panose="020B0609020000020004" pitchFamily="49" charset="0"/>
              </a:rPr>
              <a:t>Müşteri</a:t>
            </a:r>
            <a:r>
              <a:rPr lang="en-US" sz="1800" dirty="0">
                <a:solidFill>
                  <a:srgbClr val="A31515"/>
                </a:solidFill>
                <a:highlight>
                  <a:srgbClr val="FFFFFF"/>
                </a:highlight>
                <a:latin typeface="Cascadia Mono" panose="020B0609020000020004" pitchFamily="49" charset="0"/>
              </a:rPr>
              <a:t> </a:t>
            </a:r>
            <a:r>
              <a:rPr lang="en-US" sz="1800" dirty="0" err="1">
                <a:solidFill>
                  <a:srgbClr val="A31515"/>
                </a:solidFill>
                <a:highlight>
                  <a:srgbClr val="FFFFFF"/>
                </a:highlight>
                <a:latin typeface="Cascadia Mono" panose="020B0609020000020004" pitchFamily="49" charset="0"/>
              </a:rPr>
              <a:t>Soyadı</a:t>
            </a:r>
            <a:r>
              <a:rPr lang="en-US" sz="1800" dirty="0">
                <a:solidFill>
                  <a:srgbClr val="A31515"/>
                </a:solidFill>
                <a:highlight>
                  <a:srgbClr val="FFFFFF"/>
                </a:highlight>
                <a:latin typeface="Cascadia Mono" panose="020B0609020000020004" pitchFamily="49" charset="0"/>
              </a:rPr>
              <a:t>"</a:t>
            </a:r>
            <a:r>
              <a:rPr lang="en-US" sz="1800" dirty="0">
                <a:solidFill>
                  <a:srgbClr val="000000"/>
                </a:solidFill>
                <a:highlight>
                  <a:srgbClr val="FFFFFF"/>
                </a:highlight>
                <a:latin typeface="Cascadia Mono" panose="020B0609020000020004" pitchFamily="49" charset="0"/>
              </a:rPr>
              <a:t>;</a:t>
            </a:r>
          </a:p>
          <a:p>
            <a:pPr marL="0" indent="0">
              <a:buNone/>
            </a:pPr>
            <a:r>
              <a:rPr lang="en-US" sz="1800" dirty="0">
                <a:solidFill>
                  <a:srgbClr val="000000"/>
                </a:solidFill>
                <a:highlight>
                  <a:srgbClr val="FFFFFF"/>
                </a:highlight>
                <a:latin typeface="Cascadia Mono" panose="020B0609020000020004" pitchFamily="49" charset="0"/>
              </a:rPr>
              <a:t>        dataGridView1.Columns[</a:t>
            </a:r>
            <a:r>
              <a:rPr lang="en-US" sz="1800" dirty="0">
                <a:solidFill>
                  <a:srgbClr val="A31515"/>
                </a:solidFill>
                <a:highlight>
                  <a:srgbClr val="FFFFFF"/>
                </a:highlight>
                <a:latin typeface="Cascadia Mono" panose="020B0609020000020004" pitchFamily="49" charset="0"/>
              </a:rPr>
              <a:t>"Customer_</a:t>
            </a:r>
            <a:r>
              <a:rPr lang="tr-TR" sz="1800" dirty="0">
                <a:solidFill>
                  <a:srgbClr val="A31515"/>
                </a:solidFill>
                <a:highlight>
                  <a:srgbClr val="FFFFFF"/>
                </a:highlight>
                <a:latin typeface="Cascadia Mono" panose="020B0609020000020004" pitchFamily="49" charset="0"/>
              </a:rPr>
              <a:t>E</a:t>
            </a:r>
            <a:r>
              <a:rPr lang="en-US" sz="1800" dirty="0">
                <a:solidFill>
                  <a:srgbClr val="A31515"/>
                </a:solidFill>
                <a:highlight>
                  <a:srgbClr val="FFFFFF"/>
                </a:highlight>
                <a:latin typeface="Cascadia Mono" panose="020B0609020000020004" pitchFamily="49" charset="0"/>
              </a:rPr>
              <a:t>mail"</a:t>
            </a:r>
            <a:r>
              <a:rPr lang="en-US" sz="1800" dirty="0">
                <a:solidFill>
                  <a:srgbClr val="000000"/>
                </a:solidFill>
                <a:highlight>
                  <a:srgbClr val="FFFFFF"/>
                </a:highlight>
                <a:latin typeface="Cascadia Mono" panose="020B0609020000020004" pitchFamily="49" charset="0"/>
              </a:rPr>
              <a:t>].</a:t>
            </a:r>
            <a:r>
              <a:rPr lang="en-US" sz="1800" dirty="0" err="1">
                <a:solidFill>
                  <a:srgbClr val="000000"/>
                </a:solidFill>
                <a:highlight>
                  <a:srgbClr val="FFFFFF"/>
                </a:highlight>
                <a:latin typeface="Cascadia Mono" panose="020B0609020000020004" pitchFamily="49" charset="0"/>
              </a:rPr>
              <a:t>HeaderText</a:t>
            </a:r>
            <a:r>
              <a:rPr lang="en-US" sz="1800" dirty="0">
                <a:solidFill>
                  <a:srgbClr val="000000"/>
                </a:solidFill>
                <a:highlight>
                  <a:srgbClr val="FFFFFF"/>
                </a:highlight>
                <a:latin typeface="Cascadia Mono" panose="020B0609020000020004" pitchFamily="49" charset="0"/>
              </a:rPr>
              <a:t> = </a:t>
            </a:r>
            <a:r>
              <a:rPr lang="en-US" sz="1800" dirty="0">
                <a:solidFill>
                  <a:srgbClr val="A31515"/>
                </a:solidFill>
                <a:highlight>
                  <a:srgbClr val="FFFFFF"/>
                </a:highlight>
                <a:latin typeface="Cascadia Mono" panose="020B0609020000020004" pitchFamily="49" charset="0"/>
              </a:rPr>
              <a:t>"E-Posta"</a:t>
            </a:r>
            <a:r>
              <a:rPr lang="en-US" sz="1800" dirty="0">
                <a:solidFill>
                  <a:srgbClr val="000000"/>
                </a:solidFill>
                <a:highlight>
                  <a:srgbClr val="FFFFFF"/>
                </a:highlight>
                <a:latin typeface="Cascadia Mono" panose="020B0609020000020004" pitchFamily="49" charset="0"/>
              </a:rPr>
              <a:t>;</a:t>
            </a:r>
          </a:p>
          <a:p>
            <a:pPr marL="0" indent="0">
              <a:buNone/>
            </a:pPr>
            <a:r>
              <a:rPr lang="en-US" sz="1800" dirty="0">
                <a:solidFill>
                  <a:srgbClr val="000000"/>
                </a:solidFill>
                <a:highlight>
                  <a:srgbClr val="FFFFFF"/>
                </a:highlight>
                <a:latin typeface="Cascadia Mono" panose="020B0609020000020004" pitchFamily="49" charset="0"/>
              </a:rPr>
              <a:t>        dataGridView1.Columns[</a:t>
            </a:r>
            <a:r>
              <a:rPr lang="en-US" sz="1800" dirty="0">
                <a:solidFill>
                  <a:srgbClr val="A31515"/>
                </a:solidFill>
                <a:highlight>
                  <a:srgbClr val="FFFFFF"/>
                </a:highlight>
                <a:latin typeface="Cascadia Mono" panose="020B0609020000020004" pitchFamily="49" charset="0"/>
              </a:rPr>
              <a:t>"Customer_</a:t>
            </a:r>
            <a:r>
              <a:rPr lang="tr-TR" sz="1800" dirty="0">
                <a:solidFill>
                  <a:srgbClr val="A31515"/>
                </a:solidFill>
                <a:highlight>
                  <a:srgbClr val="FFFFFF"/>
                </a:highlight>
                <a:latin typeface="Cascadia Mono" panose="020B0609020000020004" pitchFamily="49" charset="0"/>
              </a:rPr>
              <a:t>T</a:t>
            </a:r>
            <a:r>
              <a:rPr lang="en-US" sz="1800" dirty="0" err="1">
                <a:solidFill>
                  <a:srgbClr val="A31515"/>
                </a:solidFill>
                <a:highlight>
                  <a:srgbClr val="FFFFFF"/>
                </a:highlight>
                <a:latin typeface="Cascadia Mono" panose="020B0609020000020004" pitchFamily="49" charset="0"/>
              </a:rPr>
              <a:t>elephone</a:t>
            </a:r>
            <a:r>
              <a:rPr lang="en-US" sz="1800" dirty="0">
                <a:solidFill>
                  <a:srgbClr val="A31515"/>
                </a:solidFill>
                <a:highlight>
                  <a:srgbClr val="FFFFFF"/>
                </a:highlight>
                <a:latin typeface="Cascadia Mono" panose="020B0609020000020004" pitchFamily="49" charset="0"/>
              </a:rPr>
              <a:t>"</a:t>
            </a:r>
            <a:r>
              <a:rPr lang="en-US" sz="1800" dirty="0">
                <a:solidFill>
                  <a:srgbClr val="000000"/>
                </a:solidFill>
                <a:highlight>
                  <a:srgbClr val="FFFFFF"/>
                </a:highlight>
                <a:latin typeface="Cascadia Mono" panose="020B0609020000020004" pitchFamily="49" charset="0"/>
              </a:rPr>
              <a:t>].</a:t>
            </a:r>
            <a:r>
              <a:rPr lang="en-US" sz="1800" dirty="0" err="1">
                <a:solidFill>
                  <a:srgbClr val="000000"/>
                </a:solidFill>
                <a:highlight>
                  <a:srgbClr val="FFFFFF"/>
                </a:highlight>
                <a:latin typeface="Cascadia Mono" panose="020B0609020000020004" pitchFamily="49" charset="0"/>
              </a:rPr>
              <a:t>HeaderText</a:t>
            </a:r>
            <a:r>
              <a:rPr lang="en-US" sz="1800" dirty="0">
                <a:solidFill>
                  <a:srgbClr val="000000"/>
                </a:solidFill>
                <a:highlight>
                  <a:srgbClr val="FFFFFF"/>
                </a:highlight>
                <a:latin typeface="Cascadia Mono" panose="020B0609020000020004" pitchFamily="49" charset="0"/>
              </a:rPr>
              <a:t> = </a:t>
            </a:r>
            <a:r>
              <a:rPr lang="en-US" sz="1800" dirty="0">
                <a:solidFill>
                  <a:srgbClr val="A31515"/>
                </a:solidFill>
                <a:highlight>
                  <a:srgbClr val="FFFFFF"/>
                </a:highlight>
                <a:latin typeface="Cascadia Mono" panose="020B0609020000020004" pitchFamily="49" charset="0"/>
              </a:rPr>
              <a:t>"</a:t>
            </a:r>
            <a:r>
              <a:rPr lang="en-US" sz="1800" dirty="0" err="1">
                <a:solidFill>
                  <a:srgbClr val="A31515"/>
                </a:solidFill>
                <a:highlight>
                  <a:srgbClr val="FFFFFF"/>
                </a:highlight>
                <a:latin typeface="Cascadia Mono" panose="020B0609020000020004" pitchFamily="49" charset="0"/>
              </a:rPr>
              <a:t>Telefon</a:t>
            </a:r>
            <a:r>
              <a:rPr lang="en-US" sz="1800" dirty="0">
                <a:solidFill>
                  <a:srgbClr val="A31515"/>
                </a:solidFill>
                <a:highlight>
                  <a:srgbClr val="FFFFFF"/>
                </a:highlight>
                <a:latin typeface="Cascadia Mono" panose="020B0609020000020004" pitchFamily="49" charset="0"/>
              </a:rPr>
              <a:t>"</a:t>
            </a:r>
            <a:r>
              <a:rPr lang="en-US"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0000FF"/>
                </a:solidFill>
                <a:highlight>
                  <a:srgbClr val="FFFFFF"/>
                </a:highlight>
                <a:latin typeface="Cascadia Mono" panose="020B0609020000020004" pitchFamily="49" charset="0"/>
              </a:rPr>
              <a:t>catch</a:t>
            </a: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Exception</a:t>
            </a: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ex</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p>
          <a:p>
            <a:pPr marL="0" indent="0">
              <a:buNone/>
            </a:pPr>
            <a:endParaRPr lang="tr-TR" sz="1800" dirty="0">
              <a:solidFill>
                <a:srgbClr val="000000"/>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MessageBox</a:t>
            </a:r>
            <a:r>
              <a:rPr lang="tr-TR" sz="1800" dirty="0" err="1">
                <a:solidFill>
                  <a:srgbClr val="000000"/>
                </a:solidFill>
                <a:highlight>
                  <a:srgbClr val="FFFFFF"/>
                </a:highlight>
                <a:latin typeface="Cascadia Mono" panose="020B0609020000020004" pitchFamily="49" charset="0"/>
              </a:rPr>
              <a:t>.Show</a:t>
            </a:r>
            <a:r>
              <a:rPr lang="tr-TR" sz="1800" dirty="0">
                <a:solidFill>
                  <a:srgbClr val="000000"/>
                </a:solidFill>
                <a:highlight>
                  <a:srgbClr val="FFFFFF"/>
                </a:highlight>
                <a:latin typeface="Cascadia Mono" panose="020B0609020000020004" pitchFamily="49" charset="0"/>
              </a:rPr>
              <a:t>(</a:t>
            </a:r>
            <a:r>
              <a:rPr lang="tr-TR" sz="1800" dirty="0">
                <a:solidFill>
                  <a:srgbClr val="A31515"/>
                </a:solidFill>
                <a:highlight>
                  <a:srgbClr val="FFFFFF"/>
                </a:highlight>
                <a:latin typeface="Cascadia Mono" panose="020B0609020000020004" pitchFamily="49" charset="0"/>
              </a:rPr>
              <a:t>$"Hata = </a:t>
            </a:r>
            <a:r>
              <a:rPr lang="tr-TR" sz="1800" dirty="0">
                <a:solidFill>
                  <a:srgbClr val="000000"/>
                </a:solidFill>
                <a:highlight>
                  <a:srgbClr val="FFFFFF"/>
                </a:highlight>
                <a:latin typeface="Cascadia Mono" panose="020B0609020000020004" pitchFamily="49" charset="0"/>
              </a:rPr>
              <a:t>{</a:t>
            </a:r>
            <a:r>
              <a:rPr lang="tr-TR" sz="1800" dirty="0" err="1">
                <a:solidFill>
                  <a:srgbClr val="000000"/>
                </a:solidFill>
                <a:highlight>
                  <a:srgbClr val="FFFFFF"/>
                </a:highlight>
                <a:latin typeface="Cascadia Mono" panose="020B0609020000020004" pitchFamily="49" charset="0"/>
              </a:rPr>
              <a:t>ex.Message</a:t>
            </a:r>
            <a:r>
              <a:rPr lang="tr-TR" sz="1800" dirty="0">
                <a:solidFill>
                  <a:srgbClr val="000000"/>
                </a:solidFill>
                <a:highlight>
                  <a:srgbClr val="FFFFFF"/>
                </a:highlight>
                <a:latin typeface="Cascadia Mono" panose="020B0609020000020004" pitchFamily="49" charset="0"/>
              </a:rPr>
              <a:t>}</a:t>
            </a:r>
            <a:r>
              <a:rPr lang="tr-TR" sz="1800" dirty="0">
                <a:solidFill>
                  <a:srgbClr val="A31515"/>
                </a:solidFill>
                <a:highlight>
                  <a:srgbClr val="FFFFFF"/>
                </a:highlight>
                <a:latin typeface="Cascadia Mono" panose="020B0609020000020004" pitchFamily="49" charset="0"/>
              </a:rPr>
              <a:t>"</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p>
          <a:p>
            <a:pPr marL="0" indent="0">
              <a:buNone/>
            </a:pPr>
            <a:r>
              <a:rPr lang="tr-TR" sz="1800" dirty="0">
                <a:solidFill>
                  <a:srgbClr val="000000"/>
                </a:solidFill>
                <a:highlight>
                  <a:srgbClr val="FFFFFF"/>
                </a:highlight>
                <a:latin typeface="Cascadia Mono" panose="020B0609020000020004" pitchFamily="49" charset="0"/>
              </a:rPr>
              <a:t>}</a:t>
            </a:r>
            <a:endParaRPr lang="tr-TR" sz="1800" dirty="0"/>
          </a:p>
        </p:txBody>
      </p:sp>
    </p:spTree>
    <p:extLst>
      <p:ext uri="{BB962C8B-B14F-4D97-AF65-F5344CB8AC3E}">
        <p14:creationId xmlns:p14="http://schemas.microsoft.com/office/powerpoint/2010/main" val="421135791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53F4B-9DD7-FCE9-2D7B-F906F9144247}"/>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59FE4AA8-7C84-BD90-E3E4-67930B74B5C2}"/>
              </a:ext>
            </a:extLst>
          </p:cNvPr>
          <p:cNvSpPr>
            <a:spLocks noGrp="1"/>
          </p:cNvSpPr>
          <p:nvPr>
            <p:ph type="title"/>
          </p:nvPr>
        </p:nvSpPr>
        <p:spPr>
          <a:xfrm>
            <a:off x="838200" y="248495"/>
            <a:ext cx="10515600" cy="432542"/>
          </a:xfrm>
        </p:spPr>
        <p:txBody>
          <a:bodyPr>
            <a:noAutofit/>
          </a:bodyPr>
          <a:lstStyle/>
          <a:p>
            <a:pPr algn="ctr"/>
            <a:r>
              <a:rPr lang="tr-TR" sz="2800" dirty="0"/>
              <a:t>DÜZELTMELER (SÜTUN İSİMLERİ)</a:t>
            </a:r>
          </a:p>
        </p:txBody>
      </p:sp>
      <p:pic>
        <p:nvPicPr>
          <p:cNvPr id="5" name="İçerik Yer Tutucusu 4" descr="metin, ekran görüntüsü, yazılım, multimedya yazılımı içeren bir resim&#10;&#10;Yapay zeka tarafından oluşturulan içerik yanlış olabilir.">
            <a:extLst>
              <a:ext uri="{FF2B5EF4-FFF2-40B4-BE49-F238E27FC236}">
                <a16:creationId xmlns:a16="http://schemas.microsoft.com/office/drawing/2014/main" id="{D13FE0E0-0649-FB44-24DD-D3B19D08F62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21186" y="1148177"/>
            <a:ext cx="9349628" cy="5200958"/>
          </a:xfrm>
        </p:spPr>
      </p:pic>
    </p:spTree>
    <p:extLst>
      <p:ext uri="{BB962C8B-B14F-4D97-AF65-F5344CB8AC3E}">
        <p14:creationId xmlns:p14="http://schemas.microsoft.com/office/powerpoint/2010/main" val="52782071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8E9DC-B35A-4E2D-8868-2814C98DD463}"/>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472CA24F-5944-8EEC-E1D7-9E43A103DAD6}"/>
              </a:ext>
            </a:extLst>
          </p:cNvPr>
          <p:cNvSpPr>
            <a:spLocks noGrp="1"/>
          </p:cNvSpPr>
          <p:nvPr>
            <p:ph type="title"/>
          </p:nvPr>
        </p:nvSpPr>
        <p:spPr>
          <a:xfrm>
            <a:off x="838200" y="248495"/>
            <a:ext cx="10515600" cy="432542"/>
          </a:xfrm>
        </p:spPr>
        <p:txBody>
          <a:bodyPr>
            <a:noAutofit/>
          </a:bodyPr>
          <a:lstStyle/>
          <a:p>
            <a:pPr algn="ctr"/>
            <a:r>
              <a:rPr lang="tr-TR" sz="2800" dirty="0"/>
              <a:t>DÜZELTMELER (SÜTUN İSİMLERİ)</a:t>
            </a:r>
          </a:p>
        </p:txBody>
      </p:sp>
      <p:sp>
        <p:nvSpPr>
          <p:cNvPr id="3" name="İçerik Yer Tutucusu 2">
            <a:extLst>
              <a:ext uri="{FF2B5EF4-FFF2-40B4-BE49-F238E27FC236}">
                <a16:creationId xmlns:a16="http://schemas.microsoft.com/office/drawing/2014/main" id="{C56B953B-0F48-345F-BA98-8E9DCAF32A44}"/>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Şimdi tekrar kodumuzu çalıştırıyoruz. Görüldüğü gibi sütun isimleri istediğimiz-bizim belirlediğimiz isimlerle geldi.</a:t>
            </a:r>
          </a:p>
        </p:txBody>
      </p:sp>
      <p:pic>
        <p:nvPicPr>
          <p:cNvPr id="7" name="Resim 6" descr="metin, yazılım, sayı, numara, bilgisayar simgesi içeren bir resim&#10;&#10;Yapay zeka tarafından oluşturulan içerik yanlış olabilir.">
            <a:extLst>
              <a:ext uri="{FF2B5EF4-FFF2-40B4-BE49-F238E27FC236}">
                <a16:creationId xmlns:a16="http://schemas.microsoft.com/office/drawing/2014/main" id="{4A049E7E-5C6E-1B22-DD1C-F51365BA8E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2054" y="1577179"/>
            <a:ext cx="10287892" cy="3703641"/>
          </a:xfrm>
          <a:prstGeom prst="rect">
            <a:avLst/>
          </a:prstGeom>
        </p:spPr>
      </p:pic>
    </p:spTree>
    <p:extLst>
      <p:ext uri="{BB962C8B-B14F-4D97-AF65-F5344CB8AC3E}">
        <p14:creationId xmlns:p14="http://schemas.microsoft.com/office/powerpoint/2010/main" val="172659456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413ED-1BAA-1DC3-4B49-C42B22E013A2}"/>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6717DA4A-CFB1-39AB-0961-0D3B7983E2E2}"/>
              </a:ext>
            </a:extLst>
          </p:cNvPr>
          <p:cNvSpPr>
            <a:spLocks noGrp="1"/>
          </p:cNvSpPr>
          <p:nvPr>
            <p:ph type="title"/>
          </p:nvPr>
        </p:nvSpPr>
        <p:spPr>
          <a:xfrm>
            <a:off x="838200" y="248495"/>
            <a:ext cx="10515600" cy="432542"/>
          </a:xfrm>
        </p:spPr>
        <p:txBody>
          <a:bodyPr>
            <a:noAutofit/>
          </a:bodyPr>
          <a:lstStyle/>
          <a:p>
            <a:pPr algn="ctr"/>
            <a:r>
              <a:rPr lang="tr-TR" sz="2800" dirty="0"/>
              <a:t>DÜZELTMELER (SÜTUN GİZLEME)</a:t>
            </a:r>
          </a:p>
        </p:txBody>
      </p:sp>
      <p:sp>
        <p:nvSpPr>
          <p:cNvPr id="3" name="İçerik Yer Tutucusu 2">
            <a:extLst>
              <a:ext uri="{FF2B5EF4-FFF2-40B4-BE49-F238E27FC236}">
                <a16:creationId xmlns:a16="http://schemas.microsoft.com/office/drawing/2014/main" id="{5D5FDA8C-605D-9382-53E9-93B84D201AEC}"/>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Bir sorunu hallettik. Şimdi de, sıra geldi başka bir sorunu halletmeye. Table_Customer tablosunun ilk sütunu ve primary key olan Customer_Id sütununun adını </a:t>
            </a:r>
            <a:r>
              <a:rPr lang="tr-TR" sz="1800" dirty="0" err="1"/>
              <a:t>Müşteri_ID</a:t>
            </a:r>
            <a:r>
              <a:rPr lang="tr-TR" sz="1800" dirty="0"/>
              <a:t> olarak değiştirdik ama bu sütunu kullanıcının görmesine gerek yok. Bu hem gereksiz hem de güvenlik sorunu içeren bir durumdur.</a:t>
            </a:r>
          </a:p>
          <a:p>
            <a:pPr marL="0" indent="0" algn="just">
              <a:lnSpc>
                <a:spcPct val="100000"/>
              </a:lnSpc>
              <a:spcBef>
                <a:spcPts val="600"/>
              </a:spcBef>
              <a:spcAft>
                <a:spcPts val="600"/>
              </a:spcAft>
              <a:buNone/>
            </a:pPr>
            <a:r>
              <a:rPr lang="tr-TR" sz="1800" dirty="0"/>
              <a:t>C# Windows </a:t>
            </a:r>
            <a:r>
              <a:rPr lang="tr-TR" sz="1800" dirty="0" err="1"/>
              <a:t>form’da</a:t>
            </a:r>
            <a:r>
              <a:rPr lang="tr-TR" sz="1800" dirty="0"/>
              <a:t> </a:t>
            </a:r>
            <a:r>
              <a:rPr lang="tr-TR" sz="1800" dirty="0" err="1"/>
              <a:t>datagridview’daki</a:t>
            </a:r>
            <a:r>
              <a:rPr lang="tr-TR" sz="1800" dirty="0"/>
              <a:t> bir sütunun görünür olup olmaması, o sütunun </a:t>
            </a:r>
            <a:r>
              <a:rPr lang="tr-TR" sz="1800" dirty="0" err="1"/>
              <a:t>Visible</a:t>
            </a:r>
            <a:r>
              <a:rPr lang="tr-TR" sz="1800" dirty="0"/>
              <a:t> özelliği tarafından belirlenir. Bu özellik </a:t>
            </a:r>
            <a:r>
              <a:rPr lang="tr-TR" sz="1800" dirty="0" err="1"/>
              <a:t>true</a:t>
            </a:r>
            <a:r>
              <a:rPr lang="tr-TR" sz="1800" dirty="0"/>
              <a:t> ve </a:t>
            </a:r>
            <a:r>
              <a:rPr lang="tr-TR" sz="1800" dirty="0" err="1"/>
              <a:t>false</a:t>
            </a:r>
            <a:r>
              <a:rPr lang="tr-TR" sz="1800" dirty="0"/>
              <a:t> olmak üzere iki değer alır.</a:t>
            </a:r>
          </a:p>
          <a:p>
            <a:pPr marL="0" indent="0" algn="just">
              <a:lnSpc>
                <a:spcPct val="100000"/>
              </a:lnSpc>
              <a:spcBef>
                <a:spcPts val="600"/>
              </a:spcBef>
              <a:spcAft>
                <a:spcPts val="600"/>
              </a:spcAft>
              <a:buNone/>
            </a:pPr>
            <a:r>
              <a:rPr lang="tr-TR" sz="1800" dirty="0"/>
              <a:t>Şimdi biz bu özelliği </a:t>
            </a:r>
            <a:r>
              <a:rPr lang="tr-TR" sz="1800" dirty="0" err="1"/>
              <a:t>false</a:t>
            </a:r>
            <a:r>
              <a:rPr lang="tr-TR" sz="1800" dirty="0"/>
              <a:t> yaparak gizlenmesini sağlayacağız.</a:t>
            </a:r>
          </a:p>
          <a:p>
            <a:pPr marL="0" indent="0" algn="just">
              <a:lnSpc>
                <a:spcPct val="100000"/>
              </a:lnSpc>
              <a:spcBef>
                <a:spcPts val="600"/>
              </a:spcBef>
              <a:spcAft>
                <a:spcPts val="600"/>
              </a:spcAft>
              <a:buNone/>
            </a:pPr>
            <a:r>
              <a:rPr lang="tr-TR" sz="1800" dirty="0"/>
              <a:t>Bunun için mevcut kodlarımıza aşağıdaki kodu ekliyoruz:</a:t>
            </a:r>
          </a:p>
          <a:p>
            <a:pPr marL="0" indent="0" algn="just">
              <a:lnSpc>
                <a:spcPct val="100000"/>
              </a:lnSpc>
              <a:spcBef>
                <a:spcPts val="600"/>
              </a:spcBef>
              <a:spcAft>
                <a:spcPts val="600"/>
              </a:spcAft>
              <a:buNone/>
            </a:pPr>
            <a:r>
              <a:rPr lang="en-US" sz="1800" dirty="0"/>
              <a:t>dataGridView1.Columns["</a:t>
            </a:r>
            <a:r>
              <a:rPr lang="en-US" sz="1800" dirty="0" err="1"/>
              <a:t>Customer_Id</a:t>
            </a:r>
            <a:r>
              <a:rPr lang="en-US" sz="1800" dirty="0"/>
              <a:t>"].Visible = false;</a:t>
            </a:r>
            <a:endParaRPr lang="tr-TR" sz="1800" dirty="0"/>
          </a:p>
        </p:txBody>
      </p:sp>
    </p:spTree>
    <p:extLst>
      <p:ext uri="{BB962C8B-B14F-4D97-AF65-F5344CB8AC3E}">
        <p14:creationId xmlns:p14="http://schemas.microsoft.com/office/powerpoint/2010/main" val="270556114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7DC46-1D1A-15C8-D04C-E9C3FE86AA0E}"/>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CAE977EB-D47F-2DDD-EE13-29E64D9A22C5}"/>
              </a:ext>
            </a:extLst>
          </p:cNvPr>
          <p:cNvSpPr>
            <a:spLocks noGrp="1"/>
          </p:cNvSpPr>
          <p:nvPr>
            <p:ph type="title"/>
          </p:nvPr>
        </p:nvSpPr>
        <p:spPr>
          <a:xfrm>
            <a:off x="838200" y="248495"/>
            <a:ext cx="10515600" cy="432542"/>
          </a:xfrm>
        </p:spPr>
        <p:txBody>
          <a:bodyPr>
            <a:noAutofit/>
          </a:bodyPr>
          <a:lstStyle/>
          <a:p>
            <a:pPr algn="ctr"/>
            <a:r>
              <a:rPr lang="tr-TR" sz="2800" dirty="0"/>
              <a:t>DÜZELTMELER (SÜTUN GİZLEME)</a:t>
            </a:r>
          </a:p>
        </p:txBody>
      </p:sp>
      <p:pic>
        <p:nvPicPr>
          <p:cNvPr id="5" name="İçerik Yer Tutucusu 4" descr="metin, ekran görüntüsü, yazılım, yazı tipi içeren bir resim&#10;&#10;Yapay zeka tarafından oluşturulan içerik yanlış olabilir.">
            <a:extLst>
              <a:ext uri="{FF2B5EF4-FFF2-40B4-BE49-F238E27FC236}">
                <a16:creationId xmlns:a16="http://schemas.microsoft.com/office/drawing/2014/main" id="{3EBD0802-7FA3-6386-91C9-0DA8D4F0C52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12278" y="867109"/>
            <a:ext cx="9377641" cy="5865505"/>
          </a:xfrm>
        </p:spPr>
      </p:pic>
    </p:spTree>
    <p:extLst>
      <p:ext uri="{BB962C8B-B14F-4D97-AF65-F5344CB8AC3E}">
        <p14:creationId xmlns:p14="http://schemas.microsoft.com/office/powerpoint/2010/main" val="293848801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A0F547-E7D8-4E4B-7B9A-49516DC759DD}"/>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E26793D3-8184-649C-A9A9-79409C1E23EB}"/>
              </a:ext>
            </a:extLst>
          </p:cNvPr>
          <p:cNvSpPr>
            <a:spLocks noGrp="1"/>
          </p:cNvSpPr>
          <p:nvPr>
            <p:ph type="title"/>
          </p:nvPr>
        </p:nvSpPr>
        <p:spPr>
          <a:xfrm>
            <a:off x="838200" y="248495"/>
            <a:ext cx="10515600" cy="432542"/>
          </a:xfrm>
        </p:spPr>
        <p:txBody>
          <a:bodyPr>
            <a:noAutofit/>
          </a:bodyPr>
          <a:lstStyle/>
          <a:p>
            <a:pPr algn="ctr"/>
            <a:r>
              <a:rPr lang="tr-TR" sz="2800" dirty="0"/>
              <a:t>DÜZELTMELER (SÜTUN GİZLEME)</a:t>
            </a:r>
          </a:p>
        </p:txBody>
      </p:sp>
      <p:sp>
        <p:nvSpPr>
          <p:cNvPr id="3" name="İçerik Yer Tutucusu 2">
            <a:extLst>
              <a:ext uri="{FF2B5EF4-FFF2-40B4-BE49-F238E27FC236}">
                <a16:creationId xmlns:a16="http://schemas.microsoft.com/office/drawing/2014/main" id="{D9A85D52-E6A5-EA49-287C-31D19CDC6975}"/>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Şimdi, programımızı tekrar çalıştırıyoruz. Görüldüğü gibi Customer_Id (MÜŞTERİ_ID) sütunu artık görünmüyor.</a:t>
            </a:r>
          </a:p>
        </p:txBody>
      </p:sp>
      <p:pic>
        <p:nvPicPr>
          <p:cNvPr id="5" name="Resim 4" descr="metin, yazılım, multimedya yazılımı, bilgisayar simgesi içeren bir resim&#10;&#10;Yapay zeka tarafından oluşturulan içerik yanlış olabilir.">
            <a:extLst>
              <a:ext uri="{FF2B5EF4-FFF2-40B4-BE49-F238E27FC236}">
                <a16:creationId xmlns:a16="http://schemas.microsoft.com/office/drawing/2014/main" id="{D210AAA1-D82F-639C-FD00-9F7EA0B2E4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5864" y="1527645"/>
            <a:ext cx="10280271" cy="3802710"/>
          </a:xfrm>
          <a:prstGeom prst="rect">
            <a:avLst/>
          </a:prstGeom>
        </p:spPr>
      </p:pic>
    </p:spTree>
    <p:extLst>
      <p:ext uri="{BB962C8B-B14F-4D97-AF65-F5344CB8AC3E}">
        <p14:creationId xmlns:p14="http://schemas.microsoft.com/office/powerpoint/2010/main" val="314743604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60343-D3A6-4DCA-D0E0-CBE95B40911E}"/>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ECCAF995-62DE-C163-94FE-E699C002ECF7}"/>
              </a:ext>
            </a:extLst>
          </p:cNvPr>
          <p:cNvSpPr>
            <a:spLocks noGrp="1"/>
          </p:cNvSpPr>
          <p:nvPr>
            <p:ph type="title"/>
          </p:nvPr>
        </p:nvSpPr>
        <p:spPr>
          <a:xfrm>
            <a:off x="838200" y="248495"/>
            <a:ext cx="10515600" cy="432542"/>
          </a:xfrm>
        </p:spPr>
        <p:txBody>
          <a:bodyPr>
            <a:noAutofit/>
          </a:bodyPr>
          <a:lstStyle/>
          <a:p>
            <a:pPr algn="ctr"/>
            <a:r>
              <a:rPr lang="tr-TR" sz="2800" dirty="0"/>
              <a:t>DÜZELTMELER (SÜTUNLARI GENİŞLETME)</a:t>
            </a:r>
          </a:p>
        </p:txBody>
      </p:sp>
      <p:sp>
        <p:nvSpPr>
          <p:cNvPr id="3" name="İçerik Yer Tutucusu 2">
            <a:extLst>
              <a:ext uri="{FF2B5EF4-FFF2-40B4-BE49-F238E27FC236}">
                <a16:creationId xmlns:a16="http://schemas.microsoft.com/office/drawing/2014/main" id="{6C96FE4F-57AF-4FA8-70ED-AAD012BA2D35}"/>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Şimdilik son bir sorunumuz kaldı. Dikkat edilecek olursa </a:t>
            </a:r>
            <a:r>
              <a:rPr lang="tr-TR" sz="1800" dirty="0" err="1"/>
              <a:t>datagridview’daki</a:t>
            </a:r>
            <a:r>
              <a:rPr lang="tr-TR" sz="1800" dirty="0"/>
              <a:t> sütun isimleri ve onlara ait değerler geldiğinde </a:t>
            </a:r>
            <a:r>
              <a:rPr lang="tr-TR" sz="1800" dirty="0" err="1"/>
              <a:t>datagridview’in</a:t>
            </a:r>
            <a:r>
              <a:rPr lang="tr-TR" sz="1800" dirty="0"/>
              <a:t> tamamını kaplamıyor ve bu da kötü bir görünüme neden oluyor.</a:t>
            </a:r>
          </a:p>
          <a:p>
            <a:pPr marL="0" indent="0" algn="just">
              <a:lnSpc>
                <a:spcPct val="100000"/>
              </a:lnSpc>
              <a:spcBef>
                <a:spcPts val="600"/>
              </a:spcBef>
              <a:spcAft>
                <a:spcPts val="600"/>
              </a:spcAft>
              <a:buNone/>
            </a:pPr>
            <a:r>
              <a:rPr lang="tr-TR" sz="1800" dirty="0"/>
              <a:t>Şimdi de bu sorunu düzelteceğiz. </a:t>
            </a:r>
            <a:r>
              <a:rPr lang="tr-TR" sz="1800" dirty="0" err="1"/>
              <a:t>Datagridview’daki</a:t>
            </a:r>
            <a:r>
              <a:rPr lang="tr-TR" sz="1800" dirty="0"/>
              <a:t> tüm sütunların tüm </a:t>
            </a:r>
            <a:r>
              <a:rPr lang="tr-TR" sz="1800" dirty="0" err="1"/>
              <a:t>datagridview’i</a:t>
            </a:r>
            <a:r>
              <a:rPr lang="tr-TR" sz="1800" dirty="0"/>
              <a:t> kaplaması ve boş alan kalmaması için aşağıdaki kodu </a:t>
            </a:r>
            <a:r>
              <a:rPr lang="tr-TR" sz="1800" dirty="0" err="1"/>
              <a:t>btn_listele’nin</a:t>
            </a:r>
            <a:r>
              <a:rPr lang="tr-TR" sz="1800" dirty="0"/>
              <a:t> içine ekliyoruz:</a:t>
            </a:r>
          </a:p>
          <a:p>
            <a:pPr marL="0" indent="0" algn="just">
              <a:lnSpc>
                <a:spcPct val="100000"/>
              </a:lnSpc>
              <a:spcBef>
                <a:spcPts val="600"/>
              </a:spcBef>
              <a:spcAft>
                <a:spcPts val="600"/>
              </a:spcAft>
              <a:buNone/>
            </a:pPr>
            <a:r>
              <a:rPr lang="tr-TR" sz="1800" dirty="0"/>
              <a:t>dataGridView1.AutoSizeColumnsMode = </a:t>
            </a:r>
            <a:r>
              <a:rPr lang="tr-TR" sz="1800" dirty="0" err="1"/>
              <a:t>DataGridViewAutoSizeColumnsMode.Fill</a:t>
            </a:r>
            <a:r>
              <a:rPr lang="tr-TR" sz="1800" dirty="0"/>
              <a:t>;</a:t>
            </a:r>
          </a:p>
          <a:p>
            <a:pPr marL="0" indent="0" algn="just">
              <a:lnSpc>
                <a:spcPct val="100000"/>
              </a:lnSpc>
              <a:spcBef>
                <a:spcPts val="600"/>
              </a:spcBef>
              <a:spcAft>
                <a:spcPts val="600"/>
              </a:spcAft>
              <a:buNone/>
            </a:pPr>
            <a:endParaRPr lang="tr-TR" sz="1800" dirty="0"/>
          </a:p>
          <a:p>
            <a:pPr marL="0" indent="0" algn="just">
              <a:lnSpc>
                <a:spcPct val="100000"/>
              </a:lnSpc>
              <a:spcBef>
                <a:spcPts val="600"/>
              </a:spcBef>
              <a:spcAft>
                <a:spcPts val="600"/>
              </a:spcAft>
              <a:buNone/>
            </a:pPr>
            <a:r>
              <a:rPr lang="tr-TR" sz="1800" dirty="0"/>
              <a:t>Son durumda </a:t>
            </a:r>
            <a:r>
              <a:rPr lang="tr-TR" sz="1800" dirty="0" err="1"/>
              <a:t>btn_listele’nin</a:t>
            </a:r>
            <a:r>
              <a:rPr lang="tr-TR" sz="1800" dirty="0"/>
              <a:t> tüm kodları sonraki sayfada yer almaktadır.</a:t>
            </a:r>
          </a:p>
        </p:txBody>
      </p:sp>
    </p:spTree>
    <p:extLst>
      <p:ext uri="{BB962C8B-B14F-4D97-AF65-F5344CB8AC3E}">
        <p14:creationId xmlns:p14="http://schemas.microsoft.com/office/powerpoint/2010/main" val="318872729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66B104-517B-44D5-8B8A-F40A8A387236}"/>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C92D5C48-B19E-A405-F936-672EE7122684}"/>
              </a:ext>
            </a:extLst>
          </p:cNvPr>
          <p:cNvSpPr>
            <a:spLocks noGrp="1"/>
          </p:cNvSpPr>
          <p:nvPr>
            <p:ph type="title"/>
          </p:nvPr>
        </p:nvSpPr>
        <p:spPr>
          <a:xfrm>
            <a:off x="838200" y="248495"/>
            <a:ext cx="10515600" cy="432542"/>
          </a:xfrm>
        </p:spPr>
        <p:txBody>
          <a:bodyPr>
            <a:noAutofit/>
          </a:bodyPr>
          <a:lstStyle/>
          <a:p>
            <a:pPr algn="ctr"/>
            <a:r>
              <a:rPr lang="tr-TR" sz="2800" dirty="0"/>
              <a:t>DÜZELTMELER (SÜTUNLARI GENİŞLETME)</a:t>
            </a:r>
          </a:p>
        </p:txBody>
      </p:sp>
      <p:sp>
        <p:nvSpPr>
          <p:cNvPr id="3" name="İçerik Yer Tutucusu 2">
            <a:extLst>
              <a:ext uri="{FF2B5EF4-FFF2-40B4-BE49-F238E27FC236}">
                <a16:creationId xmlns:a16="http://schemas.microsoft.com/office/drawing/2014/main" id="{2156E08B-7DE8-88FC-2BB9-0AD54523B93A}"/>
              </a:ext>
            </a:extLst>
          </p:cNvPr>
          <p:cNvSpPr>
            <a:spLocks noGrp="1"/>
          </p:cNvSpPr>
          <p:nvPr>
            <p:ph idx="1"/>
          </p:nvPr>
        </p:nvSpPr>
        <p:spPr>
          <a:xfrm>
            <a:off x="838200" y="846306"/>
            <a:ext cx="10515600" cy="5885234"/>
          </a:xfrm>
        </p:spPr>
        <p:txBody>
          <a:bodyPr>
            <a:normAutofit fontScale="47500" lnSpcReduction="20000"/>
          </a:bodyPr>
          <a:lstStyle/>
          <a:p>
            <a:pPr marL="0" indent="0">
              <a:buNone/>
            </a:pPr>
            <a:r>
              <a:rPr lang="tr-TR" sz="1800" dirty="0" err="1">
                <a:solidFill>
                  <a:srgbClr val="0000FF"/>
                </a:solidFill>
                <a:highlight>
                  <a:srgbClr val="FFFFFF"/>
                </a:highlight>
                <a:latin typeface="Cascadia Mono" panose="020B0609020000020004" pitchFamily="49" charset="0"/>
              </a:rPr>
              <a:t>private</a:t>
            </a:r>
            <a:r>
              <a:rPr lang="tr-TR" sz="1800" dirty="0">
                <a:solidFill>
                  <a:srgbClr val="000000"/>
                </a:solidFill>
                <a:highlight>
                  <a:srgbClr val="FFFFFF"/>
                </a:highlight>
                <a:latin typeface="Cascadia Mono" panose="020B0609020000020004" pitchFamily="49" charset="0"/>
              </a:rPr>
              <a:t> </a:t>
            </a:r>
            <a:r>
              <a:rPr lang="tr-TR" sz="1800" dirty="0">
                <a:solidFill>
                  <a:srgbClr val="0000FF"/>
                </a:solidFill>
                <a:highlight>
                  <a:srgbClr val="FFFFFF"/>
                </a:highlight>
                <a:latin typeface="Cascadia Mono" panose="020B0609020000020004" pitchFamily="49" charset="0"/>
              </a:rPr>
              <a:t>void</a:t>
            </a: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btn_listele_Click</a:t>
            </a:r>
            <a:r>
              <a:rPr lang="tr-TR" sz="1800" dirty="0">
                <a:solidFill>
                  <a:srgbClr val="000000"/>
                </a:solidFill>
                <a:highlight>
                  <a:srgbClr val="FFFFFF"/>
                </a:highlight>
                <a:latin typeface="Cascadia Mono" panose="020B0609020000020004" pitchFamily="49" charset="0"/>
              </a:rPr>
              <a:t>(</a:t>
            </a:r>
            <a:r>
              <a:rPr lang="tr-TR" sz="1800" dirty="0" err="1">
                <a:solidFill>
                  <a:srgbClr val="0000FF"/>
                </a:solidFill>
                <a:highlight>
                  <a:srgbClr val="FFFFFF"/>
                </a:highlight>
                <a:latin typeface="Cascadia Mono" panose="020B0609020000020004" pitchFamily="49" charset="0"/>
              </a:rPr>
              <a:t>object</a:t>
            </a: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sender</a:t>
            </a: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EventArgs</a:t>
            </a:r>
            <a:r>
              <a:rPr lang="tr-TR" sz="1800" dirty="0">
                <a:solidFill>
                  <a:srgbClr val="000000"/>
                </a:solidFill>
                <a:highlight>
                  <a:srgbClr val="FFFFFF"/>
                </a:highlight>
                <a:latin typeface="Cascadia Mono" panose="020B0609020000020004" pitchFamily="49" charset="0"/>
              </a:rPr>
              <a:t> e)</a:t>
            </a:r>
          </a:p>
          <a:p>
            <a:pPr marL="0" indent="0">
              <a:buNone/>
            </a:pP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0000FF"/>
                </a:solidFill>
                <a:highlight>
                  <a:srgbClr val="FFFFFF"/>
                </a:highlight>
                <a:latin typeface="Cascadia Mono" panose="020B0609020000020004" pitchFamily="49" charset="0"/>
              </a:rPr>
              <a:t>try</a:t>
            </a:r>
            <a:endParaRPr lang="tr-TR" sz="1800" dirty="0">
              <a:solidFill>
                <a:srgbClr val="0000FF"/>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    {</a:t>
            </a:r>
          </a:p>
          <a:p>
            <a:pPr marL="0" indent="0">
              <a:buNone/>
            </a:pP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var</a:t>
            </a:r>
            <a:r>
              <a:rPr lang="en-US" sz="1800" dirty="0">
                <a:solidFill>
                  <a:srgbClr val="000000"/>
                </a:solidFill>
                <a:highlight>
                  <a:srgbClr val="FFFFFF"/>
                </a:highlight>
                <a:latin typeface="Cascadia Mono" panose="020B0609020000020004" pitchFamily="49" charset="0"/>
              </a:rPr>
              <a:t> customers = </a:t>
            </a:r>
            <a:r>
              <a:rPr lang="en-US" sz="1800" dirty="0" err="1">
                <a:solidFill>
                  <a:srgbClr val="000000"/>
                </a:solidFill>
                <a:highlight>
                  <a:srgbClr val="FFFFFF"/>
                </a:highlight>
                <a:latin typeface="Cascadia Mono" panose="020B0609020000020004" pitchFamily="49" charset="0"/>
              </a:rPr>
              <a:t>db.Customers.ToList</a:t>
            </a:r>
            <a:r>
              <a:rPr lang="en-US"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dataGridView1.DataSource = </a:t>
            </a:r>
            <a:r>
              <a:rPr lang="tr-TR" sz="1800" dirty="0" err="1">
                <a:solidFill>
                  <a:srgbClr val="000000"/>
                </a:solidFill>
                <a:highlight>
                  <a:srgbClr val="FFFFFF"/>
                </a:highlight>
                <a:latin typeface="Cascadia Mono" panose="020B0609020000020004" pitchFamily="49" charset="0"/>
              </a:rPr>
              <a:t>customers</a:t>
            </a:r>
            <a:r>
              <a:rPr lang="tr-TR" sz="1800" dirty="0">
                <a:solidFill>
                  <a:srgbClr val="000000"/>
                </a:solidFill>
                <a:highlight>
                  <a:srgbClr val="FFFFFF"/>
                </a:highlight>
                <a:latin typeface="Cascadia Mono" panose="020B0609020000020004" pitchFamily="49" charset="0"/>
              </a:rPr>
              <a:t>;</a:t>
            </a:r>
          </a:p>
          <a:p>
            <a:pPr marL="0" indent="0">
              <a:buNone/>
            </a:pPr>
            <a:endParaRPr lang="tr-TR" sz="1800" dirty="0">
              <a:solidFill>
                <a:srgbClr val="000000"/>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        </a:t>
            </a:r>
            <a:r>
              <a:rPr lang="tr-TR" sz="1800" dirty="0">
                <a:solidFill>
                  <a:srgbClr val="008000"/>
                </a:solidFill>
                <a:highlight>
                  <a:srgbClr val="FFFFFF"/>
                </a:highlight>
                <a:latin typeface="Cascadia Mono" panose="020B0609020000020004" pitchFamily="49" charset="0"/>
              </a:rPr>
              <a:t>// Sütun başlıklarını değiştirme</a:t>
            </a:r>
          </a:p>
          <a:p>
            <a:pPr marL="0" indent="0">
              <a:buNone/>
            </a:pPr>
            <a:r>
              <a:rPr lang="en-US" sz="1800" dirty="0">
                <a:solidFill>
                  <a:srgbClr val="000000"/>
                </a:solidFill>
                <a:highlight>
                  <a:srgbClr val="FFFFFF"/>
                </a:highlight>
                <a:latin typeface="Cascadia Mono" panose="020B0609020000020004" pitchFamily="49" charset="0"/>
              </a:rPr>
              <a:t>        dataGridView1.Columns[</a:t>
            </a:r>
            <a:r>
              <a:rPr lang="en-US" sz="1800" dirty="0">
                <a:solidFill>
                  <a:srgbClr val="A31515"/>
                </a:solidFill>
                <a:highlight>
                  <a:srgbClr val="FFFFFF"/>
                </a:highlight>
                <a:latin typeface="Cascadia Mono" panose="020B0609020000020004" pitchFamily="49" charset="0"/>
              </a:rPr>
              <a:t>"Customer_Id"</a:t>
            </a:r>
            <a:r>
              <a:rPr lang="en-US" sz="1800" dirty="0">
                <a:solidFill>
                  <a:srgbClr val="000000"/>
                </a:solidFill>
                <a:highlight>
                  <a:srgbClr val="FFFFFF"/>
                </a:highlight>
                <a:latin typeface="Cascadia Mono" panose="020B0609020000020004" pitchFamily="49" charset="0"/>
              </a:rPr>
              <a:t>].</a:t>
            </a:r>
            <a:r>
              <a:rPr lang="en-US" sz="1800" dirty="0" err="1">
                <a:solidFill>
                  <a:srgbClr val="000000"/>
                </a:solidFill>
                <a:highlight>
                  <a:srgbClr val="FFFFFF"/>
                </a:highlight>
                <a:latin typeface="Cascadia Mono" panose="020B0609020000020004" pitchFamily="49" charset="0"/>
              </a:rPr>
              <a:t>HeaderText</a:t>
            </a:r>
            <a:r>
              <a:rPr lang="en-US" sz="1800" dirty="0">
                <a:solidFill>
                  <a:srgbClr val="000000"/>
                </a:solidFill>
                <a:highlight>
                  <a:srgbClr val="FFFFFF"/>
                </a:highlight>
                <a:latin typeface="Cascadia Mono" panose="020B0609020000020004" pitchFamily="49" charset="0"/>
              </a:rPr>
              <a:t> = </a:t>
            </a:r>
            <a:r>
              <a:rPr lang="en-US" sz="1800" dirty="0">
                <a:solidFill>
                  <a:srgbClr val="A31515"/>
                </a:solidFill>
                <a:highlight>
                  <a:srgbClr val="FFFFFF"/>
                </a:highlight>
                <a:latin typeface="Cascadia Mono" panose="020B0609020000020004" pitchFamily="49" charset="0"/>
              </a:rPr>
              <a:t>"</a:t>
            </a:r>
            <a:r>
              <a:rPr lang="en-US" sz="1800" dirty="0" err="1">
                <a:solidFill>
                  <a:srgbClr val="A31515"/>
                </a:solidFill>
                <a:highlight>
                  <a:srgbClr val="FFFFFF"/>
                </a:highlight>
                <a:latin typeface="Cascadia Mono" panose="020B0609020000020004" pitchFamily="49" charset="0"/>
              </a:rPr>
              <a:t>Müşteri</a:t>
            </a:r>
            <a:r>
              <a:rPr lang="en-US" sz="1800" dirty="0">
                <a:solidFill>
                  <a:srgbClr val="A31515"/>
                </a:solidFill>
                <a:highlight>
                  <a:srgbClr val="FFFFFF"/>
                </a:highlight>
                <a:latin typeface="Cascadia Mono" panose="020B0609020000020004" pitchFamily="49" charset="0"/>
              </a:rPr>
              <a:t> ID"</a:t>
            </a:r>
            <a:r>
              <a:rPr lang="en-US" sz="1800" dirty="0">
                <a:solidFill>
                  <a:srgbClr val="000000"/>
                </a:solidFill>
                <a:highlight>
                  <a:srgbClr val="FFFFFF"/>
                </a:highlight>
                <a:latin typeface="Cascadia Mono" panose="020B0609020000020004" pitchFamily="49" charset="0"/>
              </a:rPr>
              <a:t>;</a:t>
            </a:r>
          </a:p>
          <a:p>
            <a:pPr marL="0" indent="0">
              <a:buNone/>
            </a:pPr>
            <a:r>
              <a:rPr lang="en-US" sz="1800" dirty="0">
                <a:solidFill>
                  <a:srgbClr val="000000"/>
                </a:solidFill>
                <a:highlight>
                  <a:srgbClr val="FFFFFF"/>
                </a:highlight>
                <a:latin typeface="Cascadia Mono" panose="020B0609020000020004" pitchFamily="49" charset="0"/>
              </a:rPr>
              <a:t>        dataGridView1.Columns[</a:t>
            </a:r>
            <a:r>
              <a:rPr lang="en-US" sz="1800" dirty="0">
                <a:solidFill>
                  <a:srgbClr val="A31515"/>
                </a:solidFill>
                <a:highlight>
                  <a:srgbClr val="FFFFFF"/>
                </a:highlight>
                <a:latin typeface="Cascadia Mono" panose="020B0609020000020004" pitchFamily="49" charset="0"/>
              </a:rPr>
              <a:t>"</a:t>
            </a:r>
            <a:r>
              <a:rPr lang="en-US" sz="1800" dirty="0" err="1">
                <a:solidFill>
                  <a:srgbClr val="A31515"/>
                </a:solidFill>
                <a:highlight>
                  <a:srgbClr val="FFFFFF"/>
                </a:highlight>
                <a:latin typeface="Cascadia Mono" panose="020B0609020000020004" pitchFamily="49" charset="0"/>
              </a:rPr>
              <a:t>Customer_Name</a:t>
            </a:r>
            <a:r>
              <a:rPr lang="en-US" sz="1800" dirty="0">
                <a:solidFill>
                  <a:srgbClr val="A31515"/>
                </a:solidFill>
                <a:highlight>
                  <a:srgbClr val="FFFFFF"/>
                </a:highlight>
                <a:latin typeface="Cascadia Mono" panose="020B0609020000020004" pitchFamily="49" charset="0"/>
              </a:rPr>
              <a:t>"</a:t>
            </a:r>
            <a:r>
              <a:rPr lang="en-US" sz="1800" dirty="0">
                <a:solidFill>
                  <a:srgbClr val="000000"/>
                </a:solidFill>
                <a:highlight>
                  <a:srgbClr val="FFFFFF"/>
                </a:highlight>
                <a:latin typeface="Cascadia Mono" panose="020B0609020000020004" pitchFamily="49" charset="0"/>
              </a:rPr>
              <a:t>].</a:t>
            </a:r>
            <a:r>
              <a:rPr lang="en-US" sz="1800" dirty="0" err="1">
                <a:solidFill>
                  <a:srgbClr val="000000"/>
                </a:solidFill>
                <a:highlight>
                  <a:srgbClr val="FFFFFF"/>
                </a:highlight>
                <a:latin typeface="Cascadia Mono" panose="020B0609020000020004" pitchFamily="49" charset="0"/>
              </a:rPr>
              <a:t>HeaderText</a:t>
            </a:r>
            <a:r>
              <a:rPr lang="en-US" sz="1800" dirty="0">
                <a:solidFill>
                  <a:srgbClr val="000000"/>
                </a:solidFill>
                <a:highlight>
                  <a:srgbClr val="FFFFFF"/>
                </a:highlight>
                <a:latin typeface="Cascadia Mono" panose="020B0609020000020004" pitchFamily="49" charset="0"/>
              </a:rPr>
              <a:t> = </a:t>
            </a:r>
            <a:r>
              <a:rPr lang="en-US" sz="1800" dirty="0">
                <a:solidFill>
                  <a:srgbClr val="A31515"/>
                </a:solidFill>
                <a:highlight>
                  <a:srgbClr val="FFFFFF"/>
                </a:highlight>
                <a:latin typeface="Cascadia Mono" panose="020B0609020000020004" pitchFamily="49" charset="0"/>
              </a:rPr>
              <a:t>"</a:t>
            </a:r>
            <a:r>
              <a:rPr lang="en-US" sz="1800" dirty="0" err="1">
                <a:solidFill>
                  <a:srgbClr val="A31515"/>
                </a:solidFill>
                <a:highlight>
                  <a:srgbClr val="FFFFFF"/>
                </a:highlight>
                <a:latin typeface="Cascadia Mono" panose="020B0609020000020004" pitchFamily="49" charset="0"/>
              </a:rPr>
              <a:t>Müşteri</a:t>
            </a:r>
            <a:r>
              <a:rPr lang="en-US" sz="1800" dirty="0">
                <a:solidFill>
                  <a:srgbClr val="A31515"/>
                </a:solidFill>
                <a:highlight>
                  <a:srgbClr val="FFFFFF"/>
                </a:highlight>
                <a:latin typeface="Cascadia Mono" panose="020B0609020000020004" pitchFamily="49" charset="0"/>
              </a:rPr>
              <a:t> </a:t>
            </a:r>
            <a:r>
              <a:rPr lang="en-US" sz="1800" dirty="0" err="1">
                <a:solidFill>
                  <a:srgbClr val="A31515"/>
                </a:solidFill>
                <a:highlight>
                  <a:srgbClr val="FFFFFF"/>
                </a:highlight>
                <a:latin typeface="Cascadia Mono" panose="020B0609020000020004" pitchFamily="49" charset="0"/>
              </a:rPr>
              <a:t>Adı</a:t>
            </a:r>
            <a:r>
              <a:rPr lang="en-US" sz="1800" dirty="0">
                <a:solidFill>
                  <a:srgbClr val="A31515"/>
                </a:solidFill>
                <a:highlight>
                  <a:srgbClr val="FFFFFF"/>
                </a:highlight>
                <a:latin typeface="Cascadia Mono" panose="020B0609020000020004" pitchFamily="49" charset="0"/>
              </a:rPr>
              <a:t>"</a:t>
            </a:r>
            <a:r>
              <a:rPr lang="en-US" sz="1800" dirty="0">
                <a:solidFill>
                  <a:srgbClr val="000000"/>
                </a:solidFill>
                <a:highlight>
                  <a:srgbClr val="FFFFFF"/>
                </a:highlight>
                <a:latin typeface="Cascadia Mono" panose="020B0609020000020004" pitchFamily="49" charset="0"/>
              </a:rPr>
              <a:t>;</a:t>
            </a:r>
          </a:p>
          <a:p>
            <a:pPr marL="0" indent="0">
              <a:buNone/>
            </a:pPr>
            <a:r>
              <a:rPr lang="en-US" sz="1800" dirty="0">
                <a:solidFill>
                  <a:srgbClr val="000000"/>
                </a:solidFill>
                <a:highlight>
                  <a:srgbClr val="FFFFFF"/>
                </a:highlight>
                <a:latin typeface="Cascadia Mono" panose="020B0609020000020004" pitchFamily="49" charset="0"/>
              </a:rPr>
              <a:t>        dataGridView1.Columns[</a:t>
            </a:r>
            <a:r>
              <a:rPr lang="en-US" sz="1800" dirty="0">
                <a:solidFill>
                  <a:srgbClr val="A31515"/>
                </a:solidFill>
                <a:highlight>
                  <a:srgbClr val="FFFFFF"/>
                </a:highlight>
                <a:latin typeface="Cascadia Mono" panose="020B0609020000020004" pitchFamily="49" charset="0"/>
              </a:rPr>
              <a:t>"</a:t>
            </a:r>
            <a:r>
              <a:rPr lang="en-US" sz="1800" dirty="0" err="1">
                <a:solidFill>
                  <a:srgbClr val="A31515"/>
                </a:solidFill>
                <a:highlight>
                  <a:srgbClr val="FFFFFF"/>
                </a:highlight>
                <a:latin typeface="Cascadia Mono" panose="020B0609020000020004" pitchFamily="49" charset="0"/>
              </a:rPr>
              <a:t>Customer_Surname</a:t>
            </a:r>
            <a:r>
              <a:rPr lang="en-US" sz="1800" dirty="0">
                <a:solidFill>
                  <a:srgbClr val="A31515"/>
                </a:solidFill>
                <a:highlight>
                  <a:srgbClr val="FFFFFF"/>
                </a:highlight>
                <a:latin typeface="Cascadia Mono" panose="020B0609020000020004" pitchFamily="49" charset="0"/>
              </a:rPr>
              <a:t>"</a:t>
            </a:r>
            <a:r>
              <a:rPr lang="en-US" sz="1800" dirty="0">
                <a:solidFill>
                  <a:srgbClr val="000000"/>
                </a:solidFill>
                <a:highlight>
                  <a:srgbClr val="FFFFFF"/>
                </a:highlight>
                <a:latin typeface="Cascadia Mono" panose="020B0609020000020004" pitchFamily="49" charset="0"/>
              </a:rPr>
              <a:t>].</a:t>
            </a:r>
            <a:r>
              <a:rPr lang="en-US" sz="1800" dirty="0" err="1">
                <a:solidFill>
                  <a:srgbClr val="000000"/>
                </a:solidFill>
                <a:highlight>
                  <a:srgbClr val="FFFFFF"/>
                </a:highlight>
                <a:latin typeface="Cascadia Mono" panose="020B0609020000020004" pitchFamily="49" charset="0"/>
              </a:rPr>
              <a:t>HeaderText</a:t>
            </a:r>
            <a:r>
              <a:rPr lang="en-US" sz="1800" dirty="0">
                <a:solidFill>
                  <a:srgbClr val="000000"/>
                </a:solidFill>
                <a:highlight>
                  <a:srgbClr val="FFFFFF"/>
                </a:highlight>
                <a:latin typeface="Cascadia Mono" panose="020B0609020000020004" pitchFamily="49" charset="0"/>
              </a:rPr>
              <a:t> = </a:t>
            </a:r>
            <a:r>
              <a:rPr lang="en-US" sz="1800" dirty="0">
                <a:solidFill>
                  <a:srgbClr val="A31515"/>
                </a:solidFill>
                <a:highlight>
                  <a:srgbClr val="FFFFFF"/>
                </a:highlight>
                <a:latin typeface="Cascadia Mono" panose="020B0609020000020004" pitchFamily="49" charset="0"/>
              </a:rPr>
              <a:t>"</a:t>
            </a:r>
            <a:r>
              <a:rPr lang="en-US" sz="1800" dirty="0" err="1">
                <a:solidFill>
                  <a:srgbClr val="A31515"/>
                </a:solidFill>
                <a:highlight>
                  <a:srgbClr val="FFFFFF"/>
                </a:highlight>
                <a:latin typeface="Cascadia Mono" panose="020B0609020000020004" pitchFamily="49" charset="0"/>
              </a:rPr>
              <a:t>Müşteri</a:t>
            </a:r>
            <a:r>
              <a:rPr lang="en-US" sz="1800" dirty="0">
                <a:solidFill>
                  <a:srgbClr val="A31515"/>
                </a:solidFill>
                <a:highlight>
                  <a:srgbClr val="FFFFFF"/>
                </a:highlight>
                <a:latin typeface="Cascadia Mono" panose="020B0609020000020004" pitchFamily="49" charset="0"/>
              </a:rPr>
              <a:t> </a:t>
            </a:r>
            <a:r>
              <a:rPr lang="en-US" sz="1800" dirty="0" err="1">
                <a:solidFill>
                  <a:srgbClr val="A31515"/>
                </a:solidFill>
                <a:highlight>
                  <a:srgbClr val="FFFFFF"/>
                </a:highlight>
                <a:latin typeface="Cascadia Mono" panose="020B0609020000020004" pitchFamily="49" charset="0"/>
              </a:rPr>
              <a:t>Soyadı</a:t>
            </a:r>
            <a:r>
              <a:rPr lang="en-US" sz="1800" dirty="0">
                <a:solidFill>
                  <a:srgbClr val="A31515"/>
                </a:solidFill>
                <a:highlight>
                  <a:srgbClr val="FFFFFF"/>
                </a:highlight>
                <a:latin typeface="Cascadia Mono" panose="020B0609020000020004" pitchFamily="49" charset="0"/>
              </a:rPr>
              <a:t>"</a:t>
            </a:r>
            <a:r>
              <a:rPr lang="en-US" sz="1800" dirty="0">
                <a:solidFill>
                  <a:srgbClr val="000000"/>
                </a:solidFill>
                <a:highlight>
                  <a:srgbClr val="FFFFFF"/>
                </a:highlight>
                <a:latin typeface="Cascadia Mono" panose="020B0609020000020004" pitchFamily="49" charset="0"/>
              </a:rPr>
              <a:t>;</a:t>
            </a:r>
          </a:p>
          <a:p>
            <a:pPr marL="0" indent="0">
              <a:buNone/>
            </a:pPr>
            <a:r>
              <a:rPr lang="en-US" sz="1800" dirty="0">
                <a:solidFill>
                  <a:srgbClr val="000000"/>
                </a:solidFill>
                <a:highlight>
                  <a:srgbClr val="FFFFFF"/>
                </a:highlight>
                <a:latin typeface="Cascadia Mono" panose="020B0609020000020004" pitchFamily="49" charset="0"/>
              </a:rPr>
              <a:t>        dataGridView1.Columns[</a:t>
            </a:r>
            <a:r>
              <a:rPr lang="en-US" sz="1800" dirty="0">
                <a:solidFill>
                  <a:srgbClr val="A31515"/>
                </a:solidFill>
                <a:highlight>
                  <a:srgbClr val="FFFFFF"/>
                </a:highlight>
                <a:latin typeface="Cascadia Mono" panose="020B0609020000020004" pitchFamily="49" charset="0"/>
              </a:rPr>
              <a:t>"</a:t>
            </a:r>
            <a:r>
              <a:rPr lang="en-US" sz="1800" dirty="0" err="1">
                <a:solidFill>
                  <a:srgbClr val="A31515"/>
                </a:solidFill>
                <a:highlight>
                  <a:srgbClr val="FFFFFF"/>
                </a:highlight>
                <a:latin typeface="Cascadia Mono" panose="020B0609020000020004" pitchFamily="49" charset="0"/>
              </a:rPr>
              <a:t>Customer_Email</a:t>
            </a:r>
            <a:r>
              <a:rPr lang="en-US" sz="1800" dirty="0">
                <a:solidFill>
                  <a:srgbClr val="A31515"/>
                </a:solidFill>
                <a:highlight>
                  <a:srgbClr val="FFFFFF"/>
                </a:highlight>
                <a:latin typeface="Cascadia Mono" panose="020B0609020000020004" pitchFamily="49" charset="0"/>
              </a:rPr>
              <a:t>"</a:t>
            </a:r>
            <a:r>
              <a:rPr lang="en-US" sz="1800" dirty="0">
                <a:solidFill>
                  <a:srgbClr val="000000"/>
                </a:solidFill>
                <a:highlight>
                  <a:srgbClr val="FFFFFF"/>
                </a:highlight>
                <a:latin typeface="Cascadia Mono" panose="020B0609020000020004" pitchFamily="49" charset="0"/>
              </a:rPr>
              <a:t>].</a:t>
            </a:r>
            <a:r>
              <a:rPr lang="en-US" sz="1800" dirty="0" err="1">
                <a:solidFill>
                  <a:srgbClr val="000000"/>
                </a:solidFill>
                <a:highlight>
                  <a:srgbClr val="FFFFFF"/>
                </a:highlight>
                <a:latin typeface="Cascadia Mono" panose="020B0609020000020004" pitchFamily="49" charset="0"/>
              </a:rPr>
              <a:t>HeaderText</a:t>
            </a:r>
            <a:r>
              <a:rPr lang="en-US" sz="1800" dirty="0">
                <a:solidFill>
                  <a:srgbClr val="000000"/>
                </a:solidFill>
                <a:highlight>
                  <a:srgbClr val="FFFFFF"/>
                </a:highlight>
                <a:latin typeface="Cascadia Mono" panose="020B0609020000020004" pitchFamily="49" charset="0"/>
              </a:rPr>
              <a:t> = </a:t>
            </a:r>
            <a:r>
              <a:rPr lang="en-US" sz="1800" dirty="0">
                <a:solidFill>
                  <a:srgbClr val="A31515"/>
                </a:solidFill>
                <a:highlight>
                  <a:srgbClr val="FFFFFF"/>
                </a:highlight>
                <a:latin typeface="Cascadia Mono" panose="020B0609020000020004" pitchFamily="49" charset="0"/>
              </a:rPr>
              <a:t>"E-Posta"</a:t>
            </a:r>
            <a:r>
              <a:rPr lang="en-US" sz="1800" dirty="0">
                <a:solidFill>
                  <a:srgbClr val="000000"/>
                </a:solidFill>
                <a:highlight>
                  <a:srgbClr val="FFFFFF"/>
                </a:highlight>
                <a:latin typeface="Cascadia Mono" panose="020B0609020000020004" pitchFamily="49" charset="0"/>
              </a:rPr>
              <a:t>;</a:t>
            </a:r>
          </a:p>
          <a:p>
            <a:pPr marL="0" indent="0">
              <a:buNone/>
            </a:pPr>
            <a:r>
              <a:rPr lang="en-US" sz="1800" dirty="0">
                <a:solidFill>
                  <a:srgbClr val="000000"/>
                </a:solidFill>
                <a:highlight>
                  <a:srgbClr val="FFFFFF"/>
                </a:highlight>
                <a:latin typeface="Cascadia Mono" panose="020B0609020000020004" pitchFamily="49" charset="0"/>
              </a:rPr>
              <a:t>        dataGridView1.Columns[</a:t>
            </a:r>
            <a:r>
              <a:rPr lang="en-US" sz="1800" dirty="0">
                <a:solidFill>
                  <a:srgbClr val="A31515"/>
                </a:solidFill>
                <a:highlight>
                  <a:srgbClr val="FFFFFF"/>
                </a:highlight>
                <a:latin typeface="Cascadia Mono" panose="020B0609020000020004" pitchFamily="49" charset="0"/>
              </a:rPr>
              <a:t>"</a:t>
            </a:r>
            <a:r>
              <a:rPr lang="en-US" sz="1800" dirty="0" err="1">
                <a:solidFill>
                  <a:srgbClr val="A31515"/>
                </a:solidFill>
                <a:highlight>
                  <a:srgbClr val="FFFFFF"/>
                </a:highlight>
                <a:latin typeface="Cascadia Mono" panose="020B0609020000020004" pitchFamily="49" charset="0"/>
              </a:rPr>
              <a:t>Customer_Telephone</a:t>
            </a:r>
            <a:r>
              <a:rPr lang="en-US" sz="1800" dirty="0">
                <a:solidFill>
                  <a:srgbClr val="A31515"/>
                </a:solidFill>
                <a:highlight>
                  <a:srgbClr val="FFFFFF"/>
                </a:highlight>
                <a:latin typeface="Cascadia Mono" panose="020B0609020000020004" pitchFamily="49" charset="0"/>
              </a:rPr>
              <a:t>"</a:t>
            </a:r>
            <a:r>
              <a:rPr lang="en-US" sz="1800" dirty="0">
                <a:solidFill>
                  <a:srgbClr val="000000"/>
                </a:solidFill>
                <a:highlight>
                  <a:srgbClr val="FFFFFF"/>
                </a:highlight>
                <a:latin typeface="Cascadia Mono" panose="020B0609020000020004" pitchFamily="49" charset="0"/>
              </a:rPr>
              <a:t>].</a:t>
            </a:r>
            <a:r>
              <a:rPr lang="en-US" sz="1800" dirty="0" err="1">
                <a:solidFill>
                  <a:srgbClr val="000000"/>
                </a:solidFill>
                <a:highlight>
                  <a:srgbClr val="FFFFFF"/>
                </a:highlight>
                <a:latin typeface="Cascadia Mono" panose="020B0609020000020004" pitchFamily="49" charset="0"/>
              </a:rPr>
              <a:t>HeaderText</a:t>
            </a:r>
            <a:r>
              <a:rPr lang="en-US" sz="1800" dirty="0">
                <a:solidFill>
                  <a:srgbClr val="000000"/>
                </a:solidFill>
                <a:highlight>
                  <a:srgbClr val="FFFFFF"/>
                </a:highlight>
                <a:latin typeface="Cascadia Mono" panose="020B0609020000020004" pitchFamily="49" charset="0"/>
              </a:rPr>
              <a:t> = </a:t>
            </a:r>
            <a:r>
              <a:rPr lang="en-US" sz="1800" dirty="0">
                <a:solidFill>
                  <a:srgbClr val="A31515"/>
                </a:solidFill>
                <a:highlight>
                  <a:srgbClr val="FFFFFF"/>
                </a:highlight>
                <a:latin typeface="Cascadia Mono" panose="020B0609020000020004" pitchFamily="49" charset="0"/>
              </a:rPr>
              <a:t>"</a:t>
            </a:r>
            <a:r>
              <a:rPr lang="en-US" sz="1800" dirty="0" err="1">
                <a:solidFill>
                  <a:srgbClr val="A31515"/>
                </a:solidFill>
                <a:highlight>
                  <a:srgbClr val="FFFFFF"/>
                </a:highlight>
                <a:latin typeface="Cascadia Mono" panose="020B0609020000020004" pitchFamily="49" charset="0"/>
              </a:rPr>
              <a:t>Telefon</a:t>
            </a:r>
            <a:r>
              <a:rPr lang="en-US" sz="1800" dirty="0">
                <a:solidFill>
                  <a:srgbClr val="A31515"/>
                </a:solidFill>
                <a:highlight>
                  <a:srgbClr val="FFFFFF"/>
                </a:highlight>
                <a:latin typeface="Cascadia Mono" panose="020B0609020000020004" pitchFamily="49" charset="0"/>
              </a:rPr>
              <a:t>"</a:t>
            </a:r>
            <a:r>
              <a:rPr lang="en-US" sz="1800" dirty="0">
                <a:solidFill>
                  <a:srgbClr val="000000"/>
                </a:solidFill>
                <a:highlight>
                  <a:srgbClr val="FFFFFF"/>
                </a:highlight>
                <a:latin typeface="Cascadia Mono" panose="020B0609020000020004" pitchFamily="49" charset="0"/>
              </a:rPr>
              <a:t>;</a:t>
            </a:r>
          </a:p>
          <a:p>
            <a:pPr marL="0" indent="0">
              <a:buNone/>
            </a:pPr>
            <a:endParaRPr lang="tr-TR" sz="1800" dirty="0">
              <a:solidFill>
                <a:srgbClr val="000000"/>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        </a:t>
            </a:r>
            <a:r>
              <a:rPr lang="tr-TR" sz="1800" dirty="0">
                <a:solidFill>
                  <a:srgbClr val="008000"/>
                </a:solidFill>
                <a:highlight>
                  <a:srgbClr val="FFFFFF"/>
                </a:highlight>
                <a:latin typeface="Cascadia Mono" panose="020B0609020000020004" pitchFamily="49" charset="0"/>
              </a:rPr>
              <a:t>// Customer_Id (</a:t>
            </a:r>
            <a:r>
              <a:rPr lang="tr-TR" sz="1800" dirty="0" err="1">
                <a:solidFill>
                  <a:srgbClr val="008000"/>
                </a:solidFill>
                <a:highlight>
                  <a:srgbClr val="FFFFFF"/>
                </a:highlight>
                <a:latin typeface="Cascadia Mono" panose="020B0609020000020004" pitchFamily="49" charset="0"/>
              </a:rPr>
              <a:t>Müşteri_ID</a:t>
            </a:r>
            <a:r>
              <a:rPr lang="tr-TR" sz="1800" dirty="0">
                <a:solidFill>
                  <a:srgbClr val="008000"/>
                </a:solidFill>
                <a:highlight>
                  <a:srgbClr val="FFFFFF"/>
                </a:highlight>
                <a:latin typeface="Cascadia Mono" panose="020B0609020000020004" pitchFamily="49" charset="0"/>
              </a:rPr>
              <a:t>) sütununu gizliyoruz</a:t>
            </a:r>
          </a:p>
          <a:p>
            <a:pPr marL="0" indent="0">
              <a:buNone/>
            </a:pPr>
            <a:r>
              <a:rPr lang="en-US" sz="1800" dirty="0">
                <a:solidFill>
                  <a:srgbClr val="000000"/>
                </a:solidFill>
                <a:highlight>
                  <a:srgbClr val="FFFFFF"/>
                </a:highlight>
                <a:latin typeface="Cascadia Mono" panose="020B0609020000020004" pitchFamily="49" charset="0"/>
              </a:rPr>
              <a:t>        dataGridView1.Columns[</a:t>
            </a:r>
            <a:r>
              <a:rPr lang="en-US" sz="1800" dirty="0">
                <a:solidFill>
                  <a:srgbClr val="A31515"/>
                </a:solidFill>
                <a:highlight>
                  <a:srgbClr val="FFFFFF"/>
                </a:highlight>
                <a:latin typeface="Cascadia Mono" panose="020B0609020000020004" pitchFamily="49" charset="0"/>
              </a:rPr>
              <a:t>"Customer_Id"</a:t>
            </a:r>
            <a:r>
              <a:rPr lang="en-US" sz="1800" dirty="0">
                <a:solidFill>
                  <a:srgbClr val="000000"/>
                </a:solidFill>
                <a:highlight>
                  <a:srgbClr val="FFFFFF"/>
                </a:highlight>
                <a:latin typeface="Cascadia Mono" panose="020B0609020000020004" pitchFamily="49" charset="0"/>
              </a:rPr>
              <a:t>].Visible = </a:t>
            </a:r>
            <a:r>
              <a:rPr lang="en-US" sz="1800" dirty="0">
                <a:solidFill>
                  <a:srgbClr val="0000FF"/>
                </a:solidFill>
                <a:highlight>
                  <a:srgbClr val="FFFFFF"/>
                </a:highlight>
                <a:latin typeface="Cascadia Mono" panose="020B0609020000020004" pitchFamily="49" charset="0"/>
              </a:rPr>
              <a:t>false</a:t>
            </a:r>
            <a:r>
              <a:rPr lang="en-US" sz="1800" dirty="0">
                <a:solidFill>
                  <a:srgbClr val="000000"/>
                </a:solidFill>
                <a:highlight>
                  <a:srgbClr val="FFFFFF"/>
                </a:highlight>
                <a:latin typeface="Cascadia Mono" panose="020B0609020000020004" pitchFamily="49" charset="0"/>
              </a:rPr>
              <a:t>;</a:t>
            </a:r>
          </a:p>
          <a:p>
            <a:pPr marL="0" indent="0">
              <a:buNone/>
            </a:pPr>
            <a:endParaRPr lang="tr-TR" sz="1800" dirty="0">
              <a:solidFill>
                <a:srgbClr val="000000"/>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        </a:t>
            </a:r>
            <a:r>
              <a:rPr lang="tr-TR" sz="1800" dirty="0">
                <a:solidFill>
                  <a:srgbClr val="008000"/>
                </a:solidFill>
                <a:highlight>
                  <a:srgbClr val="FFFFFF"/>
                </a:highlight>
                <a:latin typeface="Cascadia Mono" panose="020B0609020000020004" pitchFamily="49" charset="0"/>
              </a:rPr>
              <a:t>// Sütun genişliklerini dolduracak şekilde ayarlama</a:t>
            </a:r>
          </a:p>
          <a:p>
            <a:pPr marL="0" indent="0">
              <a:buNone/>
            </a:pPr>
            <a:r>
              <a:rPr lang="tr-TR" sz="1800" dirty="0">
                <a:solidFill>
                  <a:srgbClr val="000000"/>
                </a:solidFill>
                <a:highlight>
                  <a:srgbClr val="FFFFFF"/>
                </a:highlight>
                <a:latin typeface="Cascadia Mono" panose="020B0609020000020004" pitchFamily="49" charset="0"/>
              </a:rPr>
              <a:t>        dataGridView1.AutoSizeColumnsMode = </a:t>
            </a:r>
            <a:r>
              <a:rPr lang="tr-TR" sz="1800" dirty="0" err="1">
                <a:solidFill>
                  <a:srgbClr val="2B91AF"/>
                </a:solidFill>
                <a:highlight>
                  <a:srgbClr val="FFFFFF"/>
                </a:highlight>
                <a:latin typeface="Cascadia Mono" panose="020B0609020000020004" pitchFamily="49" charset="0"/>
              </a:rPr>
              <a:t>DataGridViewAutoSizeColumnsMode</a:t>
            </a:r>
            <a:r>
              <a:rPr lang="tr-TR" sz="1800" dirty="0" err="1">
                <a:solidFill>
                  <a:srgbClr val="000000"/>
                </a:solidFill>
                <a:highlight>
                  <a:srgbClr val="FFFFFF"/>
                </a:highlight>
                <a:latin typeface="Cascadia Mono" panose="020B0609020000020004" pitchFamily="49" charset="0"/>
              </a:rPr>
              <a:t>.Fill</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0000FF"/>
                </a:solidFill>
                <a:highlight>
                  <a:srgbClr val="FFFFFF"/>
                </a:highlight>
                <a:latin typeface="Cascadia Mono" panose="020B0609020000020004" pitchFamily="49" charset="0"/>
              </a:rPr>
              <a:t>catch</a:t>
            </a: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Exception</a:t>
            </a: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ex</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p>
          <a:p>
            <a:pPr marL="0" indent="0">
              <a:buNone/>
            </a:pPr>
            <a:endParaRPr lang="tr-TR" sz="1800" dirty="0">
              <a:solidFill>
                <a:srgbClr val="000000"/>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MessageBox</a:t>
            </a:r>
            <a:r>
              <a:rPr lang="tr-TR" sz="1800" dirty="0" err="1">
                <a:solidFill>
                  <a:srgbClr val="000000"/>
                </a:solidFill>
                <a:highlight>
                  <a:srgbClr val="FFFFFF"/>
                </a:highlight>
                <a:latin typeface="Cascadia Mono" panose="020B0609020000020004" pitchFamily="49" charset="0"/>
              </a:rPr>
              <a:t>.Show</a:t>
            </a:r>
            <a:r>
              <a:rPr lang="tr-TR" sz="1800" dirty="0">
                <a:solidFill>
                  <a:srgbClr val="000000"/>
                </a:solidFill>
                <a:highlight>
                  <a:srgbClr val="FFFFFF"/>
                </a:highlight>
                <a:latin typeface="Cascadia Mono" panose="020B0609020000020004" pitchFamily="49" charset="0"/>
              </a:rPr>
              <a:t>(</a:t>
            </a:r>
            <a:r>
              <a:rPr lang="tr-TR" sz="1800" dirty="0">
                <a:solidFill>
                  <a:srgbClr val="A31515"/>
                </a:solidFill>
                <a:highlight>
                  <a:srgbClr val="FFFFFF"/>
                </a:highlight>
                <a:latin typeface="Cascadia Mono" panose="020B0609020000020004" pitchFamily="49" charset="0"/>
              </a:rPr>
              <a:t>$"Hata = </a:t>
            </a:r>
            <a:r>
              <a:rPr lang="tr-TR" sz="1800" dirty="0">
                <a:solidFill>
                  <a:srgbClr val="000000"/>
                </a:solidFill>
                <a:highlight>
                  <a:srgbClr val="FFFFFF"/>
                </a:highlight>
                <a:latin typeface="Cascadia Mono" panose="020B0609020000020004" pitchFamily="49" charset="0"/>
              </a:rPr>
              <a:t>{</a:t>
            </a:r>
            <a:r>
              <a:rPr lang="tr-TR" sz="1800" dirty="0" err="1">
                <a:solidFill>
                  <a:srgbClr val="000000"/>
                </a:solidFill>
                <a:highlight>
                  <a:srgbClr val="FFFFFF"/>
                </a:highlight>
                <a:latin typeface="Cascadia Mono" panose="020B0609020000020004" pitchFamily="49" charset="0"/>
              </a:rPr>
              <a:t>ex.Message</a:t>
            </a:r>
            <a:r>
              <a:rPr lang="tr-TR" sz="1800" dirty="0">
                <a:solidFill>
                  <a:srgbClr val="000000"/>
                </a:solidFill>
                <a:highlight>
                  <a:srgbClr val="FFFFFF"/>
                </a:highlight>
                <a:latin typeface="Cascadia Mono" panose="020B0609020000020004" pitchFamily="49" charset="0"/>
              </a:rPr>
              <a:t>}</a:t>
            </a:r>
            <a:r>
              <a:rPr lang="tr-TR" sz="1800" dirty="0">
                <a:solidFill>
                  <a:srgbClr val="A31515"/>
                </a:solidFill>
                <a:highlight>
                  <a:srgbClr val="FFFFFF"/>
                </a:highlight>
                <a:latin typeface="Cascadia Mono" panose="020B0609020000020004" pitchFamily="49" charset="0"/>
              </a:rPr>
              <a:t>"</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p>
          <a:p>
            <a:pPr marL="0" indent="0">
              <a:buNone/>
            </a:pPr>
            <a:r>
              <a:rPr lang="tr-TR" sz="1800" dirty="0">
                <a:solidFill>
                  <a:srgbClr val="000000"/>
                </a:solidFill>
                <a:highlight>
                  <a:srgbClr val="FFFFFF"/>
                </a:highlight>
                <a:latin typeface="Cascadia Mono" panose="020B0609020000020004" pitchFamily="49" charset="0"/>
              </a:rPr>
              <a:t>}</a:t>
            </a:r>
            <a:endParaRPr lang="tr-TR" sz="1800" dirty="0"/>
          </a:p>
        </p:txBody>
      </p:sp>
    </p:spTree>
    <p:extLst>
      <p:ext uri="{BB962C8B-B14F-4D97-AF65-F5344CB8AC3E}">
        <p14:creationId xmlns:p14="http://schemas.microsoft.com/office/powerpoint/2010/main" val="67494981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6FACFF-014D-5016-5D45-564A2095DCC3}"/>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7EE8279E-4A78-3E37-03F9-E6394CD31941}"/>
              </a:ext>
            </a:extLst>
          </p:cNvPr>
          <p:cNvSpPr>
            <a:spLocks noGrp="1"/>
          </p:cNvSpPr>
          <p:nvPr>
            <p:ph type="title"/>
          </p:nvPr>
        </p:nvSpPr>
        <p:spPr>
          <a:xfrm>
            <a:off x="838200" y="248495"/>
            <a:ext cx="10515600" cy="432542"/>
          </a:xfrm>
        </p:spPr>
        <p:txBody>
          <a:bodyPr>
            <a:noAutofit/>
          </a:bodyPr>
          <a:lstStyle/>
          <a:p>
            <a:pPr algn="ctr"/>
            <a:r>
              <a:rPr lang="tr-TR" sz="2800" dirty="0"/>
              <a:t>DÜZELTMELER (SÜTUNLARI GENİŞLETME)</a:t>
            </a:r>
          </a:p>
        </p:txBody>
      </p:sp>
      <p:sp>
        <p:nvSpPr>
          <p:cNvPr id="3" name="İçerik Yer Tutucusu 2">
            <a:extLst>
              <a:ext uri="{FF2B5EF4-FFF2-40B4-BE49-F238E27FC236}">
                <a16:creationId xmlns:a16="http://schemas.microsoft.com/office/drawing/2014/main" id="{25DBB822-C25A-E57E-5ED6-A92D612F086C}"/>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Programımızı tekrar çalıştırdığımızda sütunların tüm </a:t>
            </a:r>
            <a:r>
              <a:rPr lang="tr-TR" sz="1800" dirty="0" err="1"/>
              <a:t>datagridview’i</a:t>
            </a:r>
            <a:r>
              <a:rPr lang="tr-TR" sz="1800" dirty="0"/>
              <a:t> kapladığını görüyoruz.</a:t>
            </a:r>
          </a:p>
          <a:p>
            <a:pPr marL="0" indent="0" algn="just">
              <a:lnSpc>
                <a:spcPct val="100000"/>
              </a:lnSpc>
              <a:spcBef>
                <a:spcPts val="600"/>
              </a:spcBef>
              <a:spcAft>
                <a:spcPts val="600"/>
              </a:spcAft>
              <a:buNone/>
            </a:pPr>
            <a:endParaRPr lang="tr-TR" sz="1800" dirty="0"/>
          </a:p>
        </p:txBody>
      </p:sp>
      <p:pic>
        <p:nvPicPr>
          <p:cNvPr id="5" name="Resim 4" descr="metin, sayı, numara, çizgi, yazı tipi içeren bir resim&#10;&#10;Yapay zeka tarafından oluşturulan içerik yanlış olabilir.">
            <a:extLst>
              <a:ext uri="{FF2B5EF4-FFF2-40B4-BE49-F238E27FC236}">
                <a16:creationId xmlns:a16="http://schemas.microsoft.com/office/drawing/2014/main" id="{AE2B525D-DB25-F31C-3668-4E3336FAC8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3400" y="1561938"/>
            <a:ext cx="11065199" cy="3734124"/>
          </a:xfrm>
          <a:prstGeom prst="rect">
            <a:avLst/>
          </a:prstGeom>
        </p:spPr>
      </p:pic>
    </p:spTree>
    <p:extLst>
      <p:ext uri="{BB962C8B-B14F-4D97-AF65-F5344CB8AC3E}">
        <p14:creationId xmlns:p14="http://schemas.microsoft.com/office/powerpoint/2010/main" val="307194752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E9856-F260-C2B8-1AB2-CFF053D04F93}"/>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2F9675A5-6C8F-B396-1D57-29A731BF74DB}"/>
              </a:ext>
            </a:extLst>
          </p:cNvPr>
          <p:cNvSpPr>
            <a:spLocks noGrp="1"/>
          </p:cNvSpPr>
          <p:nvPr>
            <p:ph type="title"/>
          </p:nvPr>
        </p:nvSpPr>
        <p:spPr>
          <a:xfrm>
            <a:off x="838200" y="248495"/>
            <a:ext cx="10515600" cy="432542"/>
          </a:xfrm>
        </p:spPr>
        <p:txBody>
          <a:bodyPr>
            <a:noAutofit/>
          </a:bodyPr>
          <a:lstStyle/>
          <a:p>
            <a:pPr algn="ctr"/>
            <a:r>
              <a:rPr lang="tr-TR" sz="2800" dirty="0"/>
              <a:t>EKLEME İŞLEMİ (</a:t>
            </a:r>
            <a:r>
              <a:rPr lang="tr-TR" sz="2800" dirty="0" err="1"/>
              <a:t>Insert</a:t>
            </a:r>
            <a:r>
              <a:rPr lang="tr-TR" sz="2800" dirty="0"/>
              <a:t> </a:t>
            </a:r>
            <a:r>
              <a:rPr lang="tr-TR" sz="2800" dirty="0" err="1"/>
              <a:t>Into</a:t>
            </a:r>
            <a:r>
              <a:rPr lang="tr-TR" sz="2800" dirty="0"/>
              <a:t>-Add Operations)</a:t>
            </a:r>
          </a:p>
        </p:txBody>
      </p:sp>
      <p:sp>
        <p:nvSpPr>
          <p:cNvPr id="3" name="İçerik Yer Tutucusu 2">
            <a:extLst>
              <a:ext uri="{FF2B5EF4-FFF2-40B4-BE49-F238E27FC236}">
                <a16:creationId xmlns:a16="http://schemas.microsoft.com/office/drawing/2014/main" id="{369C280E-D6B0-A3C8-CCAA-67878E1694BE}"/>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Şimdi de </a:t>
            </a:r>
            <a:r>
              <a:rPr lang="tr-TR" sz="1800" dirty="0" err="1"/>
              <a:t>form’da</a:t>
            </a:r>
            <a:r>
              <a:rPr lang="tr-TR" sz="1800" dirty="0"/>
              <a:t> yer alan EKLE yazan butona çift tıklıyoruz. İlk olarak try-catch bloklarını açıp </a:t>
            </a:r>
            <a:r>
              <a:rPr lang="tr-TR" sz="1800" dirty="0" err="1"/>
              <a:t>catch</a:t>
            </a:r>
            <a:r>
              <a:rPr lang="tr-TR" sz="1800" dirty="0"/>
              <a:t> blokunu hata mesajını verecek şekilde düzenliyoruz. Buna göre </a:t>
            </a:r>
            <a:r>
              <a:rPr lang="tr-TR" sz="1800" dirty="0" err="1"/>
              <a:t>btn_ekle’nin</a:t>
            </a:r>
            <a:r>
              <a:rPr lang="tr-TR" sz="1800" dirty="0"/>
              <a:t> kodları aşağıdaki gibi olacaktır:</a:t>
            </a:r>
          </a:p>
          <a:p>
            <a:pPr marL="0" indent="0">
              <a:buNone/>
            </a:pPr>
            <a:r>
              <a:rPr lang="tr-TR" sz="1800" dirty="0" err="1">
                <a:solidFill>
                  <a:srgbClr val="0000FF"/>
                </a:solidFill>
                <a:highlight>
                  <a:srgbClr val="FFFFFF"/>
                </a:highlight>
                <a:latin typeface="Cascadia Mono" panose="020B0609020000020004" pitchFamily="49" charset="0"/>
              </a:rPr>
              <a:t>private</a:t>
            </a:r>
            <a:r>
              <a:rPr lang="tr-TR" sz="1800" dirty="0">
                <a:solidFill>
                  <a:srgbClr val="000000"/>
                </a:solidFill>
                <a:highlight>
                  <a:srgbClr val="FFFFFF"/>
                </a:highlight>
                <a:latin typeface="Cascadia Mono" panose="020B0609020000020004" pitchFamily="49" charset="0"/>
              </a:rPr>
              <a:t> </a:t>
            </a:r>
            <a:r>
              <a:rPr lang="tr-TR" sz="1800" dirty="0">
                <a:solidFill>
                  <a:srgbClr val="0000FF"/>
                </a:solidFill>
                <a:highlight>
                  <a:srgbClr val="FFFFFF"/>
                </a:highlight>
                <a:latin typeface="Cascadia Mono" panose="020B0609020000020004" pitchFamily="49" charset="0"/>
              </a:rPr>
              <a:t>void</a:t>
            </a: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btn_ekle_Click</a:t>
            </a:r>
            <a:r>
              <a:rPr lang="tr-TR" sz="1800" dirty="0">
                <a:solidFill>
                  <a:srgbClr val="000000"/>
                </a:solidFill>
                <a:highlight>
                  <a:srgbClr val="FFFFFF"/>
                </a:highlight>
                <a:latin typeface="Cascadia Mono" panose="020B0609020000020004" pitchFamily="49" charset="0"/>
              </a:rPr>
              <a:t>(</a:t>
            </a:r>
            <a:r>
              <a:rPr lang="tr-TR" sz="1800" dirty="0" err="1">
                <a:solidFill>
                  <a:srgbClr val="0000FF"/>
                </a:solidFill>
                <a:highlight>
                  <a:srgbClr val="FFFFFF"/>
                </a:highlight>
                <a:latin typeface="Cascadia Mono" panose="020B0609020000020004" pitchFamily="49" charset="0"/>
              </a:rPr>
              <a:t>object</a:t>
            </a: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sender</a:t>
            </a: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EventArgs</a:t>
            </a:r>
            <a:r>
              <a:rPr lang="tr-TR" sz="1800" dirty="0">
                <a:solidFill>
                  <a:srgbClr val="000000"/>
                </a:solidFill>
                <a:highlight>
                  <a:srgbClr val="FFFFFF"/>
                </a:highlight>
                <a:latin typeface="Cascadia Mono" panose="020B0609020000020004" pitchFamily="49" charset="0"/>
              </a:rPr>
              <a:t> e)</a:t>
            </a:r>
          </a:p>
          <a:p>
            <a:pPr marL="0" indent="0">
              <a:buNone/>
            </a:pP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0000FF"/>
                </a:solidFill>
                <a:highlight>
                  <a:srgbClr val="FFFFFF"/>
                </a:highlight>
                <a:latin typeface="Cascadia Mono" panose="020B0609020000020004" pitchFamily="49" charset="0"/>
              </a:rPr>
              <a:t>try</a:t>
            </a:r>
            <a:endParaRPr lang="tr-TR" sz="1800" dirty="0">
              <a:solidFill>
                <a:srgbClr val="0000FF"/>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    {</a:t>
            </a:r>
          </a:p>
          <a:p>
            <a:pPr marL="0" indent="0">
              <a:buNone/>
            </a:pPr>
            <a:endParaRPr lang="tr-TR" sz="1800" dirty="0">
              <a:solidFill>
                <a:srgbClr val="000000"/>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    }</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0000FF"/>
                </a:solidFill>
                <a:highlight>
                  <a:srgbClr val="FFFFFF"/>
                </a:highlight>
                <a:latin typeface="Cascadia Mono" panose="020B0609020000020004" pitchFamily="49" charset="0"/>
              </a:rPr>
              <a:t>catch</a:t>
            </a: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Exception</a:t>
            </a: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ex</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p>
          <a:p>
            <a:pPr marL="0" indent="0">
              <a:buNone/>
            </a:pPr>
            <a:endParaRPr lang="tr-TR" sz="1800" dirty="0">
              <a:solidFill>
                <a:srgbClr val="000000"/>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MessageBox</a:t>
            </a:r>
            <a:r>
              <a:rPr lang="tr-TR" sz="1800" dirty="0" err="1">
                <a:solidFill>
                  <a:srgbClr val="000000"/>
                </a:solidFill>
                <a:highlight>
                  <a:srgbClr val="FFFFFF"/>
                </a:highlight>
                <a:latin typeface="Cascadia Mono" panose="020B0609020000020004" pitchFamily="49" charset="0"/>
              </a:rPr>
              <a:t>.Show</a:t>
            </a:r>
            <a:r>
              <a:rPr lang="tr-TR" sz="1800" dirty="0">
                <a:solidFill>
                  <a:srgbClr val="000000"/>
                </a:solidFill>
                <a:highlight>
                  <a:srgbClr val="FFFFFF"/>
                </a:highlight>
                <a:latin typeface="Cascadia Mono" panose="020B0609020000020004" pitchFamily="49" charset="0"/>
              </a:rPr>
              <a:t>(</a:t>
            </a:r>
            <a:r>
              <a:rPr lang="tr-TR" sz="1800" dirty="0">
                <a:solidFill>
                  <a:srgbClr val="A31515"/>
                </a:solidFill>
                <a:highlight>
                  <a:srgbClr val="FFFFFF"/>
                </a:highlight>
                <a:latin typeface="Cascadia Mono" panose="020B0609020000020004" pitchFamily="49" charset="0"/>
              </a:rPr>
              <a:t>$"Hata = </a:t>
            </a:r>
            <a:r>
              <a:rPr lang="tr-TR" sz="1800" dirty="0">
                <a:solidFill>
                  <a:srgbClr val="000000"/>
                </a:solidFill>
                <a:highlight>
                  <a:srgbClr val="FFFFFF"/>
                </a:highlight>
                <a:latin typeface="Cascadia Mono" panose="020B0609020000020004" pitchFamily="49" charset="0"/>
              </a:rPr>
              <a:t>{</a:t>
            </a:r>
            <a:r>
              <a:rPr lang="tr-TR" sz="1800" dirty="0" err="1">
                <a:solidFill>
                  <a:srgbClr val="000000"/>
                </a:solidFill>
                <a:highlight>
                  <a:srgbClr val="FFFFFF"/>
                </a:highlight>
                <a:latin typeface="Cascadia Mono" panose="020B0609020000020004" pitchFamily="49" charset="0"/>
              </a:rPr>
              <a:t>ex.Message</a:t>
            </a:r>
            <a:r>
              <a:rPr lang="tr-TR" sz="1800" dirty="0">
                <a:solidFill>
                  <a:srgbClr val="000000"/>
                </a:solidFill>
                <a:highlight>
                  <a:srgbClr val="FFFFFF"/>
                </a:highlight>
                <a:latin typeface="Cascadia Mono" panose="020B0609020000020004" pitchFamily="49" charset="0"/>
              </a:rPr>
              <a:t>}</a:t>
            </a:r>
            <a:r>
              <a:rPr lang="tr-TR" sz="1800" dirty="0">
                <a:solidFill>
                  <a:srgbClr val="A31515"/>
                </a:solidFill>
                <a:highlight>
                  <a:srgbClr val="FFFFFF"/>
                </a:highlight>
                <a:latin typeface="Cascadia Mono" panose="020B0609020000020004" pitchFamily="49" charset="0"/>
              </a:rPr>
              <a:t>"</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p>
          <a:p>
            <a:pPr marL="0" indent="0">
              <a:buNone/>
            </a:pPr>
            <a:r>
              <a:rPr lang="tr-TR" sz="1800" dirty="0">
                <a:solidFill>
                  <a:srgbClr val="000000"/>
                </a:solidFill>
                <a:highlight>
                  <a:srgbClr val="FFFFFF"/>
                </a:highlight>
                <a:latin typeface="Cascadia Mono" panose="020B0609020000020004" pitchFamily="49" charset="0"/>
              </a:rPr>
              <a:t>}</a:t>
            </a:r>
            <a:endParaRPr lang="tr-TR" sz="1800" dirty="0"/>
          </a:p>
        </p:txBody>
      </p:sp>
    </p:spTree>
    <p:extLst>
      <p:ext uri="{BB962C8B-B14F-4D97-AF65-F5344CB8AC3E}">
        <p14:creationId xmlns:p14="http://schemas.microsoft.com/office/powerpoint/2010/main" val="63370670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2A3ED0-4B2E-7F46-2E55-B5844154FE37}"/>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E52E5C9E-9690-F493-0D3C-6E41DA781D93}"/>
              </a:ext>
            </a:extLst>
          </p:cNvPr>
          <p:cNvSpPr>
            <a:spLocks noGrp="1"/>
          </p:cNvSpPr>
          <p:nvPr>
            <p:ph type="title"/>
          </p:nvPr>
        </p:nvSpPr>
        <p:spPr>
          <a:xfrm>
            <a:off x="838200" y="248495"/>
            <a:ext cx="10515600" cy="432542"/>
          </a:xfrm>
        </p:spPr>
        <p:txBody>
          <a:bodyPr>
            <a:noAutofit/>
          </a:bodyPr>
          <a:lstStyle/>
          <a:p>
            <a:pPr algn="ctr"/>
            <a:r>
              <a:rPr lang="tr-TR" sz="2800" dirty="0"/>
              <a:t>EKLEME İŞLEMİ (</a:t>
            </a:r>
            <a:r>
              <a:rPr lang="tr-TR" sz="2800" dirty="0" err="1"/>
              <a:t>Insert</a:t>
            </a:r>
            <a:r>
              <a:rPr lang="tr-TR" sz="2800" dirty="0"/>
              <a:t> </a:t>
            </a:r>
            <a:r>
              <a:rPr lang="tr-TR" sz="2800" dirty="0" err="1"/>
              <a:t>Into</a:t>
            </a:r>
            <a:r>
              <a:rPr lang="tr-TR" sz="2800" dirty="0"/>
              <a:t>-Add Operations)</a:t>
            </a:r>
          </a:p>
        </p:txBody>
      </p:sp>
      <p:sp>
        <p:nvSpPr>
          <p:cNvPr id="3" name="İçerik Yer Tutucusu 2">
            <a:extLst>
              <a:ext uri="{FF2B5EF4-FFF2-40B4-BE49-F238E27FC236}">
                <a16:creationId xmlns:a16="http://schemas.microsoft.com/office/drawing/2014/main" id="{2AC33BF8-17B6-2DCB-381F-4DC57EF96BA9}"/>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İlk olarak, Customer sınıfından yeni bir </a:t>
            </a:r>
            <a:r>
              <a:rPr lang="tr-TR" sz="1800" dirty="0" err="1"/>
              <a:t>instance</a:t>
            </a:r>
            <a:r>
              <a:rPr lang="tr-TR" sz="1800" dirty="0"/>
              <a:t> üreteceğiz. Customer sınıfı, SQL’deki Table_Customer tablosuna karşılık geliyordu. Nasıl ki </a:t>
            </a:r>
            <a:r>
              <a:rPr lang="tr-TR" sz="1800" dirty="0" err="1"/>
              <a:t>Table_Customer’in</a:t>
            </a:r>
            <a:r>
              <a:rPr lang="tr-TR" sz="1800" dirty="0"/>
              <a:t> 4 adet sütunu varsa, aynı şekilde C# tarafında bu 4 sütuna karşılık gelen 4 adet özellik (</a:t>
            </a:r>
            <a:r>
              <a:rPr lang="tr-TR" sz="1800" dirty="0" err="1"/>
              <a:t>property</a:t>
            </a:r>
            <a:r>
              <a:rPr lang="tr-TR" sz="1800" dirty="0"/>
              <a:t>) tanımlamıştık.</a:t>
            </a:r>
          </a:p>
          <a:p>
            <a:pPr marL="0" indent="0" algn="just">
              <a:lnSpc>
                <a:spcPct val="100000"/>
              </a:lnSpc>
              <a:spcBef>
                <a:spcPts val="600"/>
              </a:spcBef>
              <a:spcAft>
                <a:spcPts val="600"/>
              </a:spcAft>
              <a:buNone/>
            </a:pPr>
            <a:r>
              <a:rPr lang="tr-TR" sz="1800" dirty="0"/>
              <a:t>Dolayısıyla yeni bir müşteri ekleyeceğimiz zaman Customer sınıfından yeni bir </a:t>
            </a:r>
            <a:r>
              <a:rPr lang="tr-TR" sz="1800" dirty="0" err="1"/>
              <a:t>instance</a:t>
            </a:r>
            <a:r>
              <a:rPr lang="tr-TR" sz="1800" dirty="0"/>
              <a:t> türetmemiz lazım.</a:t>
            </a:r>
          </a:p>
          <a:p>
            <a:pPr marL="0" indent="0" algn="just">
              <a:lnSpc>
                <a:spcPct val="100000"/>
              </a:lnSpc>
              <a:spcBef>
                <a:spcPts val="600"/>
              </a:spcBef>
              <a:spcAft>
                <a:spcPts val="600"/>
              </a:spcAft>
              <a:buNone/>
            </a:pPr>
            <a:r>
              <a:rPr lang="tr-TR" sz="1800" dirty="0"/>
              <a:t>Bu örneği ilk türettiğimizde 4 adet veriyi de o anda dolduracağız. Yani bu müşterinin isim bilgisini </a:t>
            </a:r>
            <a:r>
              <a:rPr lang="tr-TR" sz="1800" dirty="0" err="1"/>
              <a:t>txt_isim’den</a:t>
            </a:r>
            <a:r>
              <a:rPr lang="tr-TR" sz="1800" dirty="0"/>
              <a:t> çekeceğiz ve diğer özelliklerini de diğer </a:t>
            </a:r>
            <a:r>
              <a:rPr lang="tr-TR" sz="1800" dirty="0" err="1"/>
              <a:t>textbox’lardan</a:t>
            </a:r>
            <a:r>
              <a:rPr lang="tr-TR" sz="1800" dirty="0"/>
              <a:t> çekeceğiz.</a:t>
            </a:r>
          </a:p>
          <a:p>
            <a:pPr marL="0" indent="0" algn="just">
              <a:lnSpc>
                <a:spcPct val="100000"/>
              </a:lnSpc>
              <a:spcBef>
                <a:spcPts val="600"/>
              </a:spcBef>
              <a:spcAft>
                <a:spcPts val="600"/>
              </a:spcAft>
              <a:buNone/>
            </a:pPr>
            <a:r>
              <a:rPr lang="tr-TR" sz="1800" dirty="0"/>
              <a:t>İlk olarak Customer sınıfından bir </a:t>
            </a:r>
            <a:r>
              <a:rPr lang="tr-TR" sz="1800" dirty="0" err="1"/>
              <a:t>instance</a:t>
            </a:r>
            <a:r>
              <a:rPr lang="tr-TR" sz="1800" dirty="0"/>
              <a:t> üretip ilk aşamada (yapılandırıcı metot çalıştığında) ilgili </a:t>
            </a:r>
            <a:r>
              <a:rPr lang="tr-TR" sz="1800" dirty="0" err="1"/>
              <a:t>textbox’lardaki</a:t>
            </a:r>
            <a:r>
              <a:rPr lang="tr-TR" sz="1800" dirty="0"/>
              <a:t> değerleri bu yeni </a:t>
            </a:r>
            <a:r>
              <a:rPr lang="tr-TR" sz="1800" dirty="0" err="1"/>
              <a:t>instance’ye</a:t>
            </a:r>
            <a:r>
              <a:rPr lang="tr-TR" sz="1800" dirty="0"/>
              <a:t> atayacağız. Kodlar sonraki sayfada yer almaktadır.</a:t>
            </a:r>
          </a:p>
        </p:txBody>
      </p:sp>
    </p:spTree>
    <p:extLst>
      <p:ext uri="{BB962C8B-B14F-4D97-AF65-F5344CB8AC3E}">
        <p14:creationId xmlns:p14="http://schemas.microsoft.com/office/powerpoint/2010/main" val="177160755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FBF59-D838-F900-3E71-F7DCE1D0E636}"/>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9D1C69E0-216C-E2BE-F1D4-B92262869CDE}"/>
              </a:ext>
            </a:extLst>
          </p:cNvPr>
          <p:cNvSpPr>
            <a:spLocks noGrp="1"/>
          </p:cNvSpPr>
          <p:nvPr>
            <p:ph type="title"/>
          </p:nvPr>
        </p:nvSpPr>
        <p:spPr>
          <a:xfrm>
            <a:off x="838200" y="248495"/>
            <a:ext cx="10515600" cy="432542"/>
          </a:xfrm>
        </p:spPr>
        <p:txBody>
          <a:bodyPr>
            <a:noAutofit/>
          </a:bodyPr>
          <a:lstStyle/>
          <a:p>
            <a:pPr algn="ctr"/>
            <a:r>
              <a:rPr lang="tr-TR" sz="2800" dirty="0"/>
              <a:t>EKLEME İŞLEMİ (</a:t>
            </a:r>
            <a:r>
              <a:rPr lang="tr-TR" sz="2800" dirty="0" err="1"/>
              <a:t>Insert</a:t>
            </a:r>
            <a:r>
              <a:rPr lang="tr-TR" sz="2800" dirty="0"/>
              <a:t> </a:t>
            </a:r>
            <a:r>
              <a:rPr lang="tr-TR" sz="2800" dirty="0" err="1"/>
              <a:t>Into</a:t>
            </a:r>
            <a:r>
              <a:rPr lang="tr-TR" sz="2800" dirty="0"/>
              <a:t>-Add Operations)</a:t>
            </a:r>
          </a:p>
        </p:txBody>
      </p:sp>
      <p:sp>
        <p:nvSpPr>
          <p:cNvPr id="3" name="İçerik Yer Tutucusu 2">
            <a:extLst>
              <a:ext uri="{FF2B5EF4-FFF2-40B4-BE49-F238E27FC236}">
                <a16:creationId xmlns:a16="http://schemas.microsoft.com/office/drawing/2014/main" id="{6ADAAA64-2537-406A-150D-20424F40B8E1}"/>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Customer </a:t>
            </a:r>
            <a:r>
              <a:rPr lang="tr-TR" sz="1800" dirty="0" err="1"/>
              <a:t>newCustomer</a:t>
            </a:r>
            <a:r>
              <a:rPr lang="tr-TR" sz="1800" dirty="0"/>
              <a:t> = </a:t>
            </a:r>
            <a:r>
              <a:rPr lang="tr-TR" sz="1800" dirty="0" err="1"/>
              <a:t>new</a:t>
            </a:r>
            <a:r>
              <a:rPr lang="tr-TR" sz="1800" dirty="0"/>
              <a:t> Customer()</a:t>
            </a:r>
          </a:p>
          <a:p>
            <a:pPr marL="0" indent="0" algn="just">
              <a:lnSpc>
                <a:spcPct val="100000"/>
              </a:lnSpc>
              <a:spcBef>
                <a:spcPts val="600"/>
              </a:spcBef>
              <a:spcAft>
                <a:spcPts val="600"/>
              </a:spcAft>
              <a:buNone/>
            </a:pPr>
            <a:r>
              <a:rPr lang="tr-TR" sz="1800" dirty="0"/>
              <a:t>    {</a:t>
            </a:r>
          </a:p>
          <a:p>
            <a:pPr marL="0" indent="0" algn="just">
              <a:lnSpc>
                <a:spcPct val="100000"/>
              </a:lnSpc>
              <a:spcBef>
                <a:spcPts val="600"/>
              </a:spcBef>
              <a:spcAft>
                <a:spcPts val="600"/>
              </a:spcAft>
              <a:buNone/>
            </a:pPr>
            <a:r>
              <a:rPr lang="tr-TR" sz="1800" dirty="0"/>
              <a:t>        </a:t>
            </a:r>
            <a:r>
              <a:rPr lang="tr-TR" sz="1800" dirty="0" err="1"/>
              <a:t>Customer_Name</a:t>
            </a:r>
            <a:r>
              <a:rPr lang="tr-TR" sz="1800" dirty="0"/>
              <a:t> = </a:t>
            </a:r>
            <a:r>
              <a:rPr lang="tr-TR" sz="1800" dirty="0" err="1"/>
              <a:t>txtName.Text</a:t>
            </a:r>
            <a:r>
              <a:rPr lang="tr-TR" sz="1800" dirty="0"/>
              <a:t>,</a:t>
            </a:r>
          </a:p>
          <a:p>
            <a:pPr marL="0" indent="0" algn="just">
              <a:lnSpc>
                <a:spcPct val="100000"/>
              </a:lnSpc>
              <a:spcBef>
                <a:spcPts val="600"/>
              </a:spcBef>
              <a:spcAft>
                <a:spcPts val="600"/>
              </a:spcAft>
              <a:buNone/>
            </a:pPr>
            <a:r>
              <a:rPr lang="tr-TR" sz="1800" dirty="0"/>
              <a:t>        </a:t>
            </a:r>
            <a:r>
              <a:rPr lang="tr-TR" sz="1800" dirty="0" err="1"/>
              <a:t>Customer_Surname</a:t>
            </a:r>
            <a:r>
              <a:rPr lang="tr-TR" sz="1800" dirty="0"/>
              <a:t> = </a:t>
            </a:r>
            <a:r>
              <a:rPr lang="tr-TR" sz="1800" dirty="0" err="1"/>
              <a:t>txtSurname.Text</a:t>
            </a:r>
            <a:r>
              <a:rPr lang="tr-TR" sz="1800" dirty="0"/>
              <a:t>,</a:t>
            </a:r>
          </a:p>
          <a:p>
            <a:pPr marL="0" indent="0" algn="just">
              <a:lnSpc>
                <a:spcPct val="100000"/>
              </a:lnSpc>
              <a:spcBef>
                <a:spcPts val="600"/>
              </a:spcBef>
              <a:spcAft>
                <a:spcPts val="600"/>
              </a:spcAft>
              <a:buNone/>
            </a:pPr>
            <a:r>
              <a:rPr lang="tr-TR" sz="1800" dirty="0"/>
              <a:t>        </a:t>
            </a:r>
            <a:r>
              <a:rPr lang="tr-TR" sz="1800" dirty="0" err="1"/>
              <a:t>Customer_email</a:t>
            </a:r>
            <a:r>
              <a:rPr lang="tr-TR" sz="1800" dirty="0"/>
              <a:t> = </a:t>
            </a:r>
            <a:r>
              <a:rPr lang="tr-TR" sz="1800" dirty="0" err="1"/>
              <a:t>txtEmail.Text</a:t>
            </a:r>
            <a:r>
              <a:rPr lang="tr-TR" sz="1800" dirty="0"/>
              <a:t>,</a:t>
            </a:r>
          </a:p>
          <a:p>
            <a:pPr marL="0" indent="0" algn="just">
              <a:lnSpc>
                <a:spcPct val="100000"/>
              </a:lnSpc>
              <a:spcBef>
                <a:spcPts val="600"/>
              </a:spcBef>
              <a:spcAft>
                <a:spcPts val="600"/>
              </a:spcAft>
              <a:buNone/>
            </a:pPr>
            <a:r>
              <a:rPr lang="tr-TR" sz="1800" dirty="0"/>
              <a:t>        </a:t>
            </a:r>
            <a:r>
              <a:rPr lang="tr-TR" sz="1800" dirty="0" err="1"/>
              <a:t>Customer_telephone</a:t>
            </a:r>
            <a:r>
              <a:rPr lang="tr-TR" sz="1800" dirty="0"/>
              <a:t> = </a:t>
            </a:r>
            <a:r>
              <a:rPr lang="tr-TR" sz="1800" dirty="0" err="1"/>
              <a:t>txtPhone.Text</a:t>
            </a:r>
            <a:endParaRPr lang="tr-TR" sz="1800" dirty="0"/>
          </a:p>
          <a:p>
            <a:pPr marL="0" indent="0" algn="just">
              <a:lnSpc>
                <a:spcPct val="100000"/>
              </a:lnSpc>
              <a:spcBef>
                <a:spcPts val="600"/>
              </a:spcBef>
              <a:spcAft>
                <a:spcPts val="600"/>
              </a:spcAft>
              <a:buNone/>
            </a:pPr>
            <a:r>
              <a:rPr lang="tr-TR" sz="1800" dirty="0"/>
              <a:t>    };</a:t>
            </a:r>
          </a:p>
          <a:p>
            <a:pPr marL="0" indent="0" algn="just">
              <a:lnSpc>
                <a:spcPct val="100000"/>
              </a:lnSpc>
              <a:spcBef>
                <a:spcPts val="600"/>
              </a:spcBef>
              <a:spcAft>
                <a:spcPts val="600"/>
              </a:spcAft>
              <a:buNone/>
            </a:pPr>
            <a:endParaRPr lang="tr-TR" sz="1800" dirty="0"/>
          </a:p>
        </p:txBody>
      </p:sp>
      <p:pic>
        <p:nvPicPr>
          <p:cNvPr id="5" name="Resim 4" descr="metin, ekran görüntüsü, yazılım, yazı tipi içeren bir resim&#10;&#10;Yapay zeka tarafından oluşturulan içerik yanlış olabilir.">
            <a:extLst>
              <a:ext uri="{FF2B5EF4-FFF2-40B4-BE49-F238E27FC236}">
                <a16:creationId xmlns:a16="http://schemas.microsoft.com/office/drawing/2014/main" id="{B45AE9B5-F584-05AF-F3E6-EE04649D11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01976" y="2736425"/>
            <a:ext cx="5751824" cy="3993173"/>
          </a:xfrm>
          <a:prstGeom prst="rect">
            <a:avLst/>
          </a:prstGeom>
        </p:spPr>
      </p:pic>
    </p:spTree>
    <p:extLst>
      <p:ext uri="{BB962C8B-B14F-4D97-AF65-F5344CB8AC3E}">
        <p14:creationId xmlns:p14="http://schemas.microsoft.com/office/powerpoint/2010/main" val="318537995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9896AB-5AD4-08D8-3B4B-7B67C18949A3}"/>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D1259A6B-4618-6D3A-E8E0-019F09F98EDE}"/>
              </a:ext>
            </a:extLst>
          </p:cNvPr>
          <p:cNvSpPr>
            <a:spLocks noGrp="1"/>
          </p:cNvSpPr>
          <p:nvPr>
            <p:ph type="title"/>
          </p:nvPr>
        </p:nvSpPr>
        <p:spPr>
          <a:xfrm>
            <a:off x="838200" y="248495"/>
            <a:ext cx="10515600" cy="432542"/>
          </a:xfrm>
        </p:spPr>
        <p:txBody>
          <a:bodyPr>
            <a:noAutofit/>
          </a:bodyPr>
          <a:lstStyle/>
          <a:p>
            <a:pPr algn="ctr"/>
            <a:r>
              <a:rPr lang="tr-TR" sz="2800" dirty="0"/>
              <a:t>EKLEME İŞLEMİ (</a:t>
            </a:r>
            <a:r>
              <a:rPr lang="tr-TR" sz="2800" dirty="0" err="1"/>
              <a:t>Insert</a:t>
            </a:r>
            <a:r>
              <a:rPr lang="tr-TR" sz="2800" dirty="0"/>
              <a:t> </a:t>
            </a:r>
            <a:r>
              <a:rPr lang="tr-TR" sz="2800" dirty="0" err="1"/>
              <a:t>Into</a:t>
            </a:r>
            <a:r>
              <a:rPr lang="tr-TR" sz="2800" dirty="0"/>
              <a:t>-Add Operations)</a:t>
            </a:r>
          </a:p>
        </p:txBody>
      </p:sp>
      <p:sp>
        <p:nvSpPr>
          <p:cNvPr id="3" name="İçerik Yer Tutucusu 2">
            <a:extLst>
              <a:ext uri="{FF2B5EF4-FFF2-40B4-BE49-F238E27FC236}">
                <a16:creationId xmlns:a16="http://schemas.microsoft.com/office/drawing/2014/main" id="{E6B82AB0-9479-9294-D70F-AF0B17767A84}"/>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Şimdi de, değerleri atadıktan sonra bu değerlere sahip olan yeni müşteriyi ekliyoruz. Bunun için aşağıdaki kodları yazıyoruz:</a:t>
            </a:r>
          </a:p>
          <a:p>
            <a:pPr marL="0" indent="0" algn="just">
              <a:lnSpc>
                <a:spcPct val="100000"/>
              </a:lnSpc>
              <a:spcBef>
                <a:spcPts val="600"/>
              </a:spcBef>
              <a:spcAft>
                <a:spcPts val="600"/>
              </a:spcAft>
              <a:buNone/>
            </a:pPr>
            <a:r>
              <a:rPr lang="tr-TR" sz="1800" dirty="0" err="1"/>
              <a:t>db.Customers.Add</a:t>
            </a:r>
            <a:r>
              <a:rPr lang="tr-TR" sz="1800" dirty="0"/>
              <a:t>(</a:t>
            </a:r>
            <a:r>
              <a:rPr lang="tr-TR" sz="1800" dirty="0" err="1"/>
              <a:t>newCustomer</a:t>
            </a:r>
            <a:r>
              <a:rPr lang="tr-TR" sz="1800" dirty="0"/>
              <a:t>);</a:t>
            </a:r>
          </a:p>
          <a:p>
            <a:pPr marL="0" indent="0" algn="just">
              <a:lnSpc>
                <a:spcPct val="100000"/>
              </a:lnSpc>
              <a:spcBef>
                <a:spcPts val="600"/>
              </a:spcBef>
              <a:spcAft>
                <a:spcPts val="600"/>
              </a:spcAft>
              <a:buNone/>
            </a:pPr>
            <a:r>
              <a:rPr lang="tr-TR" sz="1800" dirty="0" err="1"/>
              <a:t>db.SaveChanges</a:t>
            </a:r>
            <a:r>
              <a:rPr lang="tr-TR" sz="1800" dirty="0"/>
              <a:t>();</a:t>
            </a:r>
          </a:p>
          <a:p>
            <a:pPr marL="0" indent="0" algn="just">
              <a:lnSpc>
                <a:spcPct val="100000"/>
              </a:lnSpc>
              <a:spcBef>
                <a:spcPts val="600"/>
              </a:spcBef>
              <a:spcAft>
                <a:spcPts val="600"/>
              </a:spcAft>
              <a:buNone/>
            </a:pPr>
            <a:endParaRPr lang="tr-TR" sz="1800" dirty="0"/>
          </a:p>
          <a:p>
            <a:pPr marL="0" indent="0" algn="just">
              <a:lnSpc>
                <a:spcPct val="100000"/>
              </a:lnSpc>
              <a:spcBef>
                <a:spcPts val="600"/>
              </a:spcBef>
              <a:spcAft>
                <a:spcPts val="600"/>
              </a:spcAft>
              <a:buNone/>
            </a:pPr>
            <a:r>
              <a:rPr lang="tr-TR" sz="1800" dirty="0"/>
              <a:t>Listeleme işlemi için </a:t>
            </a:r>
            <a:r>
              <a:rPr lang="tr-TR" sz="1800" dirty="0" err="1"/>
              <a:t>db.Customers’in</a:t>
            </a:r>
            <a:r>
              <a:rPr lang="tr-TR" sz="1800" dirty="0"/>
              <a:t> altındaki </a:t>
            </a:r>
            <a:r>
              <a:rPr lang="tr-TR" sz="1800" dirty="0" err="1"/>
              <a:t>ToList</a:t>
            </a:r>
            <a:r>
              <a:rPr lang="tr-TR" sz="1800" dirty="0"/>
              <a:t>() metodunu çalıştırmıştık. Veri eklemek için ise </a:t>
            </a:r>
            <a:r>
              <a:rPr lang="tr-TR" sz="1800" dirty="0" err="1"/>
              <a:t>db.Customers’in</a:t>
            </a:r>
            <a:r>
              <a:rPr lang="tr-TR" sz="1800" dirty="0"/>
              <a:t> altındaki Add metodunu çalıştırıyoruz. Bu metot, parametre aldığı için yeni eklenecek müşteriyi de az önce oluşturduğumuz ve ilgili </a:t>
            </a:r>
            <a:r>
              <a:rPr lang="tr-TR" sz="1800" dirty="0" err="1"/>
              <a:t>textbox’lardaki</a:t>
            </a:r>
            <a:r>
              <a:rPr lang="tr-TR" sz="1800" dirty="0"/>
              <a:t> değerleri atadığımız nesne olarak belirliyoruz.</a:t>
            </a:r>
          </a:p>
          <a:p>
            <a:pPr marL="0" indent="0" algn="just">
              <a:lnSpc>
                <a:spcPct val="100000"/>
              </a:lnSpc>
              <a:spcBef>
                <a:spcPts val="600"/>
              </a:spcBef>
              <a:spcAft>
                <a:spcPts val="600"/>
              </a:spcAft>
              <a:buNone/>
            </a:pPr>
            <a:r>
              <a:rPr lang="tr-TR" sz="1800" dirty="0" err="1"/>
              <a:t>db.SaveChanges</a:t>
            </a:r>
            <a:r>
              <a:rPr lang="tr-TR" sz="1800" dirty="0"/>
              <a:t>(); metodu ile de değişiklikleri uyguluyoruz.</a:t>
            </a:r>
          </a:p>
          <a:p>
            <a:pPr marL="0" indent="0" algn="just">
              <a:lnSpc>
                <a:spcPct val="100000"/>
              </a:lnSpc>
              <a:spcBef>
                <a:spcPts val="600"/>
              </a:spcBef>
              <a:spcAft>
                <a:spcPts val="600"/>
              </a:spcAft>
              <a:buNone/>
            </a:pPr>
            <a:r>
              <a:rPr lang="tr-TR" sz="1800" dirty="0"/>
              <a:t>Buna göre </a:t>
            </a:r>
            <a:r>
              <a:rPr lang="tr-TR" sz="1800" dirty="0" err="1"/>
              <a:t>btn_ekle’nin</a:t>
            </a:r>
            <a:r>
              <a:rPr lang="tr-TR" sz="1800" dirty="0"/>
              <a:t> son kodları sonraki sayfadaki gibi olmalıdır.</a:t>
            </a:r>
          </a:p>
        </p:txBody>
      </p:sp>
    </p:spTree>
    <p:extLst>
      <p:ext uri="{BB962C8B-B14F-4D97-AF65-F5344CB8AC3E}">
        <p14:creationId xmlns:p14="http://schemas.microsoft.com/office/powerpoint/2010/main" val="206220824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CB0EC-E3C0-14C3-66A9-C827FF3DBCAD}"/>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38BB2DBC-CDA8-599B-B1CC-BC73379A966C}"/>
              </a:ext>
            </a:extLst>
          </p:cNvPr>
          <p:cNvSpPr>
            <a:spLocks noGrp="1"/>
          </p:cNvSpPr>
          <p:nvPr>
            <p:ph type="title"/>
          </p:nvPr>
        </p:nvSpPr>
        <p:spPr>
          <a:xfrm>
            <a:off x="838200" y="248495"/>
            <a:ext cx="10515600" cy="432542"/>
          </a:xfrm>
        </p:spPr>
        <p:txBody>
          <a:bodyPr>
            <a:noAutofit/>
          </a:bodyPr>
          <a:lstStyle/>
          <a:p>
            <a:pPr algn="ctr"/>
            <a:r>
              <a:rPr lang="tr-TR" sz="2800" dirty="0"/>
              <a:t>EKLEME İŞLEMİ (</a:t>
            </a:r>
            <a:r>
              <a:rPr lang="tr-TR" sz="2800" dirty="0" err="1"/>
              <a:t>Insert</a:t>
            </a:r>
            <a:r>
              <a:rPr lang="tr-TR" sz="2800" dirty="0"/>
              <a:t> </a:t>
            </a:r>
            <a:r>
              <a:rPr lang="tr-TR" sz="2800" dirty="0" err="1"/>
              <a:t>Into</a:t>
            </a:r>
            <a:r>
              <a:rPr lang="tr-TR" sz="2800" dirty="0"/>
              <a:t>-Add Operations)</a:t>
            </a:r>
          </a:p>
        </p:txBody>
      </p:sp>
      <p:sp>
        <p:nvSpPr>
          <p:cNvPr id="3" name="İçerik Yer Tutucusu 2">
            <a:extLst>
              <a:ext uri="{FF2B5EF4-FFF2-40B4-BE49-F238E27FC236}">
                <a16:creationId xmlns:a16="http://schemas.microsoft.com/office/drawing/2014/main" id="{A100500C-7C07-98DC-2EA2-880A8E189D35}"/>
              </a:ext>
            </a:extLst>
          </p:cNvPr>
          <p:cNvSpPr>
            <a:spLocks noGrp="1"/>
          </p:cNvSpPr>
          <p:nvPr>
            <p:ph idx="1"/>
          </p:nvPr>
        </p:nvSpPr>
        <p:spPr>
          <a:xfrm>
            <a:off x="838200" y="846306"/>
            <a:ext cx="10515600" cy="5885234"/>
          </a:xfrm>
        </p:spPr>
        <p:txBody>
          <a:bodyPr>
            <a:normAutofit fontScale="77500" lnSpcReduction="20000"/>
          </a:bodyPr>
          <a:lstStyle/>
          <a:p>
            <a:pPr marL="0" indent="0">
              <a:buNone/>
            </a:pPr>
            <a:r>
              <a:rPr lang="tr-TR" sz="1800" dirty="0" err="1">
                <a:solidFill>
                  <a:srgbClr val="0000FF"/>
                </a:solidFill>
                <a:highlight>
                  <a:srgbClr val="FFFFFF"/>
                </a:highlight>
                <a:latin typeface="Cascadia Mono" panose="020B0609020000020004" pitchFamily="49" charset="0"/>
              </a:rPr>
              <a:t>private</a:t>
            </a:r>
            <a:r>
              <a:rPr lang="tr-TR" sz="1800" dirty="0">
                <a:solidFill>
                  <a:srgbClr val="000000"/>
                </a:solidFill>
                <a:highlight>
                  <a:srgbClr val="FFFFFF"/>
                </a:highlight>
                <a:latin typeface="Cascadia Mono" panose="020B0609020000020004" pitchFamily="49" charset="0"/>
              </a:rPr>
              <a:t> </a:t>
            </a:r>
            <a:r>
              <a:rPr lang="tr-TR" sz="1800" dirty="0">
                <a:solidFill>
                  <a:srgbClr val="0000FF"/>
                </a:solidFill>
                <a:highlight>
                  <a:srgbClr val="FFFFFF"/>
                </a:highlight>
                <a:latin typeface="Cascadia Mono" panose="020B0609020000020004" pitchFamily="49" charset="0"/>
              </a:rPr>
              <a:t>void</a:t>
            </a: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btn_ekle_Click</a:t>
            </a:r>
            <a:r>
              <a:rPr lang="tr-TR" sz="1800" dirty="0">
                <a:solidFill>
                  <a:srgbClr val="000000"/>
                </a:solidFill>
                <a:highlight>
                  <a:srgbClr val="FFFFFF"/>
                </a:highlight>
                <a:latin typeface="Cascadia Mono" panose="020B0609020000020004" pitchFamily="49" charset="0"/>
              </a:rPr>
              <a:t>(</a:t>
            </a:r>
            <a:r>
              <a:rPr lang="tr-TR" sz="1800" dirty="0" err="1">
                <a:solidFill>
                  <a:srgbClr val="0000FF"/>
                </a:solidFill>
                <a:highlight>
                  <a:srgbClr val="FFFFFF"/>
                </a:highlight>
                <a:latin typeface="Cascadia Mono" panose="020B0609020000020004" pitchFamily="49" charset="0"/>
              </a:rPr>
              <a:t>object</a:t>
            </a: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sender</a:t>
            </a: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EventArgs</a:t>
            </a:r>
            <a:r>
              <a:rPr lang="tr-TR" sz="1800" dirty="0">
                <a:solidFill>
                  <a:srgbClr val="000000"/>
                </a:solidFill>
                <a:highlight>
                  <a:srgbClr val="FFFFFF"/>
                </a:highlight>
                <a:latin typeface="Cascadia Mono" panose="020B0609020000020004" pitchFamily="49" charset="0"/>
              </a:rPr>
              <a:t> e)</a:t>
            </a:r>
          </a:p>
          <a:p>
            <a:pPr marL="0" indent="0">
              <a:buNone/>
            </a:pP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0000FF"/>
                </a:solidFill>
                <a:highlight>
                  <a:srgbClr val="FFFFFF"/>
                </a:highlight>
                <a:latin typeface="Cascadia Mono" panose="020B0609020000020004" pitchFamily="49" charset="0"/>
              </a:rPr>
              <a:t>try</a:t>
            </a:r>
            <a:endParaRPr lang="tr-TR" sz="1800" dirty="0">
              <a:solidFill>
                <a:srgbClr val="0000FF"/>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    {</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a:solidFill>
                  <a:srgbClr val="2B91AF"/>
                </a:solidFill>
                <a:highlight>
                  <a:srgbClr val="FFFFFF"/>
                </a:highlight>
                <a:latin typeface="Cascadia Mono" panose="020B0609020000020004" pitchFamily="49" charset="0"/>
              </a:rPr>
              <a:t>Customer</a:t>
            </a: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newCustomer</a:t>
            </a:r>
            <a:r>
              <a:rPr lang="tr-TR" sz="1800" dirty="0">
                <a:solidFill>
                  <a:srgbClr val="000000"/>
                </a:solidFill>
                <a:highlight>
                  <a:srgbClr val="FFFFFF"/>
                </a:highlight>
                <a:latin typeface="Cascadia Mono" panose="020B0609020000020004" pitchFamily="49" charset="0"/>
              </a:rPr>
              <a:t> = </a:t>
            </a:r>
            <a:r>
              <a:rPr lang="tr-TR" sz="1800" dirty="0" err="1">
                <a:solidFill>
                  <a:srgbClr val="0000FF"/>
                </a:solidFill>
                <a:highlight>
                  <a:srgbClr val="FFFFFF"/>
                </a:highlight>
                <a:latin typeface="Cascadia Mono" panose="020B0609020000020004" pitchFamily="49" charset="0"/>
              </a:rPr>
              <a:t>new</a:t>
            </a:r>
            <a:r>
              <a:rPr lang="tr-TR" sz="1800" dirty="0">
                <a:solidFill>
                  <a:srgbClr val="000000"/>
                </a:solidFill>
                <a:highlight>
                  <a:srgbClr val="FFFFFF"/>
                </a:highlight>
                <a:latin typeface="Cascadia Mono" panose="020B0609020000020004" pitchFamily="49" charset="0"/>
              </a:rPr>
              <a:t> </a:t>
            </a:r>
            <a:r>
              <a:rPr lang="tr-TR" sz="1800" dirty="0">
                <a:solidFill>
                  <a:srgbClr val="2B91AF"/>
                </a:solidFill>
                <a:highlight>
                  <a:srgbClr val="FFFFFF"/>
                </a:highlight>
                <a:latin typeface="Cascadia Mono" panose="020B0609020000020004" pitchFamily="49" charset="0"/>
              </a:rPr>
              <a:t>Customer</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p>
          <a:p>
            <a:pPr marL="0" indent="0">
              <a:buNone/>
            </a:pPr>
            <a:r>
              <a:rPr lang="en-US" sz="1800" dirty="0">
                <a:solidFill>
                  <a:srgbClr val="000000"/>
                </a:solidFill>
                <a:highlight>
                  <a:srgbClr val="FFFFFF"/>
                </a:highlight>
                <a:latin typeface="Cascadia Mono" panose="020B0609020000020004" pitchFamily="49" charset="0"/>
              </a:rPr>
              <a:t>            </a:t>
            </a:r>
            <a:r>
              <a:rPr lang="en-US" sz="1800" dirty="0" err="1">
                <a:solidFill>
                  <a:srgbClr val="000000"/>
                </a:solidFill>
                <a:highlight>
                  <a:srgbClr val="FFFFFF"/>
                </a:highlight>
                <a:latin typeface="Cascadia Mono" panose="020B0609020000020004" pitchFamily="49" charset="0"/>
              </a:rPr>
              <a:t>Customer_Name</a:t>
            </a:r>
            <a:r>
              <a:rPr lang="en-US" sz="1800" dirty="0">
                <a:solidFill>
                  <a:srgbClr val="000000"/>
                </a:solidFill>
                <a:highlight>
                  <a:srgbClr val="FFFFFF"/>
                </a:highlight>
                <a:latin typeface="Cascadia Mono" panose="020B0609020000020004" pitchFamily="49" charset="0"/>
              </a:rPr>
              <a:t> = </a:t>
            </a:r>
            <a:r>
              <a:rPr lang="en-US" sz="1800" dirty="0" err="1">
                <a:solidFill>
                  <a:srgbClr val="000000"/>
                </a:solidFill>
                <a:highlight>
                  <a:srgbClr val="FFFFFF"/>
                </a:highlight>
                <a:latin typeface="Cascadia Mono" panose="020B0609020000020004" pitchFamily="49" charset="0"/>
              </a:rPr>
              <a:t>txt_isim.Text</a:t>
            </a:r>
            <a:r>
              <a:rPr lang="en-US" sz="1800" dirty="0">
                <a:solidFill>
                  <a:srgbClr val="000000"/>
                </a:solidFill>
                <a:highlight>
                  <a:srgbClr val="FFFFFF"/>
                </a:highlight>
                <a:latin typeface="Cascadia Mono" panose="020B0609020000020004" pitchFamily="49" charset="0"/>
              </a:rPr>
              <a:t>,</a:t>
            </a:r>
          </a:p>
          <a:p>
            <a:pPr marL="0" indent="0">
              <a:buNone/>
            </a:pPr>
            <a:r>
              <a:rPr lang="en-US" sz="1800" dirty="0">
                <a:solidFill>
                  <a:srgbClr val="000000"/>
                </a:solidFill>
                <a:highlight>
                  <a:srgbClr val="FFFFFF"/>
                </a:highlight>
                <a:latin typeface="Cascadia Mono" panose="020B0609020000020004" pitchFamily="49" charset="0"/>
              </a:rPr>
              <a:t>            </a:t>
            </a:r>
            <a:r>
              <a:rPr lang="en-US" sz="1800" dirty="0" err="1">
                <a:solidFill>
                  <a:srgbClr val="000000"/>
                </a:solidFill>
                <a:highlight>
                  <a:srgbClr val="FFFFFF"/>
                </a:highlight>
                <a:latin typeface="Cascadia Mono" panose="020B0609020000020004" pitchFamily="49" charset="0"/>
              </a:rPr>
              <a:t>Customer_Surname</a:t>
            </a:r>
            <a:r>
              <a:rPr lang="en-US" sz="1800" dirty="0">
                <a:solidFill>
                  <a:srgbClr val="000000"/>
                </a:solidFill>
                <a:highlight>
                  <a:srgbClr val="FFFFFF"/>
                </a:highlight>
                <a:latin typeface="Cascadia Mono" panose="020B0609020000020004" pitchFamily="49" charset="0"/>
              </a:rPr>
              <a:t> = </a:t>
            </a:r>
            <a:r>
              <a:rPr lang="en-US" sz="1800" dirty="0" err="1">
                <a:solidFill>
                  <a:srgbClr val="000000"/>
                </a:solidFill>
                <a:highlight>
                  <a:srgbClr val="FFFFFF"/>
                </a:highlight>
                <a:latin typeface="Cascadia Mono" panose="020B0609020000020004" pitchFamily="49" charset="0"/>
              </a:rPr>
              <a:t>txt_soyisim.Text</a:t>
            </a:r>
            <a:r>
              <a:rPr lang="en-US" sz="1800" dirty="0">
                <a:solidFill>
                  <a:srgbClr val="000000"/>
                </a:solidFill>
                <a:highlight>
                  <a:srgbClr val="FFFFFF"/>
                </a:highlight>
                <a:latin typeface="Cascadia Mono" panose="020B0609020000020004" pitchFamily="49" charset="0"/>
              </a:rPr>
              <a:t>,</a:t>
            </a:r>
          </a:p>
          <a:p>
            <a:pPr marL="0" indent="0">
              <a:buNone/>
            </a:pPr>
            <a:r>
              <a:rPr lang="en-US" sz="1800" dirty="0">
                <a:solidFill>
                  <a:srgbClr val="000000"/>
                </a:solidFill>
                <a:highlight>
                  <a:srgbClr val="FFFFFF"/>
                </a:highlight>
                <a:latin typeface="Cascadia Mono" panose="020B0609020000020004" pitchFamily="49" charset="0"/>
              </a:rPr>
              <a:t>            </a:t>
            </a:r>
            <a:r>
              <a:rPr lang="en-US" sz="1800" dirty="0" err="1">
                <a:solidFill>
                  <a:srgbClr val="000000"/>
                </a:solidFill>
                <a:highlight>
                  <a:srgbClr val="FFFFFF"/>
                </a:highlight>
                <a:latin typeface="Cascadia Mono" panose="020B0609020000020004" pitchFamily="49" charset="0"/>
              </a:rPr>
              <a:t>Customer_email</a:t>
            </a:r>
            <a:r>
              <a:rPr lang="en-US" sz="1800" dirty="0">
                <a:solidFill>
                  <a:srgbClr val="000000"/>
                </a:solidFill>
                <a:highlight>
                  <a:srgbClr val="FFFFFF"/>
                </a:highlight>
                <a:latin typeface="Cascadia Mono" panose="020B0609020000020004" pitchFamily="49" charset="0"/>
              </a:rPr>
              <a:t> = </a:t>
            </a:r>
            <a:r>
              <a:rPr lang="en-US" sz="1800" dirty="0" err="1">
                <a:solidFill>
                  <a:srgbClr val="000000"/>
                </a:solidFill>
                <a:highlight>
                  <a:srgbClr val="FFFFFF"/>
                </a:highlight>
                <a:latin typeface="Cascadia Mono" panose="020B0609020000020004" pitchFamily="49" charset="0"/>
              </a:rPr>
              <a:t>txt_email.Text</a:t>
            </a:r>
            <a:r>
              <a:rPr lang="en-US" sz="1800" dirty="0">
                <a:solidFill>
                  <a:srgbClr val="000000"/>
                </a:solidFill>
                <a:highlight>
                  <a:srgbClr val="FFFFFF"/>
                </a:highlight>
                <a:latin typeface="Cascadia Mono" panose="020B0609020000020004" pitchFamily="49" charset="0"/>
              </a:rPr>
              <a:t>,</a:t>
            </a:r>
          </a:p>
          <a:p>
            <a:pPr marL="0" indent="0">
              <a:buNone/>
            </a:pPr>
            <a:r>
              <a:rPr lang="en-US" sz="1800" dirty="0">
                <a:solidFill>
                  <a:srgbClr val="000000"/>
                </a:solidFill>
                <a:highlight>
                  <a:srgbClr val="FFFFFF"/>
                </a:highlight>
                <a:latin typeface="Cascadia Mono" panose="020B0609020000020004" pitchFamily="49" charset="0"/>
              </a:rPr>
              <a:t>            </a:t>
            </a:r>
            <a:r>
              <a:rPr lang="en-US" sz="1800" dirty="0" err="1">
                <a:solidFill>
                  <a:srgbClr val="000000"/>
                </a:solidFill>
                <a:highlight>
                  <a:srgbClr val="FFFFFF"/>
                </a:highlight>
                <a:latin typeface="Cascadia Mono" panose="020B0609020000020004" pitchFamily="49" charset="0"/>
              </a:rPr>
              <a:t>Customer_telephone</a:t>
            </a:r>
            <a:r>
              <a:rPr lang="en-US" sz="1800" dirty="0">
                <a:solidFill>
                  <a:srgbClr val="000000"/>
                </a:solidFill>
                <a:highlight>
                  <a:srgbClr val="FFFFFF"/>
                </a:highlight>
                <a:latin typeface="Cascadia Mono" panose="020B0609020000020004" pitchFamily="49" charset="0"/>
              </a:rPr>
              <a:t> = </a:t>
            </a:r>
            <a:r>
              <a:rPr lang="en-US" sz="1800" dirty="0" err="1">
                <a:solidFill>
                  <a:srgbClr val="000000"/>
                </a:solidFill>
                <a:highlight>
                  <a:srgbClr val="FFFFFF"/>
                </a:highlight>
                <a:latin typeface="Cascadia Mono" panose="020B0609020000020004" pitchFamily="49" charset="0"/>
              </a:rPr>
              <a:t>txt_telefon.Text</a:t>
            </a:r>
            <a:endParaRPr lang="en-US" sz="1800" dirty="0">
              <a:solidFill>
                <a:srgbClr val="000000"/>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        };</a:t>
            </a:r>
          </a:p>
          <a:p>
            <a:pPr marL="0" indent="0">
              <a:buNone/>
            </a:pPr>
            <a:endParaRPr lang="tr-TR" sz="1800" dirty="0">
              <a:solidFill>
                <a:srgbClr val="000000"/>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db.Customers.Add</a:t>
            </a:r>
            <a:r>
              <a:rPr lang="tr-TR" sz="1800" dirty="0">
                <a:solidFill>
                  <a:srgbClr val="000000"/>
                </a:solidFill>
                <a:highlight>
                  <a:srgbClr val="FFFFFF"/>
                </a:highlight>
                <a:latin typeface="Cascadia Mono" panose="020B0609020000020004" pitchFamily="49" charset="0"/>
              </a:rPr>
              <a:t>(</a:t>
            </a:r>
            <a:r>
              <a:rPr lang="tr-TR" sz="1800" dirty="0" err="1">
                <a:solidFill>
                  <a:srgbClr val="000000"/>
                </a:solidFill>
                <a:highlight>
                  <a:srgbClr val="FFFFFF"/>
                </a:highlight>
                <a:latin typeface="Cascadia Mono" panose="020B0609020000020004" pitchFamily="49" charset="0"/>
              </a:rPr>
              <a:t>newCustomer</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db.SaveChanges</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0000FF"/>
                </a:solidFill>
                <a:highlight>
                  <a:srgbClr val="FFFFFF"/>
                </a:highlight>
                <a:latin typeface="Cascadia Mono" panose="020B0609020000020004" pitchFamily="49" charset="0"/>
              </a:rPr>
              <a:t>catch</a:t>
            </a: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Exception</a:t>
            </a: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ex</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p>
          <a:p>
            <a:pPr marL="0" indent="0">
              <a:buNone/>
            </a:pPr>
            <a:endParaRPr lang="tr-TR" sz="1800" dirty="0">
              <a:solidFill>
                <a:srgbClr val="000000"/>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MessageBox</a:t>
            </a:r>
            <a:r>
              <a:rPr lang="tr-TR" sz="1800" dirty="0" err="1">
                <a:solidFill>
                  <a:srgbClr val="000000"/>
                </a:solidFill>
                <a:highlight>
                  <a:srgbClr val="FFFFFF"/>
                </a:highlight>
                <a:latin typeface="Cascadia Mono" panose="020B0609020000020004" pitchFamily="49" charset="0"/>
              </a:rPr>
              <a:t>.Show</a:t>
            </a:r>
            <a:r>
              <a:rPr lang="tr-TR" sz="1800" dirty="0">
                <a:solidFill>
                  <a:srgbClr val="000000"/>
                </a:solidFill>
                <a:highlight>
                  <a:srgbClr val="FFFFFF"/>
                </a:highlight>
                <a:latin typeface="Cascadia Mono" panose="020B0609020000020004" pitchFamily="49" charset="0"/>
              </a:rPr>
              <a:t>(</a:t>
            </a:r>
            <a:r>
              <a:rPr lang="tr-TR" sz="1800" dirty="0">
                <a:solidFill>
                  <a:srgbClr val="A31515"/>
                </a:solidFill>
                <a:highlight>
                  <a:srgbClr val="FFFFFF"/>
                </a:highlight>
                <a:latin typeface="Cascadia Mono" panose="020B0609020000020004" pitchFamily="49" charset="0"/>
              </a:rPr>
              <a:t>$"Hata = </a:t>
            </a:r>
            <a:r>
              <a:rPr lang="tr-TR" sz="1800" dirty="0">
                <a:solidFill>
                  <a:srgbClr val="000000"/>
                </a:solidFill>
                <a:highlight>
                  <a:srgbClr val="FFFFFF"/>
                </a:highlight>
                <a:latin typeface="Cascadia Mono" panose="020B0609020000020004" pitchFamily="49" charset="0"/>
              </a:rPr>
              <a:t>{</a:t>
            </a:r>
            <a:r>
              <a:rPr lang="tr-TR" sz="1800" dirty="0" err="1">
                <a:solidFill>
                  <a:srgbClr val="000000"/>
                </a:solidFill>
                <a:highlight>
                  <a:srgbClr val="FFFFFF"/>
                </a:highlight>
                <a:latin typeface="Cascadia Mono" panose="020B0609020000020004" pitchFamily="49" charset="0"/>
              </a:rPr>
              <a:t>ex.Message</a:t>
            </a:r>
            <a:r>
              <a:rPr lang="tr-TR" sz="1800" dirty="0">
                <a:solidFill>
                  <a:srgbClr val="000000"/>
                </a:solidFill>
                <a:highlight>
                  <a:srgbClr val="FFFFFF"/>
                </a:highlight>
                <a:latin typeface="Cascadia Mono" panose="020B0609020000020004" pitchFamily="49" charset="0"/>
              </a:rPr>
              <a:t>}</a:t>
            </a:r>
            <a:r>
              <a:rPr lang="tr-TR" sz="1800" dirty="0">
                <a:solidFill>
                  <a:srgbClr val="A31515"/>
                </a:solidFill>
                <a:highlight>
                  <a:srgbClr val="FFFFFF"/>
                </a:highlight>
                <a:latin typeface="Cascadia Mono" panose="020B0609020000020004" pitchFamily="49" charset="0"/>
              </a:rPr>
              <a:t>"</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p>
          <a:p>
            <a:pPr marL="0" indent="0">
              <a:buNone/>
            </a:pPr>
            <a:r>
              <a:rPr lang="tr-TR" sz="1800" dirty="0">
                <a:solidFill>
                  <a:srgbClr val="000000"/>
                </a:solidFill>
                <a:highlight>
                  <a:srgbClr val="FFFFFF"/>
                </a:highlight>
                <a:latin typeface="Cascadia Mono" panose="020B0609020000020004" pitchFamily="49" charset="0"/>
              </a:rPr>
              <a:t>}</a:t>
            </a:r>
            <a:endParaRPr lang="tr-TR" sz="1800" dirty="0"/>
          </a:p>
        </p:txBody>
      </p:sp>
    </p:spTree>
    <p:extLst>
      <p:ext uri="{BB962C8B-B14F-4D97-AF65-F5344CB8AC3E}">
        <p14:creationId xmlns:p14="http://schemas.microsoft.com/office/powerpoint/2010/main" val="7994193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458650-8E6C-6B34-9534-4257C5826FC0}"/>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C97E79CB-59B4-5AD1-99AD-26936D2C8C33}"/>
              </a:ext>
            </a:extLst>
          </p:cNvPr>
          <p:cNvSpPr>
            <a:spLocks noGrp="1"/>
          </p:cNvSpPr>
          <p:nvPr>
            <p:ph type="title"/>
          </p:nvPr>
        </p:nvSpPr>
        <p:spPr>
          <a:xfrm>
            <a:off x="838200" y="248495"/>
            <a:ext cx="10515600" cy="432542"/>
          </a:xfrm>
        </p:spPr>
        <p:txBody>
          <a:bodyPr>
            <a:noAutofit/>
          </a:bodyPr>
          <a:lstStyle/>
          <a:p>
            <a:pPr algn="ctr"/>
            <a:r>
              <a:rPr lang="tr-TR" sz="2800" dirty="0"/>
              <a:t>EKLEME İŞLEMİ (</a:t>
            </a:r>
            <a:r>
              <a:rPr lang="tr-TR" sz="2800" dirty="0" err="1"/>
              <a:t>Insert</a:t>
            </a:r>
            <a:r>
              <a:rPr lang="tr-TR" sz="2800" dirty="0"/>
              <a:t> </a:t>
            </a:r>
            <a:r>
              <a:rPr lang="tr-TR" sz="2800" dirty="0" err="1"/>
              <a:t>Into</a:t>
            </a:r>
            <a:r>
              <a:rPr lang="tr-TR" sz="2800" dirty="0"/>
              <a:t>-Add Operations)</a:t>
            </a:r>
          </a:p>
        </p:txBody>
      </p:sp>
      <p:pic>
        <p:nvPicPr>
          <p:cNvPr id="5" name="İçerik Yer Tutucusu 4" descr="metin, ekran görüntüsü, yazılım, multimedya yazılımı içeren bir resim&#10;&#10;Yapay zeka tarafından oluşturulan içerik yanlış olabilir.">
            <a:extLst>
              <a:ext uri="{FF2B5EF4-FFF2-40B4-BE49-F238E27FC236}">
                <a16:creationId xmlns:a16="http://schemas.microsoft.com/office/drawing/2014/main" id="{3DFF60ED-373E-0CC7-36CD-40541378039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72214" y="1032196"/>
            <a:ext cx="8121466" cy="5454716"/>
          </a:xfrm>
        </p:spPr>
      </p:pic>
    </p:spTree>
    <p:extLst>
      <p:ext uri="{BB962C8B-B14F-4D97-AF65-F5344CB8AC3E}">
        <p14:creationId xmlns:p14="http://schemas.microsoft.com/office/powerpoint/2010/main" val="38824699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A79E26-AA94-9FEB-1FAA-193F53DBE193}"/>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74A89EAA-DA89-4619-8869-AE3350FA76BF}"/>
              </a:ext>
            </a:extLst>
          </p:cNvPr>
          <p:cNvSpPr>
            <a:spLocks noGrp="1"/>
          </p:cNvSpPr>
          <p:nvPr>
            <p:ph type="title"/>
          </p:nvPr>
        </p:nvSpPr>
        <p:spPr>
          <a:xfrm>
            <a:off x="838200" y="248495"/>
            <a:ext cx="10515600" cy="432542"/>
          </a:xfrm>
        </p:spPr>
        <p:txBody>
          <a:bodyPr>
            <a:noAutofit/>
          </a:bodyPr>
          <a:lstStyle/>
          <a:p>
            <a:pPr algn="ctr"/>
            <a:r>
              <a:rPr lang="tr-TR" sz="2800" dirty="0"/>
              <a:t>EKLEME İŞLEMİ (</a:t>
            </a:r>
            <a:r>
              <a:rPr lang="tr-TR" sz="2800" dirty="0" err="1"/>
              <a:t>Insert</a:t>
            </a:r>
            <a:r>
              <a:rPr lang="tr-TR" sz="2800" dirty="0"/>
              <a:t> </a:t>
            </a:r>
            <a:r>
              <a:rPr lang="tr-TR" sz="2800" dirty="0" err="1"/>
              <a:t>Into</a:t>
            </a:r>
            <a:r>
              <a:rPr lang="tr-TR" sz="2800" dirty="0"/>
              <a:t>-Add Operations)</a:t>
            </a:r>
          </a:p>
        </p:txBody>
      </p:sp>
      <p:sp>
        <p:nvSpPr>
          <p:cNvPr id="3" name="İçerik Yer Tutucusu 2">
            <a:extLst>
              <a:ext uri="{FF2B5EF4-FFF2-40B4-BE49-F238E27FC236}">
                <a16:creationId xmlns:a16="http://schemas.microsoft.com/office/drawing/2014/main" id="{5392686C-5DD2-F85F-3967-C278742B87D8}"/>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Şimdi de eğer ekleme işlemi başarılı bir şekilde gerçekleşirse kullanıcıya bir uyarı versin diye </a:t>
            </a:r>
            <a:r>
              <a:rPr lang="tr-TR" sz="1800" dirty="0" err="1"/>
              <a:t>MessageBox</a:t>
            </a:r>
            <a:r>
              <a:rPr lang="tr-TR" sz="1800" dirty="0"/>
              <a:t> ile ekrana bir uyarı yazdırıyoruz. Bunun için de aşağıdaki kodu yazıyoruz:</a:t>
            </a:r>
          </a:p>
          <a:p>
            <a:pPr marL="0" indent="0" algn="just">
              <a:lnSpc>
                <a:spcPct val="100000"/>
              </a:lnSpc>
              <a:spcBef>
                <a:spcPts val="600"/>
              </a:spcBef>
              <a:spcAft>
                <a:spcPts val="600"/>
              </a:spcAft>
              <a:buNone/>
            </a:pPr>
            <a:r>
              <a:rPr lang="tr-TR" sz="1800" dirty="0" err="1">
                <a:solidFill>
                  <a:srgbClr val="2B91AF"/>
                </a:solidFill>
                <a:highlight>
                  <a:srgbClr val="FFFFFF"/>
                </a:highlight>
                <a:latin typeface="Cascadia Mono" panose="020B0609020000020004" pitchFamily="49" charset="0"/>
              </a:rPr>
              <a:t>MessageBox</a:t>
            </a:r>
            <a:r>
              <a:rPr lang="tr-TR" sz="1800" dirty="0" err="1">
                <a:solidFill>
                  <a:srgbClr val="000000"/>
                </a:solidFill>
                <a:highlight>
                  <a:srgbClr val="FFFFFF"/>
                </a:highlight>
                <a:latin typeface="Cascadia Mono" panose="020B0609020000020004" pitchFamily="49" charset="0"/>
              </a:rPr>
              <a:t>.Show</a:t>
            </a:r>
            <a:r>
              <a:rPr lang="tr-TR" sz="1800" dirty="0">
                <a:solidFill>
                  <a:srgbClr val="000000"/>
                </a:solidFill>
                <a:highlight>
                  <a:srgbClr val="FFFFFF"/>
                </a:highlight>
                <a:latin typeface="Cascadia Mono" panose="020B0609020000020004" pitchFamily="49" charset="0"/>
              </a:rPr>
              <a:t>(</a:t>
            </a:r>
            <a:r>
              <a:rPr lang="tr-TR" sz="1800" dirty="0">
                <a:solidFill>
                  <a:srgbClr val="A31515"/>
                </a:solidFill>
                <a:highlight>
                  <a:srgbClr val="FFFFFF"/>
                </a:highlight>
                <a:latin typeface="Cascadia Mono" panose="020B0609020000020004" pitchFamily="49" charset="0"/>
              </a:rPr>
              <a:t>"Yeni Müşteri Eklendi!"</a:t>
            </a:r>
            <a:r>
              <a:rPr lang="tr-TR" sz="1800" dirty="0">
                <a:solidFill>
                  <a:srgbClr val="000000"/>
                </a:solidFill>
                <a:highlight>
                  <a:srgbClr val="FFFFFF"/>
                </a:highlight>
                <a:latin typeface="Cascadia Mono" panose="020B0609020000020004" pitchFamily="49" charset="0"/>
              </a:rPr>
              <a:t>);</a:t>
            </a:r>
          </a:p>
          <a:p>
            <a:pPr marL="0" indent="0" algn="just">
              <a:lnSpc>
                <a:spcPct val="100000"/>
              </a:lnSpc>
              <a:spcBef>
                <a:spcPts val="600"/>
              </a:spcBef>
              <a:spcAft>
                <a:spcPts val="600"/>
              </a:spcAft>
              <a:buNone/>
            </a:pPr>
            <a:r>
              <a:rPr lang="tr-TR" sz="1800" dirty="0"/>
              <a:t>Son olarak, ekleme işlemi gerçekleştikten sonra tablonun son halini versin diye, yani son eklenen müşteri de dahil tüm müşterileri listelesin diye aşağıdaki kodu yazıyoruz:</a:t>
            </a:r>
          </a:p>
          <a:p>
            <a:pPr marL="0" indent="0" algn="just">
              <a:lnSpc>
                <a:spcPct val="100000"/>
              </a:lnSpc>
              <a:spcBef>
                <a:spcPts val="600"/>
              </a:spcBef>
              <a:spcAft>
                <a:spcPts val="600"/>
              </a:spcAft>
              <a:buNone/>
            </a:pPr>
            <a:r>
              <a:rPr lang="tr-TR" sz="1800" dirty="0" err="1">
                <a:solidFill>
                  <a:srgbClr val="000000"/>
                </a:solidFill>
                <a:highlight>
                  <a:srgbClr val="FFFFFF"/>
                </a:highlight>
                <a:latin typeface="Cascadia Mono" panose="020B0609020000020004" pitchFamily="49" charset="0"/>
              </a:rPr>
              <a:t>btn_listele.PerformClick</a:t>
            </a:r>
            <a:r>
              <a:rPr lang="tr-TR" sz="1800" dirty="0">
                <a:solidFill>
                  <a:srgbClr val="000000"/>
                </a:solidFill>
                <a:highlight>
                  <a:srgbClr val="FFFFFF"/>
                </a:highlight>
                <a:latin typeface="Cascadia Mono" panose="020B0609020000020004" pitchFamily="49" charset="0"/>
              </a:rPr>
              <a:t>();</a:t>
            </a:r>
            <a:endParaRPr lang="tr-TR" sz="1800" dirty="0"/>
          </a:p>
          <a:p>
            <a:pPr marL="0" indent="0" algn="just">
              <a:lnSpc>
                <a:spcPct val="100000"/>
              </a:lnSpc>
              <a:spcBef>
                <a:spcPts val="600"/>
              </a:spcBef>
              <a:spcAft>
                <a:spcPts val="600"/>
              </a:spcAft>
              <a:buNone/>
            </a:pPr>
            <a:r>
              <a:rPr lang="tr-TR" sz="1800" dirty="0"/>
              <a:t>Hatırlarsanız, listeleme işlemi için </a:t>
            </a:r>
            <a:r>
              <a:rPr lang="tr-TR" sz="1800" dirty="0" err="1"/>
              <a:t>btn_listele’yi</a:t>
            </a:r>
            <a:r>
              <a:rPr lang="tr-TR" sz="1800" dirty="0"/>
              <a:t> düzenlemiştik. Dolayısıyla, ekleme işleminden sonra tekrardan listeleme kodları yazmak yerine bu kodları içeren butonun </a:t>
            </a:r>
            <a:r>
              <a:rPr lang="tr-TR" sz="1800" dirty="0" err="1"/>
              <a:t>PerformClick</a:t>
            </a:r>
            <a:r>
              <a:rPr lang="tr-TR" sz="1800" dirty="0"/>
              <a:t> metodunu çağırıyoruz.</a:t>
            </a:r>
          </a:p>
          <a:p>
            <a:pPr marL="0" indent="0" algn="just">
              <a:lnSpc>
                <a:spcPct val="100000"/>
              </a:lnSpc>
              <a:spcBef>
                <a:spcPts val="600"/>
              </a:spcBef>
              <a:spcAft>
                <a:spcPts val="600"/>
              </a:spcAft>
              <a:buNone/>
            </a:pPr>
            <a:r>
              <a:rPr lang="tr-TR" sz="1800" dirty="0"/>
              <a:t>Son eklenen kodlardan sonra </a:t>
            </a:r>
            <a:r>
              <a:rPr lang="tr-TR" sz="1800" dirty="0" err="1"/>
              <a:t>btn_ekle’nin</a:t>
            </a:r>
            <a:r>
              <a:rPr lang="tr-TR" sz="1800" dirty="0"/>
              <a:t> tüm kodları sonraki sayfada yer almaktadır.</a:t>
            </a:r>
          </a:p>
          <a:p>
            <a:pPr marL="0" indent="0" algn="just">
              <a:lnSpc>
                <a:spcPct val="100000"/>
              </a:lnSpc>
              <a:spcBef>
                <a:spcPts val="600"/>
              </a:spcBef>
              <a:spcAft>
                <a:spcPts val="600"/>
              </a:spcAft>
              <a:buNone/>
            </a:pPr>
            <a:endParaRPr lang="tr-TR" sz="1800" dirty="0"/>
          </a:p>
          <a:p>
            <a:pPr marL="0" indent="0" algn="just">
              <a:lnSpc>
                <a:spcPct val="100000"/>
              </a:lnSpc>
              <a:spcBef>
                <a:spcPts val="600"/>
              </a:spcBef>
              <a:spcAft>
                <a:spcPts val="600"/>
              </a:spcAft>
              <a:buNone/>
            </a:pPr>
            <a:endParaRPr lang="tr-TR" sz="1800" dirty="0"/>
          </a:p>
          <a:p>
            <a:pPr marL="0" indent="0" algn="just">
              <a:lnSpc>
                <a:spcPct val="100000"/>
              </a:lnSpc>
              <a:spcBef>
                <a:spcPts val="600"/>
              </a:spcBef>
              <a:spcAft>
                <a:spcPts val="600"/>
              </a:spcAft>
              <a:buNone/>
            </a:pPr>
            <a:endParaRPr lang="tr-TR" sz="1800" dirty="0"/>
          </a:p>
        </p:txBody>
      </p:sp>
    </p:spTree>
    <p:extLst>
      <p:ext uri="{BB962C8B-B14F-4D97-AF65-F5344CB8AC3E}">
        <p14:creationId xmlns:p14="http://schemas.microsoft.com/office/powerpoint/2010/main" val="259598988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BE60E-6A9B-6396-82CB-3FC393E4BF08}"/>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53C38C15-7737-938A-6A6B-69C2F4C90CF9}"/>
              </a:ext>
            </a:extLst>
          </p:cNvPr>
          <p:cNvSpPr>
            <a:spLocks noGrp="1"/>
          </p:cNvSpPr>
          <p:nvPr>
            <p:ph type="title"/>
          </p:nvPr>
        </p:nvSpPr>
        <p:spPr>
          <a:xfrm>
            <a:off x="838200" y="248495"/>
            <a:ext cx="10515600" cy="432542"/>
          </a:xfrm>
        </p:spPr>
        <p:txBody>
          <a:bodyPr>
            <a:noAutofit/>
          </a:bodyPr>
          <a:lstStyle/>
          <a:p>
            <a:pPr algn="ctr"/>
            <a:r>
              <a:rPr lang="tr-TR" sz="2800" dirty="0"/>
              <a:t>EKLEME İŞLEMİ (</a:t>
            </a:r>
            <a:r>
              <a:rPr lang="tr-TR" sz="2800" dirty="0" err="1"/>
              <a:t>Insert</a:t>
            </a:r>
            <a:r>
              <a:rPr lang="tr-TR" sz="2800" dirty="0"/>
              <a:t> </a:t>
            </a:r>
            <a:r>
              <a:rPr lang="tr-TR" sz="2800" dirty="0" err="1"/>
              <a:t>Into</a:t>
            </a:r>
            <a:r>
              <a:rPr lang="tr-TR" sz="2800" dirty="0"/>
              <a:t>-Add Operations)</a:t>
            </a:r>
          </a:p>
        </p:txBody>
      </p:sp>
      <p:sp>
        <p:nvSpPr>
          <p:cNvPr id="3" name="İçerik Yer Tutucusu 2">
            <a:extLst>
              <a:ext uri="{FF2B5EF4-FFF2-40B4-BE49-F238E27FC236}">
                <a16:creationId xmlns:a16="http://schemas.microsoft.com/office/drawing/2014/main" id="{03BCDCEC-8277-EDBC-8A0B-80295AF02080}"/>
              </a:ext>
            </a:extLst>
          </p:cNvPr>
          <p:cNvSpPr>
            <a:spLocks noGrp="1"/>
          </p:cNvSpPr>
          <p:nvPr>
            <p:ph idx="1"/>
          </p:nvPr>
        </p:nvSpPr>
        <p:spPr>
          <a:xfrm>
            <a:off x="838200" y="846306"/>
            <a:ext cx="10515600" cy="5885234"/>
          </a:xfrm>
        </p:spPr>
        <p:txBody>
          <a:bodyPr>
            <a:normAutofit fontScale="62500" lnSpcReduction="20000"/>
          </a:bodyPr>
          <a:lstStyle/>
          <a:p>
            <a:pPr marL="0" indent="0">
              <a:buNone/>
            </a:pPr>
            <a:r>
              <a:rPr lang="tr-TR" sz="1800" dirty="0" err="1">
                <a:solidFill>
                  <a:srgbClr val="0000FF"/>
                </a:solidFill>
                <a:highlight>
                  <a:srgbClr val="FFFFFF"/>
                </a:highlight>
                <a:latin typeface="Cascadia Mono" panose="020B0609020000020004" pitchFamily="49" charset="0"/>
              </a:rPr>
              <a:t>private</a:t>
            </a:r>
            <a:r>
              <a:rPr lang="tr-TR" sz="1800" dirty="0">
                <a:solidFill>
                  <a:srgbClr val="000000"/>
                </a:solidFill>
                <a:highlight>
                  <a:srgbClr val="FFFFFF"/>
                </a:highlight>
                <a:latin typeface="Cascadia Mono" panose="020B0609020000020004" pitchFamily="49" charset="0"/>
              </a:rPr>
              <a:t> </a:t>
            </a:r>
            <a:r>
              <a:rPr lang="tr-TR" sz="1800" dirty="0">
                <a:solidFill>
                  <a:srgbClr val="0000FF"/>
                </a:solidFill>
                <a:highlight>
                  <a:srgbClr val="FFFFFF"/>
                </a:highlight>
                <a:latin typeface="Cascadia Mono" panose="020B0609020000020004" pitchFamily="49" charset="0"/>
              </a:rPr>
              <a:t>void</a:t>
            </a: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btn_ekle_Click</a:t>
            </a:r>
            <a:r>
              <a:rPr lang="tr-TR" sz="1800" dirty="0">
                <a:solidFill>
                  <a:srgbClr val="000000"/>
                </a:solidFill>
                <a:highlight>
                  <a:srgbClr val="FFFFFF"/>
                </a:highlight>
                <a:latin typeface="Cascadia Mono" panose="020B0609020000020004" pitchFamily="49" charset="0"/>
              </a:rPr>
              <a:t>(</a:t>
            </a:r>
            <a:r>
              <a:rPr lang="tr-TR" sz="1800" dirty="0" err="1">
                <a:solidFill>
                  <a:srgbClr val="0000FF"/>
                </a:solidFill>
                <a:highlight>
                  <a:srgbClr val="FFFFFF"/>
                </a:highlight>
                <a:latin typeface="Cascadia Mono" panose="020B0609020000020004" pitchFamily="49" charset="0"/>
              </a:rPr>
              <a:t>object</a:t>
            </a: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sender</a:t>
            </a: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EventArgs</a:t>
            </a:r>
            <a:r>
              <a:rPr lang="tr-TR" sz="1800" dirty="0">
                <a:solidFill>
                  <a:srgbClr val="000000"/>
                </a:solidFill>
                <a:highlight>
                  <a:srgbClr val="FFFFFF"/>
                </a:highlight>
                <a:latin typeface="Cascadia Mono" panose="020B0609020000020004" pitchFamily="49" charset="0"/>
              </a:rPr>
              <a:t> e)</a:t>
            </a:r>
          </a:p>
          <a:p>
            <a:pPr marL="0" indent="0">
              <a:buNone/>
            </a:pP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0000FF"/>
                </a:solidFill>
                <a:highlight>
                  <a:srgbClr val="FFFFFF"/>
                </a:highlight>
                <a:latin typeface="Cascadia Mono" panose="020B0609020000020004" pitchFamily="49" charset="0"/>
              </a:rPr>
              <a:t>try</a:t>
            </a:r>
            <a:endParaRPr lang="tr-TR" sz="1800" dirty="0">
              <a:solidFill>
                <a:srgbClr val="0000FF"/>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    {</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a:solidFill>
                  <a:srgbClr val="2B91AF"/>
                </a:solidFill>
                <a:highlight>
                  <a:srgbClr val="FFFFFF"/>
                </a:highlight>
                <a:latin typeface="Cascadia Mono" panose="020B0609020000020004" pitchFamily="49" charset="0"/>
              </a:rPr>
              <a:t>Customer</a:t>
            </a: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newCustomer</a:t>
            </a:r>
            <a:r>
              <a:rPr lang="tr-TR" sz="1800" dirty="0">
                <a:solidFill>
                  <a:srgbClr val="000000"/>
                </a:solidFill>
                <a:highlight>
                  <a:srgbClr val="FFFFFF"/>
                </a:highlight>
                <a:latin typeface="Cascadia Mono" panose="020B0609020000020004" pitchFamily="49" charset="0"/>
              </a:rPr>
              <a:t> = </a:t>
            </a:r>
            <a:r>
              <a:rPr lang="tr-TR" sz="1800" dirty="0" err="1">
                <a:solidFill>
                  <a:srgbClr val="0000FF"/>
                </a:solidFill>
                <a:highlight>
                  <a:srgbClr val="FFFFFF"/>
                </a:highlight>
                <a:latin typeface="Cascadia Mono" panose="020B0609020000020004" pitchFamily="49" charset="0"/>
              </a:rPr>
              <a:t>new</a:t>
            </a:r>
            <a:r>
              <a:rPr lang="tr-TR" sz="1800" dirty="0">
                <a:solidFill>
                  <a:srgbClr val="000000"/>
                </a:solidFill>
                <a:highlight>
                  <a:srgbClr val="FFFFFF"/>
                </a:highlight>
                <a:latin typeface="Cascadia Mono" panose="020B0609020000020004" pitchFamily="49" charset="0"/>
              </a:rPr>
              <a:t> </a:t>
            </a:r>
            <a:r>
              <a:rPr lang="tr-TR" sz="1800" dirty="0">
                <a:solidFill>
                  <a:srgbClr val="2B91AF"/>
                </a:solidFill>
                <a:highlight>
                  <a:srgbClr val="FFFFFF"/>
                </a:highlight>
                <a:latin typeface="Cascadia Mono" panose="020B0609020000020004" pitchFamily="49" charset="0"/>
              </a:rPr>
              <a:t>Customer</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p>
          <a:p>
            <a:pPr marL="0" indent="0">
              <a:buNone/>
            </a:pPr>
            <a:r>
              <a:rPr lang="en-US" sz="1800" dirty="0">
                <a:solidFill>
                  <a:srgbClr val="000000"/>
                </a:solidFill>
                <a:highlight>
                  <a:srgbClr val="FFFFFF"/>
                </a:highlight>
                <a:latin typeface="Cascadia Mono" panose="020B0609020000020004" pitchFamily="49" charset="0"/>
              </a:rPr>
              <a:t>            </a:t>
            </a:r>
            <a:r>
              <a:rPr lang="en-US" sz="1800" dirty="0" err="1">
                <a:solidFill>
                  <a:srgbClr val="000000"/>
                </a:solidFill>
                <a:highlight>
                  <a:srgbClr val="FFFFFF"/>
                </a:highlight>
                <a:latin typeface="Cascadia Mono" panose="020B0609020000020004" pitchFamily="49" charset="0"/>
              </a:rPr>
              <a:t>Customer_Name</a:t>
            </a:r>
            <a:r>
              <a:rPr lang="en-US" sz="1800" dirty="0">
                <a:solidFill>
                  <a:srgbClr val="000000"/>
                </a:solidFill>
                <a:highlight>
                  <a:srgbClr val="FFFFFF"/>
                </a:highlight>
                <a:latin typeface="Cascadia Mono" panose="020B0609020000020004" pitchFamily="49" charset="0"/>
              </a:rPr>
              <a:t> = </a:t>
            </a:r>
            <a:r>
              <a:rPr lang="en-US" sz="1800" dirty="0" err="1">
                <a:solidFill>
                  <a:srgbClr val="000000"/>
                </a:solidFill>
                <a:highlight>
                  <a:srgbClr val="FFFFFF"/>
                </a:highlight>
                <a:latin typeface="Cascadia Mono" panose="020B0609020000020004" pitchFamily="49" charset="0"/>
              </a:rPr>
              <a:t>txt_isim.Text</a:t>
            </a:r>
            <a:r>
              <a:rPr lang="en-US" sz="1800" dirty="0">
                <a:solidFill>
                  <a:srgbClr val="000000"/>
                </a:solidFill>
                <a:highlight>
                  <a:srgbClr val="FFFFFF"/>
                </a:highlight>
                <a:latin typeface="Cascadia Mono" panose="020B0609020000020004" pitchFamily="49" charset="0"/>
              </a:rPr>
              <a:t>,</a:t>
            </a:r>
          </a:p>
          <a:p>
            <a:pPr marL="0" indent="0">
              <a:buNone/>
            </a:pPr>
            <a:r>
              <a:rPr lang="en-US" sz="1800" dirty="0">
                <a:solidFill>
                  <a:srgbClr val="000000"/>
                </a:solidFill>
                <a:highlight>
                  <a:srgbClr val="FFFFFF"/>
                </a:highlight>
                <a:latin typeface="Cascadia Mono" panose="020B0609020000020004" pitchFamily="49" charset="0"/>
              </a:rPr>
              <a:t>            </a:t>
            </a:r>
            <a:r>
              <a:rPr lang="en-US" sz="1800" dirty="0" err="1">
                <a:solidFill>
                  <a:srgbClr val="000000"/>
                </a:solidFill>
                <a:highlight>
                  <a:srgbClr val="FFFFFF"/>
                </a:highlight>
                <a:latin typeface="Cascadia Mono" panose="020B0609020000020004" pitchFamily="49" charset="0"/>
              </a:rPr>
              <a:t>Customer_Surname</a:t>
            </a:r>
            <a:r>
              <a:rPr lang="en-US" sz="1800" dirty="0">
                <a:solidFill>
                  <a:srgbClr val="000000"/>
                </a:solidFill>
                <a:highlight>
                  <a:srgbClr val="FFFFFF"/>
                </a:highlight>
                <a:latin typeface="Cascadia Mono" panose="020B0609020000020004" pitchFamily="49" charset="0"/>
              </a:rPr>
              <a:t> = </a:t>
            </a:r>
            <a:r>
              <a:rPr lang="en-US" sz="1800" dirty="0" err="1">
                <a:solidFill>
                  <a:srgbClr val="000000"/>
                </a:solidFill>
                <a:highlight>
                  <a:srgbClr val="FFFFFF"/>
                </a:highlight>
                <a:latin typeface="Cascadia Mono" panose="020B0609020000020004" pitchFamily="49" charset="0"/>
              </a:rPr>
              <a:t>txt_soyisim.Text</a:t>
            </a:r>
            <a:r>
              <a:rPr lang="en-US" sz="1800" dirty="0">
                <a:solidFill>
                  <a:srgbClr val="000000"/>
                </a:solidFill>
                <a:highlight>
                  <a:srgbClr val="FFFFFF"/>
                </a:highlight>
                <a:latin typeface="Cascadia Mono" panose="020B0609020000020004" pitchFamily="49" charset="0"/>
              </a:rPr>
              <a:t>,</a:t>
            </a:r>
          </a:p>
          <a:p>
            <a:pPr marL="0" indent="0">
              <a:buNone/>
            </a:pPr>
            <a:r>
              <a:rPr lang="en-US" sz="1800" dirty="0">
                <a:solidFill>
                  <a:srgbClr val="000000"/>
                </a:solidFill>
                <a:highlight>
                  <a:srgbClr val="FFFFFF"/>
                </a:highlight>
                <a:latin typeface="Cascadia Mono" panose="020B0609020000020004" pitchFamily="49" charset="0"/>
              </a:rPr>
              <a:t>            </a:t>
            </a:r>
            <a:r>
              <a:rPr lang="en-US" sz="1800" dirty="0" err="1">
                <a:solidFill>
                  <a:srgbClr val="000000"/>
                </a:solidFill>
                <a:highlight>
                  <a:srgbClr val="FFFFFF"/>
                </a:highlight>
                <a:latin typeface="Cascadia Mono" panose="020B0609020000020004" pitchFamily="49" charset="0"/>
              </a:rPr>
              <a:t>Customer_email</a:t>
            </a:r>
            <a:r>
              <a:rPr lang="en-US" sz="1800" dirty="0">
                <a:solidFill>
                  <a:srgbClr val="000000"/>
                </a:solidFill>
                <a:highlight>
                  <a:srgbClr val="FFFFFF"/>
                </a:highlight>
                <a:latin typeface="Cascadia Mono" panose="020B0609020000020004" pitchFamily="49" charset="0"/>
              </a:rPr>
              <a:t> = </a:t>
            </a:r>
            <a:r>
              <a:rPr lang="en-US" sz="1800" dirty="0" err="1">
                <a:solidFill>
                  <a:srgbClr val="000000"/>
                </a:solidFill>
                <a:highlight>
                  <a:srgbClr val="FFFFFF"/>
                </a:highlight>
                <a:latin typeface="Cascadia Mono" panose="020B0609020000020004" pitchFamily="49" charset="0"/>
              </a:rPr>
              <a:t>txt_email.Text</a:t>
            </a:r>
            <a:r>
              <a:rPr lang="en-US" sz="1800" dirty="0">
                <a:solidFill>
                  <a:srgbClr val="000000"/>
                </a:solidFill>
                <a:highlight>
                  <a:srgbClr val="FFFFFF"/>
                </a:highlight>
                <a:latin typeface="Cascadia Mono" panose="020B0609020000020004" pitchFamily="49" charset="0"/>
              </a:rPr>
              <a:t>,</a:t>
            </a:r>
          </a:p>
          <a:p>
            <a:pPr marL="0" indent="0">
              <a:buNone/>
            </a:pPr>
            <a:r>
              <a:rPr lang="en-US" sz="1800" dirty="0">
                <a:solidFill>
                  <a:srgbClr val="000000"/>
                </a:solidFill>
                <a:highlight>
                  <a:srgbClr val="FFFFFF"/>
                </a:highlight>
                <a:latin typeface="Cascadia Mono" panose="020B0609020000020004" pitchFamily="49" charset="0"/>
              </a:rPr>
              <a:t>            </a:t>
            </a:r>
            <a:r>
              <a:rPr lang="en-US" sz="1800" dirty="0" err="1">
                <a:solidFill>
                  <a:srgbClr val="000000"/>
                </a:solidFill>
                <a:highlight>
                  <a:srgbClr val="FFFFFF"/>
                </a:highlight>
                <a:latin typeface="Cascadia Mono" panose="020B0609020000020004" pitchFamily="49" charset="0"/>
              </a:rPr>
              <a:t>Customer_telephone</a:t>
            </a:r>
            <a:r>
              <a:rPr lang="en-US" sz="1800" dirty="0">
                <a:solidFill>
                  <a:srgbClr val="000000"/>
                </a:solidFill>
                <a:highlight>
                  <a:srgbClr val="FFFFFF"/>
                </a:highlight>
                <a:latin typeface="Cascadia Mono" panose="020B0609020000020004" pitchFamily="49" charset="0"/>
              </a:rPr>
              <a:t> = </a:t>
            </a:r>
            <a:r>
              <a:rPr lang="en-US" sz="1800" dirty="0" err="1">
                <a:solidFill>
                  <a:srgbClr val="000000"/>
                </a:solidFill>
                <a:highlight>
                  <a:srgbClr val="FFFFFF"/>
                </a:highlight>
                <a:latin typeface="Cascadia Mono" panose="020B0609020000020004" pitchFamily="49" charset="0"/>
              </a:rPr>
              <a:t>txt_telefon.Text</a:t>
            </a:r>
            <a:endParaRPr lang="en-US" sz="1800" dirty="0">
              <a:solidFill>
                <a:srgbClr val="000000"/>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        };</a:t>
            </a:r>
          </a:p>
          <a:p>
            <a:pPr marL="0" indent="0">
              <a:buNone/>
            </a:pPr>
            <a:endParaRPr lang="tr-TR" sz="1800" dirty="0">
              <a:solidFill>
                <a:srgbClr val="000000"/>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db.Customers.Add</a:t>
            </a:r>
            <a:r>
              <a:rPr lang="tr-TR" sz="1800" dirty="0">
                <a:solidFill>
                  <a:srgbClr val="000000"/>
                </a:solidFill>
                <a:highlight>
                  <a:srgbClr val="FFFFFF"/>
                </a:highlight>
                <a:latin typeface="Cascadia Mono" panose="020B0609020000020004" pitchFamily="49" charset="0"/>
              </a:rPr>
              <a:t>(</a:t>
            </a:r>
            <a:r>
              <a:rPr lang="tr-TR" sz="1800" dirty="0" err="1">
                <a:solidFill>
                  <a:srgbClr val="000000"/>
                </a:solidFill>
                <a:highlight>
                  <a:srgbClr val="FFFFFF"/>
                </a:highlight>
                <a:latin typeface="Cascadia Mono" panose="020B0609020000020004" pitchFamily="49" charset="0"/>
              </a:rPr>
              <a:t>newCustomer</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db.SaveChanges</a:t>
            </a:r>
            <a:r>
              <a:rPr lang="tr-TR" sz="1800" dirty="0">
                <a:solidFill>
                  <a:srgbClr val="000000"/>
                </a:solidFill>
                <a:highlight>
                  <a:srgbClr val="FFFFFF"/>
                </a:highlight>
                <a:latin typeface="Cascadia Mono" panose="020B0609020000020004" pitchFamily="49" charset="0"/>
              </a:rPr>
              <a:t>();</a:t>
            </a:r>
          </a:p>
          <a:p>
            <a:pPr marL="0" indent="0">
              <a:buNone/>
            </a:pPr>
            <a:endParaRPr lang="tr-TR" sz="1800" dirty="0">
              <a:solidFill>
                <a:srgbClr val="000000"/>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MessageBox</a:t>
            </a:r>
            <a:r>
              <a:rPr lang="tr-TR" sz="1800" dirty="0" err="1">
                <a:solidFill>
                  <a:srgbClr val="000000"/>
                </a:solidFill>
                <a:highlight>
                  <a:srgbClr val="FFFFFF"/>
                </a:highlight>
                <a:latin typeface="Cascadia Mono" panose="020B0609020000020004" pitchFamily="49" charset="0"/>
              </a:rPr>
              <a:t>.Show</a:t>
            </a:r>
            <a:r>
              <a:rPr lang="tr-TR" sz="1800" dirty="0">
                <a:solidFill>
                  <a:srgbClr val="000000"/>
                </a:solidFill>
                <a:highlight>
                  <a:srgbClr val="FFFFFF"/>
                </a:highlight>
                <a:latin typeface="Cascadia Mono" panose="020B0609020000020004" pitchFamily="49" charset="0"/>
              </a:rPr>
              <a:t>(</a:t>
            </a:r>
            <a:r>
              <a:rPr lang="tr-TR" sz="1800" dirty="0">
                <a:solidFill>
                  <a:srgbClr val="A31515"/>
                </a:solidFill>
                <a:highlight>
                  <a:srgbClr val="FFFFFF"/>
                </a:highlight>
                <a:latin typeface="Cascadia Mono" panose="020B0609020000020004" pitchFamily="49" charset="0"/>
              </a:rPr>
              <a:t>"Yeni Müşteri Eklendi!"</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btn_listele.PerformClick</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0000FF"/>
                </a:solidFill>
                <a:highlight>
                  <a:srgbClr val="FFFFFF"/>
                </a:highlight>
                <a:latin typeface="Cascadia Mono" panose="020B0609020000020004" pitchFamily="49" charset="0"/>
              </a:rPr>
              <a:t>catch</a:t>
            </a: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Exception</a:t>
            </a: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ex</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p>
          <a:p>
            <a:pPr marL="0" indent="0">
              <a:buNone/>
            </a:pPr>
            <a:endParaRPr lang="tr-TR" sz="1800" dirty="0">
              <a:solidFill>
                <a:srgbClr val="000000"/>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MessageBox</a:t>
            </a:r>
            <a:r>
              <a:rPr lang="tr-TR" sz="1800" dirty="0" err="1">
                <a:solidFill>
                  <a:srgbClr val="000000"/>
                </a:solidFill>
                <a:highlight>
                  <a:srgbClr val="FFFFFF"/>
                </a:highlight>
                <a:latin typeface="Cascadia Mono" panose="020B0609020000020004" pitchFamily="49" charset="0"/>
              </a:rPr>
              <a:t>.Show</a:t>
            </a:r>
            <a:r>
              <a:rPr lang="tr-TR" sz="1800" dirty="0">
                <a:solidFill>
                  <a:srgbClr val="000000"/>
                </a:solidFill>
                <a:highlight>
                  <a:srgbClr val="FFFFFF"/>
                </a:highlight>
                <a:latin typeface="Cascadia Mono" panose="020B0609020000020004" pitchFamily="49" charset="0"/>
              </a:rPr>
              <a:t>(</a:t>
            </a:r>
            <a:r>
              <a:rPr lang="tr-TR" sz="1800" dirty="0">
                <a:solidFill>
                  <a:srgbClr val="A31515"/>
                </a:solidFill>
                <a:highlight>
                  <a:srgbClr val="FFFFFF"/>
                </a:highlight>
                <a:latin typeface="Cascadia Mono" panose="020B0609020000020004" pitchFamily="49" charset="0"/>
              </a:rPr>
              <a:t>$"Hata = </a:t>
            </a:r>
            <a:r>
              <a:rPr lang="tr-TR" sz="1800" dirty="0">
                <a:solidFill>
                  <a:srgbClr val="000000"/>
                </a:solidFill>
                <a:highlight>
                  <a:srgbClr val="FFFFFF"/>
                </a:highlight>
                <a:latin typeface="Cascadia Mono" panose="020B0609020000020004" pitchFamily="49" charset="0"/>
              </a:rPr>
              <a:t>{</a:t>
            </a:r>
            <a:r>
              <a:rPr lang="tr-TR" sz="1800" dirty="0" err="1">
                <a:solidFill>
                  <a:srgbClr val="000000"/>
                </a:solidFill>
                <a:highlight>
                  <a:srgbClr val="FFFFFF"/>
                </a:highlight>
                <a:latin typeface="Cascadia Mono" panose="020B0609020000020004" pitchFamily="49" charset="0"/>
              </a:rPr>
              <a:t>ex.Message</a:t>
            </a:r>
            <a:r>
              <a:rPr lang="tr-TR" sz="1800" dirty="0">
                <a:solidFill>
                  <a:srgbClr val="000000"/>
                </a:solidFill>
                <a:highlight>
                  <a:srgbClr val="FFFFFF"/>
                </a:highlight>
                <a:latin typeface="Cascadia Mono" panose="020B0609020000020004" pitchFamily="49" charset="0"/>
              </a:rPr>
              <a:t>}</a:t>
            </a:r>
            <a:r>
              <a:rPr lang="tr-TR" sz="1800" dirty="0">
                <a:solidFill>
                  <a:srgbClr val="A31515"/>
                </a:solidFill>
                <a:highlight>
                  <a:srgbClr val="FFFFFF"/>
                </a:highlight>
                <a:latin typeface="Cascadia Mono" panose="020B0609020000020004" pitchFamily="49" charset="0"/>
              </a:rPr>
              <a:t>"</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p>
          <a:p>
            <a:pPr marL="0" indent="0">
              <a:buNone/>
            </a:pPr>
            <a:r>
              <a:rPr lang="tr-TR" sz="1800" dirty="0">
                <a:solidFill>
                  <a:srgbClr val="000000"/>
                </a:solidFill>
                <a:highlight>
                  <a:srgbClr val="FFFFFF"/>
                </a:highlight>
                <a:latin typeface="Cascadia Mono" panose="020B0609020000020004" pitchFamily="49" charset="0"/>
              </a:rPr>
              <a:t>}</a:t>
            </a:r>
            <a:endParaRPr lang="tr-TR" sz="1800" dirty="0"/>
          </a:p>
        </p:txBody>
      </p:sp>
    </p:spTree>
    <p:extLst>
      <p:ext uri="{BB962C8B-B14F-4D97-AF65-F5344CB8AC3E}">
        <p14:creationId xmlns:p14="http://schemas.microsoft.com/office/powerpoint/2010/main" val="369229245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047AF-FB61-BAFB-BB78-DE20AD50F492}"/>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A55F13DA-BF58-0AFD-1F5E-BF464A8C8314}"/>
              </a:ext>
            </a:extLst>
          </p:cNvPr>
          <p:cNvSpPr>
            <a:spLocks noGrp="1"/>
          </p:cNvSpPr>
          <p:nvPr>
            <p:ph type="title"/>
          </p:nvPr>
        </p:nvSpPr>
        <p:spPr>
          <a:xfrm>
            <a:off x="838200" y="248495"/>
            <a:ext cx="10515600" cy="432542"/>
          </a:xfrm>
        </p:spPr>
        <p:txBody>
          <a:bodyPr>
            <a:noAutofit/>
          </a:bodyPr>
          <a:lstStyle/>
          <a:p>
            <a:pPr algn="ctr"/>
            <a:r>
              <a:rPr lang="tr-TR" sz="2800" dirty="0"/>
              <a:t>EKLEME İŞLEMİ (</a:t>
            </a:r>
            <a:r>
              <a:rPr lang="tr-TR" sz="2800" dirty="0" err="1"/>
              <a:t>Insert</a:t>
            </a:r>
            <a:r>
              <a:rPr lang="tr-TR" sz="2800" dirty="0"/>
              <a:t> </a:t>
            </a:r>
            <a:r>
              <a:rPr lang="tr-TR" sz="2800" dirty="0" err="1"/>
              <a:t>Into</a:t>
            </a:r>
            <a:r>
              <a:rPr lang="tr-TR" sz="2800" dirty="0"/>
              <a:t>-Add Operations)</a:t>
            </a:r>
          </a:p>
        </p:txBody>
      </p:sp>
      <p:pic>
        <p:nvPicPr>
          <p:cNvPr id="5" name="İçerik Yer Tutucusu 4" descr="metin, ekran görüntüsü, yazılım, yazı tipi içeren bir resim&#10;&#10;Yapay zeka tarafından oluşturulan içerik yanlış olabilir.">
            <a:extLst>
              <a:ext uri="{FF2B5EF4-FFF2-40B4-BE49-F238E27FC236}">
                <a16:creationId xmlns:a16="http://schemas.microsoft.com/office/drawing/2014/main" id="{4C03071C-35BB-1B49-78D7-370710D4F5B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71893" y="971431"/>
            <a:ext cx="6248213" cy="5556368"/>
          </a:xfrm>
        </p:spPr>
      </p:pic>
    </p:spTree>
    <p:extLst>
      <p:ext uri="{BB962C8B-B14F-4D97-AF65-F5344CB8AC3E}">
        <p14:creationId xmlns:p14="http://schemas.microsoft.com/office/powerpoint/2010/main" val="5316885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D70FF4-02C8-DAE2-D023-7F63CB9FBC54}"/>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3ED474E6-728F-967E-8731-0B6F52D2EFDE}"/>
              </a:ext>
            </a:extLst>
          </p:cNvPr>
          <p:cNvSpPr>
            <a:spLocks noGrp="1"/>
          </p:cNvSpPr>
          <p:nvPr>
            <p:ph type="title"/>
          </p:nvPr>
        </p:nvSpPr>
        <p:spPr>
          <a:xfrm>
            <a:off x="838200" y="248495"/>
            <a:ext cx="10515600" cy="432542"/>
          </a:xfrm>
        </p:spPr>
        <p:txBody>
          <a:bodyPr>
            <a:noAutofit/>
          </a:bodyPr>
          <a:lstStyle/>
          <a:p>
            <a:pPr algn="ctr"/>
            <a:r>
              <a:rPr lang="tr-TR" sz="2800" dirty="0"/>
              <a:t>EKLEME İŞLEMİ (</a:t>
            </a:r>
            <a:r>
              <a:rPr lang="tr-TR" sz="2800" dirty="0" err="1"/>
              <a:t>Insert</a:t>
            </a:r>
            <a:r>
              <a:rPr lang="tr-TR" sz="2800" dirty="0"/>
              <a:t> </a:t>
            </a:r>
            <a:r>
              <a:rPr lang="tr-TR" sz="2800" dirty="0" err="1"/>
              <a:t>Into</a:t>
            </a:r>
            <a:r>
              <a:rPr lang="tr-TR" sz="2800" dirty="0"/>
              <a:t>-Add Operations)</a:t>
            </a:r>
          </a:p>
        </p:txBody>
      </p:sp>
      <p:sp>
        <p:nvSpPr>
          <p:cNvPr id="3" name="İçerik Yer Tutucusu 2">
            <a:extLst>
              <a:ext uri="{FF2B5EF4-FFF2-40B4-BE49-F238E27FC236}">
                <a16:creationId xmlns:a16="http://schemas.microsoft.com/office/drawing/2014/main" id="{C1049B30-E9FE-38E6-89E4-652C5E5FDE9D}"/>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Tüm bu işlemlerden sonra programımızı çalıştırıp önce LİSTELE butonuna tıklayarak mevcut müşterileri görüntülüyoruz. Görüldüğü gibi son müşterinin adı Tuğba.</a:t>
            </a:r>
          </a:p>
        </p:txBody>
      </p:sp>
      <p:pic>
        <p:nvPicPr>
          <p:cNvPr id="5" name="Resim 4" descr="metin, sayı, numara, çizgi, yazı tipi içeren bir resim&#10;&#10;Yapay zeka tarafından oluşturulan içerik yanlış olabilir.">
            <a:extLst>
              <a:ext uri="{FF2B5EF4-FFF2-40B4-BE49-F238E27FC236}">
                <a16:creationId xmlns:a16="http://schemas.microsoft.com/office/drawing/2014/main" id="{23951763-7CF0-250A-5E71-B9C68CEB17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3400" y="1561938"/>
            <a:ext cx="11065199" cy="3734124"/>
          </a:xfrm>
          <a:prstGeom prst="rect">
            <a:avLst/>
          </a:prstGeom>
        </p:spPr>
      </p:pic>
    </p:spTree>
    <p:extLst>
      <p:ext uri="{BB962C8B-B14F-4D97-AF65-F5344CB8AC3E}">
        <p14:creationId xmlns:p14="http://schemas.microsoft.com/office/powerpoint/2010/main" val="385420962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ACDA6-8D98-07FE-D7FF-6AE989859A50}"/>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A351F1FE-D248-CE4D-C617-7A2DF87076D8}"/>
              </a:ext>
            </a:extLst>
          </p:cNvPr>
          <p:cNvSpPr>
            <a:spLocks noGrp="1"/>
          </p:cNvSpPr>
          <p:nvPr>
            <p:ph type="title"/>
          </p:nvPr>
        </p:nvSpPr>
        <p:spPr>
          <a:xfrm>
            <a:off x="838200" y="248495"/>
            <a:ext cx="10515600" cy="432542"/>
          </a:xfrm>
        </p:spPr>
        <p:txBody>
          <a:bodyPr>
            <a:noAutofit/>
          </a:bodyPr>
          <a:lstStyle/>
          <a:p>
            <a:pPr algn="ctr"/>
            <a:r>
              <a:rPr lang="tr-TR" sz="2800" dirty="0"/>
              <a:t>EKLEME İŞLEMİ (</a:t>
            </a:r>
            <a:r>
              <a:rPr lang="tr-TR" sz="2800" dirty="0" err="1"/>
              <a:t>Insert</a:t>
            </a:r>
            <a:r>
              <a:rPr lang="tr-TR" sz="2800" dirty="0"/>
              <a:t> </a:t>
            </a:r>
            <a:r>
              <a:rPr lang="tr-TR" sz="2800" dirty="0" err="1"/>
              <a:t>Into</a:t>
            </a:r>
            <a:r>
              <a:rPr lang="tr-TR" sz="2800" dirty="0"/>
              <a:t>-Add Operations)</a:t>
            </a:r>
          </a:p>
        </p:txBody>
      </p:sp>
      <p:sp>
        <p:nvSpPr>
          <p:cNvPr id="3" name="İçerik Yer Tutucusu 2">
            <a:extLst>
              <a:ext uri="{FF2B5EF4-FFF2-40B4-BE49-F238E27FC236}">
                <a16:creationId xmlns:a16="http://schemas.microsoft.com/office/drawing/2014/main" id="{365D67A1-19D2-9413-7375-9B9597511C31}"/>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Şimdi de, veri ekleme alanına görseldeki değerleri giriyoruz:</a:t>
            </a:r>
          </a:p>
        </p:txBody>
      </p:sp>
      <p:pic>
        <p:nvPicPr>
          <p:cNvPr id="5" name="Resim 4" descr="metin, ekran görüntüsü, yazılım, bilgisayar simgesi içeren bir resim&#10;&#10;Yapay zeka tarafından oluşturulan içerik yanlış olabilir.">
            <a:extLst>
              <a:ext uri="{FF2B5EF4-FFF2-40B4-BE49-F238E27FC236}">
                <a16:creationId xmlns:a16="http://schemas.microsoft.com/office/drawing/2014/main" id="{DE7C9FB9-1E67-FD81-BC56-6384E394B1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347246"/>
            <a:ext cx="10646063" cy="5159187"/>
          </a:xfrm>
          <a:prstGeom prst="rect">
            <a:avLst/>
          </a:prstGeom>
        </p:spPr>
      </p:pic>
    </p:spTree>
    <p:extLst>
      <p:ext uri="{BB962C8B-B14F-4D97-AF65-F5344CB8AC3E}">
        <p14:creationId xmlns:p14="http://schemas.microsoft.com/office/powerpoint/2010/main" val="309880146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79010B-196B-C6E9-56E0-00390358F498}"/>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38BD1B0E-75E4-9D89-A3BF-1278BFCB071F}"/>
              </a:ext>
            </a:extLst>
          </p:cNvPr>
          <p:cNvSpPr>
            <a:spLocks noGrp="1"/>
          </p:cNvSpPr>
          <p:nvPr>
            <p:ph type="title"/>
          </p:nvPr>
        </p:nvSpPr>
        <p:spPr>
          <a:xfrm>
            <a:off x="838200" y="248495"/>
            <a:ext cx="10515600" cy="432542"/>
          </a:xfrm>
        </p:spPr>
        <p:txBody>
          <a:bodyPr>
            <a:noAutofit/>
          </a:bodyPr>
          <a:lstStyle/>
          <a:p>
            <a:pPr algn="ctr"/>
            <a:r>
              <a:rPr lang="tr-TR" sz="2800" dirty="0"/>
              <a:t>EKLEME İŞLEMİ (</a:t>
            </a:r>
            <a:r>
              <a:rPr lang="tr-TR" sz="2800" dirty="0" err="1"/>
              <a:t>Insert</a:t>
            </a:r>
            <a:r>
              <a:rPr lang="tr-TR" sz="2800" dirty="0"/>
              <a:t> </a:t>
            </a:r>
            <a:r>
              <a:rPr lang="tr-TR" sz="2800" dirty="0" err="1"/>
              <a:t>Into</a:t>
            </a:r>
            <a:r>
              <a:rPr lang="tr-TR" sz="2800" dirty="0"/>
              <a:t>-Add Operations)</a:t>
            </a:r>
          </a:p>
        </p:txBody>
      </p:sp>
      <p:sp>
        <p:nvSpPr>
          <p:cNvPr id="3" name="İçerik Yer Tutucusu 2">
            <a:extLst>
              <a:ext uri="{FF2B5EF4-FFF2-40B4-BE49-F238E27FC236}">
                <a16:creationId xmlns:a16="http://schemas.microsoft.com/office/drawing/2014/main" id="{B961D590-BDE6-8735-B187-CBCA0A1D0CB0}"/>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EKLE butonuna tıkladıktan sonra önce bize mesajla uyarı verecek.</a:t>
            </a:r>
          </a:p>
        </p:txBody>
      </p:sp>
      <p:pic>
        <p:nvPicPr>
          <p:cNvPr id="5" name="Resim 4" descr="metin, ekran görüntüsü, sayı, numara, yazılım içeren bir resim&#10;&#10;Yapay zeka tarafından oluşturulan içerik yanlış olabilir.">
            <a:extLst>
              <a:ext uri="{FF2B5EF4-FFF2-40B4-BE49-F238E27FC236}">
                <a16:creationId xmlns:a16="http://schemas.microsoft.com/office/drawing/2014/main" id="{CF9839FF-367A-8660-5248-9BD9438C77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44749" y="1235898"/>
            <a:ext cx="8702501" cy="5373607"/>
          </a:xfrm>
          <a:prstGeom prst="rect">
            <a:avLst/>
          </a:prstGeom>
        </p:spPr>
      </p:pic>
    </p:spTree>
    <p:extLst>
      <p:ext uri="{BB962C8B-B14F-4D97-AF65-F5344CB8AC3E}">
        <p14:creationId xmlns:p14="http://schemas.microsoft.com/office/powerpoint/2010/main" val="251208313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84519B-8C4E-0787-5F6B-70DCB69EA71B}"/>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501B7F90-EDAB-40F9-11D9-F3258DBEB8C3}"/>
              </a:ext>
            </a:extLst>
          </p:cNvPr>
          <p:cNvSpPr>
            <a:spLocks noGrp="1"/>
          </p:cNvSpPr>
          <p:nvPr>
            <p:ph type="title"/>
          </p:nvPr>
        </p:nvSpPr>
        <p:spPr>
          <a:xfrm>
            <a:off x="838200" y="248495"/>
            <a:ext cx="10515600" cy="432542"/>
          </a:xfrm>
        </p:spPr>
        <p:txBody>
          <a:bodyPr>
            <a:noAutofit/>
          </a:bodyPr>
          <a:lstStyle/>
          <a:p>
            <a:pPr algn="ctr"/>
            <a:r>
              <a:rPr lang="tr-TR" sz="2800" dirty="0"/>
              <a:t>EKLEME İŞLEMİ (</a:t>
            </a:r>
            <a:r>
              <a:rPr lang="tr-TR" sz="2800" dirty="0" err="1"/>
              <a:t>Insert</a:t>
            </a:r>
            <a:r>
              <a:rPr lang="tr-TR" sz="2800" dirty="0"/>
              <a:t> </a:t>
            </a:r>
            <a:r>
              <a:rPr lang="tr-TR" sz="2800" dirty="0" err="1"/>
              <a:t>Into</a:t>
            </a:r>
            <a:r>
              <a:rPr lang="tr-TR" sz="2800" dirty="0"/>
              <a:t>-Add Operations)</a:t>
            </a:r>
          </a:p>
        </p:txBody>
      </p:sp>
      <p:sp>
        <p:nvSpPr>
          <p:cNvPr id="3" name="İçerik Yer Tutucusu 2">
            <a:extLst>
              <a:ext uri="{FF2B5EF4-FFF2-40B4-BE49-F238E27FC236}">
                <a16:creationId xmlns:a16="http://schemas.microsoft.com/office/drawing/2014/main" id="{1C3B4895-ECF3-CAAC-7BC6-071274A0EDBA}"/>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Uyarıyı kapattıktan sonra datagridview için listeleme işlemi tekrar yapılacak ve son müşteri de getirilecek.</a:t>
            </a:r>
          </a:p>
        </p:txBody>
      </p:sp>
      <p:pic>
        <p:nvPicPr>
          <p:cNvPr id="5" name="Resim 4" descr="metin, ekran görüntüsü, yazılım, sayı, numara içeren bir resim&#10;&#10;Yapay zeka tarafından oluşturulan içerik yanlış olabilir.">
            <a:extLst>
              <a:ext uri="{FF2B5EF4-FFF2-40B4-BE49-F238E27FC236}">
                <a16:creationId xmlns:a16="http://schemas.microsoft.com/office/drawing/2014/main" id="{3494FC35-8C0A-581E-B055-D325F39A9E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85485" y="1426209"/>
            <a:ext cx="8873955" cy="5183296"/>
          </a:xfrm>
          <a:prstGeom prst="rect">
            <a:avLst/>
          </a:prstGeom>
        </p:spPr>
      </p:pic>
    </p:spTree>
    <p:extLst>
      <p:ext uri="{BB962C8B-B14F-4D97-AF65-F5344CB8AC3E}">
        <p14:creationId xmlns:p14="http://schemas.microsoft.com/office/powerpoint/2010/main" val="145445843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C4975B-83D6-64EF-4687-A2C75D046ECA}"/>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714AEA6B-1B27-988F-E22B-6FE05F4A69D5}"/>
              </a:ext>
            </a:extLst>
          </p:cNvPr>
          <p:cNvSpPr>
            <a:spLocks noGrp="1"/>
          </p:cNvSpPr>
          <p:nvPr>
            <p:ph type="title"/>
          </p:nvPr>
        </p:nvSpPr>
        <p:spPr>
          <a:xfrm>
            <a:off x="838200" y="248495"/>
            <a:ext cx="10515600" cy="432542"/>
          </a:xfrm>
        </p:spPr>
        <p:txBody>
          <a:bodyPr>
            <a:noAutofit/>
          </a:bodyPr>
          <a:lstStyle/>
          <a:p>
            <a:pPr algn="ctr"/>
            <a:r>
              <a:rPr lang="tr-TR" sz="2800" dirty="0"/>
              <a:t>GÜNCELLEME İŞLEMİ (Update Operations)</a:t>
            </a:r>
          </a:p>
        </p:txBody>
      </p:sp>
      <p:sp>
        <p:nvSpPr>
          <p:cNvPr id="3" name="İçerik Yer Tutucusu 2">
            <a:extLst>
              <a:ext uri="{FF2B5EF4-FFF2-40B4-BE49-F238E27FC236}">
                <a16:creationId xmlns:a16="http://schemas.microsoft.com/office/drawing/2014/main" id="{94783033-F9A3-87E2-DE80-09E7B7A5928B}"/>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4 temel işlemden ilk ikisini gerçekleştirdik. Şimdi de sıra geldi. Güncelleme işlemine.</a:t>
            </a:r>
          </a:p>
          <a:p>
            <a:pPr marL="0" indent="0" algn="just">
              <a:lnSpc>
                <a:spcPct val="100000"/>
              </a:lnSpc>
              <a:spcBef>
                <a:spcPts val="600"/>
              </a:spcBef>
              <a:spcAft>
                <a:spcPts val="600"/>
              </a:spcAft>
              <a:buNone/>
            </a:pPr>
            <a:r>
              <a:rPr lang="tr-TR" sz="1800" dirty="0"/>
              <a:t>Güncelleme işlemi için öncelikle güncellenecek müşteriyi seçmemiz lazım. Bunun için de </a:t>
            </a:r>
            <a:r>
              <a:rPr lang="tr-TR" sz="1800" dirty="0" err="1"/>
              <a:t>datagridview’daki</a:t>
            </a:r>
            <a:r>
              <a:rPr lang="tr-TR" sz="1800" dirty="0"/>
              <a:t> ilgili müşterinin en solundaki boş hücreye tıkladığımızda tüm satırı seçer. Dolayısıyla ilk olarak güncelleyeceğimiz müşteriyi seçeceğiz sonra da o hücredeki her bir değerin ilgili textbox’a aktarılmasını sağlayacağız.</a:t>
            </a:r>
          </a:p>
          <a:p>
            <a:pPr marL="0" indent="0" algn="just">
              <a:lnSpc>
                <a:spcPct val="100000"/>
              </a:lnSpc>
              <a:spcBef>
                <a:spcPts val="600"/>
              </a:spcBef>
              <a:spcAft>
                <a:spcPts val="600"/>
              </a:spcAft>
              <a:buNone/>
            </a:pPr>
            <a:r>
              <a:rPr lang="tr-TR" sz="1800" dirty="0"/>
              <a:t>Örneğin, bir müşteriyi seçtikten sonra o müşterinin isim bilgisi txt_isim </a:t>
            </a:r>
            <a:r>
              <a:rPr lang="tr-TR" sz="1800" dirty="0" err="1"/>
              <a:t>textbox’ına</a:t>
            </a:r>
            <a:r>
              <a:rPr lang="tr-TR" sz="1800" dirty="0"/>
              <a:t> aktarılacak. Aynı şekilde diğer sütunlardaki bilgileri de ilgili textbox’lara aktarılacak. Dolayısıyla ilk olarak müşteri seçme işlemini gerçekleştireceğiz.</a:t>
            </a:r>
          </a:p>
          <a:p>
            <a:pPr marL="0" indent="0" algn="just">
              <a:lnSpc>
                <a:spcPct val="100000"/>
              </a:lnSpc>
              <a:spcBef>
                <a:spcPts val="600"/>
              </a:spcBef>
              <a:spcAft>
                <a:spcPts val="600"/>
              </a:spcAft>
              <a:buNone/>
            </a:pPr>
            <a:r>
              <a:rPr lang="tr-TR" sz="1800" dirty="0"/>
              <a:t>Bu işlemi </a:t>
            </a:r>
            <a:r>
              <a:rPr lang="tr-TR" sz="1800" dirty="0" err="1"/>
              <a:t>datagridview’in</a:t>
            </a:r>
            <a:r>
              <a:rPr lang="tr-TR" sz="1800" dirty="0"/>
              <a:t> </a:t>
            </a:r>
            <a:r>
              <a:rPr lang="tr-TR" sz="1800" dirty="0" err="1"/>
              <a:t>event’ları</a:t>
            </a:r>
            <a:r>
              <a:rPr lang="tr-TR" sz="1800" dirty="0"/>
              <a:t> (</a:t>
            </a:r>
            <a:r>
              <a:rPr lang="tr-TR" sz="1800" dirty="0" err="1"/>
              <a:t>events</a:t>
            </a:r>
            <a:r>
              <a:rPr lang="tr-TR" sz="1800" dirty="0"/>
              <a:t>) ile halledeceğiz. Yani, «</a:t>
            </a:r>
            <a:r>
              <a:rPr lang="tr-TR" sz="1800" dirty="0" err="1"/>
              <a:t>datagridview’in</a:t>
            </a:r>
            <a:r>
              <a:rPr lang="tr-TR" sz="1800" dirty="0"/>
              <a:t> bir hücresine tıklandığında» olayını düzenlememiz lazım.</a:t>
            </a:r>
          </a:p>
          <a:p>
            <a:pPr marL="0" indent="0" algn="just">
              <a:lnSpc>
                <a:spcPct val="100000"/>
              </a:lnSpc>
              <a:spcBef>
                <a:spcPts val="600"/>
              </a:spcBef>
              <a:spcAft>
                <a:spcPts val="600"/>
              </a:spcAft>
              <a:buNone/>
            </a:pPr>
            <a:endParaRPr lang="tr-TR" sz="1800" dirty="0"/>
          </a:p>
        </p:txBody>
      </p:sp>
    </p:spTree>
    <p:extLst>
      <p:ext uri="{BB962C8B-B14F-4D97-AF65-F5344CB8AC3E}">
        <p14:creationId xmlns:p14="http://schemas.microsoft.com/office/powerpoint/2010/main" val="372537261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1EC69-F4A7-022F-78DB-CFF8CE6FB29A}"/>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818F96C4-EDA4-1ACD-2498-8C1F7657843B}"/>
              </a:ext>
            </a:extLst>
          </p:cNvPr>
          <p:cNvSpPr>
            <a:spLocks noGrp="1"/>
          </p:cNvSpPr>
          <p:nvPr>
            <p:ph type="title"/>
          </p:nvPr>
        </p:nvSpPr>
        <p:spPr>
          <a:xfrm>
            <a:off x="838200" y="248495"/>
            <a:ext cx="10515600" cy="432542"/>
          </a:xfrm>
        </p:spPr>
        <p:txBody>
          <a:bodyPr>
            <a:noAutofit/>
          </a:bodyPr>
          <a:lstStyle/>
          <a:p>
            <a:pPr algn="ctr"/>
            <a:r>
              <a:rPr lang="tr-TR" sz="2800" dirty="0"/>
              <a:t>GÜNCELLEME İŞLEMİ (Update Operations)</a:t>
            </a:r>
          </a:p>
        </p:txBody>
      </p:sp>
      <p:sp>
        <p:nvSpPr>
          <p:cNvPr id="3" name="İçerik Yer Tutucusu 2">
            <a:extLst>
              <a:ext uri="{FF2B5EF4-FFF2-40B4-BE49-F238E27FC236}">
                <a16:creationId xmlns:a16="http://schemas.microsoft.com/office/drawing/2014/main" id="{0317AB63-F001-CB25-F838-DB7635B7FB16}"/>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Form ekranına gelip datagridview nesnesini bir defa sol tıklayarak onu seçiyoruz. Daha sonra sağ alt taraftaki Özellikler (Properties) menüsüne geliyoruz. Bu menüdeki şimşek simgesine tıklıyoruz. Şimşek simgesine tıkladıktan sonra «Fare» (Mouse) yazan yerdeki ilk seçenek olan </a:t>
            </a:r>
            <a:r>
              <a:rPr lang="tr-TR" sz="1800" dirty="0" err="1"/>
              <a:t>CellClick</a:t>
            </a:r>
            <a:r>
              <a:rPr lang="tr-TR" sz="1800" dirty="0"/>
              <a:t> yazan olayın hemen karşısındaki boşluğa tıklıyoruz.</a:t>
            </a:r>
          </a:p>
        </p:txBody>
      </p:sp>
    </p:spTree>
    <p:extLst>
      <p:ext uri="{BB962C8B-B14F-4D97-AF65-F5344CB8AC3E}">
        <p14:creationId xmlns:p14="http://schemas.microsoft.com/office/powerpoint/2010/main" val="322812331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1BBBE-6F0E-EA12-B0AC-AD71C8033BB1}"/>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597DC705-CF0A-87EB-9D8C-BE52B4D83CF2}"/>
              </a:ext>
            </a:extLst>
          </p:cNvPr>
          <p:cNvSpPr>
            <a:spLocks noGrp="1"/>
          </p:cNvSpPr>
          <p:nvPr>
            <p:ph type="title"/>
          </p:nvPr>
        </p:nvSpPr>
        <p:spPr>
          <a:xfrm>
            <a:off x="838200" y="248495"/>
            <a:ext cx="10515600" cy="432542"/>
          </a:xfrm>
        </p:spPr>
        <p:txBody>
          <a:bodyPr>
            <a:noAutofit/>
          </a:bodyPr>
          <a:lstStyle/>
          <a:p>
            <a:pPr algn="ctr"/>
            <a:r>
              <a:rPr lang="tr-TR" sz="2800" dirty="0"/>
              <a:t>GÜNCELLEME İŞLEMİ (Update Operations)</a:t>
            </a:r>
          </a:p>
        </p:txBody>
      </p:sp>
      <p:pic>
        <p:nvPicPr>
          <p:cNvPr id="5" name="İçerik Yer Tutucusu 4" descr="metin, yazılım, multimedya yazılımı, bilgisayar içeren bir resim&#10;&#10;Yapay zeka tarafından oluşturulan içerik yanlış olabilir.">
            <a:extLst>
              <a:ext uri="{FF2B5EF4-FFF2-40B4-BE49-F238E27FC236}">
                <a16:creationId xmlns:a16="http://schemas.microsoft.com/office/drawing/2014/main" id="{D372AE02-F1BA-03C5-9862-5A8965CDA3C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963" y="970181"/>
            <a:ext cx="12136073" cy="4917637"/>
          </a:xfrm>
        </p:spPr>
      </p:pic>
    </p:spTree>
    <p:extLst>
      <p:ext uri="{BB962C8B-B14F-4D97-AF65-F5344CB8AC3E}">
        <p14:creationId xmlns:p14="http://schemas.microsoft.com/office/powerpoint/2010/main" val="384004627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958C6-85C0-7B09-1BEB-1DCD4CF80F13}"/>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97DB9FC4-20DE-CB27-BC78-AE3EA38AB181}"/>
              </a:ext>
            </a:extLst>
          </p:cNvPr>
          <p:cNvSpPr>
            <a:spLocks noGrp="1"/>
          </p:cNvSpPr>
          <p:nvPr>
            <p:ph type="title"/>
          </p:nvPr>
        </p:nvSpPr>
        <p:spPr>
          <a:xfrm>
            <a:off x="838200" y="248495"/>
            <a:ext cx="10515600" cy="432542"/>
          </a:xfrm>
        </p:spPr>
        <p:txBody>
          <a:bodyPr>
            <a:noAutofit/>
          </a:bodyPr>
          <a:lstStyle/>
          <a:p>
            <a:pPr algn="ctr"/>
            <a:r>
              <a:rPr lang="tr-TR" sz="2800" dirty="0"/>
              <a:t>GÜNCELLEME İŞLEMİ (Update Operations)</a:t>
            </a:r>
          </a:p>
        </p:txBody>
      </p:sp>
      <p:sp>
        <p:nvSpPr>
          <p:cNvPr id="3" name="İçerik Yer Tutucusu 2">
            <a:extLst>
              <a:ext uri="{FF2B5EF4-FFF2-40B4-BE49-F238E27FC236}">
                <a16:creationId xmlns:a16="http://schemas.microsoft.com/office/drawing/2014/main" id="{E835A7D3-F636-7627-18EF-AD119C557E7D}"/>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Karşınıza gelen </a:t>
            </a:r>
            <a:r>
              <a:rPr lang="tr-TR" sz="1800" dirty="0" err="1"/>
              <a:t>CellClick</a:t>
            </a:r>
            <a:r>
              <a:rPr lang="tr-TR" sz="1800" dirty="0"/>
              <a:t> olayını aşağıdaki gibi doldurunuz:</a:t>
            </a:r>
          </a:p>
          <a:p>
            <a:pPr marL="0" indent="0">
              <a:buNone/>
            </a:pPr>
            <a:r>
              <a:rPr lang="tr-TR" sz="1800" dirty="0">
                <a:solidFill>
                  <a:srgbClr val="0000FF"/>
                </a:solidFill>
                <a:highlight>
                  <a:srgbClr val="FFFFFF"/>
                </a:highlight>
                <a:latin typeface="Cascadia Mono" panose="020B0609020000020004" pitchFamily="49" charset="0"/>
              </a:rPr>
              <a:t>if</a:t>
            </a: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e.RowIndex</a:t>
            </a:r>
            <a:r>
              <a:rPr lang="tr-TR" sz="1800" dirty="0">
                <a:solidFill>
                  <a:srgbClr val="000000"/>
                </a:solidFill>
                <a:highlight>
                  <a:srgbClr val="FFFFFF"/>
                </a:highlight>
                <a:latin typeface="Cascadia Mono" panose="020B0609020000020004" pitchFamily="49" charset="0"/>
              </a:rPr>
              <a:t> &gt;= 0)</a:t>
            </a:r>
          </a:p>
          <a:p>
            <a:pPr marL="0" indent="0">
              <a:buNone/>
            </a:pPr>
            <a:r>
              <a:rPr lang="tr-TR" sz="1800" dirty="0">
                <a:solidFill>
                  <a:srgbClr val="000000"/>
                </a:solidFill>
                <a:highlight>
                  <a:srgbClr val="FFFFFF"/>
                </a:highlight>
                <a:latin typeface="Cascadia Mono" panose="020B0609020000020004" pitchFamily="49" charset="0"/>
              </a:rPr>
              <a:t>    {</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txt_isim.Text</a:t>
            </a:r>
            <a:r>
              <a:rPr lang="tr-TR" sz="1800" dirty="0">
                <a:solidFill>
                  <a:srgbClr val="000000"/>
                </a:solidFill>
                <a:highlight>
                  <a:srgbClr val="FFFFFF"/>
                </a:highlight>
                <a:latin typeface="Cascadia Mono" panose="020B0609020000020004" pitchFamily="49" charset="0"/>
              </a:rPr>
              <a:t> = dataGridView1.Rows[</a:t>
            </a:r>
            <a:r>
              <a:rPr lang="tr-TR" sz="1800" dirty="0" err="1">
                <a:solidFill>
                  <a:srgbClr val="000000"/>
                </a:solidFill>
                <a:highlight>
                  <a:srgbClr val="FFFFFF"/>
                </a:highlight>
                <a:latin typeface="Cascadia Mono" panose="020B0609020000020004" pitchFamily="49" charset="0"/>
              </a:rPr>
              <a:t>e.RowIndex</a:t>
            </a:r>
            <a:r>
              <a:rPr lang="tr-TR" sz="1800" dirty="0">
                <a:solidFill>
                  <a:srgbClr val="000000"/>
                </a:solidFill>
                <a:highlight>
                  <a:srgbClr val="FFFFFF"/>
                </a:highlight>
                <a:latin typeface="Cascadia Mono" panose="020B0609020000020004" pitchFamily="49" charset="0"/>
              </a:rPr>
              <a:t>].</a:t>
            </a:r>
            <a:r>
              <a:rPr lang="tr-TR" sz="1800" dirty="0" err="1">
                <a:solidFill>
                  <a:srgbClr val="000000"/>
                </a:solidFill>
                <a:highlight>
                  <a:srgbClr val="FFFFFF"/>
                </a:highlight>
                <a:latin typeface="Cascadia Mono" panose="020B0609020000020004" pitchFamily="49" charset="0"/>
              </a:rPr>
              <a:t>Cells</a:t>
            </a:r>
            <a:r>
              <a:rPr lang="tr-TR" sz="1800" dirty="0">
                <a:solidFill>
                  <a:srgbClr val="000000"/>
                </a:solidFill>
                <a:highlight>
                  <a:srgbClr val="FFFFFF"/>
                </a:highlight>
                <a:latin typeface="Cascadia Mono" panose="020B0609020000020004" pitchFamily="49" charset="0"/>
              </a:rPr>
              <a:t>[</a:t>
            </a:r>
            <a:r>
              <a:rPr lang="tr-TR" sz="1800" dirty="0">
                <a:solidFill>
                  <a:srgbClr val="A31515"/>
                </a:solidFill>
                <a:highlight>
                  <a:srgbClr val="FFFFFF"/>
                </a:highlight>
                <a:latin typeface="Cascadia Mono" panose="020B0609020000020004" pitchFamily="49" charset="0"/>
              </a:rPr>
              <a:t>"</a:t>
            </a:r>
            <a:r>
              <a:rPr lang="tr-TR" sz="1800" dirty="0" err="1">
                <a:solidFill>
                  <a:srgbClr val="A31515"/>
                </a:solidFill>
                <a:highlight>
                  <a:srgbClr val="FFFFFF"/>
                </a:highlight>
                <a:latin typeface="Cascadia Mono" panose="020B0609020000020004" pitchFamily="49" charset="0"/>
              </a:rPr>
              <a:t>Customer_Name</a:t>
            </a:r>
            <a:r>
              <a:rPr lang="tr-TR" sz="1800" dirty="0">
                <a:solidFill>
                  <a:srgbClr val="A31515"/>
                </a:solidFill>
                <a:highlight>
                  <a:srgbClr val="FFFFFF"/>
                </a:highlight>
                <a:latin typeface="Cascadia Mono" panose="020B0609020000020004" pitchFamily="49" charset="0"/>
              </a:rPr>
              <a:t>"</a:t>
            </a:r>
            <a:r>
              <a:rPr lang="tr-TR" sz="1800" dirty="0">
                <a:solidFill>
                  <a:srgbClr val="000000"/>
                </a:solidFill>
                <a:highlight>
                  <a:srgbClr val="FFFFFF"/>
                </a:highlight>
                <a:latin typeface="Cascadia Mono" panose="020B0609020000020004" pitchFamily="49" charset="0"/>
              </a:rPr>
              <a:t>].</a:t>
            </a:r>
            <a:r>
              <a:rPr lang="tr-TR" sz="1800" dirty="0" err="1">
                <a:solidFill>
                  <a:srgbClr val="000000"/>
                </a:solidFill>
                <a:highlight>
                  <a:srgbClr val="FFFFFF"/>
                </a:highlight>
                <a:latin typeface="Cascadia Mono" panose="020B0609020000020004" pitchFamily="49" charset="0"/>
              </a:rPr>
              <a:t>Value.ToString</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txt_soyisim.Text</a:t>
            </a:r>
            <a:r>
              <a:rPr lang="tr-TR" sz="1800" dirty="0">
                <a:solidFill>
                  <a:srgbClr val="000000"/>
                </a:solidFill>
                <a:highlight>
                  <a:srgbClr val="FFFFFF"/>
                </a:highlight>
                <a:latin typeface="Cascadia Mono" panose="020B0609020000020004" pitchFamily="49" charset="0"/>
              </a:rPr>
              <a:t> = dataGridView1.Rows[</a:t>
            </a:r>
            <a:r>
              <a:rPr lang="tr-TR" sz="1800" dirty="0" err="1">
                <a:solidFill>
                  <a:srgbClr val="000000"/>
                </a:solidFill>
                <a:highlight>
                  <a:srgbClr val="FFFFFF"/>
                </a:highlight>
                <a:latin typeface="Cascadia Mono" panose="020B0609020000020004" pitchFamily="49" charset="0"/>
              </a:rPr>
              <a:t>e.RowIndex</a:t>
            </a:r>
            <a:r>
              <a:rPr lang="tr-TR" sz="1800" dirty="0">
                <a:solidFill>
                  <a:srgbClr val="000000"/>
                </a:solidFill>
                <a:highlight>
                  <a:srgbClr val="FFFFFF"/>
                </a:highlight>
                <a:latin typeface="Cascadia Mono" panose="020B0609020000020004" pitchFamily="49" charset="0"/>
              </a:rPr>
              <a:t>].</a:t>
            </a:r>
            <a:r>
              <a:rPr lang="tr-TR" sz="1800" dirty="0" err="1">
                <a:solidFill>
                  <a:srgbClr val="000000"/>
                </a:solidFill>
                <a:highlight>
                  <a:srgbClr val="FFFFFF"/>
                </a:highlight>
                <a:latin typeface="Cascadia Mono" panose="020B0609020000020004" pitchFamily="49" charset="0"/>
              </a:rPr>
              <a:t>Cells</a:t>
            </a:r>
            <a:r>
              <a:rPr lang="tr-TR" sz="1800" dirty="0">
                <a:solidFill>
                  <a:srgbClr val="000000"/>
                </a:solidFill>
                <a:highlight>
                  <a:srgbClr val="FFFFFF"/>
                </a:highlight>
                <a:latin typeface="Cascadia Mono" panose="020B0609020000020004" pitchFamily="49" charset="0"/>
              </a:rPr>
              <a:t>[</a:t>
            </a:r>
            <a:r>
              <a:rPr lang="tr-TR" sz="1800" dirty="0">
                <a:solidFill>
                  <a:srgbClr val="A31515"/>
                </a:solidFill>
                <a:highlight>
                  <a:srgbClr val="FFFFFF"/>
                </a:highlight>
                <a:latin typeface="Cascadia Mono" panose="020B0609020000020004" pitchFamily="49" charset="0"/>
              </a:rPr>
              <a:t>"</a:t>
            </a:r>
            <a:r>
              <a:rPr lang="tr-TR" sz="1800" dirty="0" err="1">
                <a:solidFill>
                  <a:srgbClr val="A31515"/>
                </a:solidFill>
                <a:highlight>
                  <a:srgbClr val="FFFFFF"/>
                </a:highlight>
                <a:latin typeface="Cascadia Mono" panose="020B0609020000020004" pitchFamily="49" charset="0"/>
              </a:rPr>
              <a:t>Customer_Surname</a:t>
            </a:r>
            <a:r>
              <a:rPr lang="tr-TR" sz="1800" dirty="0">
                <a:solidFill>
                  <a:srgbClr val="A31515"/>
                </a:solidFill>
                <a:highlight>
                  <a:srgbClr val="FFFFFF"/>
                </a:highlight>
                <a:latin typeface="Cascadia Mono" panose="020B0609020000020004" pitchFamily="49" charset="0"/>
              </a:rPr>
              <a:t>"</a:t>
            </a:r>
            <a:r>
              <a:rPr lang="tr-TR" sz="1800" dirty="0">
                <a:solidFill>
                  <a:srgbClr val="000000"/>
                </a:solidFill>
                <a:highlight>
                  <a:srgbClr val="FFFFFF"/>
                </a:highlight>
                <a:latin typeface="Cascadia Mono" panose="020B0609020000020004" pitchFamily="49" charset="0"/>
              </a:rPr>
              <a:t>].</a:t>
            </a:r>
            <a:r>
              <a:rPr lang="tr-TR" sz="1800" dirty="0" err="1">
                <a:solidFill>
                  <a:srgbClr val="000000"/>
                </a:solidFill>
                <a:highlight>
                  <a:srgbClr val="FFFFFF"/>
                </a:highlight>
                <a:latin typeface="Cascadia Mono" panose="020B0609020000020004" pitchFamily="49" charset="0"/>
              </a:rPr>
              <a:t>Value.ToString</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txt_email.Text</a:t>
            </a:r>
            <a:r>
              <a:rPr lang="tr-TR" sz="1800" dirty="0">
                <a:solidFill>
                  <a:srgbClr val="000000"/>
                </a:solidFill>
                <a:highlight>
                  <a:srgbClr val="FFFFFF"/>
                </a:highlight>
                <a:latin typeface="Cascadia Mono" panose="020B0609020000020004" pitchFamily="49" charset="0"/>
              </a:rPr>
              <a:t> = dataGridView1.Rows[</a:t>
            </a:r>
            <a:r>
              <a:rPr lang="tr-TR" sz="1800" dirty="0" err="1">
                <a:solidFill>
                  <a:srgbClr val="000000"/>
                </a:solidFill>
                <a:highlight>
                  <a:srgbClr val="FFFFFF"/>
                </a:highlight>
                <a:latin typeface="Cascadia Mono" panose="020B0609020000020004" pitchFamily="49" charset="0"/>
              </a:rPr>
              <a:t>e.RowIndex</a:t>
            </a:r>
            <a:r>
              <a:rPr lang="tr-TR" sz="1800" dirty="0">
                <a:solidFill>
                  <a:srgbClr val="000000"/>
                </a:solidFill>
                <a:highlight>
                  <a:srgbClr val="FFFFFF"/>
                </a:highlight>
                <a:latin typeface="Cascadia Mono" panose="020B0609020000020004" pitchFamily="49" charset="0"/>
              </a:rPr>
              <a:t>].</a:t>
            </a:r>
            <a:r>
              <a:rPr lang="tr-TR" sz="1800" dirty="0" err="1">
                <a:solidFill>
                  <a:srgbClr val="000000"/>
                </a:solidFill>
                <a:highlight>
                  <a:srgbClr val="FFFFFF"/>
                </a:highlight>
                <a:latin typeface="Cascadia Mono" panose="020B0609020000020004" pitchFamily="49" charset="0"/>
              </a:rPr>
              <a:t>Cells</a:t>
            </a:r>
            <a:r>
              <a:rPr lang="tr-TR" sz="1800" dirty="0">
                <a:solidFill>
                  <a:srgbClr val="000000"/>
                </a:solidFill>
                <a:highlight>
                  <a:srgbClr val="FFFFFF"/>
                </a:highlight>
                <a:latin typeface="Cascadia Mono" panose="020B0609020000020004" pitchFamily="49" charset="0"/>
              </a:rPr>
              <a:t>[</a:t>
            </a:r>
            <a:r>
              <a:rPr lang="tr-TR" sz="1800" dirty="0">
                <a:solidFill>
                  <a:srgbClr val="A31515"/>
                </a:solidFill>
                <a:highlight>
                  <a:srgbClr val="FFFFFF"/>
                </a:highlight>
                <a:latin typeface="Cascadia Mono" panose="020B0609020000020004" pitchFamily="49" charset="0"/>
              </a:rPr>
              <a:t>"</a:t>
            </a:r>
            <a:r>
              <a:rPr lang="tr-TR" sz="1800" dirty="0" err="1">
                <a:solidFill>
                  <a:srgbClr val="A31515"/>
                </a:solidFill>
                <a:highlight>
                  <a:srgbClr val="FFFFFF"/>
                </a:highlight>
                <a:latin typeface="Cascadia Mono" panose="020B0609020000020004" pitchFamily="49" charset="0"/>
              </a:rPr>
              <a:t>Customer_Email</a:t>
            </a:r>
            <a:r>
              <a:rPr lang="tr-TR" sz="1800" dirty="0">
                <a:solidFill>
                  <a:srgbClr val="A31515"/>
                </a:solidFill>
                <a:highlight>
                  <a:srgbClr val="FFFFFF"/>
                </a:highlight>
                <a:latin typeface="Cascadia Mono" panose="020B0609020000020004" pitchFamily="49" charset="0"/>
              </a:rPr>
              <a:t>"</a:t>
            </a:r>
            <a:r>
              <a:rPr lang="tr-TR" sz="1800" dirty="0">
                <a:solidFill>
                  <a:srgbClr val="000000"/>
                </a:solidFill>
                <a:highlight>
                  <a:srgbClr val="FFFFFF"/>
                </a:highlight>
                <a:latin typeface="Cascadia Mono" panose="020B0609020000020004" pitchFamily="49" charset="0"/>
              </a:rPr>
              <a:t>].</a:t>
            </a:r>
            <a:r>
              <a:rPr lang="tr-TR" sz="1800" dirty="0" err="1">
                <a:solidFill>
                  <a:srgbClr val="000000"/>
                </a:solidFill>
                <a:highlight>
                  <a:srgbClr val="FFFFFF"/>
                </a:highlight>
                <a:latin typeface="Cascadia Mono" panose="020B0609020000020004" pitchFamily="49" charset="0"/>
              </a:rPr>
              <a:t>Value.ToString</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txt_telefon.Text</a:t>
            </a:r>
            <a:r>
              <a:rPr lang="tr-TR" sz="1800" dirty="0">
                <a:solidFill>
                  <a:srgbClr val="000000"/>
                </a:solidFill>
                <a:highlight>
                  <a:srgbClr val="FFFFFF"/>
                </a:highlight>
                <a:latin typeface="Cascadia Mono" panose="020B0609020000020004" pitchFamily="49" charset="0"/>
              </a:rPr>
              <a:t> = dataGridView1.Rows[</a:t>
            </a:r>
            <a:r>
              <a:rPr lang="tr-TR" sz="1800" dirty="0" err="1">
                <a:solidFill>
                  <a:srgbClr val="000000"/>
                </a:solidFill>
                <a:highlight>
                  <a:srgbClr val="FFFFFF"/>
                </a:highlight>
                <a:latin typeface="Cascadia Mono" panose="020B0609020000020004" pitchFamily="49" charset="0"/>
              </a:rPr>
              <a:t>e.RowIndex</a:t>
            </a:r>
            <a:r>
              <a:rPr lang="tr-TR" sz="1800" dirty="0">
                <a:solidFill>
                  <a:srgbClr val="000000"/>
                </a:solidFill>
                <a:highlight>
                  <a:srgbClr val="FFFFFF"/>
                </a:highlight>
                <a:latin typeface="Cascadia Mono" panose="020B0609020000020004" pitchFamily="49" charset="0"/>
              </a:rPr>
              <a:t>].</a:t>
            </a:r>
            <a:r>
              <a:rPr lang="tr-TR" sz="1800" dirty="0" err="1">
                <a:solidFill>
                  <a:srgbClr val="000000"/>
                </a:solidFill>
                <a:highlight>
                  <a:srgbClr val="FFFFFF"/>
                </a:highlight>
                <a:latin typeface="Cascadia Mono" panose="020B0609020000020004" pitchFamily="49" charset="0"/>
              </a:rPr>
              <a:t>Cells</a:t>
            </a:r>
            <a:r>
              <a:rPr lang="tr-TR" sz="1800" dirty="0">
                <a:solidFill>
                  <a:srgbClr val="000000"/>
                </a:solidFill>
                <a:highlight>
                  <a:srgbClr val="FFFFFF"/>
                </a:highlight>
                <a:latin typeface="Cascadia Mono" panose="020B0609020000020004" pitchFamily="49" charset="0"/>
              </a:rPr>
              <a:t>[</a:t>
            </a:r>
            <a:r>
              <a:rPr lang="tr-TR" sz="1800" dirty="0">
                <a:solidFill>
                  <a:srgbClr val="A31515"/>
                </a:solidFill>
                <a:highlight>
                  <a:srgbClr val="FFFFFF"/>
                </a:highlight>
                <a:latin typeface="Cascadia Mono" panose="020B0609020000020004" pitchFamily="49" charset="0"/>
              </a:rPr>
              <a:t>"</a:t>
            </a:r>
            <a:r>
              <a:rPr lang="tr-TR" sz="1800" dirty="0" err="1">
                <a:solidFill>
                  <a:srgbClr val="A31515"/>
                </a:solidFill>
                <a:highlight>
                  <a:srgbClr val="FFFFFF"/>
                </a:highlight>
                <a:latin typeface="Cascadia Mono" panose="020B0609020000020004" pitchFamily="49" charset="0"/>
              </a:rPr>
              <a:t>Customer_Telephone</a:t>
            </a:r>
            <a:r>
              <a:rPr lang="tr-TR" sz="1800" dirty="0">
                <a:solidFill>
                  <a:srgbClr val="A31515"/>
                </a:solidFill>
                <a:highlight>
                  <a:srgbClr val="FFFFFF"/>
                </a:highlight>
                <a:latin typeface="Cascadia Mono" panose="020B0609020000020004" pitchFamily="49" charset="0"/>
              </a:rPr>
              <a:t>"</a:t>
            </a:r>
            <a:r>
              <a:rPr lang="tr-TR" sz="1800" dirty="0">
                <a:solidFill>
                  <a:srgbClr val="000000"/>
                </a:solidFill>
                <a:highlight>
                  <a:srgbClr val="FFFFFF"/>
                </a:highlight>
                <a:latin typeface="Cascadia Mono" panose="020B0609020000020004" pitchFamily="49" charset="0"/>
              </a:rPr>
              <a:t>].</a:t>
            </a:r>
            <a:r>
              <a:rPr lang="tr-TR" sz="1800" dirty="0" err="1">
                <a:solidFill>
                  <a:srgbClr val="000000"/>
                </a:solidFill>
                <a:highlight>
                  <a:srgbClr val="FFFFFF"/>
                </a:highlight>
                <a:latin typeface="Cascadia Mono" panose="020B0609020000020004" pitchFamily="49" charset="0"/>
              </a:rPr>
              <a:t>Value.ToString</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p>
          <a:p>
            <a:pPr marL="0" indent="0">
              <a:buNone/>
            </a:pPr>
            <a:r>
              <a:rPr lang="tr-TR" sz="1800" dirty="0">
                <a:solidFill>
                  <a:srgbClr val="000000"/>
                </a:solidFill>
                <a:highlight>
                  <a:srgbClr val="FFFFFF"/>
                </a:highlight>
                <a:latin typeface="Cascadia Mono" panose="020B0609020000020004" pitchFamily="49" charset="0"/>
              </a:rPr>
              <a:t>Burada, e harfi tıklanan hücreyi temsil eder. Buna göre tıklanma olayı gerçekleşmişse o satırdaki her bir sütunun değerini ilgili </a:t>
            </a:r>
            <a:r>
              <a:rPr lang="tr-TR" sz="1800" dirty="0" err="1">
                <a:solidFill>
                  <a:srgbClr val="000000"/>
                </a:solidFill>
                <a:highlight>
                  <a:srgbClr val="FFFFFF"/>
                </a:highlight>
                <a:latin typeface="Cascadia Mono" panose="020B0609020000020004" pitchFamily="49" charset="0"/>
              </a:rPr>
              <a:t>textbox</a:t>
            </a:r>
            <a:r>
              <a:rPr lang="tr-TR" sz="1800" dirty="0">
                <a:solidFill>
                  <a:srgbClr val="000000"/>
                </a:solidFill>
                <a:highlight>
                  <a:srgbClr val="FFFFFF"/>
                </a:highlight>
                <a:latin typeface="Cascadia Mono" panose="020B0609020000020004" pitchFamily="49" charset="0"/>
              </a:rPr>
              <a:t> bileşenine aktarır. Siz de kendi kullandığınız bileşenlere göre aktarma olayının kodlarını yazınız.</a:t>
            </a:r>
          </a:p>
        </p:txBody>
      </p:sp>
    </p:spTree>
    <p:extLst>
      <p:ext uri="{BB962C8B-B14F-4D97-AF65-F5344CB8AC3E}">
        <p14:creationId xmlns:p14="http://schemas.microsoft.com/office/powerpoint/2010/main" val="95684015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D8B360-355A-71F8-28FE-B2A379F4982A}"/>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AC4C2D4C-533F-B3D7-2390-5387589067C7}"/>
              </a:ext>
            </a:extLst>
          </p:cNvPr>
          <p:cNvSpPr>
            <a:spLocks noGrp="1"/>
          </p:cNvSpPr>
          <p:nvPr>
            <p:ph type="title"/>
          </p:nvPr>
        </p:nvSpPr>
        <p:spPr>
          <a:xfrm>
            <a:off x="838200" y="248495"/>
            <a:ext cx="10515600" cy="432542"/>
          </a:xfrm>
        </p:spPr>
        <p:txBody>
          <a:bodyPr>
            <a:noAutofit/>
          </a:bodyPr>
          <a:lstStyle/>
          <a:p>
            <a:pPr algn="ctr"/>
            <a:r>
              <a:rPr lang="tr-TR" sz="2800" dirty="0"/>
              <a:t>GÜNCELLEME İŞLEMİ (Update Operations)</a:t>
            </a:r>
          </a:p>
        </p:txBody>
      </p:sp>
      <p:pic>
        <p:nvPicPr>
          <p:cNvPr id="5" name="İçerik Yer Tutucusu 4" descr="metin, ekran görüntüsü, yazı tipi içeren bir resim&#10;&#10;Yapay zeka tarafından oluşturulan içerik yanlış olabilir.">
            <a:extLst>
              <a:ext uri="{FF2B5EF4-FFF2-40B4-BE49-F238E27FC236}">
                <a16:creationId xmlns:a16="http://schemas.microsoft.com/office/drawing/2014/main" id="{4E077810-E92F-5D87-B625-4FB564C8BB5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564836"/>
            <a:ext cx="10606047" cy="2306124"/>
          </a:xfrm>
        </p:spPr>
      </p:pic>
    </p:spTree>
    <p:extLst>
      <p:ext uri="{BB962C8B-B14F-4D97-AF65-F5344CB8AC3E}">
        <p14:creationId xmlns:p14="http://schemas.microsoft.com/office/powerpoint/2010/main" val="371329133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D82EE-1C0E-6D26-15F4-0AEAB39BF04C}"/>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C0E600FE-6657-DB31-53B8-AC23399B5465}"/>
              </a:ext>
            </a:extLst>
          </p:cNvPr>
          <p:cNvSpPr>
            <a:spLocks noGrp="1"/>
          </p:cNvSpPr>
          <p:nvPr>
            <p:ph type="title"/>
          </p:nvPr>
        </p:nvSpPr>
        <p:spPr>
          <a:xfrm>
            <a:off x="838200" y="248495"/>
            <a:ext cx="10515600" cy="432542"/>
          </a:xfrm>
        </p:spPr>
        <p:txBody>
          <a:bodyPr>
            <a:noAutofit/>
          </a:bodyPr>
          <a:lstStyle/>
          <a:p>
            <a:pPr algn="ctr"/>
            <a:r>
              <a:rPr lang="tr-TR" sz="2800" dirty="0"/>
              <a:t>GÜNCELLEME İŞLEMİ (Update Operations)</a:t>
            </a:r>
          </a:p>
        </p:txBody>
      </p:sp>
      <p:sp>
        <p:nvSpPr>
          <p:cNvPr id="3" name="İçerik Yer Tutucusu 2">
            <a:extLst>
              <a:ext uri="{FF2B5EF4-FFF2-40B4-BE49-F238E27FC236}">
                <a16:creationId xmlns:a16="http://schemas.microsoft.com/office/drawing/2014/main" id="{DC8DCDD5-AFC5-4110-4374-DAE1176D9547}"/>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Görüldüğü gibi, kırmızı ile seçili alana tıkladığımızda her bir sütundaki bilgi, ilgili textbox’a aktarıldı-yazıldı.</a:t>
            </a:r>
          </a:p>
        </p:txBody>
      </p:sp>
      <p:pic>
        <p:nvPicPr>
          <p:cNvPr id="5" name="Resim 4" descr="metin, ekran görüntüsü, yazılım, sayı, numara içeren bir resim&#10;&#10;Yapay zeka tarafından oluşturulan içerik yanlış olabilir.">
            <a:extLst>
              <a:ext uri="{FF2B5EF4-FFF2-40B4-BE49-F238E27FC236}">
                <a16:creationId xmlns:a16="http://schemas.microsoft.com/office/drawing/2014/main" id="{E3A746BE-0503-7912-7A6D-6E074A0675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6046" y="1165073"/>
            <a:ext cx="8459908" cy="5444432"/>
          </a:xfrm>
          <a:prstGeom prst="rect">
            <a:avLst/>
          </a:prstGeom>
        </p:spPr>
      </p:pic>
    </p:spTree>
    <p:extLst>
      <p:ext uri="{BB962C8B-B14F-4D97-AF65-F5344CB8AC3E}">
        <p14:creationId xmlns:p14="http://schemas.microsoft.com/office/powerpoint/2010/main" val="151120153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D231F4-CBA6-54AF-D665-DBD099ADBF51}"/>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0A8B2929-AC96-C578-49F2-8040DB9496A5}"/>
              </a:ext>
            </a:extLst>
          </p:cNvPr>
          <p:cNvSpPr>
            <a:spLocks noGrp="1"/>
          </p:cNvSpPr>
          <p:nvPr>
            <p:ph type="title"/>
          </p:nvPr>
        </p:nvSpPr>
        <p:spPr>
          <a:xfrm>
            <a:off x="838200" y="248495"/>
            <a:ext cx="10515600" cy="432542"/>
          </a:xfrm>
        </p:spPr>
        <p:txBody>
          <a:bodyPr>
            <a:noAutofit/>
          </a:bodyPr>
          <a:lstStyle/>
          <a:p>
            <a:pPr algn="ctr"/>
            <a:r>
              <a:rPr lang="tr-TR" sz="2800" dirty="0"/>
              <a:t>GÜNCELLEME İŞLEMİ (Update Operations)</a:t>
            </a:r>
          </a:p>
        </p:txBody>
      </p:sp>
      <p:sp>
        <p:nvSpPr>
          <p:cNvPr id="3" name="İçerik Yer Tutucusu 2">
            <a:extLst>
              <a:ext uri="{FF2B5EF4-FFF2-40B4-BE49-F238E27FC236}">
                <a16:creationId xmlns:a16="http://schemas.microsoft.com/office/drawing/2014/main" id="{0395EA62-8A43-DB2B-9456-CB625E4DE2DA}"/>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Böylelikle, güncelleme işleminin ilk ayağını tamamlamış olduk. Şimdi sıra geldi, textbox’lara aktarılan bilgileri istediğimiz gibi güncelledikten sonra GÜNCELLE butonuna tıkladığımızda bu güncellemenin gerçekleşmesine, değişikliklerin uygulanmasına.</a:t>
            </a:r>
          </a:p>
          <a:p>
            <a:pPr marL="0" indent="0" algn="just">
              <a:lnSpc>
                <a:spcPct val="100000"/>
              </a:lnSpc>
              <a:spcBef>
                <a:spcPts val="600"/>
              </a:spcBef>
              <a:spcAft>
                <a:spcPts val="600"/>
              </a:spcAft>
              <a:buNone/>
            </a:pPr>
            <a:r>
              <a:rPr lang="tr-TR" sz="1800" dirty="0"/>
              <a:t>Bunun için GÜNCELLE butonuna çift tıklayıp onun Click metodunu düzenleyeceğiz.</a:t>
            </a:r>
          </a:p>
        </p:txBody>
      </p:sp>
    </p:spTree>
    <p:extLst>
      <p:ext uri="{BB962C8B-B14F-4D97-AF65-F5344CB8AC3E}">
        <p14:creationId xmlns:p14="http://schemas.microsoft.com/office/powerpoint/2010/main" val="410146351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7ADA9D-6C64-2865-F271-2AA7693A235B}"/>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6F83D1A1-DCB6-9F26-CB44-9379633C2665}"/>
              </a:ext>
            </a:extLst>
          </p:cNvPr>
          <p:cNvSpPr>
            <a:spLocks noGrp="1"/>
          </p:cNvSpPr>
          <p:nvPr>
            <p:ph type="title"/>
          </p:nvPr>
        </p:nvSpPr>
        <p:spPr>
          <a:xfrm>
            <a:off x="838200" y="248495"/>
            <a:ext cx="10515600" cy="432542"/>
          </a:xfrm>
        </p:spPr>
        <p:txBody>
          <a:bodyPr>
            <a:noAutofit/>
          </a:bodyPr>
          <a:lstStyle/>
          <a:p>
            <a:pPr algn="ctr"/>
            <a:r>
              <a:rPr lang="tr-TR" sz="2800" dirty="0"/>
              <a:t>GÜNCELLEME İŞLEMİ (Update Operations)</a:t>
            </a:r>
          </a:p>
        </p:txBody>
      </p:sp>
      <p:sp>
        <p:nvSpPr>
          <p:cNvPr id="3" name="İçerik Yer Tutucusu 2">
            <a:extLst>
              <a:ext uri="{FF2B5EF4-FFF2-40B4-BE49-F238E27FC236}">
                <a16:creationId xmlns:a16="http://schemas.microsoft.com/office/drawing/2014/main" id="{E5F1F2E8-2903-9600-9528-31D70B0CC245}"/>
              </a:ext>
            </a:extLst>
          </p:cNvPr>
          <p:cNvSpPr>
            <a:spLocks noGrp="1"/>
          </p:cNvSpPr>
          <p:nvPr>
            <p:ph idx="1"/>
          </p:nvPr>
        </p:nvSpPr>
        <p:spPr>
          <a:xfrm>
            <a:off x="838200" y="846306"/>
            <a:ext cx="10515600" cy="5885234"/>
          </a:xfrm>
        </p:spPr>
        <p:txBody>
          <a:bodyPr>
            <a:normAutofit fontScale="85000" lnSpcReduction="20000"/>
          </a:bodyPr>
          <a:lstStyle/>
          <a:p>
            <a:pPr marL="0" indent="0" algn="just">
              <a:lnSpc>
                <a:spcPct val="100000"/>
              </a:lnSpc>
              <a:spcBef>
                <a:spcPts val="600"/>
              </a:spcBef>
              <a:spcAft>
                <a:spcPts val="600"/>
              </a:spcAft>
              <a:buNone/>
            </a:pPr>
            <a:r>
              <a:rPr lang="tr-TR" sz="1800" dirty="0"/>
              <a:t>Öncelikle, eğer güncelleme işlemi için </a:t>
            </a:r>
            <a:r>
              <a:rPr lang="tr-TR" sz="1800" dirty="0" err="1"/>
              <a:t>datagridview’da</a:t>
            </a:r>
            <a:r>
              <a:rPr lang="tr-TR" sz="1800" dirty="0"/>
              <a:t> bir satıra tıklanmışsa yani bir müşteri seçilmişse bunun kontrolünü yapmamız lazım ki güncelle butonu aktifleşsin. Eğer bir müşteri seçilmeden bu butona tıklanırsa bir olay gerçekleşmeyecek. Bunun için bir if kontrolü sağlıyoruz.</a:t>
            </a:r>
          </a:p>
          <a:p>
            <a:pPr marL="0" indent="0" algn="just">
              <a:lnSpc>
                <a:spcPct val="100000"/>
              </a:lnSpc>
              <a:spcBef>
                <a:spcPts val="600"/>
              </a:spcBef>
              <a:spcAft>
                <a:spcPts val="600"/>
              </a:spcAft>
              <a:buNone/>
            </a:pPr>
            <a:r>
              <a:rPr lang="tr-TR" sz="1800" dirty="0"/>
              <a:t>Tabi her şeyden önce try-catch blokları açıp tüm kodları </a:t>
            </a:r>
            <a:r>
              <a:rPr lang="tr-TR" sz="1800" dirty="0" err="1"/>
              <a:t>try</a:t>
            </a:r>
            <a:r>
              <a:rPr lang="tr-TR" sz="1800" dirty="0"/>
              <a:t> bloku içerisine yazıyoruz. Buna göre, kodlarımız aşağıdaki gibi olmalıdır:</a:t>
            </a:r>
          </a:p>
          <a:p>
            <a:pPr marL="0" indent="0">
              <a:buNone/>
            </a:pPr>
            <a:r>
              <a:rPr lang="tr-TR" sz="1800" dirty="0" err="1">
                <a:solidFill>
                  <a:srgbClr val="0000FF"/>
                </a:solidFill>
                <a:highlight>
                  <a:srgbClr val="FFFFFF"/>
                </a:highlight>
                <a:latin typeface="Cascadia Mono" panose="020B0609020000020004" pitchFamily="49" charset="0"/>
              </a:rPr>
              <a:t>try</a:t>
            </a:r>
            <a:endParaRPr lang="tr-TR" sz="1800" dirty="0">
              <a:solidFill>
                <a:srgbClr val="0000FF"/>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a:solidFill>
                  <a:srgbClr val="0000FF"/>
                </a:solidFill>
                <a:highlight>
                  <a:srgbClr val="FFFFFF"/>
                </a:highlight>
                <a:latin typeface="Cascadia Mono" panose="020B0609020000020004" pitchFamily="49" charset="0"/>
              </a:rPr>
              <a:t>if</a:t>
            </a:r>
            <a:r>
              <a:rPr lang="tr-TR" sz="1800" dirty="0">
                <a:solidFill>
                  <a:srgbClr val="000000"/>
                </a:solidFill>
                <a:highlight>
                  <a:srgbClr val="FFFFFF"/>
                </a:highlight>
                <a:latin typeface="Cascadia Mono" panose="020B0609020000020004" pitchFamily="49" charset="0"/>
              </a:rPr>
              <a:t> (dataGridView1.CurrentRow != </a:t>
            </a:r>
            <a:r>
              <a:rPr lang="tr-TR" sz="1800" dirty="0" err="1">
                <a:solidFill>
                  <a:srgbClr val="0000FF"/>
                </a:solidFill>
                <a:highlight>
                  <a:srgbClr val="FFFFFF"/>
                </a:highlight>
                <a:latin typeface="Cascadia Mono" panose="020B0609020000020004" pitchFamily="49" charset="0"/>
              </a:rPr>
              <a:t>null</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p>
          <a:p>
            <a:pPr marL="0" indent="0">
              <a:buNone/>
            </a:pPr>
            <a:endParaRPr lang="tr-TR" sz="1800" dirty="0">
              <a:solidFill>
                <a:srgbClr val="000000"/>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    }</a:t>
            </a:r>
          </a:p>
          <a:p>
            <a:pPr marL="0" indent="0">
              <a:buNone/>
            </a:pPr>
            <a:r>
              <a:rPr lang="tr-TR" sz="1800" dirty="0">
                <a:solidFill>
                  <a:srgbClr val="000000"/>
                </a:solidFill>
                <a:highlight>
                  <a:srgbClr val="FFFFFF"/>
                </a:highlight>
                <a:latin typeface="Cascadia Mono" panose="020B0609020000020004" pitchFamily="49" charset="0"/>
              </a:rPr>
              <a:t>    {</a:t>
            </a:r>
          </a:p>
          <a:p>
            <a:pPr marL="0" indent="0">
              <a:buNone/>
            </a:pPr>
            <a:endParaRPr lang="tr-TR" sz="1800" dirty="0">
              <a:solidFill>
                <a:srgbClr val="000000"/>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    }</a:t>
            </a:r>
          </a:p>
          <a:p>
            <a:pPr marL="0" indent="0">
              <a:buNone/>
            </a:pPr>
            <a:r>
              <a:rPr lang="tr-TR" sz="1800" dirty="0">
                <a:solidFill>
                  <a:srgbClr val="000000"/>
                </a:solidFill>
                <a:highlight>
                  <a:srgbClr val="FFFFFF"/>
                </a:highlight>
                <a:latin typeface="Cascadia Mono" panose="020B0609020000020004" pitchFamily="49" charset="0"/>
              </a:rPr>
              <a:t>}</a:t>
            </a:r>
          </a:p>
          <a:p>
            <a:pPr marL="0" indent="0">
              <a:buNone/>
            </a:pPr>
            <a:r>
              <a:rPr lang="tr-TR" sz="1800" dirty="0" err="1">
                <a:solidFill>
                  <a:srgbClr val="0000FF"/>
                </a:solidFill>
                <a:highlight>
                  <a:srgbClr val="FFFFFF"/>
                </a:highlight>
                <a:latin typeface="Cascadia Mono" panose="020B0609020000020004" pitchFamily="49" charset="0"/>
              </a:rPr>
              <a:t>catch</a:t>
            </a: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Exception</a:t>
            </a: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ex</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a:t>
            </a:r>
          </a:p>
          <a:p>
            <a:pPr marL="0" indent="0">
              <a:buNone/>
            </a:pPr>
            <a:endParaRPr lang="tr-TR" sz="1800" dirty="0">
              <a:solidFill>
                <a:srgbClr val="000000"/>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MessageBox</a:t>
            </a:r>
            <a:r>
              <a:rPr lang="tr-TR" sz="1800" dirty="0" err="1">
                <a:solidFill>
                  <a:srgbClr val="000000"/>
                </a:solidFill>
                <a:highlight>
                  <a:srgbClr val="FFFFFF"/>
                </a:highlight>
                <a:latin typeface="Cascadia Mono" panose="020B0609020000020004" pitchFamily="49" charset="0"/>
              </a:rPr>
              <a:t>.Show</a:t>
            </a:r>
            <a:r>
              <a:rPr lang="tr-TR" sz="1800" dirty="0">
                <a:solidFill>
                  <a:srgbClr val="000000"/>
                </a:solidFill>
                <a:highlight>
                  <a:srgbClr val="FFFFFF"/>
                </a:highlight>
                <a:latin typeface="Cascadia Mono" panose="020B0609020000020004" pitchFamily="49" charset="0"/>
              </a:rPr>
              <a:t>(</a:t>
            </a:r>
            <a:r>
              <a:rPr lang="tr-TR" sz="1800" dirty="0">
                <a:solidFill>
                  <a:srgbClr val="A31515"/>
                </a:solidFill>
                <a:highlight>
                  <a:srgbClr val="FFFFFF"/>
                </a:highlight>
                <a:latin typeface="Cascadia Mono" panose="020B0609020000020004" pitchFamily="49" charset="0"/>
              </a:rPr>
              <a:t>$"Hata = </a:t>
            </a:r>
            <a:r>
              <a:rPr lang="tr-TR" sz="1800" dirty="0">
                <a:solidFill>
                  <a:srgbClr val="000000"/>
                </a:solidFill>
                <a:highlight>
                  <a:srgbClr val="FFFFFF"/>
                </a:highlight>
                <a:latin typeface="Cascadia Mono" panose="020B0609020000020004" pitchFamily="49" charset="0"/>
              </a:rPr>
              <a:t>{</a:t>
            </a:r>
            <a:r>
              <a:rPr lang="tr-TR" sz="1800" dirty="0" err="1">
                <a:solidFill>
                  <a:srgbClr val="000000"/>
                </a:solidFill>
                <a:highlight>
                  <a:srgbClr val="FFFFFF"/>
                </a:highlight>
                <a:latin typeface="Cascadia Mono" panose="020B0609020000020004" pitchFamily="49" charset="0"/>
              </a:rPr>
              <a:t>ex.Message</a:t>
            </a:r>
            <a:r>
              <a:rPr lang="tr-TR" sz="1800" dirty="0">
                <a:solidFill>
                  <a:srgbClr val="000000"/>
                </a:solidFill>
                <a:highlight>
                  <a:srgbClr val="FFFFFF"/>
                </a:highlight>
                <a:latin typeface="Cascadia Mono" panose="020B0609020000020004" pitchFamily="49" charset="0"/>
              </a:rPr>
              <a:t>}</a:t>
            </a:r>
            <a:r>
              <a:rPr lang="tr-TR" sz="1800" dirty="0">
                <a:solidFill>
                  <a:srgbClr val="A31515"/>
                </a:solidFill>
                <a:highlight>
                  <a:srgbClr val="FFFFFF"/>
                </a:highlight>
                <a:latin typeface="Cascadia Mono" panose="020B0609020000020004" pitchFamily="49" charset="0"/>
              </a:rPr>
              <a:t>"</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a:t>
            </a:r>
            <a:endParaRPr lang="tr-TR" sz="1800" dirty="0"/>
          </a:p>
        </p:txBody>
      </p:sp>
    </p:spTree>
    <p:extLst>
      <p:ext uri="{BB962C8B-B14F-4D97-AF65-F5344CB8AC3E}">
        <p14:creationId xmlns:p14="http://schemas.microsoft.com/office/powerpoint/2010/main" val="258555516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4D519C-98CD-2DB9-8F79-D3C46BF65989}"/>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D8A1A622-A1D8-9511-9AD8-F6A058A5E620}"/>
              </a:ext>
            </a:extLst>
          </p:cNvPr>
          <p:cNvSpPr>
            <a:spLocks noGrp="1"/>
          </p:cNvSpPr>
          <p:nvPr>
            <p:ph type="title"/>
          </p:nvPr>
        </p:nvSpPr>
        <p:spPr>
          <a:xfrm>
            <a:off x="838200" y="248495"/>
            <a:ext cx="10515600" cy="432542"/>
          </a:xfrm>
        </p:spPr>
        <p:txBody>
          <a:bodyPr>
            <a:noAutofit/>
          </a:bodyPr>
          <a:lstStyle/>
          <a:p>
            <a:pPr algn="ctr"/>
            <a:r>
              <a:rPr lang="tr-TR" sz="2800" dirty="0"/>
              <a:t>GÜNCELLEME İŞLEMİ (Update Operations)</a:t>
            </a:r>
          </a:p>
        </p:txBody>
      </p:sp>
      <p:sp>
        <p:nvSpPr>
          <p:cNvPr id="3" name="İçerik Yer Tutucusu 2">
            <a:extLst>
              <a:ext uri="{FF2B5EF4-FFF2-40B4-BE49-F238E27FC236}">
                <a16:creationId xmlns:a16="http://schemas.microsoft.com/office/drawing/2014/main" id="{B18A125A-8610-A3BD-6CC5-B88375542A22}"/>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Eğer bir müşteri seçilmişse o zaman if bloku içerisine yazdığımız kodlar çalışacaktır. Hatırlarsanız, SQL’de update işlemi where şartıyla birlikte id sütununa göre yapılırdı.</a:t>
            </a:r>
          </a:p>
          <a:p>
            <a:pPr marL="0" indent="0" algn="just">
              <a:lnSpc>
                <a:spcPct val="100000"/>
              </a:lnSpc>
              <a:spcBef>
                <a:spcPts val="600"/>
              </a:spcBef>
              <a:spcAft>
                <a:spcPts val="600"/>
              </a:spcAft>
              <a:buNone/>
            </a:pPr>
            <a:r>
              <a:rPr lang="tr-TR" sz="1800" dirty="0"/>
              <a:t>Aksi halde aynı değere sahip olan tüm satırlar bu güncellemeden etkilenirdi. Bu nedenle biz de ilk olarak seçilen satırdaki müşterinin id bilgisini çekeceğiz. Bunun için aşağıdaki kodu yazıyoruz:</a:t>
            </a:r>
          </a:p>
          <a:p>
            <a:pPr marL="0" indent="0" algn="just">
              <a:lnSpc>
                <a:spcPct val="100000"/>
              </a:lnSpc>
              <a:spcBef>
                <a:spcPts val="600"/>
              </a:spcBef>
              <a:spcAft>
                <a:spcPts val="600"/>
              </a:spcAft>
              <a:buNone/>
            </a:pPr>
            <a:r>
              <a:rPr lang="en-US" sz="1800" dirty="0"/>
              <a:t>int </a:t>
            </a:r>
            <a:r>
              <a:rPr lang="en-US" sz="1800" dirty="0" err="1"/>
              <a:t>selectedId</a:t>
            </a:r>
            <a:r>
              <a:rPr lang="en-US" sz="1800" dirty="0"/>
              <a:t> = Convert.ToInt32(dataGridView1.CurrentRow.Cells["Customer_Id"].Value);</a:t>
            </a:r>
            <a:endParaRPr lang="tr-TR" sz="1800" dirty="0"/>
          </a:p>
          <a:p>
            <a:pPr marL="0" indent="0" algn="just">
              <a:lnSpc>
                <a:spcPct val="100000"/>
              </a:lnSpc>
              <a:spcBef>
                <a:spcPts val="600"/>
              </a:spcBef>
              <a:spcAft>
                <a:spcPts val="600"/>
              </a:spcAft>
              <a:buNone/>
            </a:pPr>
            <a:endParaRPr lang="tr-TR" sz="1800" dirty="0"/>
          </a:p>
        </p:txBody>
      </p:sp>
    </p:spTree>
    <p:extLst>
      <p:ext uri="{BB962C8B-B14F-4D97-AF65-F5344CB8AC3E}">
        <p14:creationId xmlns:p14="http://schemas.microsoft.com/office/powerpoint/2010/main" val="229826257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25669C-E769-928A-2D73-3A18FFCE8CA3}"/>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ABBCDA92-C3A9-6E12-6A3B-EBA4F396FCA4}"/>
              </a:ext>
            </a:extLst>
          </p:cNvPr>
          <p:cNvSpPr>
            <a:spLocks noGrp="1"/>
          </p:cNvSpPr>
          <p:nvPr>
            <p:ph type="title"/>
          </p:nvPr>
        </p:nvSpPr>
        <p:spPr>
          <a:xfrm>
            <a:off x="838200" y="248495"/>
            <a:ext cx="10515600" cy="432542"/>
          </a:xfrm>
        </p:spPr>
        <p:txBody>
          <a:bodyPr>
            <a:noAutofit/>
          </a:bodyPr>
          <a:lstStyle/>
          <a:p>
            <a:pPr algn="ctr"/>
            <a:r>
              <a:rPr lang="tr-TR" sz="2800" dirty="0"/>
              <a:t>GÜNCELLEME İŞLEMİ (Update Operations)</a:t>
            </a:r>
          </a:p>
        </p:txBody>
      </p:sp>
      <p:pic>
        <p:nvPicPr>
          <p:cNvPr id="5" name="İçerik Yer Tutucusu 4" descr="metin, ekran görüntüsü, yazılım, multimedya yazılımı içeren bir resim&#10;&#10;Yapay zeka tarafından oluşturulan içerik yanlış olabilir.">
            <a:extLst>
              <a:ext uri="{FF2B5EF4-FFF2-40B4-BE49-F238E27FC236}">
                <a16:creationId xmlns:a16="http://schemas.microsoft.com/office/drawing/2014/main" id="{91CA4AF9-27D1-72A0-6AB4-2C1DAD1BDD3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05257" y="1056957"/>
            <a:ext cx="10413615" cy="4216083"/>
          </a:xfrm>
        </p:spPr>
      </p:pic>
    </p:spTree>
    <p:extLst>
      <p:ext uri="{BB962C8B-B14F-4D97-AF65-F5344CB8AC3E}">
        <p14:creationId xmlns:p14="http://schemas.microsoft.com/office/powerpoint/2010/main" val="346945022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A35DD-E0C0-3D5C-BE63-C321C7983090}"/>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BE5F3D6A-9EF7-093E-9825-D00B253D02E6}"/>
              </a:ext>
            </a:extLst>
          </p:cNvPr>
          <p:cNvSpPr>
            <a:spLocks noGrp="1"/>
          </p:cNvSpPr>
          <p:nvPr>
            <p:ph type="title"/>
          </p:nvPr>
        </p:nvSpPr>
        <p:spPr>
          <a:xfrm>
            <a:off x="838200" y="248495"/>
            <a:ext cx="10515600" cy="432542"/>
          </a:xfrm>
        </p:spPr>
        <p:txBody>
          <a:bodyPr>
            <a:noAutofit/>
          </a:bodyPr>
          <a:lstStyle/>
          <a:p>
            <a:pPr algn="ctr"/>
            <a:r>
              <a:rPr lang="tr-TR" sz="2800" dirty="0"/>
              <a:t>GÜNCELLEME İŞLEMİ (Update Operations)</a:t>
            </a:r>
          </a:p>
        </p:txBody>
      </p:sp>
      <p:sp>
        <p:nvSpPr>
          <p:cNvPr id="3" name="İçerik Yer Tutucusu 2">
            <a:extLst>
              <a:ext uri="{FF2B5EF4-FFF2-40B4-BE49-F238E27FC236}">
                <a16:creationId xmlns:a16="http://schemas.microsoft.com/office/drawing/2014/main" id="{21D690CC-CE34-7291-C643-E6D88D510BD1}"/>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Müşterinin id bilgisini çektikten sonra bu id bilgisine sahip müşteriyi mevcut müşteriler arasında arıyoruz.</a:t>
            </a:r>
          </a:p>
          <a:p>
            <a:pPr marL="0" indent="0" algn="just">
              <a:lnSpc>
                <a:spcPct val="100000"/>
              </a:lnSpc>
              <a:spcBef>
                <a:spcPts val="600"/>
              </a:spcBef>
              <a:spcAft>
                <a:spcPts val="600"/>
              </a:spcAft>
              <a:buNone/>
            </a:pPr>
            <a:r>
              <a:rPr lang="tr-TR" sz="1800" dirty="0"/>
              <a:t> Bunun için de aşağıdaki kodu yazıyoruz. Hatırlarsanız bizim tüm müşteri bilgilerimiz </a:t>
            </a:r>
            <a:r>
              <a:rPr lang="tr-TR" sz="1800" dirty="0" err="1"/>
              <a:t>CustomerDbContext</a:t>
            </a:r>
            <a:r>
              <a:rPr lang="tr-TR" sz="1800" dirty="0"/>
              <a:t> sınıfından türettiğimiz ve global alanda tanımladığımız </a:t>
            </a:r>
            <a:r>
              <a:rPr lang="tr-TR" sz="1800" dirty="0" err="1"/>
              <a:t>db</a:t>
            </a:r>
            <a:r>
              <a:rPr lang="tr-TR" sz="1800" dirty="0"/>
              <a:t> nesnesinin içindeki </a:t>
            </a:r>
            <a:r>
              <a:rPr lang="tr-TR" sz="1800" dirty="0" err="1"/>
              <a:t>Customers’in</a:t>
            </a:r>
            <a:r>
              <a:rPr lang="tr-TR" sz="1800" dirty="0"/>
              <a:t> içerisindeydi.</a:t>
            </a:r>
          </a:p>
          <a:p>
            <a:pPr marL="0" indent="0" algn="just">
              <a:lnSpc>
                <a:spcPct val="100000"/>
              </a:lnSpc>
              <a:spcBef>
                <a:spcPts val="600"/>
              </a:spcBef>
              <a:spcAft>
                <a:spcPts val="600"/>
              </a:spcAft>
              <a:buNone/>
            </a:pPr>
            <a:r>
              <a:rPr lang="tr-TR" sz="1800" dirty="0"/>
              <a:t>Update işlemi için id araması yapan hazır bir metot var. </a:t>
            </a:r>
            <a:r>
              <a:rPr lang="tr-TR" sz="1800" dirty="0" err="1"/>
              <a:t>Find</a:t>
            </a:r>
            <a:r>
              <a:rPr lang="tr-TR" sz="1800" dirty="0"/>
              <a:t> metodu. Aşağıdaki kodla, id bilgisini çektiğimiz müşteriyi mevcut müşteriler arasında arıyoruz:</a:t>
            </a:r>
          </a:p>
          <a:p>
            <a:pPr marL="0" indent="0" algn="just">
              <a:lnSpc>
                <a:spcPct val="100000"/>
              </a:lnSpc>
              <a:spcBef>
                <a:spcPts val="600"/>
              </a:spcBef>
              <a:spcAft>
                <a:spcPts val="600"/>
              </a:spcAft>
              <a:buNone/>
            </a:pPr>
            <a:endParaRPr lang="tr-TR" sz="1800" dirty="0"/>
          </a:p>
          <a:p>
            <a:pPr marL="0" indent="0" algn="just">
              <a:lnSpc>
                <a:spcPct val="100000"/>
              </a:lnSpc>
              <a:spcBef>
                <a:spcPts val="600"/>
              </a:spcBef>
              <a:spcAft>
                <a:spcPts val="600"/>
              </a:spcAft>
              <a:buNone/>
            </a:pPr>
            <a:r>
              <a:rPr lang="en-US" sz="1800" dirty="0"/>
              <a:t>Customer </a:t>
            </a:r>
            <a:r>
              <a:rPr lang="en-US" sz="1800" dirty="0" err="1"/>
              <a:t>customer</a:t>
            </a:r>
            <a:r>
              <a:rPr lang="en-US" sz="1800" dirty="0"/>
              <a:t> = </a:t>
            </a:r>
            <a:r>
              <a:rPr lang="en-US" sz="1800" dirty="0" err="1"/>
              <a:t>db.Customers.Find</a:t>
            </a:r>
            <a:r>
              <a:rPr lang="en-US" sz="1800" dirty="0"/>
              <a:t>(</a:t>
            </a:r>
            <a:r>
              <a:rPr lang="en-US" sz="1800" dirty="0" err="1"/>
              <a:t>selectedId</a:t>
            </a:r>
            <a:r>
              <a:rPr lang="en-US" sz="1800" dirty="0"/>
              <a:t>);</a:t>
            </a:r>
            <a:endParaRPr lang="tr-TR" sz="1800" dirty="0"/>
          </a:p>
          <a:p>
            <a:pPr marL="0" indent="0" algn="just">
              <a:lnSpc>
                <a:spcPct val="100000"/>
              </a:lnSpc>
              <a:spcBef>
                <a:spcPts val="600"/>
              </a:spcBef>
              <a:spcAft>
                <a:spcPts val="600"/>
              </a:spcAft>
              <a:buNone/>
            </a:pPr>
            <a:r>
              <a:rPr lang="tr-TR" sz="1800" dirty="0"/>
              <a:t>Güncelleme işlemi yapmamız için de Customer sınıfından bir </a:t>
            </a:r>
            <a:r>
              <a:rPr lang="tr-TR" sz="1800" dirty="0" err="1"/>
              <a:t>instance</a:t>
            </a:r>
            <a:r>
              <a:rPr lang="tr-TR" sz="1800" dirty="0"/>
              <a:t> üretiyoruz ki onun özelliklerini (Name, </a:t>
            </a:r>
            <a:r>
              <a:rPr lang="tr-TR" sz="1800" dirty="0" err="1"/>
              <a:t>Surname</a:t>
            </a:r>
            <a:r>
              <a:rPr lang="tr-TR" sz="1800" dirty="0"/>
              <a:t>, </a:t>
            </a:r>
            <a:r>
              <a:rPr lang="tr-TR" sz="1800" dirty="0" err="1"/>
              <a:t>Email</a:t>
            </a:r>
            <a:r>
              <a:rPr lang="tr-TR" sz="1800" dirty="0"/>
              <a:t>, Telephone) güncelleyebilelim.</a:t>
            </a:r>
          </a:p>
          <a:p>
            <a:pPr marL="0" indent="0" algn="just">
              <a:lnSpc>
                <a:spcPct val="100000"/>
              </a:lnSpc>
              <a:spcBef>
                <a:spcPts val="600"/>
              </a:spcBef>
              <a:spcAft>
                <a:spcPts val="600"/>
              </a:spcAft>
              <a:buNone/>
            </a:pPr>
            <a:r>
              <a:rPr lang="tr-TR" sz="1800" dirty="0"/>
              <a:t>Müşterinin özellikleri (nasıl bir müşteri olduğu bilgisi Customer sınıfında), Müşterinin kim olduğu ve neler yapabildiği ise </a:t>
            </a:r>
            <a:r>
              <a:rPr lang="tr-TR" sz="1800" dirty="0" err="1"/>
              <a:t>CustomerDbContext</a:t>
            </a:r>
            <a:r>
              <a:rPr lang="tr-TR" sz="1800" dirty="0"/>
              <a:t> sınıfında tanımlanmıştır. Bu iki sınıfı karıştırmayınız.</a:t>
            </a:r>
          </a:p>
          <a:p>
            <a:pPr marL="0" indent="0" algn="just">
              <a:lnSpc>
                <a:spcPct val="100000"/>
              </a:lnSpc>
              <a:spcBef>
                <a:spcPts val="600"/>
              </a:spcBef>
              <a:spcAft>
                <a:spcPts val="600"/>
              </a:spcAft>
              <a:buNone/>
            </a:pPr>
            <a:endParaRPr lang="tr-TR" sz="1800" dirty="0"/>
          </a:p>
        </p:txBody>
      </p:sp>
    </p:spTree>
    <p:extLst>
      <p:ext uri="{BB962C8B-B14F-4D97-AF65-F5344CB8AC3E}">
        <p14:creationId xmlns:p14="http://schemas.microsoft.com/office/powerpoint/2010/main" val="231569455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162086-2261-B2C7-99AF-B915E6E02ECC}"/>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758A4F36-BE8E-091F-CF9F-C597A9243175}"/>
              </a:ext>
            </a:extLst>
          </p:cNvPr>
          <p:cNvSpPr>
            <a:spLocks noGrp="1"/>
          </p:cNvSpPr>
          <p:nvPr>
            <p:ph type="title"/>
          </p:nvPr>
        </p:nvSpPr>
        <p:spPr>
          <a:xfrm>
            <a:off x="838200" y="248495"/>
            <a:ext cx="10515600" cy="432542"/>
          </a:xfrm>
        </p:spPr>
        <p:txBody>
          <a:bodyPr>
            <a:noAutofit/>
          </a:bodyPr>
          <a:lstStyle/>
          <a:p>
            <a:pPr algn="ctr"/>
            <a:r>
              <a:rPr lang="tr-TR" sz="2800" dirty="0"/>
              <a:t>GÜNCELLEME İŞLEMİ (Update Operations)</a:t>
            </a:r>
          </a:p>
        </p:txBody>
      </p:sp>
      <p:pic>
        <p:nvPicPr>
          <p:cNvPr id="5" name="İçerik Yer Tutucusu 4" descr="metin, ekran görüntüsü, yazılım, multimedya yazılımı içeren bir resim&#10;&#10;Yapay zeka tarafından oluşturulan içerik yanlış olabilir.">
            <a:extLst>
              <a:ext uri="{FF2B5EF4-FFF2-40B4-BE49-F238E27FC236}">
                <a16:creationId xmlns:a16="http://schemas.microsoft.com/office/drawing/2014/main" id="{C61C18A6-0051-2181-DB1E-C3D67B69601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211295"/>
            <a:ext cx="10472798" cy="4435410"/>
          </a:xfrm>
        </p:spPr>
      </p:pic>
    </p:spTree>
    <p:extLst>
      <p:ext uri="{BB962C8B-B14F-4D97-AF65-F5344CB8AC3E}">
        <p14:creationId xmlns:p14="http://schemas.microsoft.com/office/powerpoint/2010/main" val="162733813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D645C-009D-BAC1-B519-88C13C118615}"/>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6AFCF654-567C-73A7-E9DC-593BC1491144}"/>
              </a:ext>
            </a:extLst>
          </p:cNvPr>
          <p:cNvSpPr>
            <a:spLocks noGrp="1"/>
          </p:cNvSpPr>
          <p:nvPr>
            <p:ph type="title"/>
          </p:nvPr>
        </p:nvSpPr>
        <p:spPr>
          <a:xfrm>
            <a:off x="838200" y="248495"/>
            <a:ext cx="10515600" cy="432542"/>
          </a:xfrm>
        </p:spPr>
        <p:txBody>
          <a:bodyPr>
            <a:noAutofit/>
          </a:bodyPr>
          <a:lstStyle/>
          <a:p>
            <a:pPr algn="ctr"/>
            <a:r>
              <a:rPr lang="tr-TR" sz="2800" dirty="0"/>
              <a:t>GÜNCELLEME İŞLEMİ (Update Operations)</a:t>
            </a:r>
          </a:p>
        </p:txBody>
      </p:sp>
      <p:sp>
        <p:nvSpPr>
          <p:cNvPr id="3" name="İçerik Yer Tutucusu 2">
            <a:extLst>
              <a:ext uri="{FF2B5EF4-FFF2-40B4-BE49-F238E27FC236}">
                <a16:creationId xmlns:a16="http://schemas.microsoft.com/office/drawing/2014/main" id="{615DD01F-EC30-26E0-D743-810FB2844B28}"/>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Şimdi, yeni bir if bloku açıyoruz. Eğer bulduğumuz-eşleştirdiğimiz kullanıcı doğruysa (mevcutsa) o zaman güncelleme işlemi için yeni değerlerin atamasını yapacağız. Öncelikle aşağıdaki if döngüsünü açmamız lazım:</a:t>
            </a:r>
          </a:p>
          <a:p>
            <a:pPr marL="0" indent="0">
              <a:buNone/>
            </a:pPr>
            <a:r>
              <a:rPr lang="tr-TR" sz="1800" dirty="0">
                <a:solidFill>
                  <a:srgbClr val="0000FF"/>
                </a:solidFill>
                <a:highlight>
                  <a:srgbClr val="FFFFFF"/>
                </a:highlight>
                <a:latin typeface="Cascadia Mono" panose="020B0609020000020004" pitchFamily="49" charset="0"/>
              </a:rPr>
              <a:t>if</a:t>
            </a: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customer</a:t>
            </a:r>
            <a:r>
              <a:rPr lang="tr-TR" sz="1800" dirty="0">
                <a:solidFill>
                  <a:srgbClr val="000000"/>
                </a:solidFill>
                <a:highlight>
                  <a:srgbClr val="FFFFFF"/>
                </a:highlight>
                <a:latin typeface="Cascadia Mono" panose="020B0609020000020004" pitchFamily="49" charset="0"/>
              </a:rPr>
              <a:t> != </a:t>
            </a:r>
            <a:r>
              <a:rPr lang="tr-TR" sz="1800" dirty="0" err="1">
                <a:solidFill>
                  <a:srgbClr val="0000FF"/>
                </a:solidFill>
                <a:highlight>
                  <a:srgbClr val="FFFFFF"/>
                </a:highlight>
                <a:latin typeface="Cascadia Mono" panose="020B0609020000020004" pitchFamily="49" charset="0"/>
              </a:rPr>
              <a:t>null</a:t>
            </a:r>
            <a:r>
              <a:rPr lang="tr-TR" sz="1800" dirty="0">
                <a:solidFill>
                  <a:srgbClr val="000000"/>
                </a:solidFill>
                <a:highlight>
                  <a:srgbClr val="FFFFFF"/>
                </a:highlight>
                <a:latin typeface="Cascadia Mono" panose="020B0609020000020004" pitchFamily="49" charset="0"/>
              </a:rPr>
              <a:t>) </a:t>
            </a:r>
          </a:p>
          <a:p>
            <a:pPr marL="0" indent="0">
              <a:buNone/>
            </a:pPr>
            <a:r>
              <a:rPr lang="tr-TR" sz="1800" dirty="0">
                <a:solidFill>
                  <a:srgbClr val="000000"/>
                </a:solidFill>
                <a:highlight>
                  <a:srgbClr val="FFFFFF"/>
                </a:highlight>
                <a:latin typeface="Cascadia Mono" panose="020B0609020000020004" pitchFamily="49" charset="0"/>
              </a:rPr>
              <a:t>{</a:t>
            </a:r>
          </a:p>
          <a:p>
            <a:pPr marL="0" indent="0">
              <a:buNone/>
            </a:pPr>
            <a:endParaRPr lang="tr-TR" sz="1800" dirty="0">
              <a:solidFill>
                <a:srgbClr val="000000"/>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a:t>
            </a:r>
            <a:endParaRPr lang="tr-TR" sz="1800" dirty="0"/>
          </a:p>
        </p:txBody>
      </p:sp>
    </p:spTree>
    <p:extLst>
      <p:ext uri="{BB962C8B-B14F-4D97-AF65-F5344CB8AC3E}">
        <p14:creationId xmlns:p14="http://schemas.microsoft.com/office/powerpoint/2010/main" val="179150965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EA589-CA28-D4DF-2419-48BFD0317A21}"/>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F59B152C-5C61-448D-1CAF-881776B0B8DF}"/>
              </a:ext>
            </a:extLst>
          </p:cNvPr>
          <p:cNvSpPr>
            <a:spLocks noGrp="1"/>
          </p:cNvSpPr>
          <p:nvPr>
            <p:ph type="title"/>
          </p:nvPr>
        </p:nvSpPr>
        <p:spPr>
          <a:xfrm>
            <a:off x="838200" y="248495"/>
            <a:ext cx="10515600" cy="432542"/>
          </a:xfrm>
        </p:spPr>
        <p:txBody>
          <a:bodyPr>
            <a:noAutofit/>
          </a:bodyPr>
          <a:lstStyle/>
          <a:p>
            <a:pPr algn="ctr"/>
            <a:r>
              <a:rPr lang="tr-TR" sz="2800" dirty="0"/>
              <a:t>GÜNCELLEME İŞLEMİ (Update Operations)</a:t>
            </a:r>
          </a:p>
        </p:txBody>
      </p:sp>
      <p:sp>
        <p:nvSpPr>
          <p:cNvPr id="3" name="İçerik Yer Tutucusu 2">
            <a:extLst>
              <a:ext uri="{FF2B5EF4-FFF2-40B4-BE49-F238E27FC236}">
                <a16:creationId xmlns:a16="http://schemas.microsoft.com/office/drawing/2014/main" id="{8351421D-AFE4-2D85-7BA3-7A56F6E7E7E8}"/>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Seçilen müşteriyi </a:t>
            </a:r>
            <a:r>
              <a:rPr lang="tr-TR" sz="1800" dirty="0" err="1"/>
              <a:t>customer</a:t>
            </a:r>
            <a:r>
              <a:rPr lang="tr-TR" sz="1800" dirty="0"/>
              <a:t> olarak tanımlamıştık. Şimdi, </a:t>
            </a:r>
            <a:r>
              <a:rPr lang="tr-TR" sz="1800" dirty="0" err="1"/>
              <a:t>textbox’lardaki</a:t>
            </a:r>
            <a:r>
              <a:rPr lang="tr-TR" sz="1800" dirty="0"/>
              <a:t> değerleri bu müşterinin ilgili özelliği olarak atayacağız. Örneğin, </a:t>
            </a:r>
            <a:r>
              <a:rPr lang="tr-TR" sz="1800" dirty="0" err="1"/>
              <a:t>txt_name</a:t>
            </a:r>
            <a:r>
              <a:rPr lang="tr-TR" sz="1800" dirty="0"/>
              <a:t> isimli </a:t>
            </a:r>
            <a:r>
              <a:rPr lang="tr-TR" sz="1800" dirty="0" err="1"/>
              <a:t>textbox’ta</a:t>
            </a:r>
            <a:r>
              <a:rPr lang="tr-TR" sz="1800" dirty="0"/>
              <a:t> müşterinin isim bilgisi (</a:t>
            </a:r>
            <a:r>
              <a:rPr lang="tr-TR" sz="1800" dirty="0" err="1"/>
              <a:t>Customer_Name</a:t>
            </a:r>
            <a:r>
              <a:rPr lang="tr-TR" sz="1800" dirty="0"/>
              <a:t> özelliği) yer alıyor. Dolayısıyla müşterinin adını değiştirmek istiyorsak, bu </a:t>
            </a:r>
            <a:r>
              <a:rPr lang="tr-TR" sz="1800" dirty="0" err="1"/>
              <a:t>textbox’taki</a:t>
            </a:r>
            <a:r>
              <a:rPr lang="tr-TR" sz="1800" dirty="0"/>
              <a:t> değeri değiştirmemiz yeterli olacak. Aşağıdaki kodları açtığımız ikinci if bloku içerisine yazıp her bir (yeni) değerin atamasını gerçekleştiriyoruz:</a:t>
            </a:r>
          </a:p>
          <a:p>
            <a:pPr marL="0" indent="0">
              <a:buNone/>
            </a:pPr>
            <a:r>
              <a:rPr lang="en-US" sz="1800" dirty="0" err="1">
                <a:solidFill>
                  <a:srgbClr val="000000"/>
                </a:solidFill>
                <a:highlight>
                  <a:srgbClr val="FFFFFF"/>
                </a:highlight>
                <a:latin typeface="Cascadia Mono" panose="020B0609020000020004" pitchFamily="49" charset="0"/>
              </a:rPr>
              <a:t>customer.Customer_Name</a:t>
            </a:r>
            <a:r>
              <a:rPr lang="en-US" sz="1800" dirty="0">
                <a:solidFill>
                  <a:srgbClr val="000000"/>
                </a:solidFill>
                <a:highlight>
                  <a:srgbClr val="FFFFFF"/>
                </a:highlight>
                <a:latin typeface="Cascadia Mono" panose="020B0609020000020004" pitchFamily="49" charset="0"/>
              </a:rPr>
              <a:t> = </a:t>
            </a:r>
            <a:r>
              <a:rPr lang="en-US" sz="1800" dirty="0" err="1">
                <a:solidFill>
                  <a:srgbClr val="000000"/>
                </a:solidFill>
                <a:highlight>
                  <a:srgbClr val="FFFFFF"/>
                </a:highlight>
                <a:latin typeface="Cascadia Mono" panose="020B0609020000020004" pitchFamily="49" charset="0"/>
              </a:rPr>
              <a:t>txt_isim.Text</a:t>
            </a:r>
            <a:r>
              <a:rPr lang="en-US" sz="1800" dirty="0">
                <a:solidFill>
                  <a:srgbClr val="000000"/>
                </a:solidFill>
                <a:highlight>
                  <a:srgbClr val="FFFFFF"/>
                </a:highlight>
                <a:latin typeface="Cascadia Mono" panose="020B0609020000020004" pitchFamily="49" charset="0"/>
              </a:rPr>
              <a:t>;</a:t>
            </a:r>
          </a:p>
          <a:p>
            <a:pPr marL="0" indent="0">
              <a:buNone/>
            </a:pPr>
            <a:r>
              <a:rPr lang="en-US" sz="1800" dirty="0" err="1">
                <a:solidFill>
                  <a:srgbClr val="000000"/>
                </a:solidFill>
                <a:highlight>
                  <a:srgbClr val="FFFFFF"/>
                </a:highlight>
                <a:latin typeface="Cascadia Mono" panose="020B0609020000020004" pitchFamily="49" charset="0"/>
              </a:rPr>
              <a:t>customer.Customer_Surname</a:t>
            </a:r>
            <a:r>
              <a:rPr lang="en-US" sz="1800" dirty="0">
                <a:solidFill>
                  <a:srgbClr val="000000"/>
                </a:solidFill>
                <a:highlight>
                  <a:srgbClr val="FFFFFF"/>
                </a:highlight>
                <a:latin typeface="Cascadia Mono" panose="020B0609020000020004" pitchFamily="49" charset="0"/>
              </a:rPr>
              <a:t> = </a:t>
            </a:r>
            <a:r>
              <a:rPr lang="en-US" sz="1800" dirty="0" err="1">
                <a:solidFill>
                  <a:srgbClr val="000000"/>
                </a:solidFill>
                <a:highlight>
                  <a:srgbClr val="FFFFFF"/>
                </a:highlight>
                <a:latin typeface="Cascadia Mono" panose="020B0609020000020004" pitchFamily="49" charset="0"/>
              </a:rPr>
              <a:t>txt_soyisim.Text</a:t>
            </a:r>
            <a:r>
              <a:rPr lang="en-US" sz="1800" dirty="0">
                <a:solidFill>
                  <a:srgbClr val="000000"/>
                </a:solidFill>
                <a:highlight>
                  <a:srgbClr val="FFFFFF"/>
                </a:highlight>
                <a:latin typeface="Cascadia Mono" panose="020B0609020000020004" pitchFamily="49" charset="0"/>
              </a:rPr>
              <a:t>;</a:t>
            </a:r>
          </a:p>
          <a:p>
            <a:pPr marL="0" indent="0">
              <a:buNone/>
            </a:pPr>
            <a:r>
              <a:rPr lang="en-US" sz="1800" dirty="0" err="1">
                <a:solidFill>
                  <a:srgbClr val="000000"/>
                </a:solidFill>
                <a:highlight>
                  <a:srgbClr val="FFFFFF"/>
                </a:highlight>
                <a:latin typeface="Cascadia Mono" panose="020B0609020000020004" pitchFamily="49" charset="0"/>
              </a:rPr>
              <a:t>customer.Customer_email</a:t>
            </a:r>
            <a:r>
              <a:rPr lang="en-US" sz="1800" dirty="0">
                <a:solidFill>
                  <a:srgbClr val="000000"/>
                </a:solidFill>
                <a:highlight>
                  <a:srgbClr val="FFFFFF"/>
                </a:highlight>
                <a:latin typeface="Cascadia Mono" panose="020B0609020000020004" pitchFamily="49" charset="0"/>
              </a:rPr>
              <a:t> = </a:t>
            </a:r>
            <a:r>
              <a:rPr lang="en-US" sz="1800" dirty="0" err="1">
                <a:solidFill>
                  <a:srgbClr val="000000"/>
                </a:solidFill>
                <a:highlight>
                  <a:srgbClr val="FFFFFF"/>
                </a:highlight>
                <a:latin typeface="Cascadia Mono" panose="020B0609020000020004" pitchFamily="49" charset="0"/>
              </a:rPr>
              <a:t>txt_email.Text</a:t>
            </a:r>
            <a:r>
              <a:rPr lang="en-US" sz="1800" dirty="0">
                <a:solidFill>
                  <a:srgbClr val="000000"/>
                </a:solidFill>
                <a:highlight>
                  <a:srgbClr val="FFFFFF"/>
                </a:highlight>
                <a:latin typeface="Cascadia Mono" panose="020B0609020000020004" pitchFamily="49" charset="0"/>
              </a:rPr>
              <a:t>;</a:t>
            </a:r>
          </a:p>
          <a:p>
            <a:pPr marL="0" indent="0">
              <a:buNone/>
            </a:pPr>
            <a:r>
              <a:rPr lang="en-US" sz="1800" dirty="0" err="1">
                <a:solidFill>
                  <a:srgbClr val="000000"/>
                </a:solidFill>
                <a:highlight>
                  <a:srgbClr val="FFFFFF"/>
                </a:highlight>
                <a:latin typeface="Cascadia Mono" panose="020B0609020000020004" pitchFamily="49" charset="0"/>
              </a:rPr>
              <a:t>customer.Customer_telephone</a:t>
            </a:r>
            <a:r>
              <a:rPr lang="en-US" sz="1800" dirty="0">
                <a:solidFill>
                  <a:srgbClr val="000000"/>
                </a:solidFill>
                <a:highlight>
                  <a:srgbClr val="FFFFFF"/>
                </a:highlight>
                <a:latin typeface="Cascadia Mono" panose="020B0609020000020004" pitchFamily="49" charset="0"/>
              </a:rPr>
              <a:t> = </a:t>
            </a:r>
            <a:r>
              <a:rPr lang="en-US" sz="1800" dirty="0" err="1">
                <a:solidFill>
                  <a:srgbClr val="000000"/>
                </a:solidFill>
                <a:highlight>
                  <a:srgbClr val="FFFFFF"/>
                </a:highlight>
                <a:latin typeface="Cascadia Mono" panose="020B0609020000020004" pitchFamily="49" charset="0"/>
              </a:rPr>
              <a:t>txt_telefon.Text</a:t>
            </a:r>
            <a:r>
              <a:rPr lang="en-US" sz="1800" dirty="0">
                <a:solidFill>
                  <a:srgbClr val="000000"/>
                </a:solidFill>
                <a:highlight>
                  <a:srgbClr val="FFFFFF"/>
                </a:highlight>
                <a:latin typeface="Cascadia Mono" panose="020B0609020000020004" pitchFamily="49" charset="0"/>
              </a:rPr>
              <a:t>;</a:t>
            </a:r>
            <a:endParaRPr lang="tr-TR" sz="1800" dirty="0"/>
          </a:p>
        </p:txBody>
      </p:sp>
    </p:spTree>
    <p:extLst>
      <p:ext uri="{BB962C8B-B14F-4D97-AF65-F5344CB8AC3E}">
        <p14:creationId xmlns:p14="http://schemas.microsoft.com/office/powerpoint/2010/main" val="61557050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20EC0-879E-41AD-E39E-C8BB4060891A}"/>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67B76401-0609-A25D-08A3-F5E431F8DBCE}"/>
              </a:ext>
            </a:extLst>
          </p:cNvPr>
          <p:cNvSpPr>
            <a:spLocks noGrp="1"/>
          </p:cNvSpPr>
          <p:nvPr>
            <p:ph type="title"/>
          </p:nvPr>
        </p:nvSpPr>
        <p:spPr>
          <a:xfrm>
            <a:off x="838200" y="248495"/>
            <a:ext cx="10515600" cy="432542"/>
          </a:xfrm>
        </p:spPr>
        <p:txBody>
          <a:bodyPr>
            <a:noAutofit/>
          </a:bodyPr>
          <a:lstStyle/>
          <a:p>
            <a:pPr algn="ctr"/>
            <a:r>
              <a:rPr lang="tr-TR" sz="2800" dirty="0"/>
              <a:t>GÜNCELLEME İŞLEMİ (Update Operations)</a:t>
            </a:r>
          </a:p>
        </p:txBody>
      </p:sp>
      <p:pic>
        <p:nvPicPr>
          <p:cNvPr id="5" name="İçerik Yer Tutucusu 4" descr="metin, ekran görüntüsü, yazılım, multimedya yazılımı içeren bir resim&#10;&#10;Yapay zeka tarafından oluşturulan içerik yanlış olabilir.">
            <a:extLst>
              <a:ext uri="{FF2B5EF4-FFF2-40B4-BE49-F238E27FC236}">
                <a16:creationId xmlns:a16="http://schemas.microsoft.com/office/drawing/2014/main" id="{1DBCF6DD-F644-469B-E161-CA4553C9A01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11541" y="910079"/>
            <a:ext cx="9368918" cy="5699426"/>
          </a:xfrm>
        </p:spPr>
      </p:pic>
    </p:spTree>
    <p:extLst>
      <p:ext uri="{BB962C8B-B14F-4D97-AF65-F5344CB8AC3E}">
        <p14:creationId xmlns:p14="http://schemas.microsoft.com/office/powerpoint/2010/main" val="346007181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ED5551-3F3A-154B-C537-D7124E96F0F9}"/>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2EADB5B2-6828-58F6-A838-E20489D5060B}"/>
              </a:ext>
            </a:extLst>
          </p:cNvPr>
          <p:cNvSpPr>
            <a:spLocks noGrp="1"/>
          </p:cNvSpPr>
          <p:nvPr>
            <p:ph type="title"/>
          </p:nvPr>
        </p:nvSpPr>
        <p:spPr>
          <a:xfrm>
            <a:off x="838200" y="248495"/>
            <a:ext cx="10515600" cy="432542"/>
          </a:xfrm>
        </p:spPr>
        <p:txBody>
          <a:bodyPr>
            <a:noAutofit/>
          </a:bodyPr>
          <a:lstStyle/>
          <a:p>
            <a:pPr algn="ctr"/>
            <a:r>
              <a:rPr lang="tr-TR" sz="2800" dirty="0"/>
              <a:t>GÜNCELLEME İŞLEMİ (Update Operations)</a:t>
            </a:r>
          </a:p>
        </p:txBody>
      </p:sp>
      <p:sp>
        <p:nvSpPr>
          <p:cNvPr id="3" name="İçerik Yer Tutucusu 2">
            <a:extLst>
              <a:ext uri="{FF2B5EF4-FFF2-40B4-BE49-F238E27FC236}">
                <a16:creationId xmlns:a16="http://schemas.microsoft.com/office/drawing/2014/main" id="{4540238D-3A7C-1332-A806-DEFD18E68A84}"/>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Değer atama işleminden sonra, güncelleme işleminin gerçekleşmesi için aşağıdaki kodları yazıyoruz:</a:t>
            </a:r>
          </a:p>
          <a:p>
            <a:pPr marL="0" indent="0" algn="just">
              <a:lnSpc>
                <a:spcPct val="100000"/>
              </a:lnSpc>
              <a:spcBef>
                <a:spcPts val="600"/>
              </a:spcBef>
              <a:spcAft>
                <a:spcPts val="600"/>
              </a:spcAft>
              <a:buNone/>
            </a:pPr>
            <a:r>
              <a:rPr lang="tr-TR" sz="1800" dirty="0" err="1"/>
              <a:t>db.SaveChanges</a:t>
            </a:r>
            <a:r>
              <a:rPr lang="tr-TR" sz="1800" dirty="0"/>
              <a:t>(); // bu kodla güncelleme işlemi gerçekleştiriliyor.</a:t>
            </a:r>
          </a:p>
          <a:p>
            <a:pPr marL="0" indent="0" algn="just">
              <a:lnSpc>
                <a:spcPct val="100000"/>
              </a:lnSpc>
              <a:spcBef>
                <a:spcPts val="600"/>
              </a:spcBef>
              <a:spcAft>
                <a:spcPts val="600"/>
              </a:spcAft>
              <a:buNone/>
            </a:pPr>
            <a:r>
              <a:rPr lang="tr-TR" sz="1800" dirty="0" err="1"/>
              <a:t>MessageBox.Show</a:t>
            </a:r>
            <a:r>
              <a:rPr lang="tr-TR" sz="1800" dirty="0"/>
              <a:t>("Müşteri güncellendi!"); // bu kodla, güncelleme işlemi başarılıysa eğer mesaj verilir.</a:t>
            </a:r>
          </a:p>
          <a:p>
            <a:pPr marL="0" indent="0" algn="just">
              <a:lnSpc>
                <a:spcPct val="100000"/>
              </a:lnSpc>
              <a:spcBef>
                <a:spcPts val="600"/>
              </a:spcBef>
              <a:spcAft>
                <a:spcPts val="600"/>
              </a:spcAft>
              <a:buNone/>
            </a:pPr>
            <a:r>
              <a:rPr lang="tr-TR" sz="1800" dirty="0" err="1"/>
              <a:t>btn_listele.PerformClick</a:t>
            </a:r>
            <a:r>
              <a:rPr lang="tr-TR" sz="1800" dirty="0"/>
              <a:t>(); // bu kodla da güncelleme işleminden sonra yeni değerler listelenir.</a:t>
            </a:r>
          </a:p>
        </p:txBody>
      </p:sp>
    </p:spTree>
    <p:extLst>
      <p:ext uri="{BB962C8B-B14F-4D97-AF65-F5344CB8AC3E}">
        <p14:creationId xmlns:p14="http://schemas.microsoft.com/office/powerpoint/2010/main" val="280222027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C0C00-B5DB-23EC-8456-C1F692E3220F}"/>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1D0EB579-D5B4-C8FC-DDDD-7F00BB6306AC}"/>
              </a:ext>
            </a:extLst>
          </p:cNvPr>
          <p:cNvSpPr>
            <a:spLocks noGrp="1"/>
          </p:cNvSpPr>
          <p:nvPr>
            <p:ph type="title"/>
          </p:nvPr>
        </p:nvSpPr>
        <p:spPr>
          <a:xfrm>
            <a:off x="838200" y="248495"/>
            <a:ext cx="10515600" cy="432542"/>
          </a:xfrm>
        </p:spPr>
        <p:txBody>
          <a:bodyPr>
            <a:noAutofit/>
          </a:bodyPr>
          <a:lstStyle/>
          <a:p>
            <a:pPr algn="ctr"/>
            <a:r>
              <a:rPr lang="tr-TR" sz="2800" dirty="0"/>
              <a:t>GÜNCELLEME İŞLEMİ (Update Operations)</a:t>
            </a:r>
          </a:p>
        </p:txBody>
      </p:sp>
      <p:sp>
        <p:nvSpPr>
          <p:cNvPr id="3" name="İçerik Yer Tutucusu 2">
            <a:extLst>
              <a:ext uri="{FF2B5EF4-FFF2-40B4-BE49-F238E27FC236}">
                <a16:creationId xmlns:a16="http://schemas.microsoft.com/office/drawing/2014/main" id="{1AD6BD95-FB0C-03F5-3B9D-5683E8397047}"/>
              </a:ext>
            </a:extLst>
          </p:cNvPr>
          <p:cNvSpPr>
            <a:spLocks noGrp="1"/>
          </p:cNvSpPr>
          <p:nvPr>
            <p:ph idx="1"/>
          </p:nvPr>
        </p:nvSpPr>
        <p:spPr>
          <a:xfrm>
            <a:off x="838200" y="846306"/>
            <a:ext cx="10515600" cy="5885234"/>
          </a:xfrm>
        </p:spPr>
        <p:txBody>
          <a:bodyPr>
            <a:normAutofit fontScale="70000" lnSpcReduction="20000"/>
          </a:bodyPr>
          <a:lstStyle/>
          <a:p>
            <a:pPr marL="0" indent="0">
              <a:buNone/>
            </a:pPr>
            <a:r>
              <a:rPr lang="tr-TR" sz="1800" dirty="0" err="1">
                <a:solidFill>
                  <a:srgbClr val="0000FF"/>
                </a:solidFill>
                <a:highlight>
                  <a:srgbClr val="FFFFFF"/>
                </a:highlight>
                <a:latin typeface="Cascadia Mono" panose="020B0609020000020004" pitchFamily="49" charset="0"/>
              </a:rPr>
              <a:t>private</a:t>
            </a:r>
            <a:r>
              <a:rPr lang="tr-TR" sz="1800" dirty="0">
                <a:solidFill>
                  <a:srgbClr val="000000"/>
                </a:solidFill>
                <a:highlight>
                  <a:srgbClr val="FFFFFF"/>
                </a:highlight>
                <a:latin typeface="Cascadia Mono" panose="020B0609020000020004" pitchFamily="49" charset="0"/>
              </a:rPr>
              <a:t> </a:t>
            </a:r>
            <a:r>
              <a:rPr lang="tr-TR" sz="1800" dirty="0">
                <a:solidFill>
                  <a:srgbClr val="0000FF"/>
                </a:solidFill>
                <a:highlight>
                  <a:srgbClr val="FFFFFF"/>
                </a:highlight>
                <a:latin typeface="Cascadia Mono" panose="020B0609020000020004" pitchFamily="49" charset="0"/>
              </a:rPr>
              <a:t>void</a:t>
            </a: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btn_guncelle_Click</a:t>
            </a:r>
            <a:r>
              <a:rPr lang="tr-TR" sz="1800" dirty="0">
                <a:solidFill>
                  <a:srgbClr val="000000"/>
                </a:solidFill>
                <a:highlight>
                  <a:srgbClr val="FFFFFF"/>
                </a:highlight>
                <a:latin typeface="Cascadia Mono" panose="020B0609020000020004" pitchFamily="49" charset="0"/>
              </a:rPr>
              <a:t>(</a:t>
            </a:r>
            <a:r>
              <a:rPr lang="tr-TR" sz="1800" dirty="0" err="1">
                <a:solidFill>
                  <a:srgbClr val="0000FF"/>
                </a:solidFill>
                <a:highlight>
                  <a:srgbClr val="FFFFFF"/>
                </a:highlight>
                <a:latin typeface="Cascadia Mono" panose="020B0609020000020004" pitchFamily="49" charset="0"/>
              </a:rPr>
              <a:t>object</a:t>
            </a: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sender</a:t>
            </a: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EventArgs</a:t>
            </a:r>
            <a:r>
              <a:rPr lang="tr-TR" sz="1800" dirty="0">
                <a:solidFill>
                  <a:srgbClr val="000000"/>
                </a:solidFill>
                <a:highlight>
                  <a:srgbClr val="FFFFFF"/>
                </a:highlight>
                <a:latin typeface="Cascadia Mono" panose="020B0609020000020004" pitchFamily="49" charset="0"/>
              </a:rPr>
              <a:t> e)</a:t>
            </a:r>
          </a:p>
          <a:p>
            <a:pPr marL="0" indent="0">
              <a:buNone/>
            </a:pP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0000FF"/>
                </a:solidFill>
                <a:highlight>
                  <a:srgbClr val="FFFFFF"/>
                </a:highlight>
                <a:latin typeface="Cascadia Mono" panose="020B0609020000020004" pitchFamily="49" charset="0"/>
              </a:rPr>
              <a:t>try</a:t>
            </a:r>
            <a:endParaRPr lang="tr-TR" sz="1800" dirty="0">
              <a:solidFill>
                <a:srgbClr val="0000FF"/>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    {</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a:solidFill>
                  <a:srgbClr val="0000FF"/>
                </a:solidFill>
                <a:highlight>
                  <a:srgbClr val="FFFFFF"/>
                </a:highlight>
                <a:latin typeface="Cascadia Mono" panose="020B0609020000020004" pitchFamily="49" charset="0"/>
              </a:rPr>
              <a:t>if</a:t>
            </a:r>
            <a:r>
              <a:rPr lang="tr-TR" sz="1800" dirty="0">
                <a:solidFill>
                  <a:srgbClr val="000000"/>
                </a:solidFill>
                <a:highlight>
                  <a:srgbClr val="FFFFFF"/>
                </a:highlight>
                <a:latin typeface="Cascadia Mono" panose="020B0609020000020004" pitchFamily="49" charset="0"/>
              </a:rPr>
              <a:t> (dataGridView1.CurrentRow != </a:t>
            </a:r>
            <a:r>
              <a:rPr lang="tr-TR" sz="1800" dirty="0" err="1">
                <a:solidFill>
                  <a:srgbClr val="0000FF"/>
                </a:solidFill>
                <a:highlight>
                  <a:srgbClr val="FFFFFF"/>
                </a:highlight>
                <a:latin typeface="Cascadia Mono" panose="020B0609020000020004" pitchFamily="49" charset="0"/>
              </a:rPr>
              <a:t>null</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p>
          <a:p>
            <a:pPr marL="0" indent="0">
              <a:buNone/>
            </a:pP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int</a:t>
            </a:r>
            <a:r>
              <a:rPr lang="en-US" sz="1800" dirty="0">
                <a:solidFill>
                  <a:srgbClr val="000000"/>
                </a:solidFill>
                <a:highlight>
                  <a:srgbClr val="FFFFFF"/>
                </a:highlight>
                <a:latin typeface="Cascadia Mono" panose="020B0609020000020004" pitchFamily="49" charset="0"/>
              </a:rPr>
              <a:t> </a:t>
            </a:r>
            <a:r>
              <a:rPr lang="en-US" sz="1800" dirty="0" err="1">
                <a:solidFill>
                  <a:srgbClr val="000000"/>
                </a:solidFill>
                <a:highlight>
                  <a:srgbClr val="FFFFFF"/>
                </a:highlight>
                <a:latin typeface="Cascadia Mono" panose="020B0609020000020004" pitchFamily="49" charset="0"/>
              </a:rPr>
              <a:t>selectedId</a:t>
            </a:r>
            <a:r>
              <a:rPr lang="en-US" sz="1800" dirty="0">
                <a:solidFill>
                  <a:srgbClr val="000000"/>
                </a:solidFill>
                <a:highlight>
                  <a:srgbClr val="FFFFFF"/>
                </a:highlight>
                <a:latin typeface="Cascadia Mono" panose="020B0609020000020004" pitchFamily="49" charset="0"/>
              </a:rPr>
              <a:t> = </a:t>
            </a:r>
            <a:r>
              <a:rPr lang="en-US" sz="1800" dirty="0">
                <a:solidFill>
                  <a:srgbClr val="2B91AF"/>
                </a:solidFill>
                <a:highlight>
                  <a:srgbClr val="FFFFFF"/>
                </a:highlight>
                <a:latin typeface="Cascadia Mono" panose="020B0609020000020004" pitchFamily="49" charset="0"/>
              </a:rPr>
              <a:t>Convert</a:t>
            </a:r>
            <a:r>
              <a:rPr lang="en-US" sz="1800" dirty="0">
                <a:solidFill>
                  <a:srgbClr val="000000"/>
                </a:solidFill>
                <a:highlight>
                  <a:srgbClr val="FFFFFF"/>
                </a:highlight>
                <a:latin typeface="Cascadia Mono" panose="020B0609020000020004" pitchFamily="49" charset="0"/>
              </a:rPr>
              <a:t>.ToInt32(dataGridView1.CurrentRow.Cells[</a:t>
            </a:r>
            <a:r>
              <a:rPr lang="en-US" sz="1800" dirty="0">
                <a:solidFill>
                  <a:srgbClr val="A31515"/>
                </a:solidFill>
                <a:highlight>
                  <a:srgbClr val="FFFFFF"/>
                </a:highlight>
                <a:latin typeface="Cascadia Mono" panose="020B0609020000020004" pitchFamily="49" charset="0"/>
              </a:rPr>
              <a:t>"Customer_Id"</a:t>
            </a:r>
            <a:r>
              <a:rPr lang="en-US" sz="1800" dirty="0">
                <a:solidFill>
                  <a:srgbClr val="000000"/>
                </a:solidFill>
                <a:highlight>
                  <a:srgbClr val="FFFFFF"/>
                </a:highlight>
                <a:latin typeface="Cascadia Mono" panose="020B0609020000020004" pitchFamily="49" charset="0"/>
              </a:rPr>
              <a:t>].Value);</a:t>
            </a:r>
          </a:p>
          <a:p>
            <a:pPr marL="0" indent="0">
              <a:buNone/>
            </a:pPr>
            <a:r>
              <a:rPr lang="en-US" sz="1800" dirty="0">
                <a:solidFill>
                  <a:srgbClr val="000000"/>
                </a:solidFill>
                <a:highlight>
                  <a:srgbClr val="FFFFFF"/>
                </a:highlight>
                <a:latin typeface="Cascadia Mono" panose="020B0609020000020004" pitchFamily="49" charset="0"/>
              </a:rPr>
              <a:t>            </a:t>
            </a:r>
            <a:r>
              <a:rPr lang="en-US" sz="1800" dirty="0">
                <a:solidFill>
                  <a:srgbClr val="2B91AF"/>
                </a:solidFill>
                <a:highlight>
                  <a:srgbClr val="FFFFFF"/>
                </a:highlight>
                <a:latin typeface="Cascadia Mono" panose="020B0609020000020004" pitchFamily="49" charset="0"/>
              </a:rPr>
              <a:t>Customer</a:t>
            </a:r>
            <a:r>
              <a:rPr lang="en-US" sz="1800" dirty="0">
                <a:solidFill>
                  <a:srgbClr val="000000"/>
                </a:solidFill>
                <a:highlight>
                  <a:srgbClr val="FFFFFF"/>
                </a:highlight>
                <a:latin typeface="Cascadia Mono" panose="020B0609020000020004" pitchFamily="49" charset="0"/>
              </a:rPr>
              <a:t> </a:t>
            </a:r>
            <a:r>
              <a:rPr lang="en-US" sz="1800" dirty="0" err="1">
                <a:solidFill>
                  <a:srgbClr val="000000"/>
                </a:solidFill>
                <a:highlight>
                  <a:srgbClr val="FFFFFF"/>
                </a:highlight>
                <a:latin typeface="Cascadia Mono" panose="020B0609020000020004" pitchFamily="49" charset="0"/>
              </a:rPr>
              <a:t>customer</a:t>
            </a:r>
            <a:r>
              <a:rPr lang="en-US" sz="1800" dirty="0">
                <a:solidFill>
                  <a:srgbClr val="000000"/>
                </a:solidFill>
                <a:highlight>
                  <a:srgbClr val="FFFFFF"/>
                </a:highlight>
                <a:latin typeface="Cascadia Mono" panose="020B0609020000020004" pitchFamily="49" charset="0"/>
              </a:rPr>
              <a:t> = </a:t>
            </a:r>
            <a:r>
              <a:rPr lang="en-US" sz="1800" dirty="0" err="1">
                <a:solidFill>
                  <a:srgbClr val="000000"/>
                </a:solidFill>
                <a:highlight>
                  <a:srgbClr val="FFFFFF"/>
                </a:highlight>
                <a:latin typeface="Cascadia Mono" panose="020B0609020000020004" pitchFamily="49" charset="0"/>
              </a:rPr>
              <a:t>db.Customers.Find</a:t>
            </a:r>
            <a:r>
              <a:rPr lang="en-US" sz="1800" dirty="0">
                <a:solidFill>
                  <a:srgbClr val="000000"/>
                </a:solidFill>
                <a:highlight>
                  <a:srgbClr val="FFFFFF"/>
                </a:highlight>
                <a:latin typeface="Cascadia Mono" panose="020B0609020000020004" pitchFamily="49" charset="0"/>
              </a:rPr>
              <a:t>(</a:t>
            </a:r>
            <a:r>
              <a:rPr lang="en-US" sz="1800" dirty="0" err="1">
                <a:solidFill>
                  <a:srgbClr val="000000"/>
                </a:solidFill>
                <a:highlight>
                  <a:srgbClr val="FFFFFF"/>
                </a:highlight>
                <a:latin typeface="Cascadia Mono" panose="020B0609020000020004" pitchFamily="49" charset="0"/>
              </a:rPr>
              <a:t>selectedId</a:t>
            </a:r>
            <a:r>
              <a:rPr lang="en-US"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a:solidFill>
                  <a:srgbClr val="0000FF"/>
                </a:solidFill>
                <a:highlight>
                  <a:srgbClr val="FFFFFF"/>
                </a:highlight>
                <a:latin typeface="Cascadia Mono" panose="020B0609020000020004" pitchFamily="49" charset="0"/>
              </a:rPr>
              <a:t>if</a:t>
            </a: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customer</a:t>
            </a:r>
            <a:r>
              <a:rPr lang="tr-TR" sz="1800" dirty="0">
                <a:solidFill>
                  <a:srgbClr val="000000"/>
                </a:solidFill>
                <a:highlight>
                  <a:srgbClr val="FFFFFF"/>
                </a:highlight>
                <a:latin typeface="Cascadia Mono" panose="020B0609020000020004" pitchFamily="49" charset="0"/>
              </a:rPr>
              <a:t> != </a:t>
            </a:r>
            <a:r>
              <a:rPr lang="tr-TR" sz="1800" dirty="0" err="1">
                <a:solidFill>
                  <a:srgbClr val="0000FF"/>
                </a:solidFill>
                <a:highlight>
                  <a:srgbClr val="FFFFFF"/>
                </a:highlight>
                <a:latin typeface="Cascadia Mono" panose="020B0609020000020004" pitchFamily="49" charset="0"/>
              </a:rPr>
              <a:t>null</a:t>
            </a:r>
            <a:r>
              <a:rPr lang="tr-TR" sz="1800" dirty="0">
                <a:solidFill>
                  <a:srgbClr val="000000"/>
                </a:solidFill>
                <a:highlight>
                  <a:srgbClr val="FFFFFF"/>
                </a:highlight>
                <a:latin typeface="Cascadia Mono" panose="020B0609020000020004" pitchFamily="49" charset="0"/>
              </a:rPr>
              <a:t>) </a:t>
            </a:r>
          </a:p>
          <a:p>
            <a:pPr marL="0" indent="0">
              <a:buNone/>
            </a:pPr>
            <a:r>
              <a:rPr lang="tr-TR" sz="1800" dirty="0">
                <a:solidFill>
                  <a:srgbClr val="000000"/>
                </a:solidFill>
                <a:highlight>
                  <a:srgbClr val="FFFFFF"/>
                </a:highlight>
                <a:latin typeface="Cascadia Mono" panose="020B0609020000020004" pitchFamily="49" charset="0"/>
              </a:rPr>
              <a:t>            {</a:t>
            </a:r>
            <a:r>
              <a:rPr lang="en-US" sz="1800" dirty="0">
                <a:solidFill>
                  <a:srgbClr val="000000"/>
                </a:solidFill>
                <a:highlight>
                  <a:srgbClr val="FFFFFF"/>
                </a:highlight>
                <a:latin typeface="Cascadia Mono" panose="020B0609020000020004" pitchFamily="49" charset="0"/>
              </a:rPr>
              <a:t>   </a:t>
            </a:r>
            <a:r>
              <a:rPr lang="en-US" sz="1800" dirty="0" err="1">
                <a:solidFill>
                  <a:srgbClr val="000000"/>
                </a:solidFill>
                <a:highlight>
                  <a:srgbClr val="FFFFFF"/>
                </a:highlight>
                <a:latin typeface="Cascadia Mono" panose="020B0609020000020004" pitchFamily="49" charset="0"/>
              </a:rPr>
              <a:t>customer.Customer_Name</a:t>
            </a:r>
            <a:r>
              <a:rPr lang="en-US" sz="1800" dirty="0">
                <a:solidFill>
                  <a:srgbClr val="000000"/>
                </a:solidFill>
                <a:highlight>
                  <a:srgbClr val="FFFFFF"/>
                </a:highlight>
                <a:latin typeface="Cascadia Mono" panose="020B0609020000020004" pitchFamily="49" charset="0"/>
              </a:rPr>
              <a:t> = </a:t>
            </a:r>
            <a:r>
              <a:rPr lang="en-US" sz="1800" dirty="0" err="1">
                <a:solidFill>
                  <a:srgbClr val="000000"/>
                </a:solidFill>
                <a:highlight>
                  <a:srgbClr val="FFFFFF"/>
                </a:highlight>
                <a:latin typeface="Cascadia Mono" panose="020B0609020000020004" pitchFamily="49" charset="0"/>
              </a:rPr>
              <a:t>txt_isim.Text</a:t>
            </a:r>
            <a:r>
              <a:rPr lang="en-US" sz="1800" dirty="0">
                <a:solidFill>
                  <a:srgbClr val="000000"/>
                </a:solidFill>
                <a:highlight>
                  <a:srgbClr val="FFFFFF"/>
                </a:highlight>
                <a:latin typeface="Cascadia Mono" panose="020B0609020000020004" pitchFamily="49" charset="0"/>
              </a:rPr>
              <a:t>;</a:t>
            </a:r>
          </a:p>
          <a:p>
            <a:pPr marL="0" indent="0">
              <a:buNone/>
            </a:pPr>
            <a:r>
              <a:rPr lang="en-US" sz="1800" dirty="0">
                <a:solidFill>
                  <a:srgbClr val="000000"/>
                </a:solidFill>
                <a:highlight>
                  <a:srgbClr val="FFFFFF"/>
                </a:highlight>
                <a:latin typeface="Cascadia Mono" panose="020B0609020000020004" pitchFamily="49" charset="0"/>
              </a:rPr>
              <a:t>                </a:t>
            </a:r>
            <a:r>
              <a:rPr lang="en-US" sz="1800" dirty="0" err="1">
                <a:solidFill>
                  <a:srgbClr val="000000"/>
                </a:solidFill>
                <a:highlight>
                  <a:srgbClr val="FFFFFF"/>
                </a:highlight>
                <a:latin typeface="Cascadia Mono" panose="020B0609020000020004" pitchFamily="49" charset="0"/>
              </a:rPr>
              <a:t>customer.Customer_Surname</a:t>
            </a:r>
            <a:r>
              <a:rPr lang="en-US" sz="1800" dirty="0">
                <a:solidFill>
                  <a:srgbClr val="000000"/>
                </a:solidFill>
                <a:highlight>
                  <a:srgbClr val="FFFFFF"/>
                </a:highlight>
                <a:latin typeface="Cascadia Mono" panose="020B0609020000020004" pitchFamily="49" charset="0"/>
              </a:rPr>
              <a:t> = </a:t>
            </a:r>
            <a:r>
              <a:rPr lang="en-US" sz="1800" dirty="0" err="1">
                <a:solidFill>
                  <a:srgbClr val="000000"/>
                </a:solidFill>
                <a:highlight>
                  <a:srgbClr val="FFFFFF"/>
                </a:highlight>
                <a:latin typeface="Cascadia Mono" panose="020B0609020000020004" pitchFamily="49" charset="0"/>
              </a:rPr>
              <a:t>txt_soyisim.Text</a:t>
            </a:r>
            <a:r>
              <a:rPr lang="en-US" sz="1800" dirty="0">
                <a:solidFill>
                  <a:srgbClr val="000000"/>
                </a:solidFill>
                <a:highlight>
                  <a:srgbClr val="FFFFFF"/>
                </a:highlight>
                <a:latin typeface="Cascadia Mono" panose="020B0609020000020004" pitchFamily="49" charset="0"/>
              </a:rPr>
              <a:t>;</a:t>
            </a:r>
          </a:p>
          <a:p>
            <a:pPr marL="0" indent="0">
              <a:buNone/>
            </a:pPr>
            <a:r>
              <a:rPr lang="en-US" sz="1800" dirty="0">
                <a:solidFill>
                  <a:srgbClr val="000000"/>
                </a:solidFill>
                <a:highlight>
                  <a:srgbClr val="FFFFFF"/>
                </a:highlight>
                <a:latin typeface="Cascadia Mono" panose="020B0609020000020004" pitchFamily="49" charset="0"/>
              </a:rPr>
              <a:t>                </a:t>
            </a:r>
            <a:r>
              <a:rPr lang="en-US" sz="1800" dirty="0" err="1">
                <a:solidFill>
                  <a:srgbClr val="000000"/>
                </a:solidFill>
                <a:highlight>
                  <a:srgbClr val="FFFFFF"/>
                </a:highlight>
                <a:latin typeface="Cascadia Mono" panose="020B0609020000020004" pitchFamily="49" charset="0"/>
              </a:rPr>
              <a:t>customer.Customer_email</a:t>
            </a:r>
            <a:r>
              <a:rPr lang="en-US" sz="1800" dirty="0">
                <a:solidFill>
                  <a:srgbClr val="000000"/>
                </a:solidFill>
                <a:highlight>
                  <a:srgbClr val="FFFFFF"/>
                </a:highlight>
                <a:latin typeface="Cascadia Mono" panose="020B0609020000020004" pitchFamily="49" charset="0"/>
              </a:rPr>
              <a:t> = </a:t>
            </a:r>
            <a:r>
              <a:rPr lang="en-US" sz="1800" dirty="0" err="1">
                <a:solidFill>
                  <a:srgbClr val="000000"/>
                </a:solidFill>
                <a:highlight>
                  <a:srgbClr val="FFFFFF"/>
                </a:highlight>
                <a:latin typeface="Cascadia Mono" panose="020B0609020000020004" pitchFamily="49" charset="0"/>
              </a:rPr>
              <a:t>txt_email.Text</a:t>
            </a:r>
            <a:r>
              <a:rPr lang="en-US" sz="1800" dirty="0">
                <a:solidFill>
                  <a:srgbClr val="000000"/>
                </a:solidFill>
                <a:highlight>
                  <a:srgbClr val="FFFFFF"/>
                </a:highlight>
                <a:latin typeface="Cascadia Mono" panose="020B0609020000020004" pitchFamily="49" charset="0"/>
              </a:rPr>
              <a:t>;</a:t>
            </a:r>
          </a:p>
          <a:p>
            <a:pPr marL="0" indent="0">
              <a:buNone/>
            </a:pPr>
            <a:r>
              <a:rPr lang="en-US" sz="1800" dirty="0">
                <a:solidFill>
                  <a:srgbClr val="000000"/>
                </a:solidFill>
                <a:highlight>
                  <a:srgbClr val="FFFFFF"/>
                </a:highlight>
                <a:latin typeface="Cascadia Mono" panose="020B0609020000020004" pitchFamily="49" charset="0"/>
              </a:rPr>
              <a:t>                </a:t>
            </a:r>
            <a:r>
              <a:rPr lang="en-US" sz="1800" dirty="0" err="1">
                <a:solidFill>
                  <a:srgbClr val="000000"/>
                </a:solidFill>
                <a:highlight>
                  <a:srgbClr val="FFFFFF"/>
                </a:highlight>
                <a:latin typeface="Cascadia Mono" panose="020B0609020000020004" pitchFamily="49" charset="0"/>
              </a:rPr>
              <a:t>customer.Customer_telephone</a:t>
            </a:r>
            <a:r>
              <a:rPr lang="en-US" sz="1800" dirty="0">
                <a:solidFill>
                  <a:srgbClr val="000000"/>
                </a:solidFill>
                <a:highlight>
                  <a:srgbClr val="FFFFFF"/>
                </a:highlight>
                <a:latin typeface="Cascadia Mono" panose="020B0609020000020004" pitchFamily="49" charset="0"/>
              </a:rPr>
              <a:t> = </a:t>
            </a:r>
            <a:r>
              <a:rPr lang="en-US" sz="1800" dirty="0" err="1">
                <a:solidFill>
                  <a:srgbClr val="000000"/>
                </a:solidFill>
                <a:highlight>
                  <a:srgbClr val="FFFFFF"/>
                </a:highlight>
                <a:latin typeface="Cascadia Mono" panose="020B0609020000020004" pitchFamily="49" charset="0"/>
              </a:rPr>
              <a:t>txt_telefon.Text</a:t>
            </a:r>
            <a:r>
              <a:rPr lang="en-US" sz="1800" dirty="0">
                <a:solidFill>
                  <a:srgbClr val="000000"/>
                </a:solidFill>
                <a:highlight>
                  <a:srgbClr val="FFFFFF"/>
                </a:highlight>
                <a:latin typeface="Cascadia Mono" panose="020B0609020000020004" pitchFamily="49" charset="0"/>
              </a:rPr>
              <a:t>;</a:t>
            </a:r>
            <a:endParaRPr lang="tr-TR" sz="1800" dirty="0">
              <a:solidFill>
                <a:srgbClr val="000000"/>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db.SaveChanges</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MessageBox</a:t>
            </a:r>
            <a:r>
              <a:rPr lang="tr-TR" sz="1800" dirty="0" err="1">
                <a:solidFill>
                  <a:srgbClr val="000000"/>
                </a:solidFill>
                <a:highlight>
                  <a:srgbClr val="FFFFFF"/>
                </a:highlight>
                <a:latin typeface="Cascadia Mono" panose="020B0609020000020004" pitchFamily="49" charset="0"/>
              </a:rPr>
              <a:t>.Show</a:t>
            </a:r>
            <a:r>
              <a:rPr lang="tr-TR" sz="1800" dirty="0">
                <a:solidFill>
                  <a:srgbClr val="000000"/>
                </a:solidFill>
                <a:highlight>
                  <a:srgbClr val="FFFFFF"/>
                </a:highlight>
                <a:latin typeface="Cascadia Mono" panose="020B0609020000020004" pitchFamily="49" charset="0"/>
              </a:rPr>
              <a:t>(</a:t>
            </a:r>
            <a:r>
              <a:rPr lang="tr-TR" sz="1800" dirty="0">
                <a:solidFill>
                  <a:srgbClr val="A31515"/>
                </a:solidFill>
                <a:highlight>
                  <a:srgbClr val="FFFFFF"/>
                </a:highlight>
                <a:latin typeface="Cascadia Mono" panose="020B0609020000020004" pitchFamily="49" charset="0"/>
              </a:rPr>
              <a:t>"Müşteri güncellendi!"</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btn_listele.PerformClick</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p>
          <a:p>
            <a:pPr marL="0" indent="0">
              <a:buNone/>
            </a:pPr>
            <a:r>
              <a:rPr lang="tr-TR" sz="1800" dirty="0">
                <a:solidFill>
                  <a:srgbClr val="000000"/>
                </a:solidFill>
                <a:highlight>
                  <a:srgbClr val="FFFFFF"/>
                </a:highlight>
                <a:latin typeface="Cascadia Mono" panose="020B0609020000020004" pitchFamily="49" charset="0"/>
              </a:rPr>
              <a:t>        }</a:t>
            </a:r>
          </a:p>
          <a:p>
            <a:pPr marL="0" indent="0">
              <a:buNone/>
            </a:pP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0000FF"/>
                </a:solidFill>
                <a:highlight>
                  <a:srgbClr val="FFFFFF"/>
                </a:highlight>
                <a:latin typeface="Cascadia Mono" panose="020B0609020000020004" pitchFamily="49" charset="0"/>
              </a:rPr>
              <a:t>catch</a:t>
            </a: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Exception</a:t>
            </a: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ex</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        </a:t>
            </a:r>
            <a:r>
              <a:rPr lang="tr-TR" sz="1800" dirty="0" err="1">
                <a:solidFill>
                  <a:srgbClr val="2B91AF"/>
                </a:solidFill>
                <a:highlight>
                  <a:srgbClr val="FFFFFF"/>
                </a:highlight>
                <a:latin typeface="Cascadia Mono" panose="020B0609020000020004" pitchFamily="49" charset="0"/>
              </a:rPr>
              <a:t>MessageBox</a:t>
            </a:r>
            <a:r>
              <a:rPr lang="tr-TR" sz="1800" dirty="0" err="1">
                <a:solidFill>
                  <a:srgbClr val="000000"/>
                </a:solidFill>
                <a:highlight>
                  <a:srgbClr val="FFFFFF"/>
                </a:highlight>
                <a:latin typeface="Cascadia Mono" panose="020B0609020000020004" pitchFamily="49" charset="0"/>
              </a:rPr>
              <a:t>.Show</a:t>
            </a:r>
            <a:r>
              <a:rPr lang="tr-TR" sz="1800" dirty="0">
                <a:solidFill>
                  <a:srgbClr val="000000"/>
                </a:solidFill>
                <a:highlight>
                  <a:srgbClr val="FFFFFF"/>
                </a:highlight>
                <a:latin typeface="Cascadia Mono" panose="020B0609020000020004" pitchFamily="49" charset="0"/>
              </a:rPr>
              <a:t>(</a:t>
            </a:r>
            <a:r>
              <a:rPr lang="tr-TR" sz="1800" dirty="0">
                <a:solidFill>
                  <a:srgbClr val="A31515"/>
                </a:solidFill>
                <a:highlight>
                  <a:srgbClr val="FFFFFF"/>
                </a:highlight>
                <a:latin typeface="Cascadia Mono" panose="020B0609020000020004" pitchFamily="49" charset="0"/>
              </a:rPr>
              <a:t>$"Hata = </a:t>
            </a:r>
            <a:r>
              <a:rPr lang="tr-TR" sz="1800" dirty="0">
                <a:solidFill>
                  <a:srgbClr val="000000"/>
                </a:solidFill>
                <a:highlight>
                  <a:srgbClr val="FFFFFF"/>
                </a:highlight>
                <a:latin typeface="Cascadia Mono" panose="020B0609020000020004" pitchFamily="49" charset="0"/>
              </a:rPr>
              <a:t>{</a:t>
            </a:r>
            <a:r>
              <a:rPr lang="tr-TR" sz="1800" dirty="0" err="1">
                <a:solidFill>
                  <a:srgbClr val="000000"/>
                </a:solidFill>
                <a:highlight>
                  <a:srgbClr val="FFFFFF"/>
                </a:highlight>
                <a:latin typeface="Cascadia Mono" panose="020B0609020000020004" pitchFamily="49" charset="0"/>
              </a:rPr>
              <a:t>ex.Message</a:t>
            </a:r>
            <a:r>
              <a:rPr lang="tr-TR" sz="1800" dirty="0">
                <a:solidFill>
                  <a:srgbClr val="000000"/>
                </a:solidFill>
                <a:highlight>
                  <a:srgbClr val="FFFFFF"/>
                </a:highlight>
                <a:latin typeface="Cascadia Mono" panose="020B0609020000020004" pitchFamily="49" charset="0"/>
              </a:rPr>
              <a:t>}</a:t>
            </a:r>
            <a:r>
              <a:rPr lang="tr-TR" sz="1800" dirty="0">
                <a:solidFill>
                  <a:srgbClr val="A31515"/>
                </a:solidFill>
                <a:highlight>
                  <a:srgbClr val="FFFFFF"/>
                </a:highlight>
                <a:latin typeface="Cascadia Mono" panose="020B0609020000020004" pitchFamily="49" charset="0"/>
              </a:rPr>
              <a:t>"</a:t>
            </a:r>
            <a:r>
              <a:rPr lang="tr-TR" sz="1800" dirty="0">
                <a:solidFill>
                  <a:srgbClr val="000000"/>
                </a:solidFill>
                <a:highlight>
                  <a:srgbClr val="FFFFFF"/>
                </a:highlight>
                <a:latin typeface="Cascadia Mono" panose="020B0609020000020004" pitchFamily="49" charset="0"/>
              </a:rPr>
              <a:t>); }</a:t>
            </a:r>
          </a:p>
          <a:p>
            <a:pPr marL="0" indent="0">
              <a:buNone/>
            </a:pPr>
            <a:r>
              <a:rPr lang="tr-TR" sz="1800" dirty="0">
                <a:solidFill>
                  <a:srgbClr val="000000"/>
                </a:solidFill>
                <a:highlight>
                  <a:srgbClr val="FFFFFF"/>
                </a:highlight>
                <a:latin typeface="Cascadia Mono" panose="020B0609020000020004" pitchFamily="49" charset="0"/>
              </a:rPr>
              <a:t>}</a:t>
            </a:r>
            <a:endParaRPr lang="tr-TR" sz="1800" dirty="0"/>
          </a:p>
        </p:txBody>
      </p:sp>
    </p:spTree>
    <p:extLst>
      <p:ext uri="{BB962C8B-B14F-4D97-AF65-F5344CB8AC3E}">
        <p14:creationId xmlns:p14="http://schemas.microsoft.com/office/powerpoint/2010/main" val="251099009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9BD2F8-B829-A894-F2D7-84100CA2010B}"/>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8B7C124B-253A-7C76-975D-84A802168AD6}"/>
              </a:ext>
            </a:extLst>
          </p:cNvPr>
          <p:cNvSpPr>
            <a:spLocks noGrp="1"/>
          </p:cNvSpPr>
          <p:nvPr>
            <p:ph type="title"/>
          </p:nvPr>
        </p:nvSpPr>
        <p:spPr>
          <a:xfrm>
            <a:off x="838200" y="248495"/>
            <a:ext cx="10515600" cy="432542"/>
          </a:xfrm>
        </p:spPr>
        <p:txBody>
          <a:bodyPr>
            <a:noAutofit/>
          </a:bodyPr>
          <a:lstStyle/>
          <a:p>
            <a:pPr algn="ctr"/>
            <a:r>
              <a:rPr lang="tr-TR" sz="2800" dirty="0"/>
              <a:t>GÜNCELLEME İŞLEMİ (Update Operations)</a:t>
            </a:r>
          </a:p>
        </p:txBody>
      </p:sp>
      <p:pic>
        <p:nvPicPr>
          <p:cNvPr id="5" name="İçerik Yer Tutucusu 4" descr="metin, ekran görüntüsü, yazılım, multimedya yazılımı içeren bir resim&#10;&#10;Yapay zeka tarafından oluşturulan içerik yanlış olabilir.">
            <a:extLst>
              <a:ext uri="{FF2B5EF4-FFF2-40B4-BE49-F238E27FC236}">
                <a16:creationId xmlns:a16="http://schemas.microsoft.com/office/drawing/2014/main" id="{2D5C532C-52DE-047F-8472-11A36293A9C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59034" y="821523"/>
            <a:ext cx="9673932" cy="5863297"/>
          </a:xfrm>
        </p:spPr>
      </p:pic>
    </p:spTree>
    <p:extLst>
      <p:ext uri="{BB962C8B-B14F-4D97-AF65-F5344CB8AC3E}">
        <p14:creationId xmlns:p14="http://schemas.microsoft.com/office/powerpoint/2010/main" val="208359655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8B639-034C-73C0-3354-35F8D86341DE}"/>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3B760E84-E291-B1F2-7B9F-0163CF1AB24C}"/>
              </a:ext>
            </a:extLst>
          </p:cNvPr>
          <p:cNvSpPr>
            <a:spLocks noGrp="1"/>
          </p:cNvSpPr>
          <p:nvPr>
            <p:ph type="title"/>
          </p:nvPr>
        </p:nvSpPr>
        <p:spPr>
          <a:xfrm>
            <a:off x="838200" y="248495"/>
            <a:ext cx="10515600" cy="432542"/>
          </a:xfrm>
        </p:spPr>
        <p:txBody>
          <a:bodyPr>
            <a:noAutofit/>
          </a:bodyPr>
          <a:lstStyle/>
          <a:p>
            <a:pPr algn="ctr"/>
            <a:r>
              <a:rPr lang="tr-TR" sz="2800" dirty="0"/>
              <a:t>GÜNCELLEME İŞLEMİ (Update Operations)</a:t>
            </a:r>
          </a:p>
        </p:txBody>
      </p:sp>
      <p:sp>
        <p:nvSpPr>
          <p:cNvPr id="3" name="İçerik Yer Tutucusu 2">
            <a:extLst>
              <a:ext uri="{FF2B5EF4-FFF2-40B4-BE49-F238E27FC236}">
                <a16:creationId xmlns:a16="http://schemas.microsoft.com/office/drawing/2014/main" id="{0C2B2868-22F8-49F5-DA4C-FD46C66A5066}"/>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Şimdi programımızı çalıştırıp bir müşteriyi seçiyoruz ve onun mevcut bilgileri ilgili textbox’lara aktarılıyor:</a:t>
            </a:r>
          </a:p>
          <a:p>
            <a:pPr marL="0" indent="0" algn="just">
              <a:lnSpc>
                <a:spcPct val="100000"/>
              </a:lnSpc>
              <a:spcBef>
                <a:spcPts val="600"/>
              </a:spcBef>
              <a:spcAft>
                <a:spcPts val="600"/>
              </a:spcAft>
              <a:buNone/>
            </a:pPr>
            <a:endParaRPr lang="tr-TR" sz="1800" dirty="0"/>
          </a:p>
        </p:txBody>
      </p:sp>
      <p:pic>
        <p:nvPicPr>
          <p:cNvPr id="5" name="Resim 4" descr="metin, ekran görüntüsü, ekran, görüntüleme, yazılım içeren bir resim&#10;&#10;Yapay zeka tarafından oluşturulan içerik yanlış olabilir.">
            <a:extLst>
              <a:ext uri="{FF2B5EF4-FFF2-40B4-BE49-F238E27FC236}">
                <a16:creationId xmlns:a16="http://schemas.microsoft.com/office/drawing/2014/main" id="{EF53659E-749E-BF18-9128-9EB891DFAD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65108" y="1347244"/>
            <a:ext cx="8261784" cy="5384296"/>
          </a:xfrm>
          <a:prstGeom prst="rect">
            <a:avLst/>
          </a:prstGeom>
        </p:spPr>
      </p:pic>
    </p:spTree>
    <p:extLst>
      <p:ext uri="{BB962C8B-B14F-4D97-AF65-F5344CB8AC3E}">
        <p14:creationId xmlns:p14="http://schemas.microsoft.com/office/powerpoint/2010/main" val="269548146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A2D5A-3951-90B6-12E6-332D1F47F8DF}"/>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34976C0B-05E9-4EF7-292E-62960FA155C8}"/>
              </a:ext>
            </a:extLst>
          </p:cNvPr>
          <p:cNvSpPr>
            <a:spLocks noGrp="1"/>
          </p:cNvSpPr>
          <p:nvPr>
            <p:ph type="title"/>
          </p:nvPr>
        </p:nvSpPr>
        <p:spPr>
          <a:xfrm>
            <a:off x="838200" y="248495"/>
            <a:ext cx="10515600" cy="432542"/>
          </a:xfrm>
        </p:spPr>
        <p:txBody>
          <a:bodyPr>
            <a:noAutofit/>
          </a:bodyPr>
          <a:lstStyle/>
          <a:p>
            <a:pPr algn="ctr"/>
            <a:r>
              <a:rPr lang="tr-TR" sz="2800" dirty="0"/>
              <a:t>GÜNCELLEME İŞLEMİ (Update Operations)</a:t>
            </a:r>
          </a:p>
        </p:txBody>
      </p:sp>
      <p:sp>
        <p:nvSpPr>
          <p:cNvPr id="3" name="İçerik Yer Tutucusu 2">
            <a:extLst>
              <a:ext uri="{FF2B5EF4-FFF2-40B4-BE49-F238E27FC236}">
                <a16:creationId xmlns:a16="http://schemas.microsoft.com/office/drawing/2014/main" id="{14B5242A-FC72-E77E-F4B7-C99D8352125F}"/>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Seçtiğimiz bu kullanıcının </a:t>
            </a:r>
            <a:r>
              <a:rPr lang="tr-TR" sz="1800" dirty="0" err="1"/>
              <a:t>soyad</a:t>
            </a:r>
            <a:r>
              <a:rPr lang="tr-TR" sz="1800" dirty="0"/>
              <a:t>, mail ve telefon bilgilerini değiştiriyoruz.</a:t>
            </a:r>
          </a:p>
        </p:txBody>
      </p:sp>
      <p:pic>
        <p:nvPicPr>
          <p:cNvPr id="5" name="Resim 4" descr="metin, ekran görüntüsü, yazılım, ekran, görüntüleme içeren bir resim&#10;&#10;Yapay zeka tarafından oluşturulan içerik yanlış olabilir.">
            <a:extLst>
              <a:ext uri="{FF2B5EF4-FFF2-40B4-BE49-F238E27FC236}">
                <a16:creationId xmlns:a16="http://schemas.microsoft.com/office/drawing/2014/main" id="{8DCF6B2D-5B6D-5549-049E-A5B7EA89A6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3508" y="1233190"/>
            <a:ext cx="8384983" cy="5498350"/>
          </a:xfrm>
          <a:prstGeom prst="rect">
            <a:avLst/>
          </a:prstGeom>
        </p:spPr>
      </p:pic>
    </p:spTree>
    <p:extLst>
      <p:ext uri="{BB962C8B-B14F-4D97-AF65-F5344CB8AC3E}">
        <p14:creationId xmlns:p14="http://schemas.microsoft.com/office/powerpoint/2010/main" val="121209281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E02B7B-D3C8-B479-3B15-AB2522AA71C5}"/>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A6778D79-97CC-BAE3-C265-75457FBBDFA6}"/>
              </a:ext>
            </a:extLst>
          </p:cNvPr>
          <p:cNvSpPr>
            <a:spLocks noGrp="1"/>
          </p:cNvSpPr>
          <p:nvPr>
            <p:ph type="title"/>
          </p:nvPr>
        </p:nvSpPr>
        <p:spPr>
          <a:xfrm>
            <a:off x="838200" y="248495"/>
            <a:ext cx="10515600" cy="432542"/>
          </a:xfrm>
        </p:spPr>
        <p:txBody>
          <a:bodyPr>
            <a:noAutofit/>
          </a:bodyPr>
          <a:lstStyle/>
          <a:p>
            <a:pPr algn="ctr"/>
            <a:r>
              <a:rPr lang="tr-TR" sz="2800" dirty="0"/>
              <a:t>GÜNCELLEME İŞLEMİ (Update Operations)</a:t>
            </a:r>
          </a:p>
        </p:txBody>
      </p:sp>
      <p:sp>
        <p:nvSpPr>
          <p:cNvPr id="3" name="İçerik Yer Tutucusu 2">
            <a:extLst>
              <a:ext uri="{FF2B5EF4-FFF2-40B4-BE49-F238E27FC236}">
                <a16:creationId xmlns:a16="http://schemas.microsoft.com/office/drawing/2014/main" id="{7DE7933D-F3B7-E7A5-B32C-2276357D9FA2}"/>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GÜNCELLE  butonuna tıkladıktan sonra, mesaj kutusunu da kapatınca, kullanıcı bilgilerinin değiştiğini görebiliyoruz.</a:t>
            </a:r>
          </a:p>
          <a:p>
            <a:pPr marL="0" indent="0" algn="just">
              <a:lnSpc>
                <a:spcPct val="100000"/>
              </a:lnSpc>
              <a:spcBef>
                <a:spcPts val="600"/>
              </a:spcBef>
              <a:spcAft>
                <a:spcPts val="600"/>
              </a:spcAft>
              <a:buNone/>
            </a:pPr>
            <a:endParaRPr lang="tr-TR" sz="1800" dirty="0"/>
          </a:p>
        </p:txBody>
      </p:sp>
      <p:pic>
        <p:nvPicPr>
          <p:cNvPr id="5" name="Resim 4" descr="metin, ekran görüntüsü, sayı, numara, yazılım içeren bir resim&#10;&#10;Yapay zeka tarafından oluşturulan içerik yanlış olabilir.">
            <a:extLst>
              <a:ext uri="{FF2B5EF4-FFF2-40B4-BE49-F238E27FC236}">
                <a16:creationId xmlns:a16="http://schemas.microsoft.com/office/drawing/2014/main" id="{FF883326-B9FC-F442-5AD8-9766F0CB24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87329" y="1431416"/>
            <a:ext cx="8217342" cy="5300124"/>
          </a:xfrm>
          <a:prstGeom prst="rect">
            <a:avLst/>
          </a:prstGeom>
        </p:spPr>
      </p:pic>
    </p:spTree>
    <p:extLst>
      <p:ext uri="{BB962C8B-B14F-4D97-AF65-F5344CB8AC3E}">
        <p14:creationId xmlns:p14="http://schemas.microsoft.com/office/powerpoint/2010/main" val="100554294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80D0AF-D5EA-246E-9F0B-A3500D024BA0}"/>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9E162431-E629-D132-151A-6E34A49D4B14}"/>
              </a:ext>
            </a:extLst>
          </p:cNvPr>
          <p:cNvSpPr>
            <a:spLocks noGrp="1"/>
          </p:cNvSpPr>
          <p:nvPr>
            <p:ph type="title"/>
          </p:nvPr>
        </p:nvSpPr>
        <p:spPr>
          <a:xfrm>
            <a:off x="838200" y="248495"/>
            <a:ext cx="10515600" cy="432542"/>
          </a:xfrm>
        </p:spPr>
        <p:txBody>
          <a:bodyPr>
            <a:noAutofit/>
          </a:bodyPr>
          <a:lstStyle/>
          <a:p>
            <a:pPr algn="ctr"/>
            <a:r>
              <a:rPr lang="tr-TR" sz="2800" dirty="0"/>
              <a:t>SİLME İŞLEMİ (Delete Operations)</a:t>
            </a:r>
          </a:p>
        </p:txBody>
      </p:sp>
      <p:sp>
        <p:nvSpPr>
          <p:cNvPr id="3" name="İçerik Yer Tutucusu 2">
            <a:extLst>
              <a:ext uri="{FF2B5EF4-FFF2-40B4-BE49-F238E27FC236}">
                <a16:creationId xmlns:a16="http://schemas.microsoft.com/office/drawing/2014/main" id="{F45DCFEE-02EF-274F-7C88-D3FF8C30F9C4}"/>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Son olarak, Table_Customer tablosunun karşılık geldiği Customer sınıfı için Delete işlemini gerçekleştireceğiz. Delete işlemi geriye döndürülemez-ciddi bir işlem olduğu için, tıpkı güncelleme işleminde olduğu gibi silinmek istenen satır (müşteri) seçildikten sonra SİL butonuna tıklanınca hemen silmesini istemiyoruz. Öncesinde kullanıcıya bir soru sorulacak (Bu müşteriyi silmek istediğinizden emin misiniz? gibi). Eğer kullanıcı buna Evet derse o müşteriyi (kaydı) silecek, Hayır derse herhangi bir işlem yapmayacak.</a:t>
            </a:r>
          </a:p>
          <a:p>
            <a:pPr marL="0" indent="0" algn="just">
              <a:lnSpc>
                <a:spcPct val="100000"/>
              </a:lnSpc>
              <a:spcBef>
                <a:spcPts val="600"/>
              </a:spcBef>
              <a:spcAft>
                <a:spcPts val="600"/>
              </a:spcAft>
              <a:buNone/>
            </a:pPr>
            <a:r>
              <a:rPr lang="tr-TR" sz="1800" dirty="0"/>
              <a:t>Şimdi ilk olarak </a:t>
            </a:r>
            <a:r>
              <a:rPr lang="tr-TR" sz="1800" dirty="0" err="1"/>
              <a:t>form’daki</a:t>
            </a:r>
            <a:r>
              <a:rPr lang="tr-TR" sz="1800" dirty="0"/>
              <a:t> SİL butonuna çift tıklayıp click olayının içine try-catch bloklarını açıyoruz.</a:t>
            </a:r>
          </a:p>
          <a:p>
            <a:pPr marL="0" indent="0" algn="just">
              <a:lnSpc>
                <a:spcPct val="100000"/>
              </a:lnSpc>
              <a:spcBef>
                <a:spcPts val="600"/>
              </a:spcBef>
              <a:spcAft>
                <a:spcPts val="600"/>
              </a:spcAft>
              <a:buNone/>
            </a:pPr>
            <a:r>
              <a:rPr lang="tr-TR" sz="1800" dirty="0"/>
              <a:t>Bu defa önce kullanıcıya soru sorup sonra da bu sorunun cevabının Evet mi Hayır mı olduğunu kontrol etmemiz lazım. Eğer cevap Evet ise tıpkı güncelleme işleminde olduğu gibi iki if bloku açıyoruz. Yine, güncelleme işleminde olduğu gibi bu if bloklarında aynı durumları kontrol edeceğiz (</a:t>
            </a:r>
            <a:r>
              <a:rPr lang="tr-TR" sz="1800" dirty="0" err="1"/>
              <a:t>Datagridview’da</a:t>
            </a:r>
            <a:r>
              <a:rPr lang="tr-TR" sz="1800" dirty="0"/>
              <a:t> satır seçildi mi? Seçildiyse eğer bu müşteri var mı?). Silme işlemini de yine müşterinin id bilgisine göre yapacağız.</a:t>
            </a:r>
          </a:p>
          <a:p>
            <a:pPr marL="0" indent="0" algn="just">
              <a:lnSpc>
                <a:spcPct val="100000"/>
              </a:lnSpc>
              <a:spcBef>
                <a:spcPts val="600"/>
              </a:spcBef>
              <a:spcAft>
                <a:spcPts val="600"/>
              </a:spcAft>
              <a:buNone/>
            </a:pPr>
            <a:endParaRPr lang="tr-TR" sz="1800" dirty="0"/>
          </a:p>
        </p:txBody>
      </p:sp>
    </p:spTree>
    <p:extLst>
      <p:ext uri="{BB962C8B-B14F-4D97-AF65-F5344CB8AC3E}">
        <p14:creationId xmlns:p14="http://schemas.microsoft.com/office/powerpoint/2010/main" val="82762105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010041-4825-86E8-ADF5-B87A04F1DA56}"/>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065BB219-C5CF-621F-D99D-204F77D06965}"/>
              </a:ext>
            </a:extLst>
          </p:cNvPr>
          <p:cNvSpPr>
            <a:spLocks noGrp="1"/>
          </p:cNvSpPr>
          <p:nvPr>
            <p:ph type="title"/>
          </p:nvPr>
        </p:nvSpPr>
        <p:spPr>
          <a:xfrm>
            <a:off x="838200" y="248495"/>
            <a:ext cx="10515600" cy="432542"/>
          </a:xfrm>
        </p:spPr>
        <p:txBody>
          <a:bodyPr>
            <a:noAutofit/>
          </a:bodyPr>
          <a:lstStyle/>
          <a:p>
            <a:pPr algn="ctr"/>
            <a:r>
              <a:rPr lang="tr-TR" sz="2800" dirty="0"/>
              <a:t>SİLME İŞLEMİ (Delete Operations)</a:t>
            </a:r>
          </a:p>
        </p:txBody>
      </p:sp>
      <p:sp>
        <p:nvSpPr>
          <p:cNvPr id="3" name="İçerik Yer Tutucusu 2">
            <a:extLst>
              <a:ext uri="{FF2B5EF4-FFF2-40B4-BE49-F238E27FC236}">
                <a16:creationId xmlns:a16="http://schemas.microsoft.com/office/drawing/2014/main" id="{CAA094AF-6AFC-FC96-C8A4-FD1F7B567788}"/>
              </a:ext>
            </a:extLst>
          </p:cNvPr>
          <p:cNvSpPr>
            <a:spLocks noGrp="1"/>
          </p:cNvSpPr>
          <p:nvPr>
            <p:ph idx="1"/>
          </p:nvPr>
        </p:nvSpPr>
        <p:spPr>
          <a:xfrm>
            <a:off x="838200" y="846306"/>
            <a:ext cx="10515600" cy="5885234"/>
          </a:xfrm>
        </p:spPr>
        <p:txBody>
          <a:bodyPr>
            <a:normAutofit lnSpcReduction="10000"/>
          </a:bodyPr>
          <a:lstStyle/>
          <a:p>
            <a:pPr marL="0" indent="0">
              <a:buNone/>
            </a:pPr>
            <a:r>
              <a:rPr lang="en-US" sz="1800" dirty="0">
                <a:solidFill>
                  <a:srgbClr val="0000FF"/>
                </a:solidFill>
                <a:highlight>
                  <a:srgbClr val="FFFFFF"/>
                </a:highlight>
                <a:latin typeface="Cascadia Mono" panose="020B0609020000020004" pitchFamily="49" charset="0"/>
              </a:rPr>
              <a:t>private</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void</a:t>
            </a:r>
            <a:r>
              <a:rPr lang="en-US" sz="1800" dirty="0">
                <a:solidFill>
                  <a:srgbClr val="000000"/>
                </a:solidFill>
                <a:highlight>
                  <a:srgbClr val="FFFFFF"/>
                </a:highlight>
                <a:latin typeface="Cascadia Mono" panose="020B0609020000020004" pitchFamily="49" charset="0"/>
              </a:rPr>
              <a:t> </a:t>
            </a:r>
            <a:r>
              <a:rPr lang="en-US" sz="1800" dirty="0" err="1">
                <a:solidFill>
                  <a:srgbClr val="000000"/>
                </a:solidFill>
                <a:highlight>
                  <a:srgbClr val="FFFFFF"/>
                </a:highlight>
                <a:latin typeface="Cascadia Mono" panose="020B0609020000020004" pitchFamily="49" charset="0"/>
              </a:rPr>
              <a:t>btn_sil_Click</a:t>
            </a:r>
            <a:r>
              <a:rPr lang="en-US" sz="1800" dirty="0">
                <a:solidFill>
                  <a:srgbClr val="000000"/>
                </a:solidFill>
                <a:highlight>
                  <a:srgbClr val="FFFFFF"/>
                </a:highlight>
                <a:latin typeface="Cascadia Mono" panose="020B0609020000020004" pitchFamily="49" charset="0"/>
              </a:rPr>
              <a:t>(</a:t>
            </a:r>
            <a:r>
              <a:rPr lang="en-US" sz="1800" dirty="0">
                <a:solidFill>
                  <a:srgbClr val="0000FF"/>
                </a:solidFill>
                <a:highlight>
                  <a:srgbClr val="FFFFFF"/>
                </a:highlight>
                <a:latin typeface="Cascadia Mono" panose="020B0609020000020004" pitchFamily="49" charset="0"/>
              </a:rPr>
              <a:t>object</a:t>
            </a:r>
            <a:r>
              <a:rPr lang="en-US" sz="1800" dirty="0">
                <a:solidFill>
                  <a:srgbClr val="000000"/>
                </a:solidFill>
                <a:highlight>
                  <a:srgbClr val="FFFFFF"/>
                </a:highlight>
                <a:latin typeface="Cascadia Mono" panose="020B0609020000020004" pitchFamily="49" charset="0"/>
              </a:rPr>
              <a:t> sender, </a:t>
            </a:r>
            <a:r>
              <a:rPr lang="en-US" sz="1800" dirty="0" err="1">
                <a:solidFill>
                  <a:srgbClr val="2B91AF"/>
                </a:solidFill>
                <a:highlight>
                  <a:srgbClr val="FFFFFF"/>
                </a:highlight>
                <a:latin typeface="Cascadia Mono" panose="020B0609020000020004" pitchFamily="49" charset="0"/>
              </a:rPr>
              <a:t>EventArgs</a:t>
            </a:r>
            <a:r>
              <a:rPr lang="en-US" sz="1800" dirty="0">
                <a:solidFill>
                  <a:srgbClr val="000000"/>
                </a:solidFill>
                <a:highlight>
                  <a:srgbClr val="FFFFFF"/>
                </a:highlight>
                <a:latin typeface="Cascadia Mono" panose="020B0609020000020004" pitchFamily="49" charset="0"/>
              </a:rPr>
              <a:t> e)</a:t>
            </a:r>
          </a:p>
          <a:p>
            <a:pPr marL="0" indent="0">
              <a:buNone/>
            </a:pP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0000FF"/>
                </a:solidFill>
                <a:highlight>
                  <a:srgbClr val="FFFFFF"/>
                </a:highlight>
                <a:latin typeface="Cascadia Mono" panose="020B0609020000020004" pitchFamily="49" charset="0"/>
              </a:rPr>
              <a:t>try</a:t>
            </a:r>
            <a:endParaRPr lang="tr-TR" sz="1800" dirty="0">
              <a:solidFill>
                <a:srgbClr val="0000FF"/>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    {</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DialogResult</a:t>
            </a: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sonuc</a:t>
            </a:r>
            <a:r>
              <a:rPr lang="tr-TR" sz="1800" dirty="0">
                <a:solidFill>
                  <a:srgbClr val="000000"/>
                </a:solidFill>
                <a:highlight>
                  <a:srgbClr val="FFFFFF"/>
                </a:highlight>
                <a:latin typeface="Cascadia Mono" panose="020B0609020000020004" pitchFamily="49" charset="0"/>
              </a:rPr>
              <a:t> = </a:t>
            </a:r>
            <a:r>
              <a:rPr lang="tr-TR" sz="1800" dirty="0" err="1">
                <a:solidFill>
                  <a:srgbClr val="2B91AF"/>
                </a:solidFill>
                <a:highlight>
                  <a:srgbClr val="FFFFFF"/>
                </a:highlight>
                <a:latin typeface="Cascadia Mono" panose="020B0609020000020004" pitchFamily="49" charset="0"/>
              </a:rPr>
              <a:t>MessageBox</a:t>
            </a:r>
            <a:r>
              <a:rPr lang="tr-TR" sz="1800" dirty="0" err="1">
                <a:solidFill>
                  <a:srgbClr val="000000"/>
                </a:solidFill>
                <a:highlight>
                  <a:srgbClr val="FFFFFF"/>
                </a:highlight>
                <a:latin typeface="Cascadia Mono" panose="020B0609020000020004" pitchFamily="49" charset="0"/>
              </a:rPr>
              <a:t>.Show</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a:solidFill>
                  <a:srgbClr val="A31515"/>
                </a:solidFill>
                <a:highlight>
                  <a:srgbClr val="FFFFFF"/>
                </a:highlight>
                <a:latin typeface="Cascadia Mono" panose="020B0609020000020004" pitchFamily="49" charset="0"/>
              </a:rPr>
              <a:t>"Silmek istediğinize emin misiniz?"</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a:solidFill>
                  <a:srgbClr val="A31515"/>
                </a:solidFill>
                <a:highlight>
                  <a:srgbClr val="FFFFFF"/>
                </a:highlight>
                <a:latin typeface="Cascadia Mono" panose="020B0609020000020004" pitchFamily="49" charset="0"/>
              </a:rPr>
              <a:t>"Silme Onayı"</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MessageBoxButtons</a:t>
            </a:r>
            <a:r>
              <a:rPr lang="tr-TR" sz="1800" dirty="0" err="1">
                <a:solidFill>
                  <a:srgbClr val="000000"/>
                </a:solidFill>
                <a:highlight>
                  <a:srgbClr val="FFFFFF"/>
                </a:highlight>
                <a:latin typeface="Cascadia Mono" panose="020B0609020000020004" pitchFamily="49" charset="0"/>
              </a:rPr>
              <a:t>.YesNo</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MessageBoxIcon</a:t>
            </a:r>
            <a:r>
              <a:rPr lang="tr-TR" sz="1800" dirty="0" err="1">
                <a:solidFill>
                  <a:srgbClr val="000000"/>
                </a:solidFill>
                <a:highlight>
                  <a:srgbClr val="FFFFFF"/>
                </a:highlight>
                <a:latin typeface="Cascadia Mono" panose="020B0609020000020004" pitchFamily="49" charset="0"/>
              </a:rPr>
              <a:t>.Question</a:t>
            </a:r>
            <a:r>
              <a:rPr lang="tr-TR" sz="1800" dirty="0">
                <a:solidFill>
                  <a:srgbClr val="000000"/>
                </a:solidFill>
                <a:highlight>
                  <a:srgbClr val="FFFFFF"/>
                </a:highlight>
                <a:latin typeface="Cascadia Mono" panose="020B0609020000020004" pitchFamily="49" charset="0"/>
              </a:rPr>
              <a:t>);</a:t>
            </a:r>
          </a:p>
          <a:p>
            <a:pPr marL="0" indent="0">
              <a:buNone/>
            </a:pPr>
            <a:endParaRPr lang="tr-TR" sz="1800" dirty="0">
              <a:solidFill>
                <a:srgbClr val="000000"/>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    }</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0000FF"/>
                </a:solidFill>
                <a:highlight>
                  <a:srgbClr val="FFFFFF"/>
                </a:highlight>
                <a:latin typeface="Cascadia Mono" panose="020B0609020000020004" pitchFamily="49" charset="0"/>
              </a:rPr>
              <a:t>catch</a:t>
            </a: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Exception</a:t>
            </a: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ex</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p>
          <a:p>
            <a:pPr marL="0" indent="0">
              <a:buNone/>
            </a:pPr>
            <a:endParaRPr lang="tr-TR" sz="1800" dirty="0">
              <a:solidFill>
                <a:srgbClr val="000000"/>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MessageBox</a:t>
            </a:r>
            <a:r>
              <a:rPr lang="tr-TR" sz="1800" dirty="0" err="1">
                <a:solidFill>
                  <a:srgbClr val="000000"/>
                </a:solidFill>
                <a:highlight>
                  <a:srgbClr val="FFFFFF"/>
                </a:highlight>
                <a:latin typeface="Cascadia Mono" panose="020B0609020000020004" pitchFamily="49" charset="0"/>
              </a:rPr>
              <a:t>.Show</a:t>
            </a:r>
            <a:r>
              <a:rPr lang="tr-TR" sz="1800" dirty="0">
                <a:solidFill>
                  <a:srgbClr val="000000"/>
                </a:solidFill>
                <a:highlight>
                  <a:srgbClr val="FFFFFF"/>
                </a:highlight>
                <a:latin typeface="Cascadia Mono" panose="020B0609020000020004" pitchFamily="49" charset="0"/>
              </a:rPr>
              <a:t>(</a:t>
            </a:r>
            <a:r>
              <a:rPr lang="tr-TR" sz="1800" dirty="0">
                <a:solidFill>
                  <a:srgbClr val="A31515"/>
                </a:solidFill>
                <a:highlight>
                  <a:srgbClr val="FFFFFF"/>
                </a:highlight>
                <a:latin typeface="Cascadia Mono" panose="020B0609020000020004" pitchFamily="49" charset="0"/>
              </a:rPr>
              <a:t>$"Hata = </a:t>
            </a:r>
            <a:r>
              <a:rPr lang="tr-TR" sz="1800" dirty="0">
                <a:solidFill>
                  <a:srgbClr val="000000"/>
                </a:solidFill>
                <a:highlight>
                  <a:srgbClr val="FFFFFF"/>
                </a:highlight>
                <a:latin typeface="Cascadia Mono" panose="020B0609020000020004" pitchFamily="49" charset="0"/>
              </a:rPr>
              <a:t>{</a:t>
            </a:r>
            <a:r>
              <a:rPr lang="tr-TR" sz="1800" dirty="0" err="1">
                <a:solidFill>
                  <a:srgbClr val="000000"/>
                </a:solidFill>
                <a:highlight>
                  <a:srgbClr val="FFFFFF"/>
                </a:highlight>
                <a:latin typeface="Cascadia Mono" panose="020B0609020000020004" pitchFamily="49" charset="0"/>
              </a:rPr>
              <a:t>ex.Message</a:t>
            </a:r>
            <a:r>
              <a:rPr lang="tr-TR" sz="1800" dirty="0">
                <a:solidFill>
                  <a:srgbClr val="000000"/>
                </a:solidFill>
                <a:highlight>
                  <a:srgbClr val="FFFFFF"/>
                </a:highlight>
                <a:latin typeface="Cascadia Mono" panose="020B0609020000020004" pitchFamily="49" charset="0"/>
              </a:rPr>
              <a:t>}</a:t>
            </a:r>
            <a:r>
              <a:rPr lang="tr-TR" sz="1800" dirty="0">
                <a:solidFill>
                  <a:srgbClr val="A31515"/>
                </a:solidFill>
                <a:highlight>
                  <a:srgbClr val="FFFFFF"/>
                </a:highlight>
                <a:latin typeface="Cascadia Mono" panose="020B0609020000020004" pitchFamily="49" charset="0"/>
              </a:rPr>
              <a:t>"</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p>
          <a:p>
            <a:pPr marL="0" indent="0">
              <a:buNone/>
            </a:pPr>
            <a:r>
              <a:rPr lang="tr-TR" sz="1800" dirty="0">
                <a:solidFill>
                  <a:srgbClr val="000000"/>
                </a:solidFill>
                <a:highlight>
                  <a:srgbClr val="FFFFFF"/>
                </a:highlight>
                <a:latin typeface="Cascadia Mono" panose="020B0609020000020004" pitchFamily="49" charset="0"/>
              </a:rPr>
              <a:t>}</a:t>
            </a:r>
            <a:endParaRPr lang="tr-TR" sz="1800" dirty="0"/>
          </a:p>
        </p:txBody>
      </p:sp>
    </p:spTree>
    <p:extLst>
      <p:ext uri="{BB962C8B-B14F-4D97-AF65-F5344CB8AC3E}">
        <p14:creationId xmlns:p14="http://schemas.microsoft.com/office/powerpoint/2010/main" val="222270011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754E6-B078-9C8B-90E0-DC2FA030C9EC}"/>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F5509F22-B3FD-F78E-E3BE-DDDAF9622FCF}"/>
              </a:ext>
            </a:extLst>
          </p:cNvPr>
          <p:cNvSpPr>
            <a:spLocks noGrp="1"/>
          </p:cNvSpPr>
          <p:nvPr>
            <p:ph type="title"/>
          </p:nvPr>
        </p:nvSpPr>
        <p:spPr>
          <a:xfrm>
            <a:off x="838200" y="248495"/>
            <a:ext cx="10515600" cy="432542"/>
          </a:xfrm>
        </p:spPr>
        <p:txBody>
          <a:bodyPr>
            <a:noAutofit/>
          </a:bodyPr>
          <a:lstStyle/>
          <a:p>
            <a:pPr algn="ctr"/>
            <a:r>
              <a:rPr lang="tr-TR" sz="2800" dirty="0"/>
              <a:t>SİLME İŞLEMİ (Delete Operations)</a:t>
            </a:r>
          </a:p>
        </p:txBody>
      </p:sp>
      <p:sp>
        <p:nvSpPr>
          <p:cNvPr id="3" name="İçerik Yer Tutucusu 2">
            <a:extLst>
              <a:ext uri="{FF2B5EF4-FFF2-40B4-BE49-F238E27FC236}">
                <a16:creationId xmlns:a16="http://schemas.microsoft.com/office/drawing/2014/main" id="{506728D8-37CF-F6E0-6F84-33D66D5A08B5}"/>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Aşağıdaki kodlarla kullanıcının karşısına </a:t>
            </a:r>
            <a:r>
              <a:rPr lang="tr-TR" sz="1800" dirty="0" err="1"/>
              <a:t>MessageBox</a:t>
            </a:r>
            <a:r>
              <a:rPr lang="tr-TR" sz="1800" dirty="0"/>
              <a:t> olarak bir soru yöneltiyoruz. Sorunun cevabı Evet ya da Hayır olmak üzere 2 buton ile temsil ediliyor.</a:t>
            </a:r>
          </a:p>
          <a:p>
            <a:pPr marL="0" indent="0" algn="just">
              <a:lnSpc>
                <a:spcPct val="100000"/>
              </a:lnSpc>
              <a:spcBef>
                <a:spcPts val="600"/>
              </a:spcBef>
              <a:spcAft>
                <a:spcPts val="600"/>
              </a:spcAft>
              <a:buNone/>
            </a:pPr>
            <a:endParaRPr lang="tr-TR" sz="1800" dirty="0"/>
          </a:p>
        </p:txBody>
      </p:sp>
      <p:pic>
        <p:nvPicPr>
          <p:cNvPr id="7" name="Resim 6" descr="metin, ekran görüntüsü, yazı tipi, yazılım içeren bir resim&#10;&#10;Yapay zeka tarafından oluşturulan içerik yanlış olabilir.">
            <a:extLst>
              <a:ext uri="{FF2B5EF4-FFF2-40B4-BE49-F238E27FC236}">
                <a16:creationId xmlns:a16="http://schemas.microsoft.com/office/drawing/2014/main" id="{BCB3C39A-978B-A02C-7860-13178C9F0F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92767" y="1778989"/>
            <a:ext cx="6395073" cy="3978910"/>
          </a:xfrm>
          <a:prstGeom prst="rect">
            <a:avLst/>
          </a:prstGeom>
        </p:spPr>
      </p:pic>
    </p:spTree>
    <p:extLst>
      <p:ext uri="{BB962C8B-B14F-4D97-AF65-F5344CB8AC3E}">
        <p14:creationId xmlns:p14="http://schemas.microsoft.com/office/powerpoint/2010/main" val="282963395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4C2C9-D489-20BF-544E-898E26C6890C}"/>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28832943-0098-6EEF-C75F-E56F1ECC5BE5}"/>
              </a:ext>
            </a:extLst>
          </p:cNvPr>
          <p:cNvSpPr>
            <a:spLocks noGrp="1"/>
          </p:cNvSpPr>
          <p:nvPr>
            <p:ph type="title"/>
          </p:nvPr>
        </p:nvSpPr>
        <p:spPr>
          <a:xfrm>
            <a:off x="838200" y="248495"/>
            <a:ext cx="10515600" cy="432542"/>
          </a:xfrm>
        </p:spPr>
        <p:txBody>
          <a:bodyPr>
            <a:noAutofit/>
          </a:bodyPr>
          <a:lstStyle/>
          <a:p>
            <a:pPr algn="ctr"/>
            <a:r>
              <a:rPr lang="tr-TR" sz="2800" dirty="0"/>
              <a:t>SİLME İŞLEMİ (Delete Operations)</a:t>
            </a:r>
          </a:p>
        </p:txBody>
      </p:sp>
      <p:sp>
        <p:nvSpPr>
          <p:cNvPr id="3" name="İçerik Yer Tutucusu 2">
            <a:extLst>
              <a:ext uri="{FF2B5EF4-FFF2-40B4-BE49-F238E27FC236}">
                <a16:creationId xmlns:a16="http://schemas.microsoft.com/office/drawing/2014/main" id="{477EB032-AB71-B7F9-BE1E-F1774B6BD516}"/>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Aşağıdaki kod ile eğer kullanıcının cevabı Evet ise, yapacağımız tüm işlemleri (silme) bu if blokları içerisine alacağız.</a:t>
            </a:r>
          </a:p>
          <a:p>
            <a:pPr marL="0" indent="0" algn="just">
              <a:lnSpc>
                <a:spcPct val="100000"/>
              </a:lnSpc>
              <a:spcBef>
                <a:spcPts val="600"/>
              </a:spcBef>
              <a:spcAft>
                <a:spcPts val="600"/>
              </a:spcAft>
              <a:buNone/>
            </a:pPr>
            <a:r>
              <a:rPr lang="tr-TR" sz="1800" dirty="0"/>
              <a:t>if (</a:t>
            </a:r>
            <a:r>
              <a:rPr lang="tr-TR" sz="1800" dirty="0" err="1"/>
              <a:t>sonuc</a:t>
            </a:r>
            <a:r>
              <a:rPr lang="tr-TR" sz="1800" dirty="0"/>
              <a:t> == </a:t>
            </a:r>
            <a:r>
              <a:rPr lang="tr-TR" sz="1800" dirty="0" err="1"/>
              <a:t>DialogResult.Yes</a:t>
            </a:r>
            <a:r>
              <a:rPr lang="tr-TR" sz="1800" dirty="0"/>
              <a:t>)</a:t>
            </a:r>
          </a:p>
          <a:p>
            <a:pPr marL="0" indent="0" algn="just">
              <a:lnSpc>
                <a:spcPct val="100000"/>
              </a:lnSpc>
              <a:spcBef>
                <a:spcPts val="600"/>
              </a:spcBef>
              <a:spcAft>
                <a:spcPts val="600"/>
              </a:spcAft>
              <a:buNone/>
            </a:pPr>
            <a:r>
              <a:rPr lang="tr-TR" sz="1800" dirty="0"/>
              <a:t>{</a:t>
            </a:r>
          </a:p>
          <a:p>
            <a:pPr marL="0" indent="0" algn="just">
              <a:lnSpc>
                <a:spcPct val="100000"/>
              </a:lnSpc>
              <a:spcBef>
                <a:spcPts val="600"/>
              </a:spcBef>
              <a:spcAft>
                <a:spcPts val="600"/>
              </a:spcAft>
              <a:buNone/>
            </a:pPr>
            <a:r>
              <a:rPr lang="tr-TR" sz="1800" dirty="0"/>
              <a:t>}</a:t>
            </a:r>
          </a:p>
          <a:p>
            <a:pPr marL="0" indent="0" algn="just">
              <a:lnSpc>
                <a:spcPct val="100000"/>
              </a:lnSpc>
              <a:spcBef>
                <a:spcPts val="600"/>
              </a:spcBef>
              <a:spcAft>
                <a:spcPts val="600"/>
              </a:spcAft>
              <a:buNone/>
            </a:pPr>
            <a:endParaRPr lang="tr-TR" sz="1800" dirty="0"/>
          </a:p>
        </p:txBody>
      </p:sp>
    </p:spTree>
    <p:extLst>
      <p:ext uri="{BB962C8B-B14F-4D97-AF65-F5344CB8AC3E}">
        <p14:creationId xmlns:p14="http://schemas.microsoft.com/office/powerpoint/2010/main" val="394115704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52BB8-3226-3C5E-FC3C-33E5A15BF971}"/>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C95B96AD-A61F-EF7E-45C4-103C9C468DEC}"/>
              </a:ext>
            </a:extLst>
          </p:cNvPr>
          <p:cNvSpPr>
            <a:spLocks noGrp="1"/>
          </p:cNvSpPr>
          <p:nvPr>
            <p:ph type="title"/>
          </p:nvPr>
        </p:nvSpPr>
        <p:spPr>
          <a:xfrm>
            <a:off x="838200" y="248495"/>
            <a:ext cx="10515600" cy="432542"/>
          </a:xfrm>
        </p:spPr>
        <p:txBody>
          <a:bodyPr>
            <a:noAutofit/>
          </a:bodyPr>
          <a:lstStyle/>
          <a:p>
            <a:pPr algn="ctr"/>
            <a:r>
              <a:rPr lang="tr-TR" sz="2800" dirty="0"/>
              <a:t>SİLME İŞLEMİ (Delete Operations)</a:t>
            </a:r>
          </a:p>
        </p:txBody>
      </p:sp>
      <p:pic>
        <p:nvPicPr>
          <p:cNvPr id="5" name="İçerik Yer Tutucusu 4" descr="metin, ekran görüntüsü, yazılım, multimedya yazılımı içeren bir resim&#10;&#10;Yapay zeka tarafından oluşturulan içerik yanlış olabilir.">
            <a:extLst>
              <a:ext uri="{FF2B5EF4-FFF2-40B4-BE49-F238E27FC236}">
                <a16:creationId xmlns:a16="http://schemas.microsoft.com/office/drawing/2014/main" id="{6C05DCEC-F905-623E-D88B-E86594C9AA6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83756" y="1170941"/>
            <a:ext cx="5631364" cy="4834092"/>
          </a:xfrm>
        </p:spPr>
      </p:pic>
    </p:spTree>
    <p:extLst>
      <p:ext uri="{BB962C8B-B14F-4D97-AF65-F5344CB8AC3E}">
        <p14:creationId xmlns:p14="http://schemas.microsoft.com/office/powerpoint/2010/main" val="52185857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7A5136-5DE5-BC10-6BB8-168E67F8CA34}"/>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38E1B17C-AC48-E512-F8FC-28B256428A05}"/>
              </a:ext>
            </a:extLst>
          </p:cNvPr>
          <p:cNvSpPr>
            <a:spLocks noGrp="1"/>
          </p:cNvSpPr>
          <p:nvPr>
            <p:ph type="title"/>
          </p:nvPr>
        </p:nvSpPr>
        <p:spPr>
          <a:xfrm>
            <a:off x="838200" y="248495"/>
            <a:ext cx="10515600" cy="432542"/>
          </a:xfrm>
        </p:spPr>
        <p:txBody>
          <a:bodyPr>
            <a:noAutofit/>
          </a:bodyPr>
          <a:lstStyle/>
          <a:p>
            <a:pPr algn="ctr"/>
            <a:r>
              <a:rPr lang="tr-TR" sz="2800" dirty="0"/>
              <a:t>SİLME İŞLEMİ (Delete Operations)</a:t>
            </a:r>
          </a:p>
        </p:txBody>
      </p:sp>
      <p:sp>
        <p:nvSpPr>
          <p:cNvPr id="3" name="İçerik Yer Tutucusu 2">
            <a:extLst>
              <a:ext uri="{FF2B5EF4-FFF2-40B4-BE49-F238E27FC236}">
                <a16:creationId xmlns:a16="http://schemas.microsoft.com/office/drawing/2014/main" id="{50B071E4-F494-040C-DD01-3D76A0181650}"/>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Silme işlemi, güncelleme işlemiyle çok benzerlik gösterir. Bu kodda da tıpkı güncelleme işlemindeki gibi yine iki adet if bloku açacağız ve aynı şartları kontrol edeceğiz. Bunlardan önce de yine seçilen satırdaki kullanıcının id bilgisini elde edip bu id bilgisini mevcut kullanıcılar içerisinde arayacağız (Böyle bir </a:t>
            </a:r>
            <a:r>
              <a:rPr lang="tr-TR" sz="1800" dirty="0" err="1"/>
              <a:t>id’ye</a:t>
            </a:r>
            <a:r>
              <a:rPr lang="tr-TR" sz="1800" dirty="0"/>
              <a:t> sahip kullanıcı var mı yok mu? diye).</a:t>
            </a:r>
          </a:p>
          <a:p>
            <a:pPr marL="0" indent="0" algn="just">
              <a:lnSpc>
                <a:spcPct val="100000"/>
              </a:lnSpc>
              <a:spcBef>
                <a:spcPts val="600"/>
              </a:spcBef>
              <a:spcAft>
                <a:spcPts val="600"/>
              </a:spcAft>
              <a:buNone/>
            </a:pPr>
            <a:endParaRPr lang="tr-TR" sz="1800" dirty="0"/>
          </a:p>
          <a:p>
            <a:pPr marL="0" indent="0" algn="just">
              <a:lnSpc>
                <a:spcPct val="100000"/>
              </a:lnSpc>
              <a:spcBef>
                <a:spcPts val="600"/>
              </a:spcBef>
              <a:spcAft>
                <a:spcPts val="600"/>
              </a:spcAft>
              <a:buNone/>
            </a:pPr>
            <a:endParaRPr lang="tr-TR" sz="1800" dirty="0"/>
          </a:p>
        </p:txBody>
      </p:sp>
    </p:spTree>
    <p:extLst>
      <p:ext uri="{BB962C8B-B14F-4D97-AF65-F5344CB8AC3E}">
        <p14:creationId xmlns:p14="http://schemas.microsoft.com/office/powerpoint/2010/main" val="95228262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607AAC-6348-FEDA-A03A-092BC2B5DCE0}"/>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08ED884F-85DA-379B-F3E1-1D5C37DF2991}"/>
              </a:ext>
            </a:extLst>
          </p:cNvPr>
          <p:cNvSpPr>
            <a:spLocks noGrp="1"/>
          </p:cNvSpPr>
          <p:nvPr>
            <p:ph type="title"/>
          </p:nvPr>
        </p:nvSpPr>
        <p:spPr>
          <a:xfrm>
            <a:off x="838200" y="248495"/>
            <a:ext cx="10515600" cy="432542"/>
          </a:xfrm>
        </p:spPr>
        <p:txBody>
          <a:bodyPr>
            <a:noAutofit/>
          </a:bodyPr>
          <a:lstStyle/>
          <a:p>
            <a:pPr algn="ctr"/>
            <a:r>
              <a:rPr lang="tr-TR" sz="2800" dirty="0"/>
              <a:t>SİLME İŞLEMİ (Delete Operations)</a:t>
            </a:r>
          </a:p>
        </p:txBody>
      </p:sp>
      <p:sp>
        <p:nvSpPr>
          <p:cNvPr id="3" name="İçerik Yer Tutucusu 2">
            <a:extLst>
              <a:ext uri="{FF2B5EF4-FFF2-40B4-BE49-F238E27FC236}">
                <a16:creationId xmlns:a16="http://schemas.microsoft.com/office/drawing/2014/main" id="{F045F23E-FA45-E944-8774-D5A0DE4ABE13}"/>
              </a:ext>
            </a:extLst>
          </p:cNvPr>
          <p:cNvSpPr>
            <a:spLocks noGrp="1"/>
          </p:cNvSpPr>
          <p:nvPr>
            <p:ph idx="1"/>
          </p:nvPr>
        </p:nvSpPr>
        <p:spPr>
          <a:xfrm>
            <a:off x="838200" y="846306"/>
            <a:ext cx="10515600" cy="5885234"/>
          </a:xfrm>
        </p:spPr>
        <p:txBody>
          <a:bodyPr>
            <a:normAutofit fontScale="55000" lnSpcReduction="20000"/>
          </a:bodyPr>
          <a:lstStyle/>
          <a:p>
            <a:pPr marL="0" indent="0">
              <a:buNone/>
            </a:pPr>
            <a:r>
              <a:rPr lang="en-US" sz="1800" dirty="0">
                <a:solidFill>
                  <a:srgbClr val="0000FF"/>
                </a:solidFill>
                <a:highlight>
                  <a:srgbClr val="FFFFFF"/>
                </a:highlight>
                <a:latin typeface="Cascadia Mono" panose="020B0609020000020004" pitchFamily="49" charset="0"/>
              </a:rPr>
              <a:t>private</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void</a:t>
            </a:r>
            <a:r>
              <a:rPr lang="en-US" sz="1800" dirty="0">
                <a:solidFill>
                  <a:srgbClr val="000000"/>
                </a:solidFill>
                <a:highlight>
                  <a:srgbClr val="FFFFFF"/>
                </a:highlight>
                <a:latin typeface="Cascadia Mono" panose="020B0609020000020004" pitchFamily="49" charset="0"/>
              </a:rPr>
              <a:t> </a:t>
            </a:r>
            <a:r>
              <a:rPr lang="en-US" sz="1800" dirty="0" err="1">
                <a:solidFill>
                  <a:srgbClr val="000000"/>
                </a:solidFill>
                <a:highlight>
                  <a:srgbClr val="FFFFFF"/>
                </a:highlight>
                <a:latin typeface="Cascadia Mono" panose="020B0609020000020004" pitchFamily="49" charset="0"/>
              </a:rPr>
              <a:t>btn_sil_Click</a:t>
            </a:r>
            <a:r>
              <a:rPr lang="en-US" sz="1800" dirty="0">
                <a:solidFill>
                  <a:srgbClr val="000000"/>
                </a:solidFill>
                <a:highlight>
                  <a:srgbClr val="FFFFFF"/>
                </a:highlight>
                <a:latin typeface="Cascadia Mono" panose="020B0609020000020004" pitchFamily="49" charset="0"/>
              </a:rPr>
              <a:t>(</a:t>
            </a:r>
            <a:r>
              <a:rPr lang="en-US" sz="1800" dirty="0">
                <a:solidFill>
                  <a:srgbClr val="0000FF"/>
                </a:solidFill>
                <a:highlight>
                  <a:srgbClr val="FFFFFF"/>
                </a:highlight>
                <a:latin typeface="Cascadia Mono" panose="020B0609020000020004" pitchFamily="49" charset="0"/>
              </a:rPr>
              <a:t>object</a:t>
            </a:r>
            <a:r>
              <a:rPr lang="en-US" sz="1800" dirty="0">
                <a:solidFill>
                  <a:srgbClr val="000000"/>
                </a:solidFill>
                <a:highlight>
                  <a:srgbClr val="FFFFFF"/>
                </a:highlight>
                <a:latin typeface="Cascadia Mono" panose="020B0609020000020004" pitchFamily="49" charset="0"/>
              </a:rPr>
              <a:t> sender, </a:t>
            </a:r>
            <a:r>
              <a:rPr lang="en-US" sz="1800" dirty="0" err="1">
                <a:solidFill>
                  <a:srgbClr val="2B91AF"/>
                </a:solidFill>
                <a:highlight>
                  <a:srgbClr val="FFFFFF"/>
                </a:highlight>
                <a:latin typeface="Cascadia Mono" panose="020B0609020000020004" pitchFamily="49" charset="0"/>
              </a:rPr>
              <a:t>EventArgs</a:t>
            </a:r>
            <a:r>
              <a:rPr lang="en-US" sz="1800" dirty="0">
                <a:solidFill>
                  <a:srgbClr val="000000"/>
                </a:solidFill>
                <a:highlight>
                  <a:srgbClr val="FFFFFF"/>
                </a:highlight>
                <a:latin typeface="Cascadia Mono" panose="020B0609020000020004" pitchFamily="49" charset="0"/>
              </a:rPr>
              <a:t> e)</a:t>
            </a:r>
          </a:p>
          <a:p>
            <a:pPr marL="0" indent="0">
              <a:buNone/>
            </a:pP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0000FF"/>
                </a:solidFill>
                <a:highlight>
                  <a:srgbClr val="FFFFFF"/>
                </a:highlight>
                <a:latin typeface="Cascadia Mono" panose="020B0609020000020004" pitchFamily="49" charset="0"/>
              </a:rPr>
              <a:t>try</a:t>
            </a:r>
            <a:endParaRPr lang="tr-TR" sz="1800" dirty="0">
              <a:solidFill>
                <a:srgbClr val="0000FF"/>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    {  </a:t>
            </a:r>
            <a:r>
              <a:rPr lang="tr-TR" sz="1800" dirty="0" err="1">
                <a:solidFill>
                  <a:srgbClr val="2B91AF"/>
                </a:solidFill>
                <a:highlight>
                  <a:srgbClr val="FFFFFF"/>
                </a:highlight>
                <a:latin typeface="Cascadia Mono" panose="020B0609020000020004" pitchFamily="49" charset="0"/>
              </a:rPr>
              <a:t>DialogResult</a:t>
            </a: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sonuc</a:t>
            </a:r>
            <a:r>
              <a:rPr lang="tr-TR" sz="1800" dirty="0">
                <a:solidFill>
                  <a:srgbClr val="000000"/>
                </a:solidFill>
                <a:highlight>
                  <a:srgbClr val="FFFFFF"/>
                </a:highlight>
                <a:latin typeface="Cascadia Mono" panose="020B0609020000020004" pitchFamily="49" charset="0"/>
              </a:rPr>
              <a:t> = </a:t>
            </a:r>
            <a:r>
              <a:rPr lang="tr-TR" sz="1800" dirty="0" err="1">
                <a:solidFill>
                  <a:srgbClr val="2B91AF"/>
                </a:solidFill>
                <a:highlight>
                  <a:srgbClr val="FFFFFF"/>
                </a:highlight>
                <a:latin typeface="Cascadia Mono" panose="020B0609020000020004" pitchFamily="49" charset="0"/>
              </a:rPr>
              <a:t>MessageBox</a:t>
            </a:r>
            <a:r>
              <a:rPr lang="tr-TR" sz="1800" dirty="0" err="1">
                <a:solidFill>
                  <a:srgbClr val="000000"/>
                </a:solidFill>
                <a:highlight>
                  <a:srgbClr val="FFFFFF"/>
                </a:highlight>
                <a:latin typeface="Cascadia Mono" panose="020B0609020000020004" pitchFamily="49" charset="0"/>
              </a:rPr>
              <a:t>.Show</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a:solidFill>
                  <a:srgbClr val="A31515"/>
                </a:solidFill>
                <a:highlight>
                  <a:srgbClr val="FFFFFF"/>
                </a:highlight>
                <a:latin typeface="Cascadia Mono" panose="020B0609020000020004" pitchFamily="49" charset="0"/>
              </a:rPr>
              <a:t>"Silmek istediğinize emin misiniz?"</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a:solidFill>
                  <a:srgbClr val="A31515"/>
                </a:solidFill>
                <a:highlight>
                  <a:srgbClr val="FFFFFF"/>
                </a:highlight>
                <a:latin typeface="Cascadia Mono" panose="020B0609020000020004" pitchFamily="49" charset="0"/>
              </a:rPr>
              <a:t>"Silme Onayı"</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MessageBoxButtons</a:t>
            </a:r>
            <a:r>
              <a:rPr lang="tr-TR" sz="1800" dirty="0" err="1">
                <a:solidFill>
                  <a:srgbClr val="000000"/>
                </a:solidFill>
                <a:highlight>
                  <a:srgbClr val="FFFFFF"/>
                </a:highlight>
                <a:latin typeface="Cascadia Mono" panose="020B0609020000020004" pitchFamily="49" charset="0"/>
              </a:rPr>
              <a:t>.YesNo</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MessageBoxIcon</a:t>
            </a:r>
            <a:r>
              <a:rPr lang="tr-TR" sz="1800" dirty="0" err="1">
                <a:solidFill>
                  <a:srgbClr val="000000"/>
                </a:solidFill>
                <a:highlight>
                  <a:srgbClr val="FFFFFF"/>
                </a:highlight>
                <a:latin typeface="Cascadia Mono" panose="020B0609020000020004" pitchFamily="49" charset="0"/>
              </a:rPr>
              <a:t>.Question</a:t>
            </a:r>
            <a:r>
              <a:rPr lang="tr-TR" sz="1800" dirty="0">
                <a:solidFill>
                  <a:srgbClr val="000000"/>
                </a:solidFill>
                <a:highlight>
                  <a:srgbClr val="FFFFFF"/>
                </a:highlight>
                <a:latin typeface="Cascadia Mono" panose="020B0609020000020004" pitchFamily="49" charset="0"/>
              </a:rPr>
              <a:t>);</a:t>
            </a:r>
          </a:p>
          <a:p>
            <a:pPr marL="0" indent="0">
              <a:buNone/>
            </a:pPr>
            <a:endParaRPr lang="tr-TR" sz="1800" dirty="0">
              <a:solidFill>
                <a:srgbClr val="000000"/>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        </a:t>
            </a:r>
            <a:r>
              <a:rPr lang="tr-TR" sz="1800" dirty="0">
                <a:solidFill>
                  <a:srgbClr val="0000FF"/>
                </a:solidFill>
                <a:highlight>
                  <a:srgbClr val="FFFFFF"/>
                </a:highlight>
                <a:latin typeface="Cascadia Mono" panose="020B0609020000020004" pitchFamily="49" charset="0"/>
              </a:rPr>
              <a:t>if</a:t>
            </a:r>
            <a:r>
              <a:rPr lang="tr-TR" sz="1800" dirty="0">
                <a:solidFill>
                  <a:srgbClr val="000000"/>
                </a:solidFill>
                <a:highlight>
                  <a:srgbClr val="FFFFFF"/>
                </a:highlight>
                <a:latin typeface="Cascadia Mono" panose="020B0609020000020004" pitchFamily="49" charset="0"/>
              </a:rPr>
              <a:t> ( </a:t>
            </a:r>
            <a:r>
              <a:rPr lang="tr-TR" sz="1800" dirty="0" err="1">
                <a:solidFill>
                  <a:srgbClr val="000000"/>
                </a:solidFill>
                <a:highlight>
                  <a:srgbClr val="FFFFFF"/>
                </a:highlight>
                <a:latin typeface="Cascadia Mono" panose="020B0609020000020004" pitchFamily="49" charset="0"/>
              </a:rPr>
              <a:t>sonuc</a:t>
            </a:r>
            <a:r>
              <a:rPr lang="tr-TR" sz="1800" dirty="0">
                <a:solidFill>
                  <a:srgbClr val="000000"/>
                </a:solidFill>
                <a:highlight>
                  <a:srgbClr val="FFFFFF"/>
                </a:highlight>
                <a:latin typeface="Cascadia Mono" panose="020B0609020000020004" pitchFamily="49" charset="0"/>
              </a:rPr>
              <a:t> == </a:t>
            </a:r>
            <a:r>
              <a:rPr lang="tr-TR" sz="1800" dirty="0" err="1">
                <a:solidFill>
                  <a:srgbClr val="2B91AF"/>
                </a:solidFill>
                <a:highlight>
                  <a:srgbClr val="FFFFFF"/>
                </a:highlight>
                <a:latin typeface="Cascadia Mono" panose="020B0609020000020004" pitchFamily="49" charset="0"/>
              </a:rPr>
              <a:t>DialogResult</a:t>
            </a:r>
            <a:r>
              <a:rPr lang="tr-TR" sz="1800" dirty="0" err="1">
                <a:solidFill>
                  <a:srgbClr val="000000"/>
                </a:solidFill>
                <a:highlight>
                  <a:srgbClr val="FFFFFF"/>
                </a:highlight>
                <a:latin typeface="Cascadia Mono" panose="020B0609020000020004" pitchFamily="49" charset="0"/>
              </a:rPr>
              <a:t>.Yes</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a:solidFill>
                  <a:srgbClr val="0000FF"/>
                </a:solidFill>
                <a:highlight>
                  <a:srgbClr val="FFFFFF"/>
                </a:highlight>
                <a:latin typeface="Cascadia Mono" panose="020B0609020000020004" pitchFamily="49" charset="0"/>
              </a:rPr>
              <a:t>if</a:t>
            </a:r>
            <a:r>
              <a:rPr lang="tr-TR" sz="1800" dirty="0">
                <a:solidFill>
                  <a:srgbClr val="000000"/>
                </a:solidFill>
                <a:highlight>
                  <a:srgbClr val="FFFFFF"/>
                </a:highlight>
                <a:latin typeface="Cascadia Mono" panose="020B0609020000020004" pitchFamily="49" charset="0"/>
              </a:rPr>
              <a:t> (dataGridView1.CurrentRow != </a:t>
            </a:r>
            <a:r>
              <a:rPr lang="tr-TR" sz="1800" dirty="0" err="1">
                <a:solidFill>
                  <a:srgbClr val="0000FF"/>
                </a:solidFill>
                <a:highlight>
                  <a:srgbClr val="FFFFFF"/>
                </a:highlight>
                <a:latin typeface="Cascadia Mono" panose="020B0609020000020004" pitchFamily="49" charset="0"/>
              </a:rPr>
              <a:t>null</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 </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int</a:t>
            </a:r>
            <a:r>
              <a:rPr lang="en-US" sz="1800" dirty="0">
                <a:solidFill>
                  <a:srgbClr val="000000"/>
                </a:solidFill>
                <a:highlight>
                  <a:srgbClr val="FFFFFF"/>
                </a:highlight>
                <a:latin typeface="Cascadia Mono" panose="020B0609020000020004" pitchFamily="49" charset="0"/>
              </a:rPr>
              <a:t> </a:t>
            </a:r>
            <a:r>
              <a:rPr lang="en-US" sz="1800" dirty="0" err="1">
                <a:solidFill>
                  <a:srgbClr val="000000"/>
                </a:solidFill>
                <a:highlight>
                  <a:srgbClr val="FFFFFF"/>
                </a:highlight>
                <a:latin typeface="Cascadia Mono" panose="020B0609020000020004" pitchFamily="49" charset="0"/>
              </a:rPr>
              <a:t>selectedId</a:t>
            </a:r>
            <a:r>
              <a:rPr lang="en-US" sz="1800" dirty="0">
                <a:solidFill>
                  <a:srgbClr val="000000"/>
                </a:solidFill>
                <a:highlight>
                  <a:srgbClr val="FFFFFF"/>
                </a:highlight>
                <a:latin typeface="Cascadia Mono" panose="020B0609020000020004" pitchFamily="49" charset="0"/>
              </a:rPr>
              <a:t> = </a:t>
            </a:r>
            <a:r>
              <a:rPr lang="en-US" sz="1800" dirty="0">
                <a:solidFill>
                  <a:srgbClr val="2B91AF"/>
                </a:solidFill>
                <a:highlight>
                  <a:srgbClr val="FFFFFF"/>
                </a:highlight>
                <a:latin typeface="Cascadia Mono" panose="020B0609020000020004" pitchFamily="49" charset="0"/>
              </a:rPr>
              <a:t>Convert</a:t>
            </a:r>
            <a:r>
              <a:rPr lang="en-US" sz="1800" dirty="0">
                <a:solidFill>
                  <a:srgbClr val="000000"/>
                </a:solidFill>
                <a:highlight>
                  <a:srgbClr val="FFFFFF"/>
                </a:highlight>
                <a:latin typeface="Cascadia Mono" panose="020B0609020000020004" pitchFamily="49" charset="0"/>
              </a:rPr>
              <a:t>.ToInt32(dataGridView1.CurrentRow.Cells[</a:t>
            </a:r>
            <a:r>
              <a:rPr lang="en-US" sz="1800" dirty="0">
                <a:solidFill>
                  <a:srgbClr val="A31515"/>
                </a:solidFill>
                <a:highlight>
                  <a:srgbClr val="FFFFFF"/>
                </a:highlight>
                <a:latin typeface="Cascadia Mono" panose="020B0609020000020004" pitchFamily="49" charset="0"/>
              </a:rPr>
              <a:t>"Customer_Id"</a:t>
            </a:r>
            <a:r>
              <a:rPr lang="en-US" sz="1800" dirty="0">
                <a:solidFill>
                  <a:srgbClr val="000000"/>
                </a:solidFill>
                <a:highlight>
                  <a:srgbClr val="FFFFFF"/>
                </a:highlight>
                <a:latin typeface="Cascadia Mono" panose="020B0609020000020004" pitchFamily="49" charset="0"/>
              </a:rPr>
              <a:t>].Value);</a:t>
            </a:r>
          </a:p>
          <a:p>
            <a:pPr marL="0" indent="0">
              <a:buNone/>
            </a:pPr>
            <a:r>
              <a:rPr lang="en-US" sz="1800" dirty="0">
                <a:solidFill>
                  <a:srgbClr val="000000"/>
                </a:solidFill>
                <a:highlight>
                  <a:srgbClr val="FFFFFF"/>
                </a:highlight>
                <a:latin typeface="Cascadia Mono" panose="020B0609020000020004" pitchFamily="49" charset="0"/>
              </a:rPr>
              <a:t>                </a:t>
            </a:r>
            <a:r>
              <a:rPr lang="en-US" sz="1800" dirty="0">
                <a:solidFill>
                  <a:srgbClr val="2B91AF"/>
                </a:solidFill>
                <a:highlight>
                  <a:srgbClr val="FFFFFF"/>
                </a:highlight>
                <a:latin typeface="Cascadia Mono" panose="020B0609020000020004" pitchFamily="49" charset="0"/>
              </a:rPr>
              <a:t>Customer</a:t>
            </a:r>
            <a:r>
              <a:rPr lang="en-US" sz="1800" dirty="0">
                <a:solidFill>
                  <a:srgbClr val="000000"/>
                </a:solidFill>
                <a:highlight>
                  <a:srgbClr val="FFFFFF"/>
                </a:highlight>
                <a:latin typeface="Cascadia Mono" panose="020B0609020000020004" pitchFamily="49" charset="0"/>
              </a:rPr>
              <a:t> </a:t>
            </a:r>
            <a:r>
              <a:rPr lang="en-US" sz="1800" dirty="0" err="1">
                <a:solidFill>
                  <a:srgbClr val="000000"/>
                </a:solidFill>
                <a:highlight>
                  <a:srgbClr val="FFFFFF"/>
                </a:highlight>
                <a:latin typeface="Cascadia Mono" panose="020B0609020000020004" pitchFamily="49" charset="0"/>
              </a:rPr>
              <a:t>customer</a:t>
            </a:r>
            <a:r>
              <a:rPr lang="en-US" sz="1800" dirty="0">
                <a:solidFill>
                  <a:srgbClr val="000000"/>
                </a:solidFill>
                <a:highlight>
                  <a:srgbClr val="FFFFFF"/>
                </a:highlight>
                <a:latin typeface="Cascadia Mono" panose="020B0609020000020004" pitchFamily="49" charset="0"/>
              </a:rPr>
              <a:t> = </a:t>
            </a:r>
            <a:r>
              <a:rPr lang="en-US" sz="1800" dirty="0" err="1">
                <a:solidFill>
                  <a:srgbClr val="000000"/>
                </a:solidFill>
                <a:highlight>
                  <a:srgbClr val="FFFFFF"/>
                </a:highlight>
                <a:latin typeface="Cascadia Mono" panose="020B0609020000020004" pitchFamily="49" charset="0"/>
              </a:rPr>
              <a:t>db.Customers.Find</a:t>
            </a:r>
            <a:r>
              <a:rPr lang="en-US" sz="1800" dirty="0">
                <a:solidFill>
                  <a:srgbClr val="000000"/>
                </a:solidFill>
                <a:highlight>
                  <a:srgbClr val="FFFFFF"/>
                </a:highlight>
                <a:latin typeface="Cascadia Mono" panose="020B0609020000020004" pitchFamily="49" charset="0"/>
              </a:rPr>
              <a:t>(</a:t>
            </a:r>
            <a:r>
              <a:rPr lang="en-US" sz="1800" dirty="0" err="1">
                <a:solidFill>
                  <a:srgbClr val="000000"/>
                </a:solidFill>
                <a:highlight>
                  <a:srgbClr val="FFFFFF"/>
                </a:highlight>
                <a:latin typeface="Cascadia Mono" panose="020B0609020000020004" pitchFamily="49" charset="0"/>
              </a:rPr>
              <a:t>selectedId</a:t>
            </a:r>
            <a:r>
              <a:rPr lang="en-US"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a:solidFill>
                  <a:srgbClr val="0000FF"/>
                </a:solidFill>
                <a:highlight>
                  <a:srgbClr val="FFFFFF"/>
                </a:highlight>
                <a:latin typeface="Cascadia Mono" panose="020B0609020000020004" pitchFamily="49" charset="0"/>
              </a:rPr>
              <a:t>if</a:t>
            </a: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customer</a:t>
            </a:r>
            <a:r>
              <a:rPr lang="tr-TR" sz="1800" dirty="0">
                <a:solidFill>
                  <a:srgbClr val="000000"/>
                </a:solidFill>
                <a:highlight>
                  <a:srgbClr val="FFFFFF"/>
                </a:highlight>
                <a:latin typeface="Cascadia Mono" panose="020B0609020000020004" pitchFamily="49" charset="0"/>
              </a:rPr>
              <a:t> != </a:t>
            </a:r>
            <a:r>
              <a:rPr lang="tr-TR" sz="1800" dirty="0" err="1">
                <a:solidFill>
                  <a:srgbClr val="0000FF"/>
                </a:solidFill>
                <a:highlight>
                  <a:srgbClr val="FFFFFF"/>
                </a:highlight>
                <a:latin typeface="Cascadia Mono" panose="020B0609020000020004" pitchFamily="49" charset="0"/>
              </a:rPr>
              <a:t>null</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             </a:t>
            </a:r>
          </a:p>
          <a:p>
            <a:pPr marL="0" indent="0">
              <a:buNone/>
            </a:pPr>
            <a:r>
              <a:rPr lang="tr-TR" sz="1800" dirty="0">
                <a:solidFill>
                  <a:srgbClr val="000000"/>
                </a:solidFill>
                <a:highlight>
                  <a:srgbClr val="FFFFFF"/>
                </a:highlight>
                <a:latin typeface="Cascadia Mono" panose="020B0609020000020004" pitchFamily="49" charset="0"/>
              </a:rPr>
              <a:t>                }</a:t>
            </a:r>
          </a:p>
          <a:p>
            <a:pPr marL="0" indent="0">
              <a:buNone/>
            </a:pPr>
            <a:r>
              <a:rPr lang="tr-TR" sz="1800" dirty="0">
                <a:solidFill>
                  <a:srgbClr val="000000"/>
                </a:solidFill>
                <a:highlight>
                  <a:srgbClr val="FFFFFF"/>
                </a:highlight>
                <a:latin typeface="Cascadia Mono" panose="020B0609020000020004" pitchFamily="49" charset="0"/>
              </a:rPr>
              <a:t>            }</a:t>
            </a:r>
          </a:p>
          <a:p>
            <a:pPr marL="0" indent="0">
              <a:buNone/>
            </a:pPr>
            <a:r>
              <a:rPr lang="tr-TR" sz="1800" dirty="0">
                <a:solidFill>
                  <a:srgbClr val="000000"/>
                </a:solidFill>
                <a:highlight>
                  <a:srgbClr val="FFFFFF"/>
                </a:highlight>
                <a:latin typeface="Cascadia Mono" panose="020B0609020000020004" pitchFamily="49" charset="0"/>
              </a:rPr>
              <a:t>        }</a:t>
            </a:r>
          </a:p>
          <a:p>
            <a:pPr marL="0" indent="0">
              <a:buNone/>
            </a:pPr>
            <a:r>
              <a:rPr lang="tr-TR" sz="1800" dirty="0">
                <a:solidFill>
                  <a:srgbClr val="000000"/>
                </a:solidFill>
                <a:highlight>
                  <a:srgbClr val="FFFFFF"/>
                </a:highlight>
                <a:latin typeface="Cascadia Mono" panose="020B0609020000020004" pitchFamily="49" charset="0"/>
              </a:rPr>
              <a:t>    }</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0000FF"/>
                </a:solidFill>
                <a:highlight>
                  <a:srgbClr val="FFFFFF"/>
                </a:highlight>
                <a:latin typeface="Cascadia Mono" panose="020B0609020000020004" pitchFamily="49" charset="0"/>
              </a:rPr>
              <a:t>catch</a:t>
            </a: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Exception</a:t>
            </a: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ex</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MessageBox</a:t>
            </a:r>
            <a:r>
              <a:rPr lang="tr-TR" sz="1800" dirty="0" err="1">
                <a:solidFill>
                  <a:srgbClr val="000000"/>
                </a:solidFill>
                <a:highlight>
                  <a:srgbClr val="FFFFFF"/>
                </a:highlight>
                <a:latin typeface="Cascadia Mono" panose="020B0609020000020004" pitchFamily="49" charset="0"/>
              </a:rPr>
              <a:t>.Show</a:t>
            </a:r>
            <a:r>
              <a:rPr lang="tr-TR" sz="1800" dirty="0">
                <a:solidFill>
                  <a:srgbClr val="000000"/>
                </a:solidFill>
                <a:highlight>
                  <a:srgbClr val="FFFFFF"/>
                </a:highlight>
                <a:latin typeface="Cascadia Mono" panose="020B0609020000020004" pitchFamily="49" charset="0"/>
              </a:rPr>
              <a:t>(</a:t>
            </a:r>
            <a:r>
              <a:rPr lang="tr-TR" sz="1800" dirty="0">
                <a:solidFill>
                  <a:srgbClr val="A31515"/>
                </a:solidFill>
                <a:highlight>
                  <a:srgbClr val="FFFFFF"/>
                </a:highlight>
                <a:latin typeface="Cascadia Mono" panose="020B0609020000020004" pitchFamily="49" charset="0"/>
              </a:rPr>
              <a:t>$"Hata = </a:t>
            </a:r>
            <a:r>
              <a:rPr lang="tr-TR" sz="1800" dirty="0">
                <a:solidFill>
                  <a:srgbClr val="000000"/>
                </a:solidFill>
                <a:highlight>
                  <a:srgbClr val="FFFFFF"/>
                </a:highlight>
                <a:latin typeface="Cascadia Mono" panose="020B0609020000020004" pitchFamily="49" charset="0"/>
              </a:rPr>
              <a:t>{</a:t>
            </a:r>
            <a:r>
              <a:rPr lang="tr-TR" sz="1800" dirty="0" err="1">
                <a:solidFill>
                  <a:srgbClr val="000000"/>
                </a:solidFill>
                <a:highlight>
                  <a:srgbClr val="FFFFFF"/>
                </a:highlight>
                <a:latin typeface="Cascadia Mono" panose="020B0609020000020004" pitchFamily="49" charset="0"/>
              </a:rPr>
              <a:t>ex.Message</a:t>
            </a:r>
            <a:r>
              <a:rPr lang="tr-TR" sz="1800" dirty="0">
                <a:solidFill>
                  <a:srgbClr val="000000"/>
                </a:solidFill>
                <a:highlight>
                  <a:srgbClr val="FFFFFF"/>
                </a:highlight>
                <a:latin typeface="Cascadia Mono" panose="020B0609020000020004" pitchFamily="49" charset="0"/>
              </a:rPr>
              <a:t>}</a:t>
            </a:r>
            <a:r>
              <a:rPr lang="tr-TR" sz="1800" dirty="0">
                <a:solidFill>
                  <a:srgbClr val="A31515"/>
                </a:solidFill>
                <a:highlight>
                  <a:srgbClr val="FFFFFF"/>
                </a:highlight>
                <a:latin typeface="Cascadia Mono" panose="020B0609020000020004" pitchFamily="49" charset="0"/>
              </a:rPr>
              <a:t>"</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p>
          <a:p>
            <a:pPr marL="0" indent="0">
              <a:buNone/>
            </a:pPr>
            <a:r>
              <a:rPr lang="tr-TR" sz="1800" dirty="0">
                <a:solidFill>
                  <a:srgbClr val="000000"/>
                </a:solidFill>
                <a:highlight>
                  <a:srgbClr val="FFFFFF"/>
                </a:highlight>
                <a:latin typeface="Cascadia Mono" panose="020B0609020000020004" pitchFamily="49" charset="0"/>
              </a:rPr>
              <a:t>}</a:t>
            </a:r>
            <a:endParaRPr lang="tr-TR" sz="1800" dirty="0"/>
          </a:p>
        </p:txBody>
      </p:sp>
    </p:spTree>
    <p:extLst>
      <p:ext uri="{BB962C8B-B14F-4D97-AF65-F5344CB8AC3E}">
        <p14:creationId xmlns:p14="http://schemas.microsoft.com/office/powerpoint/2010/main" val="38870578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AD77E8-F976-6C11-C4EB-16111D0EADB7}"/>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C08FD2E6-5002-F3E1-EC24-661383BF073E}"/>
              </a:ext>
            </a:extLst>
          </p:cNvPr>
          <p:cNvSpPr>
            <a:spLocks noGrp="1"/>
          </p:cNvSpPr>
          <p:nvPr>
            <p:ph type="title"/>
          </p:nvPr>
        </p:nvSpPr>
        <p:spPr>
          <a:xfrm>
            <a:off x="838200" y="248495"/>
            <a:ext cx="10515600" cy="432542"/>
          </a:xfrm>
        </p:spPr>
        <p:txBody>
          <a:bodyPr>
            <a:noAutofit/>
          </a:bodyPr>
          <a:lstStyle/>
          <a:p>
            <a:pPr algn="ctr"/>
            <a:r>
              <a:rPr lang="tr-TR" sz="2800" dirty="0"/>
              <a:t>SİLME İŞLEMİ (Delete Operations)</a:t>
            </a:r>
          </a:p>
        </p:txBody>
      </p:sp>
      <p:pic>
        <p:nvPicPr>
          <p:cNvPr id="5" name="İçerik Yer Tutucusu 4" descr="metin, ekran görüntüsü, yazılım, multimedya yazılımı içeren bir resim&#10;&#10;Yapay zeka tarafından oluşturulan içerik yanlış olabilir.">
            <a:extLst>
              <a:ext uri="{FF2B5EF4-FFF2-40B4-BE49-F238E27FC236}">
                <a16:creationId xmlns:a16="http://schemas.microsoft.com/office/drawing/2014/main" id="{BACD1559-E5C3-5A51-C19B-9ACD6B1384D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44793" y="960075"/>
            <a:ext cx="9102414" cy="5724963"/>
          </a:xfrm>
        </p:spPr>
      </p:pic>
    </p:spTree>
    <p:extLst>
      <p:ext uri="{BB962C8B-B14F-4D97-AF65-F5344CB8AC3E}">
        <p14:creationId xmlns:p14="http://schemas.microsoft.com/office/powerpoint/2010/main" val="57187814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948D5E-8163-B676-DBE8-0047E1BBF653}"/>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1C4B7590-B221-F003-31A6-E1904826B72D}"/>
              </a:ext>
            </a:extLst>
          </p:cNvPr>
          <p:cNvSpPr>
            <a:spLocks noGrp="1"/>
          </p:cNvSpPr>
          <p:nvPr>
            <p:ph type="title"/>
          </p:nvPr>
        </p:nvSpPr>
        <p:spPr>
          <a:xfrm>
            <a:off x="838200" y="248495"/>
            <a:ext cx="10515600" cy="432542"/>
          </a:xfrm>
        </p:spPr>
        <p:txBody>
          <a:bodyPr>
            <a:noAutofit/>
          </a:bodyPr>
          <a:lstStyle/>
          <a:p>
            <a:pPr algn="ctr"/>
            <a:r>
              <a:rPr lang="tr-TR" sz="2800" dirty="0"/>
              <a:t>SİLME İŞLEMİ (Delete Operations)</a:t>
            </a:r>
          </a:p>
        </p:txBody>
      </p:sp>
      <p:sp>
        <p:nvSpPr>
          <p:cNvPr id="3" name="İçerik Yer Tutucusu 2">
            <a:extLst>
              <a:ext uri="{FF2B5EF4-FFF2-40B4-BE49-F238E27FC236}">
                <a16:creationId xmlns:a16="http://schemas.microsoft.com/office/drawing/2014/main" id="{82EFBFFD-A61F-FA3B-956C-A71DFD1246C2}"/>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Şimdi direkt kullanıcıyı sileceğiz, bu değişikliği onaylayacağız, bunu </a:t>
            </a:r>
            <a:r>
              <a:rPr lang="tr-TR" sz="1800" dirty="0" err="1"/>
              <a:t>MessageBox</a:t>
            </a:r>
            <a:r>
              <a:rPr lang="tr-TR" sz="1800" dirty="0"/>
              <a:t> ile uyarı şeklinde göstereceğiz (Müşteri Silindi!) ve bu uyarı kapatıldığında mevcut müşterileri tekrar listeleyeceğiz.</a:t>
            </a:r>
          </a:p>
          <a:p>
            <a:pPr marL="0" indent="0" algn="just">
              <a:lnSpc>
                <a:spcPct val="100000"/>
              </a:lnSpc>
              <a:spcBef>
                <a:spcPts val="600"/>
              </a:spcBef>
              <a:spcAft>
                <a:spcPts val="600"/>
              </a:spcAft>
              <a:buNone/>
            </a:pPr>
            <a:endParaRPr lang="tr-TR" sz="1800" dirty="0"/>
          </a:p>
        </p:txBody>
      </p:sp>
    </p:spTree>
    <p:extLst>
      <p:ext uri="{BB962C8B-B14F-4D97-AF65-F5344CB8AC3E}">
        <p14:creationId xmlns:p14="http://schemas.microsoft.com/office/powerpoint/2010/main" val="403399978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A2E0D4-B09B-EB17-2FB5-8FD872A54943}"/>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F47C4172-3D44-2C97-6380-AD50C0FC1F17}"/>
              </a:ext>
            </a:extLst>
          </p:cNvPr>
          <p:cNvSpPr>
            <a:spLocks noGrp="1"/>
          </p:cNvSpPr>
          <p:nvPr>
            <p:ph type="title"/>
          </p:nvPr>
        </p:nvSpPr>
        <p:spPr>
          <a:xfrm>
            <a:off x="838200" y="248495"/>
            <a:ext cx="10515600" cy="432542"/>
          </a:xfrm>
        </p:spPr>
        <p:txBody>
          <a:bodyPr>
            <a:noAutofit/>
          </a:bodyPr>
          <a:lstStyle/>
          <a:p>
            <a:pPr algn="ctr"/>
            <a:r>
              <a:rPr lang="tr-TR" sz="2800" dirty="0"/>
              <a:t>SİLME İŞLEMİ (Delete Operations)</a:t>
            </a:r>
          </a:p>
        </p:txBody>
      </p:sp>
      <p:sp>
        <p:nvSpPr>
          <p:cNvPr id="3" name="İçerik Yer Tutucusu 2">
            <a:extLst>
              <a:ext uri="{FF2B5EF4-FFF2-40B4-BE49-F238E27FC236}">
                <a16:creationId xmlns:a16="http://schemas.microsoft.com/office/drawing/2014/main" id="{FA41D784-E0FD-9F87-DAFF-525E404C170D}"/>
              </a:ext>
            </a:extLst>
          </p:cNvPr>
          <p:cNvSpPr>
            <a:spLocks noGrp="1"/>
          </p:cNvSpPr>
          <p:nvPr>
            <p:ph idx="1"/>
          </p:nvPr>
        </p:nvSpPr>
        <p:spPr>
          <a:xfrm>
            <a:off x="838200" y="846306"/>
            <a:ext cx="10515600" cy="5885234"/>
          </a:xfrm>
        </p:spPr>
        <p:txBody>
          <a:bodyPr>
            <a:normAutofit fontScale="47500" lnSpcReduction="20000"/>
          </a:bodyPr>
          <a:lstStyle/>
          <a:p>
            <a:pPr marL="0" indent="0">
              <a:buNone/>
            </a:pPr>
            <a:r>
              <a:rPr lang="en-US" sz="1800" dirty="0">
                <a:solidFill>
                  <a:srgbClr val="0000FF"/>
                </a:solidFill>
                <a:highlight>
                  <a:srgbClr val="FFFFFF"/>
                </a:highlight>
                <a:latin typeface="Cascadia Mono" panose="020B0609020000020004" pitchFamily="49" charset="0"/>
              </a:rPr>
              <a:t>private</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void</a:t>
            </a:r>
            <a:r>
              <a:rPr lang="en-US" sz="1800" dirty="0">
                <a:solidFill>
                  <a:srgbClr val="000000"/>
                </a:solidFill>
                <a:highlight>
                  <a:srgbClr val="FFFFFF"/>
                </a:highlight>
                <a:latin typeface="Cascadia Mono" panose="020B0609020000020004" pitchFamily="49" charset="0"/>
              </a:rPr>
              <a:t> </a:t>
            </a:r>
            <a:r>
              <a:rPr lang="en-US" sz="1800" dirty="0" err="1">
                <a:solidFill>
                  <a:srgbClr val="000000"/>
                </a:solidFill>
                <a:highlight>
                  <a:srgbClr val="FFFFFF"/>
                </a:highlight>
                <a:latin typeface="Cascadia Mono" panose="020B0609020000020004" pitchFamily="49" charset="0"/>
              </a:rPr>
              <a:t>btn_sil_Click</a:t>
            </a:r>
            <a:r>
              <a:rPr lang="en-US" sz="1800" dirty="0">
                <a:solidFill>
                  <a:srgbClr val="000000"/>
                </a:solidFill>
                <a:highlight>
                  <a:srgbClr val="FFFFFF"/>
                </a:highlight>
                <a:latin typeface="Cascadia Mono" panose="020B0609020000020004" pitchFamily="49" charset="0"/>
              </a:rPr>
              <a:t>(</a:t>
            </a:r>
            <a:r>
              <a:rPr lang="en-US" sz="1800" dirty="0">
                <a:solidFill>
                  <a:srgbClr val="0000FF"/>
                </a:solidFill>
                <a:highlight>
                  <a:srgbClr val="FFFFFF"/>
                </a:highlight>
                <a:latin typeface="Cascadia Mono" panose="020B0609020000020004" pitchFamily="49" charset="0"/>
              </a:rPr>
              <a:t>object</a:t>
            </a:r>
            <a:r>
              <a:rPr lang="en-US" sz="1800" dirty="0">
                <a:solidFill>
                  <a:srgbClr val="000000"/>
                </a:solidFill>
                <a:highlight>
                  <a:srgbClr val="FFFFFF"/>
                </a:highlight>
                <a:latin typeface="Cascadia Mono" panose="020B0609020000020004" pitchFamily="49" charset="0"/>
              </a:rPr>
              <a:t> sender, </a:t>
            </a:r>
            <a:r>
              <a:rPr lang="en-US" sz="1800" dirty="0" err="1">
                <a:solidFill>
                  <a:srgbClr val="2B91AF"/>
                </a:solidFill>
                <a:highlight>
                  <a:srgbClr val="FFFFFF"/>
                </a:highlight>
                <a:latin typeface="Cascadia Mono" panose="020B0609020000020004" pitchFamily="49" charset="0"/>
              </a:rPr>
              <a:t>EventArgs</a:t>
            </a:r>
            <a:r>
              <a:rPr lang="en-US" sz="1800" dirty="0">
                <a:solidFill>
                  <a:srgbClr val="000000"/>
                </a:solidFill>
                <a:highlight>
                  <a:srgbClr val="FFFFFF"/>
                </a:highlight>
                <a:latin typeface="Cascadia Mono" panose="020B0609020000020004" pitchFamily="49" charset="0"/>
              </a:rPr>
              <a:t> e)</a:t>
            </a:r>
          </a:p>
          <a:p>
            <a:pPr marL="0" indent="0">
              <a:buNone/>
            </a:pP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0000FF"/>
                </a:solidFill>
                <a:highlight>
                  <a:srgbClr val="FFFFFF"/>
                </a:highlight>
                <a:latin typeface="Cascadia Mono" panose="020B0609020000020004" pitchFamily="49" charset="0"/>
              </a:rPr>
              <a:t>try</a:t>
            </a:r>
            <a:endParaRPr lang="tr-TR" sz="1800" dirty="0">
              <a:solidFill>
                <a:srgbClr val="0000FF"/>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    {</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DialogResult</a:t>
            </a: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sonuc</a:t>
            </a:r>
            <a:r>
              <a:rPr lang="tr-TR" sz="1800" dirty="0">
                <a:solidFill>
                  <a:srgbClr val="000000"/>
                </a:solidFill>
                <a:highlight>
                  <a:srgbClr val="FFFFFF"/>
                </a:highlight>
                <a:latin typeface="Cascadia Mono" panose="020B0609020000020004" pitchFamily="49" charset="0"/>
              </a:rPr>
              <a:t> = </a:t>
            </a:r>
            <a:r>
              <a:rPr lang="tr-TR" sz="1800" dirty="0" err="1">
                <a:solidFill>
                  <a:srgbClr val="2B91AF"/>
                </a:solidFill>
                <a:highlight>
                  <a:srgbClr val="FFFFFF"/>
                </a:highlight>
                <a:latin typeface="Cascadia Mono" panose="020B0609020000020004" pitchFamily="49" charset="0"/>
              </a:rPr>
              <a:t>MessageBox</a:t>
            </a:r>
            <a:r>
              <a:rPr lang="tr-TR" sz="1800" dirty="0" err="1">
                <a:solidFill>
                  <a:srgbClr val="000000"/>
                </a:solidFill>
                <a:highlight>
                  <a:srgbClr val="FFFFFF"/>
                </a:highlight>
                <a:latin typeface="Cascadia Mono" panose="020B0609020000020004" pitchFamily="49" charset="0"/>
              </a:rPr>
              <a:t>.Show</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a:solidFill>
                  <a:srgbClr val="A31515"/>
                </a:solidFill>
                <a:highlight>
                  <a:srgbClr val="FFFFFF"/>
                </a:highlight>
                <a:latin typeface="Cascadia Mono" panose="020B0609020000020004" pitchFamily="49" charset="0"/>
              </a:rPr>
              <a:t>"Silmek istediğinize emin misiniz?"</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a:solidFill>
                  <a:srgbClr val="A31515"/>
                </a:solidFill>
                <a:highlight>
                  <a:srgbClr val="FFFFFF"/>
                </a:highlight>
                <a:latin typeface="Cascadia Mono" panose="020B0609020000020004" pitchFamily="49" charset="0"/>
              </a:rPr>
              <a:t>"Silme Onayı"</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MessageBoxButtons</a:t>
            </a:r>
            <a:r>
              <a:rPr lang="tr-TR" sz="1800" dirty="0" err="1">
                <a:solidFill>
                  <a:srgbClr val="000000"/>
                </a:solidFill>
                <a:highlight>
                  <a:srgbClr val="FFFFFF"/>
                </a:highlight>
                <a:latin typeface="Cascadia Mono" panose="020B0609020000020004" pitchFamily="49" charset="0"/>
              </a:rPr>
              <a:t>.YesNo</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MessageBoxIcon</a:t>
            </a:r>
            <a:r>
              <a:rPr lang="tr-TR" sz="1800" dirty="0" err="1">
                <a:solidFill>
                  <a:srgbClr val="000000"/>
                </a:solidFill>
                <a:highlight>
                  <a:srgbClr val="FFFFFF"/>
                </a:highlight>
                <a:latin typeface="Cascadia Mono" panose="020B0609020000020004" pitchFamily="49" charset="0"/>
              </a:rPr>
              <a:t>.Question</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a:solidFill>
                  <a:srgbClr val="0000FF"/>
                </a:solidFill>
                <a:highlight>
                  <a:srgbClr val="FFFFFF"/>
                </a:highlight>
                <a:latin typeface="Cascadia Mono" panose="020B0609020000020004" pitchFamily="49" charset="0"/>
              </a:rPr>
              <a:t>if</a:t>
            </a:r>
            <a:r>
              <a:rPr lang="tr-TR" sz="1800" dirty="0">
                <a:solidFill>
                  <a:srgbClr val="000000"/>
                </a:solidFill>
                <a:highlight>
                  <a:srgbClr val="FFFFFF"/>
                </a:highlight>
                <a:latin typeface="Cascadia Mono" panose="020B0609020000020004" pitchFamily="49" charset="0"/>
              </a:rPr>
              <a:t> ( </a:t>
            </a:r>
            <a:r>
              <a:rPr lang="tr-TR" sz="1800" dirty="0" err="1">
                <a:solidFill>
                  <a:srgbClr val="000000"/>
                </a:solidFill>
                <a:highlight>
                  <a:srgbClr val="FFFFFF"/>
                </a:highlight>
                <a:latin typeface="Cascadia Mono" panose="020B0609020000020004" pitchFamily="49" charset="0"/>
              </a:rPr>
              <a:t>sonuc</a:t>
            </a:r>
            <a:r>
              <a:rPr lang="tr-TR" sz="1800" dirty="0">
                <a:solidFill>
                  <a:srgbClr val="000000"/>
                </a:solidFill>
                <a:highlight>
                  <a:srgbClr val="FFFFFF"/>
                </a:highlight>
                <a:latin typeface="Cascadia Mono" panose="020B0609020000020004" pitchFamily="49" charset="0"/>
              </a:rPr>
              <a:t> == </a:t>
            </a:r>
            <a:r>
              <a:rPr lang="tr-TR" sz="1800" dirty="0" err="1">
                <a:solidFill>
                  <a:srgbClr val="2B91AF"/>
                </a:solidFill>
                <a:highlight>
                  <a:srgbClr val="FFFFFF"/>
                </a:highlight>
                <a:latin typeface="Cascadia Mono" panose="020B0609020000020004" pitchFamily="49" charset="0"/>
              </a:rPr>
              <a:t>DialogResult</a:t>
            </a:r>
            <a:r>
              <a:rPr lang="tr-TR" sz="1800" dirty="0" err="1">
                <a:solidFill>
                  <a:srgbClr val="000000"/>
                </a:solidFill>
                <a:highlight>
                  <a:srgbClr val="FFFFFF"/>
                </a:highlight>
                <a:latin typeface="Cascadia Mono" panose="020B0609020000020004" pitchFamily="49" charset="0"/>
              </a:rPr>
              <a:t>.Yes</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a:solidFill>
                  <a:srgbClr val="0000FF"/>
                </a:solidFill>
                <a:highlight>
                  <a:srgbClr val="FFFFFF"/>
                </a:highlight>
                <a:latin typeface="Cascadia Mono" panose="020B0609020000020004" pitchFamily="49" charset="0"/>
              </a:rPr>
              <a:t>if</a:t>
            </a:r>
            <a:r>
              <a:rPr lang="tr-TR" sz="1800" dirty="0">
                <a:solidFill>
                  <a:srgbClr val="000000"/>
                </a:solidFill>
                <a:highlight>
                  <a:srgbClr val="FFFFFF"/>
                </a:highlight>
                <a:latin typeface="Cascadia Mono" panose="020B0609020000020004" pitchFamily="49" charset="0"/>
              </a:rPr>
              <a:t> (dataGridView1.CurrentRow != </a:t>
            </a:r>
            <a:r>
              <a:rPr lang="tr-TR" sz="1800" dirty="0" err="1">
                <a:solidFill>
                  <a:srgbClr val="0000FF"/>
                </a:solidFill>
                <a:highlight>
                  <a:srgbClr val="FFFFFF"/>
                </a:highlight>
                <a:latin typeface="Cascadia Mono" panose="020B0609020000020004" pitchFamily="49" charset="0"/>
              </a:rPr>
              <a:t>null</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int</a:t>
            </a:r>
            <a:r>
              <a:rPr lang="en-US" sz="1800" dirty="0">
                <a:solidFill>
                  <a:srgbClr val="000000"/>
                </a:solidFill>
                <a:highlight>
                  <a:srgbClr val="FFFFFF"/>
                </a:highlight>
                <a:latin typeface="Cascadia Mono" panose="020B0609020000020004" pitchFamily="49" charset="0"/>
              </a:rPr>
              <a:t> </a:t>
            </a:r>
            <a:r>
              <a:rPr lang="en-US" sz="1800" dirty="0" err="1">
                <a:solidFill>
                  <a:srgbClr val="000000"/>
                </a:solidFill>
                <a:highlight>
                  <a:srgbClr val="FFFFFF"/>
                </a:highlight>
                <a:latin typeface="Cascadia Mono" panose="020B0609020000020004" pitchFamily="49" charset="0"/>
              </a:rPr>
              <a:t>selectedId</a:t>
            </a:r>
            <a:r>
              <a:rPr lang="en-US" sz="1800" dirty="0">
                <a:solidFill>
                  <a:srgbClr val="000000"/>
                </a:solidFill>
                <a:highlight>
                  <a:srgbClr val="FFFFFF"/>
                </a:highlight>
                <a:latin typeface="Cascadia Mono" panose="020B0609020000020004" pitchFamily="49" charset="0"/>
              </a:rPr>
              <a:t> = </a:t>
            </a:r>
            <a:r>
              <a:rPr lang="en-US" sz="1800" dirty="0">
                <a:solidFill>
                  <a:srgbClr val="2B91AF"/>
                </a:solidFill>
                <a:highlight>
                  <a:srgbClr val="FFFFFF"/>
                </a:highlight>
                <a:latin typeface="Cascadia Mono" panose="020B0609020000020004" pitchFamily="49" charset="0"/>
              </a:rPr>
              <a:t>Convert</a:t>
            </a:r>
            <a:r>
              <a:rPr lang="en-US" sz="1800" dirty="0">
                <a:solidFill>
                  <a:srgbClr val="000000"/>
                </a:solidFill>
                <a:highlight>
                  <a:srgbClr val="FFFFFF"/>
                </a:highlight>
                <a:latin typeface="Cascadia Mono" panose="020B0609020000020004" pitchFamily="49" charset="0"/>
              </a:rPr>
              <a:t>.ToInt32(dataGridView1.CurrentRow.Cells[</a:t>
            </a:r>
            <a:r>
              <a:rPr lang="en-US" sz="1800" dirty="0">
                <a:solidFill>
                  <a:srgbClr val="A31515"/>
                </a:solidFill>
                <a:highlight>
                  <a:srgbClr val="FFFFFF"/>
                </a:highlight>
                <a:latin typeface="Cascadia Mono" panose="020B0609020000020004" pitchFamily="49" charset="0"/>
              </a:rPr>
              <a:t>"Customer_Id"</a:t>
            </a:r>
            <a:r>
              <a:rPr lang="en-US" sz="1800" dirty="0">
                <a:solidFill>
                  <a:srgbClr val="000000"/>
                </a:solidFill>
                <a:highlight>
                  <a:srgbClr val="FFFFFF"/>
                </a:highlight>
                <a:latin typeface="Cascadia Mono" panose="020B0609020000020004" pitchFamily="49" charset="0"/>
              </a:rPr>
              <a:t>].Value);</a:t>
            </a:r>
          </a:p>
          <a:p>
            <a:pPr marL="0" indent="0">
              <a:buNone/>
            </a:pPr>
            <a:r>
              <a:rPr lang="en-US" sz="1800" dirty="0">
                <a:solidFill>
                  <a:srgbClr val="000000"/>
                </a:solidFill>
                <a:highlight>
                  <a:srgbClr val="FFFFFF"/>
                </a:highlight>
                <a:latin typeface="Cascadia Mono" panose="020B0609020000020004" pitchFamily="49" charset="0"/>
              </a:rPr>
              <a:t>                </a:t>
            </a:r>
            <a:r>
              <a:rPr lang="en-US" sz="1800" dirty="0">
                <a:solidFill>
                  <a:srgbClr val="2B91AF"/>
                </a:solidFill>
                <a:highlight>
                  <a:srgbClr val="FFFFFF"/>
                </a:highlight>
                <a:latin typeface="Cascadia Mono" panose="020B0609020000020004" pitchFamily="49" charset="0"/>
              </a:rPr>
              <a:t>Customer</a:t>
            </a:r>
            <a:r>
              <a:rPr lang="en-US" sz="1800" dirty="0">
                <a:solidFill>
                  <a:srgbClr val="000000"/>
                </a:solidFill>
                <a:highlight>
                  <a:srgbClr val="FFFFFF"/>
                </a:highlight>
                <a:latin typeface="Cascadia Mono" panose="020B0609020000020004" pitchFamily="49" charset="0"/>
              </a:rPr>
              <a:t> </a:t>
            </a:r>
            <a:r>
              <a:rPr lang="en-US" sz="1800" dirty="0" err="1">
                <a:solidFill>
                  <a:srgbClr val="000000"/>
                </a:solidFill>
                <a:highlight>
                  <a:srgbClr val="FFFFFF"/>
                </a:highlight>
                <a:latin typeface="Cascadia Mono" panose="020B0609020000020004" pitchFamily="49" charset="0"/>
              </a:rPr>
              <a:t>customer</a:t>
            </a:r>
            <a:r>
              <a:rPr lang="en-US" sz="1800" dirty="0">
                <a:solidFill>
                  <a:srgbClr val="000000"/>
                </a:solidFill>
                <a:highlight>
                  <a:srgbClr val="FFFFFF"/>
                </a:highlight>
                <a:latin typeface="Cascadia Mono" panose="020B0609020000020004" pitchFamily="49" charset="0"/>
              </a:rPr>
              <a:t> = </a:t>
            </a:r>
            <a:r>
              <a:rPr lang="en-US" sz="1800" dirty="0" err="1">
                <a:solidFill>
                  <a:srgbClr val="000000"/>
                </a:solidFill>
                <a:highlight>
                  <a:srgbClr val="FFFFFF"/>
                </a:highlight>
                <a:latin typeface="Cascadia Mono" panose="020B0609020000020004" pitchFamily="49" charset="0"/>
              </a:rPr>
              <a:t>db.Customers.Find</a:t>
            </a:r>
            <a:r>
              <a:rPr lang="en-US" sz="1800" dirty="0">
                <a:solidFill>
                  <a:srgbClr val="000000"/>
                </a:solidFill>
                <a:highlight>
                  <a:srgbClr val="FFFFFF"/>
                </a:highlight>
                <a:latin typeface="Cascadia Mono" panose="020B0609020000020004" pitchFamily="49" charset="0"/>
              </a:rPr>
              <a:t>(</a:t>
            </a:r>
            <a:r>
              <a:rPr lang="en-US" sz="1800" dirty="0" err="1">
                <a:solidFill>
                  <a:srgbClr val="000000"/>
                </a:solidFill>
                <a:highlight>
                  <a:srgbClr val="FFFFFF"/>
                </a:highlight>
                <a:latin typeface="Cascadia Mono" panose="020B0609020000020004" pitchFamily="49" charset="0"/>
              </a:rPr>
              <a:t>selectedId</a:t>
            </a:r>
            <a:r>
              <a:rPr lang="en-US"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a:solidFill>
                  <a:srgbClr val="0000FF"/>
                </a:solidFill>
                <a:highlight>
                  <a:srgbClr val="FFFFFF"/>
                </a:highlight>
                <a:latin typeface="Cascadia Mono" panose="020B0609020000020004" pitchFamily="49" charset="0"/>
              </a:rPr>
              <a:t>if</a:t>
            </a: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customer</a:t>
            </a:r>
            <a:r>
              <a:rPr lang="tr-TR" sz="1800" dirty="0">
                <a:solidFill>
                  <a:srgbClr val="000000"/>
                </a:solidFill>
                <a:highlight>
                  <a:srgbClr val="FFFFFF"/>
                </a:highlight>
                <a:latin typeface="Cascadia Mono" panose="020B0609020000020004" pitchFamily="49" charset="0"/>
              </a:rPr>
              <a:t> != </a:t>
            </a:r>
            <a:r>
              <a:rPr lang="tr-TR" sz="1800" dirty="0" err="1">
                <a:solidFill>
                  <a:srgbClr val="0000FF"/>
                </a:solidFill>
                <a:highlight>
                  <a:srgbClr val="FFFFFF"/>
                </a:highlight>
                <a:latin typeface="Cascadia Mono" panose="020B0609020000020004" pitchFamily="49" charset="0"/>
              </a:rPr>
              <a:t>null</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   </a:t>
            </a:r>
            <a:r>
              <a:rPr lang="tr-TR" sz="1800" dirty="0" err="1">
                <a:solidFill>
                  <a:srgbClr val="000000"/>
                </a:solidFill>
                <a:highlight>
                  <a:srgbClr val="FFFFFF"/>
                </a:highlight>
                <a:latin typeface="Cascadia Mono" panose="020B0609020000020004" pitchFamily="49" charset="0"/>
              </a:rPr>
              <a:t>db.Customers.Remove</a:t>
            </a:r>
            <a:r>
              <a:rPr lang="tr-TR" sz="1800" dirty="0">
                <a:solidFill>
                  <a:srgbClr val="000000"/>
                </a:solidFill>
                <a:highlight>
                  <a:srgbClr val="FFFFFF"/>
                </a:highlight>
                <a:latin typeface="Cascadia Mono" panose="020B0609020000020004" pitchFamily="49" charset="0"/>
              </a:rPr>
              <a:t>(</a:t>
            </a:r>
            <a:r>
              <a:rPr lang="tr-TR" sz="1800" dirty="0" err="1">
                <a:solidFill>
                  <a:srgbClr val="000000"/>
                </a:solidFill>
                <a:highlight>
                  <a:srgbClr val="FFFFFF"/>
                </a:highlight>
                <a:latin typeface="Cascadia Mono" panose="020B0609020000020004" pitchFamily="49" charset="0"/>
              </a:rPr>
              <a:t>customer</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db.SaveChanges</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MessageBox</a:t>
            </a:r>
            <a:r>
              <a:rPr lang="tr-TR" sz="1800" dirty="0" err="1">
                <a:solidFill>
                  <a:srgbClr val="000000"/>
                </a:solidFill>
                <a:highlight>
                  <a:srgbClr val="FFFFFF"/>
                </a:highlight>
                <a:latin typeface="Cascadia Mono" panose="020B0609020000020004" pitchFamily="49" charset="0"/>
              </a:rPr>
              <a:t>.Show</a:t>
            </a:r>
            <a:r>
              <a:rPr lang="tr-TR" sz="1800" dirty="0">
                <a:solidFill>
                  <a:srgbClr val="000000"/>
                </a:solidFill>
                <a:highlight>
                  <a:srgbClr val="FFFFFF"/>
                </a:highlight>
                <a:latin typeface="Cascadia Mono" panose="020B0609020000020004" pitchFamily="49" charset="0"/>
              </a:rPr>
              <a:t>(</a:t>
            </a:r>
            <a:r>
              <a:rPr lang="tr-TR" sz="1800" dirty="0">
                <a:solidFill>
                  <a:srgbClr val="A31515"/>
                </a:solidFill>
                <a:highlight>
                  <a:srgbClr val="FFFFFF"/>
                </a:highlight>
                <a:latin typeface="Cascadia Mono" panose="020B0609020000020004" pitchFamily="49" charset="0"/>
              </a:rPr>
              <a:t>"Müşteri Silindi!"</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btn_listele.PerformClick</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p>
          <a:p>
            <a:pPr marL="0" indent="0">
              <a:buNone/>
            </a:pPr>
            <a:r>
              <a:rPr lang="tr-TR" sz="1800" dirty="0">
                <a:solidFill>
                  <a:srgbClr val="000000"/>
                </a:solidFill>
                <a:highlight>
                  <a:srgbClr val="FFFFFF"/>
                </a:highlight>
                <a:latin typeface="Cascadia Mono" panose="020B0609020000020004" pitchFamily="49" charset="0"/>
              </a:rPr>
              <a:t>            }</a:t>
            </a:r>
          </a:p>
          <a:p>
            <a:pPr marL="0" indent="0">
              <a:buNone/>
            </a:pPr>
            <a:r>
              <a:rPr lang="tr-TR" sz="1800" dirty="0">
                <a:solidFill>
                  <a:srgbClr val="000000"/>
                </a:solidFill>
                <a:highlight>
                  <a:srgbClr val="FFFFFF"/>
                </a:highlight>
                <a:latin typeface="Cascadia Mono" panose="020B0609020000020004" pitchFamily="49" charset="0"/>
              </a:rPr>
              <a:t>        }</a:t>
            </a:r>
          </a:p>
          <a:p>
            <a:pPr marL="0" indent="0">
              <a:buNone/>
            </a:pPr>
            <a:r>
              <a:rPr lang="tr-TR" sz="1800" dirty="0">
                <a:solidFill>
                  <a:srgbClr val="000000"/>
                </a:solidFill>
                <a:highlight>
                  <a:srgbClr val="FFFFFF"/>
                </a:highlight>
                <a:latin typeface="Cascadia Mono" panose="020B0609020000020004" pitchFamily="49" charset="0"/>
              </a:rPr>
              <a:t>    }</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0000FF"/>
                </a:solidFill>
                <a:highlight>
                  <a:srgbClr val="FFFFFF"/>
                </a:highlight>
                <a:latin typeface="Cascadia Mono" panose="020B0609020000020004" pitchFamily="49" charset="0"/>
              </a:rPr>
              <a:t>catch</a:t>
            </a: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Exception</a:t>
            </a: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ex</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        </a:t>
            </a:r>
            <a:r>
              <a:rPr lang="tr-TR" sz="1800" dirty="0" err="1">
                <a:solidFill>
                  <a:srgbClr val="2B91AF"/>
                </a:solidFill>
                <a:highlight>
                  <a:srgbClr val="FFFFFF"/>
                </a:highlight>
                <a:latin typeface="Cascadia Mono" panose="020B0609020000020004" pitchFamily="49" charset="0"/>
              </a:rPr>
              <a:t>MessageBox</a:t>
            </a:r>
            <a:r>
              <a:rPr lang="tr-TR" sz="1800" dirty="0" err="1">
                <a:solidFill>
                  <a:srgbClr val="000000"/>
                </a:solidFill>
                <a:highlight>
                  <a:srgbClr val="FFFFFF"/>
                </a:highlight>
                <a:latin typeface="Cascadia Mono" panose="020B0609020000020004" pitchFamily="49" charset="0"/>
              </a:rPr>
              <a:t>.Show</a:t>
            </a:r>
            <a:r>
              <a:rPr lang="tr-TR" sz="1800" dirty="0">
                <a:solidFill>
                  <a:srgbClr val="000000"/>
                </a:solidFill>
                <a:highlight>
                  <a:srgbClr val="FFFFFF"/>
                </a:highlight>
                <a:latin typeface="Cascadia Mono" panose="020B0609020000020004" pitchFamily="49" charset="0"/>
              </a:rPr>
              <a:t>(</a:t>
            </a:r>
            <a:r>
              <a:rPr lang="tr-TR" sz="1800" dirty="0">
                <a:solidFill>
                  <a:srgbClr val="A31515"/>
                </a:solidFill>
                <a:highlight>
                  <a:srgbClr val="FFFFFF"/>
                </a:highlight>
                <a:latin typeface="Cascadia Mono" panose="020B0609020000020004" pitchFamily="49" charset="0"/>
              </a:rPr>
              <a:t>$"Hata = </a:t>
            </a:r>
            <a:r>
              <a:rPr lang="tr-TR" sz="1800" dirty="0">
                <a:solidFill>
                  <a:srgbClr val="000000"/>
                </a:solidFill>
                <a:highlight>
                  <a:srgbClr val="FFFFFF"/>
                </a:highlight>
                <a:latin typeface="Cascadia Mono" panose="020B0609020000020004" pitchFamily="49" charset="0"/>
              </a:rPr>
              <a:t>{</a:t>
            </a:r>
            <a:r>
              <a:rPr lang="tr-TR" sz="1800" dirty="0" err="1">
                <a:solidFill>
                  <a:srgbClr val="000000"/>
                </a:solidFill>
                <a:highlight>
                  <a:srgbClr val="FFFFFF"/>
                </a:highlight>
                <a:latin typeface="Cascadia Mono" panose="020B0609020000020004" pitchFamily="49" charset="0"/>
              </a:rPr>
              <a:t>ex.Message</a:t>
            </a:r>
            <a:r>
              <a:rPr lang="tr-TR" sz="1800" dirty="0">
                <a:solidFill>
                  <a:srgbClr val="000000"/>
                </a:solidFill>
                <a:highlight>
                  <a:srgbClr val="FFFFFF"/>
                </a:highlight>
                <a:latin typeface="Cascadia Mono" panose="020B0609020000020004" pitchFamily="49" charset="0"/>
              </a:rPr>
              <a:t>}</a:t>
            </a:r>
            <a:r>
              <a:rPr lang="tr-TR" sz="1800" dirty="0">
                <a:solidFill>
                  <a:srgbClr val="A31515"/>
                </a:solidFill>
                <a:highlight>
                  <a:srgbClr val="FFFFFF"/>
                </a:highlight>
                <a:latin typeface="Cascadia Mono" panose="020B0609020000020004" pitchFamily="49" charset="0"/>
              </a:rPr>
              <a:t>"</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a:t>
            </a:r>
            <a:endParaRPr lang="tr-TR" sz="1800" dirty="0"/>
          </a:p>
        </p:txBody>
      </p:sp>
    </p:spTree>
    <p:extLst>
      <p:ext uri="{BB962C8B-B14F-4D97-AF65-F5344CB8AC3E}">
        <p14:creationId xmlns:p14="http://schemas.microsoft.com/office/powerpoint/2010/main" val="330922570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FB1662-F1DC-D4E8-924A-39963D3F9431}"/>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4BD37BC7-B6A7-A03F-F5AA-9A08DC742593}"/>
              </a:ext>
            </a:extLst>
          </p:cNvPr>
          <p:cNvSpPr>
            <a:spLocks noGrp="1"/>
          </p:cNvSpPr>
          <p:nvPr>
            <p:ph type="title"/>
          </p:nvPr>
        </p:nvSpPr>
        <p:spPr>
          <a:xfrm>
            <a:off x="838200" y="248495"/>
            <a:ext cx="10515600" cy="432542"/>
          </a:xfrm>
        </p:spPr>
        <p:txBody>
          <a:bodyPr>
            <a:noAutofit/>
          </a:bodyPr>
          <a:lstStyle/>
          <a:p>
            <a:pPr algn="ctr"/>
            <a:r>
              <a:rPr lang="tr-TR" sz="2800" dirty="0"/>
              <a:t>SİLME İŞLEMİ (Delete Operations)</a:t>
            </a:r>
          </a:p>
        </p:txBody>
      </p:sp>
      <p:pic>
        <p:nvPicPr>
          <p:cNvPr id="5" name="İçerik Yer Tutucusu 4" descr="metin, ekran görüntüsü, yazılım, multimedya yazılımı içeren bir resim&#10;&#10;Yapay zeka tarafından oluşturulan içerik yanlış olabilir.">
            <a:extLst>
              <a:ext uri="{FF2B5EF4-FFF2-40B4-BE49-F238E27FC236}">
                <a16:creationId xmlns:a16="http://schemas.microsoft.com/office/drawing/2014/main" id="{8BC75F7A-44AF-F435-33A8-4238417B5D8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68500" y="861131"/>
            <a:ext cx="8255000" cy="5996869"/>
          </a:xfrm>
        </p:spPr>
      </p:pic>
    </p:spTree>
    <p:extLst>
      <p:ext uri="{BB962C8B-B14F-4D97-AF65-F5344CB8AC3E}">
        <p14:creationId xmlns:p14="http://schemas.microsoft.com/office/powerpoint/2010/main" val="287321008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66FD33-07C8-6A0D-A125-6D23F9D369D2}"/>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12D7FCB1-948D-E3FE-A7A3-5F653E119DD1}"/>
              </a:ext>
            </a:extLst>
          </p:cNvPr>
          <p:cNvSpPr>
            <a:spLocks noGrp="1"/>
          </p:cNvSpPr>
          <p:nvPr>
            <p:ph type="title"/>
          </p:nvPr>
        </p:nvSpPr>
        <p:spPr>
          <a:xfrm>
            <a:off x="838200" y="248495"/>
            <a:ext cx="10515600" cy="432542"/>
          </a:xfrm>
        </p:spPr>
        <p:txBody>
          <a:bodyPr>
            <a:noAutofit/>
          </a:bodyPr>
          <a:lstStyle/>
          <a:p>
            <a:pPr algn="ctr"/>
            <a:r>
              <a:rPr lang="tr-TR" sz="2800" dirty="0"/>
              <a:t>Müşteri ve Ürünlerin Birlikte Gösterilmesi ve İşlemler</a:t>
            </a:r>
          </a:p>
        </p:txBody>
      </p:sp>
      <p:sp>
        <p:nvSpPr>
          <p:cNvPr id="3" name="İçerik Yer Tutucusu 2">
            <a:extLst>
              <a:ext uri="{FF2B5EF4-FFF2-40B4-BE49-F238E27FC236}">
                <a16:creationId xmlns:a16="http://schemas.microsoft.com/office/drawing/2014/main" id="{040C1530-98AB-6765-74A8-2EF49E4DDBCC}"/>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Silme işleminden sonra bir tabloda yapılacak 4 temel veri tabanı işlemini bitirmiş olduk. Tüm bu işlemleri veri tabanı tarafında değil görsel tarafta programlama dili kullanarak </a:t>
            </a:r>
            <a:r>
              <a:rPr lang="tr-TR" sz="1800" dirty="0" err="1"/>
              <a:t>EntityFramework</a:t>
            </a:r>
            <a:r>
              <a:rPr lang="tr-TR" sz="1800" dirty="0"/>
              <a:t> konseptine uygun şekilde hallettik.</a:t>
            </a:r>
          </a:p>
          <a:p>
            <a:pPr marL="0" indent="0" algn="just">
              <a:lnSpc>
                <a:spcPct val="100000"/>
              </a:lnSpc>
              <a:spcBef>
                <a:spcPts val="600"/>
              </a:spcBef>
              <a:spcAft>
                <a:spcPts val="600"/>
              </a:spcAft>
              <a:buNone/>
            </a:pPr>
            <a:r>
              <a:rPr lang="tr-TR" sz="1800" dirty="0"/>
              <a:t>Şimdi sıra geldi müşteri ve ürün bilgilerini tutan </a:t>
            </a:r>
            <a:r>
              <a:rPr lang="tr-TR" sz="1800" dirty="0" err="1"/>
              <a:t>Table_CustomerProduct</a:t>
            </a:r>
            <a:r>
              <a:rPr lang="tr-TR" sz="1800" dirty="0"/>
              <a:t> tablosu ve onunla ilgili 4 temel işlemi C# tarafında yapmaya.</a:t>
            </a:r>
          </a:p>
          <a:p>
            <a:pPr marL="0" indent="0" algn="just">
              <a:lnSpc>
                <a:spcPct val="100000"/>
              </a:lnSpc>
              <a:spcBef>
                <a:spcPts val="600"/>
              </a:spcBef>
              <a:spcAft>
                <a:spcPts val="600"/>
              </a:spcAft>
              <a:buNone/>
            </a:pPr>
            <a:r>
              <a:rPr lang="tr-TR" sz="1800" dirty="0" err="1"/>
              <a:t>Table_CustomerProduct</a:t>
            </a:r>
            <a:r>
              <a:rPr lang="tr-TR" sz="1800" dirty="0"/>
              <a:t> tablosu çok önemlidir bu proje için. Çünkü Table_Customer içerisinde sadece müşterilerle ilgili işlemler yapıyoruz, Table_Product içerisinde de sadece ürünlerle ilgili işlemler yapıyoruz. Ancak, </a:t>
            </a:r>
            <a:r>
              <a:rPr lang="tr-TR" sz="1800" dirty="0" err="1"/>
              <a:t>Table_CustomerProduct</a:t>
            </a:r>
            <a:r>
              <a:rPr lang="tr-TR" sz="1800" dirty="0"/>
              <a:t> tablosunda ise hangi müşterinin hangi ürünü aldığını, aldığı hangi ürünü güncellediğini ya da hangi üründen vazgeçtiğini (sildiğini) tanımlayabiliriz.</a:t>
            </a:r>
          </a:p>
          <a:p>
            <a:pPr marL="0" indent="0" algn="just">
              <a:lnSpc>
                <a:spcPct val="100000"/>
              </a:lnSpc>
              <a:spcBef>
                <a:spcPts val="600"/>
              </a:spcBef>
              <a:spcAft>
                <a:spcPts val="600"/>
              </a:spcAft>
              <a:buNone/>
            </a:pPr>
            <a:endParaRPr lang="tr-TR" sz="1800" dirty="0"/>
          </a:p>
        </p:txBody>
      </p:sp>
    </p:spTree>
    <p:extLst>
      <p:ext uri="{BB962C8B-B14F-4D97-AF65-F5344CB8AC3E}">
        <p14:creationId xmlns:p14="http://schemas.microsoft.com/office/powerpoint/2010/main" val="127630699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A81DA-F5C8-6AB6-9425-D7C12F6F1200}"/>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294D1234-D0C6-D2D6-161C-8C07DBF329A0}"/>
              </a:ext>
            </a:extLst>
          </p:cNvPr>
          <p:cNvSpPr>
            <a:spLocks noGrp="1"/>
          </p:cNvSpPr>
          <p:nvPr>
            <p:ph type="title"/>
          </p:nvPr>
        </p:nvSpPr>
        <p:spPr>
          <a:xfrm>
            <a:off x="838200" y="248495"/>
            <a:ext cx="10515600" cy="432542"/>
          </a:xfrm>
        </p:spPr>
        <p:txBody>
          <a:bodyPr>
            <a:noAutofit/>
          </a:bodyPr>
          <a:lstStyle/>
          <a:p>
            <a:pPr algn="ctr"/>
            <a:r>
              <a:rPr lang="tr-TR" sz="2800" dirty="0"/>
              <a:t>Müşteri ve Ürünlerin Birlikte Gösterilmesi ve İşlemler</a:t>
            </a:r>
          </a:p>
        </p:txBody>
      </p:sp>
      <p:sp>
        <p:nvSpPr>
          <p:cNvPr id="3" name="İçerik Yer Tutucusu 2">
            <a:extLst>
              <a:ext uri="{FF2B5EF4-FFF2-40B4-BE49-F238E27FC236}">
                <a16:creationId xmlns:a16="http://schemas.microsoft.com/office/drawing/2014/main" id="{FF42EF0C-20F7-6A9B-F584-23A89B612EB9}"/>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İlk olarak SQL’deki diğer tablolar için de birer sınıf oluşturacağız, tıpkı Table_Customer için Customer </a:t>
            </a:r>
            <a:r>
              <a:rPr lang="tr-TR" sz="1800" dirty="0" err="1"/>
              <a:t>class’ı</a:t>
            </a:r>
            <a:r>
              <a:rPr lang="tr-TR" sz="1800" dirty="0"/>
              <a:t> oluşturduğumuz gibi.</a:t>
            </a:r>
          </a:p>
          <a:p>
            <a:pPr marL="0" indent="0" algn="just">
              <a:lnSpc>
                <a:spcPct val="100000"/>
              </a:lnSpc>
              <a:spcBef>
                <a:spcPts val="600"/>
              </a:spcBef>
              <a:spcAft>
                <a:spcPts val="600"/>
              </a:spcAft>
              <a:buNone/>
            </a:pPr>
            <a:r>
              <a:rPr lang="tr-TR" sz="1800" dirty="0"/>
              <a:t>Ayrıca, Table_Customer ve Table_Product tabloları </a:t>
            </a:r>
            <a:r>
              <a:rPr lang="tr-TR" sz="1800" dirty="0" err="1"/>
              <a:t>Table_CustomerProduct</a:t>
            </a:r>
            <a:r>
              <a:rPr lang="tr-TR" sz="1800" dirty="0"/>
              <a:t> tablosuyla ilişkili oldukları için bunlara ait sınıflara da bir kod ekleyeceğiz.</a:t>
            </a:r>
          </a:p>
          <a:p>
            <a:pPr marL="0" indent="0" algn="just">
              <a:lnSpc>
                <a:spcPct val="100000"/>
              </a:lnSpc>
              <a:spcBef>
                <a:spcPts val="600"/>
              </a:spcBef>
              <a:spcAft>
                <a:spcPts val="600"/>
              </a:spcAft>
              <a:buNone/>
            </a:pPr>
            <a:r>
              <a:rPr lang="tr-TR" sz="1800" dirty="0"/>
              <a:t>Nasıl ki SQL tarafında tablolar arasında ilişki kurarken primary key-foreign key üzerinden ilişki kuruyorsak, </a:t>
            </a:r>
            <a:r>
              <a:rPr lang="tr-TR" sz="1800" dirty="0" err="1"/>
              <a:t>EntityFramework</a:t>
            </a:r>
            <a:r>
              <a:rPr lang="tr-TR" sz="1800" dirty="0"/>
              <a:t> konseptinde de bu ilişkiyi bu konsept içerisinde betimlememiz gerekir.</a:t>
            </a:r>
          </a:p>
        </p:txBody>
      </p:sp>
    </p:spTree>
    <p:extLst>
      <p:ext uri="{BB962C8B-B14F-4D97-AF65-F5344CB8AC3E}">
        <p14:creationId xmlns:p14="http://schemas.microsoft.com/office/powerpoint/2010/main" val="376996242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142DE-24A6-2A96-6C04-64856C7259CD}"/>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61C6F575-7035-A327-776C-30A372F61488}"/>
              </a:ext>
            </a:extLst>
          </p:cNvPr>
          <p:cNvSpPr>
            <a:spLocks noGrp="1"/>
          </p:cNvSpPr>
          <p:nvPr>
            <p:ph type="title"/>
          </p:nvPr>
        </p:nvSpPr>
        <p:spPr>
          <a:xfrm>
            <a:off x="838200" y="248495"/>
            <a:ext cx="10515600" cy="432542"/>
          </a:xfrm>
        </p:spPr>
        <p:txBody>
          <a:bodyPr>
            <a:noAutofit/>
          </a:bodyPr>
          <a:lstStyle/>
          <a:p>
            <a:pPr algn="ctr"/>
            <a:r>
              <a:rPr lang="tr-TR" sz="2800" dirty="0" err="1"/>
              <a:t>MSSQL’deki</a:t>
            </a:r>
            <a:r>
              <a:rPr lang="tr-TR" sz="2800" dirty="0"/>
              <a:t> Tüm Tabloların Sınıf Olarak Oluşturulması</a:t>
            </a:r>
          </a:p>
        </p:txBody>
      </p:sp>
      <p:sp>
        <p:nvSpPr>
          <p:cNvPr id="3" name="İçerik Yer Tutucusu 2">
            <a:extLst>
              <a:ext uri="{FF2B5EF4-FFF2-40B4-BE49-F238E27FC236}">
                <a16:creationId xmlns:a16="http://schemas.microsoft.com/office/drawing/2014/main" id="{CF62D0EE-A56B-2072-7F01-DBBC2FBAE6BF}"/>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Şu ana kadar yaptığımız tüm işlemler, SQL’deki 4 tablomuz arasından seçilen tek bir tablo içindi. Şimdi, diğer 3 tablomuz için de aynı şekilde birer sınıf oluşturup, </a:t>
            </a:r>
            <a:r>
              <a:rPr lang="tr-TR" sz="1800" dirty="0" err="1"/>
              <a:t>EntityFramework</a:t>
            </a:r>
            <a:r>
              <a:rPr lang="tr-TR" sz="1800" dirty="0"/>
              <a:t> kapsamında bu tabloları C# tarafında bir sınıfla ilişkilendirmeliyiz.</a:t>
            </a:r>
          </a:p>
        </p:txBody>
      </p:sp>
    </p:spTree>
    <p:extLst>
      <p:ext uri="{BB962C8B-B14F-4D97-AF65-F5344CB8AC3E}">
        <p14:creationId xmlns:p14="http://schemas.microsoft.com/office/powerpoint/2010/main" val="327699131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C8B4E-93AD-09F9-3B94-E63F5A786217}"/>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6F9D43AE-2AD4-54E4-E2F8-BB2618030D4E}"/>
              </a:ext>
            </a:extLst>
          </p:cNvPr>
          <p:cNvSpPr>
            <a:spLocks noGrp="1"/>
          </p:cNvSpPr>
          <p:nvPr>
            <p:ph type="title"/>
          </p:nvPr>
        </p:nvSpPr>
        <p:spPr>
          <a:xfrm>
            <a:off x="838200" y="248495"/>
            <a:ext cx="10515600" cy="432542"/>
          </a:xfrm>
        </p:spPr>
        <p:txBody>
          <a:bodyPr>
            <a:noAutofit/>
          </a:bodyPr>
          <a:lstStyle/>
          <a:p>
            <a:pPr algn="ctr"/>
            <a:r>
              <a:rPr lang="tr-TR" sz="2800" dirty="0"/>
              <a:t>Table_Category için Category Sınıfı</a:t>
            </a:r>
          </a:p>
        </p:txBody>
      </p:sp>
      <p:sp>
        <p:nvSpPr>
          <p:cNvPr id="3" name="İçerik Yer Tutucusu 2">
            <a:extLst>
              <a:ext uri="{FF2B5EF4-FFF2-40B4-BE49-F238E27FC236}">
                <a16:creationId xmlns:a16="http://schemas.microsoft.com/office/drawing/2014/main" id="{124BE9D1-5144-CC8C-C442-B5B4168EE171}"/>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Table_Category tablosu, ürünlerin (</a:t>
            </a:r>
            <a:r>
              <a:rPr lang="tr-TR" sz="1800" dirty="0" err="1"/>
              <a:t>Table_Product</a:t>
            </a:r>
            <a:r>
              <a:rPr lang="tr-TR" sz="1800" dirty="0"/>
              <a:t>) hangi kategoride yer aldığını belirtmek için kullanılıyordu ve sadece aşağıda görüldüğü gibi 2 sütunu vardı.</a:t>
            </a:r>
          </a:p>
        </p:txBody>
      </p:sp>
      <p:pic>
        <p:nvPicPr>
          <p:cNvPr id="5" name="Resim 4" descr="metin, ekran görüntüsü, yazı tipi, çizgi içeren bir resim&#10;&#10;Yapay zeka tarafından oluşturulan içerik yanlış olabilir.">
            <a:extLst>
              <a:ext uri="{FF2B5EF4-FFF2-40B4-BE49-F238E27FC236}">
                <a16:creationId xmlns:a16="http://schemas.microsoft.com/office/drawing/2014/main" id="{9A1B6F2F-7FB0-BBA3-F127-4A1E0A2C84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87736" y="2182293"/>
            <a:ext cx="8816527" cy="1105656"/>
          </a:xfrm>
          <a:prstGeom prst="rect">
            <a:avLst/>
          </a:prstGeom>
        </p:spPr>
      </p:pic>
    </p:spTree>
    <p:extLst>
      <p:ext uri="{BB962C8B-B14F-4D97-AF65-F5344CB8AC3E}">
        <p14:creationId xmlns:p14="http://schemas.microsoft.com/office/powerpoint/2010/main" val="315055009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ED8631-D966-A1F6-F7BD-B2B81ABEEA7F}"/>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2C8C6C6D-6438-4D17-AD84-4C04C34F5FB4}"/>
              </a:ext>
            </a:extLst>
          </p:cNvPr>
          <p:cNvSpPr>
            <a:spLocks noGrp="1"/>
          </p:cNvSpPr>
          <p:nvPr>
            <p:ph type="title"/>
          </p:nvPr>
        </p:nvSpPr>
        <p:spPr>
          <a:xfrm>
            <a:off x="838200" y="248495"/>
            <a:ext cx="10515600" cy="432542"/>
          </a:xfrm>
        </p:spPr>
        <p:txBody>
          <a:bodyPr>
            <a:noAutofit/>
          </a:bodyPr>
          <a:lstStyle/>
          <a:p>
            <a:pPr algn="ctr"/>
            <a:r>
              <a:rPr lang="tr-TR" sz="2800" dirty="0"/>
              <a:t>Table_Category için Category Sınıfı</a:t>
            </a:r>
          </a:p>
        </p:txBody>
      </p:sp>
      <p:sp>
        <p:nvSpPr>
          <p:cNvPr id="3" name="İçerik Yer Tutucusu 2">
            <a:extLst>
              <a:ext uri="{FF2B5EF4-FFF2-40B4-BE49-F238E27FC236}">
                <a16:creationId xmlns:a16="http://schemas.microsoft.com/office/drawing/2014/main" id="{AD063628-406E-D3D9-CBFC-5F53F7F508B1}"/>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Şimdi, visual studio tarafında projemize sağ tıklayıp Ekle-&gt;Sınıf (Add-Class) adımlarını takip edip Category adında bir sınıf ekliyoruz ve açılan </a:t>
            </a:r>
            <a:r>
              <a:rPr lang="tr-TR" sz="1800" dirty="0" err="1"/>
              <a:t>Category.cs</a:t>
            </a:r>
            <a:r>
              <a:rPr lang="tr-TR" sz="1800" dirty="0"/>
              <a:t> dosyasındaki kodlar aşağıdaki gibi olmalıdır.</a:t>
            </a:r>
          </a:p>
          <a:p>
            <a:pPr marL="0" indent="0" algn="just">
              <a:lnSpc>
                <a:spcPct val="100000"/>
              </a:lnSpc>
              <a:spcBef>
                <a:spcPts val="600"/>
              </a:spcBef>
              <a:spcAft>
                <a:spcPts val="600"/>
              </a:spcAft>
              <a:buNone/>
            </a:pPr>
            <a:endParaRPr lang="tr-TR" sz="1800" dirty="0"/>
          </a:p>
          <a:p>
            <a:pPr marL="0" indent="0">
              <a:buNone/>
            </a:pPr>
            <a:r>
              <a:rPr lang="tr-TR" sz="1800" dirty="0">
                <a:solidFill>
                  <a:srgbClr val="000000"/>
                </a:solidFill>
                <a:highlight>
                  <a:srgbClr val="FFFFFF"/>
                </a:highlight>
                <a:latin typeface="Cascadia Mono" panose="020B0609020000020004" pitchFamily="49" charset="0"/>
              </a:rPr>
              <a:t>[</a:t>
            </a:r>
            <a:r>
              <a:rPr lang="tr-TR" sz="1800" dirty="0">
                <a:solidFill>
                  <a:srgbClr val="2B91AF"/>
                </a:solidFill>
                <a:highlight>
                  <a:srgbClr val="FFFFFF"/>
                </a:highlight>
                <a:latin typeface="Cascadia Mono" panose="020B0609020000020004" pitchFamily="49" charset="0"/>
              </a:rPr>
              <a:t>Table</a:t>
            </a:r>
            <a:r>
              <a:rPr lang="tr-TR" sz="1800" dirty="0">
                <a:solidFill>
                  <a:srgbClr val="000000"/>
                </a:solidFill>
                <a:highlight>
                  <a:srgbClr val="FFFFFF"/>
                </a:highlight>
                <a:latin typeface="Cascadia Mono" panose="020B0609020000020004" pitchFamily="49" charset="0"/>
              </a:rPr>
              <a:t>(</a:t>
            </a:r>
            <a:r>
              <a:rPr lang="tr-TR" sz="1800" dirty="0">
                <a:solidFill>
                  <a:srgbClr val="A31515"/>
                </a:solidFill>
                <a:highlight>
                  <a:srgbClr val="FFFFFF"/>
                </a:highlight>
                <a:latin typeface="Cascadia Mono" panose="020B0609020000020004" pitchFamily="49" charset="0"/>
              </a:rPr>
              <a:t>"Table_Category"</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err="1">
                <a:solidFill>
                  <a:srgbClr val="0000FF"/>
                </a:solidFill>
                <a:highlight>
                  <a:srgbClr val="FFFFFF"/>
                </a:highlight>
                <a:latin typeface="Cascadia Mono" panose="020B0609020000020004" pitchFamily="49" charset="0"/>
              </a:rPr>
              <a:t>internal</a:t>
            </a:r>
            <a:r>
              <a:rPr lang="tr-TR" sz="1800" dirty="0">
                <a:solidFill>
                  <a:srgbClr val="000000"/>
                </a:solidFill>
                <a:highlight>
                  <a:srgbClr val="FFFFFF"/>
                </a:highlight>
                <a:latin typeface="Cascadia Mono" panose="020B0609020000020004" pitchFamily="49" charset="0"/>
              </a:rPr>
              <a:t> </a:t>
            </a:r>
            <a:r>
              <a:rPr lang="tr-TR" sz="1800" dirty="0">
                <a:solidFill>
                  <a:srgbClr val="0000FF"/>
                </a:solidFill>
                <a:highlight>
                  <a:srgbClr val="FFFFFF"/>
                </a:highlight>
                <a:latin typeface="Cascadia Mono" panose="020B0609020000020004" pitchFamily="49" charset="0"/>
              </a:rPr>
              <a:t>class</a:t>
            </a:r>
            <a:r>
              <a:rPr lang="tr-TR" sz="1800" dirty="0">
                <a:solidFill>
                  <a:srgbClr val="000000"/>
                </a:solidFill>
                <a:highlight>
                  <a:srgbClr val="FFFFFF"/>
                </a:highlight>
                <a:latin typeface="Cascadia Mono" panose="020B0609020000020004" pitchFamily="49" charset="0"/>
              </a:rPr>
              <a:t> </a:t>
            </a:r>
            <a:r>
              <a:rPr lang="tr-TR" sz="1800" dirty="0">
                <a:solidFill>
                  <a:srgbClr val="2B91AF"/>
                </a:solidFill>
                <a:highlight>
                  <a:srgbClr val="FFFFFF"/>
                </a:highlight>
                <a:latin typeface="Cascadia Mono" panose="020B0609020000020004" pitchFamily="49" charset="0"/>
              </a:rPr>
              <a:t>Category</a:t>
            </a:r>
          </a:p>
          <a:p>
            <a:pPr marL="0" indent="0">
              <a:buNone/>
            </a:pP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a:solidFill>
                  <a:srgbClr val="2B91AF"/>
                </a:solidFill>
                <a:highlight>
                  <a:srgbClr val="FFFFFF"/>
                </a:highlight>
                <a:latin typeface="Cascadia Mono" panose="020B0609020000020004" pitchFamily="49" charset="0"/>
              </a:rPr>
              <a:t>Key</a:t>
            </a:r>
            <a:r>
              <a:rPr lang="tr-TR" sz="1800" dirty="0">
                <a:solidFill>
                  <a:srgbClr val="000000"/>
                </a:solidFill>
                <a:highlight>
                  <a:srgbClr val="FFFFFF"/>
                </a:highlight>
                <a:latin typeface="Cascadia Mono" panose="020B0609020000020004" pitchFamily="49" charset="0"/>
              </a:rPr>
              <a:t>]</a:t>
            </a:r>
          </a:p>
          <a:p>
            <a:pPr marL="0" indent="0">
              <a:buNone/>
            </a:pP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public</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int</a:t>
            </a:r>
            <a:r>
              <a:rPr lang="en-US" sz="1800" dirty="0">
                <a:solidFill>
                  <a:srgbClr val="000000"/>
                </a:solidFill>
                <a:highlight>
                  <a:srgbClr val="FFFFFF"/>
                </a:highlight>
                <a:latin typeface="Cascadia Mono" panose="020B0609020000020004" pitchFamily="49" charset="0"/>
              </a:rPr>
              <a:t> </a:t>
            </a:r>
            <a:r>
              <a:rPr lang="en-US" sz="1800" dirty="0" err="1">
                <a:solidFill>
                  <a:srgbClr val="000000"/>
                </a:solidFill>
                <a:highlight>
                  <a:srgbClr val="FFFFFF"/>
                </a:highlight>
                <a:latin typeface="Cascadia Mono" panose="020B0609020000020004" pitchFamily="49" charset="0"/>
              </a:rPr>
              <a:t>Category_Id</a:t>
            </a:r>
            <a:r>
              <a:rPr lang="en-US" sz="1800" dirty="0">
                <a:solidFill>
                  <a:srgbClr val="000000"/>
                </a:solidFill>
                <a:highlight>
                  <a:srgbClr val="FFFFFF"/>
                </a:highlight>
                <a:latin typeface="Cascadia Mono" panose="020B0609020000020004" pitchFamily="49" charset="0"/>
              </a:rPr>
              <a:t> { </a:t>
            </a:r>
            <a:r>
              <a:rPr lang="en-US" sz="1800" dirty="0">
                <a:solidFill>
                  <a:srgbClr val="0000FF"/>
                </a:solidFill>
                <a:highlight>
                  <a:srgbClr val="FFFFFF"/>
                </a:highlight>
                <a:latin typeface="Cascadia Mono" panose="020B0609020000020004" pitchFamily="49" charset="0"/>
              </a:rPr>
              <a:t>get</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set</a:t>
            </a:r>
            <a:r>
              <a:rPr lang="en-US" sz="1800" dirty="0">
                <a:solidFill>
                  <a:srgbClr val="000000"/>
                </a:solidFill>
                <a:highlight>
                  <a:srgbClr val="FFFFFF"/>
                </a:highlight>
                <a:latin typeface="Cascadia Mono" panose="020B0609020000020004" pitchFamily="49" charset="0"/>
              </a:rPr>
              <a:t>; }</a:t>
            </a:r>
          </a:p>
          <a:p>
            <a:pPr marL="0" indent="0">
              <a:buNone/>
            </a:pPr>
            <a:endParaRPr lang="tr-TR" sz="1800" dirty="0">
              <a:solidFill>
                <a:srgbClr val="000000"/>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Required</a:t>
            </a: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MaxLength</a:t>
            </a:r>
            <a:r>
              <a:rPr lang="tr-TR" sz="1800" dirty="0">
                <a:solidFill>
                  <a:srgbClr val="000000"/>
                </a:solidFill>
                <a:highlight>
                  <a:srgbClr val="FFFFFF"/>
                </a:highlight>
                <a:latin typeface="Cascadia Mono" panose="020B0609020000020004" pitchFamily="49" charset="0"/>
              </a:rPr>
              <a:t>(50)]</a:t>
            </a:r>
          </a:p>
          <a:p>
            <a:pPr marL="0" indent="0">
              <a:buNone/>
            </a:pP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public</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string</a:t>
            </a:r>
            <a:r>
              <a:rPr lang="en-US" sz="1800" dirty="0">
                <a:solidFill>
                  <a:srgbClr val="000000"/>
                </a:solidFill>
                <a:highlight>
                  <a:srgbClr val="FFFFFF"/>
                </a:highlight>
                <a:latin typeface="Cascadia Mono" panose="020B0609020000020004" pitchFamily="49" charset="0"/>
              </a:rPr>
              <a:t> </a:t>
            </a:r>
            <a:r>
              <a:rPr lang="en-US" sz="1800" dirty="0" err="1">
                <a:solidFill>
                  <a:srgbClr val="000000"/>
                </a:solidFill>
                <a:highlight>
                  <a:srgbClr val="FFFFFF"/>
                </a:highlight>
                <a:latin typeface="Cascadia Mono" panose="020B0609020000020004" pitchFamily="49" charset="0"/>
              </a:rPr>
              <a:t>Category_Name</a:t>
            </a:r>
            <a:r>
              <a:rPr lang="en-US" sz="1800" dirty="0">
                <a:solidFill>
                  <a:srgbClr val="000000"/>
                </a:solidFill>
                <a:highlight>
                  <a:srgbClr val="FFFFFF"/>
                </a:highlight>
                <a:latin typeface="Cascadia Mono" panose="020B0609020000020004" pitchFamily="49" charset="0"/>
              </a:rPr>
              <a:t> { </a:t>
            </a:r>
            <a:r>
              <a:rPr lang="en-US" sz="1800" dirty="0">
                <a:solidFill>
                  <a:srgbClr val="0000FF"/>
                </a:solidFill>
                <a:highlight>
                  <a:srgbClr val="FFFFFF"/>
                </a:highlight>
                <a:latin typeface="Cascadia Mono" panose="020B0609020000020004" pitchFamily="49" charset="0"/>
              </a:rPr>
              <a:t>get</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set</a:t>
            </a:r>
            <a:r>
              <a:rPr lang="en-US" sz="1800" dirty="0">
                <a:solidFill>
                  <a:srgbClr val="000000"/>
                </a:solidFill>
                <a:highlight>
                  <a:srgbClr val="FFFFFF"/>
                </a:highlight>
                <a:latin typeface="Cascadia Mono" panose="020B0609020000020004" pitchFamily="49" charset="0"/>
              </a:rPr>
              <a:t>; }</a:t>
            </a:r>
          </a:p>
          <a:p>
            <a:pPr marL="0" indent="0">
              <a:buNone/>
            </a:pPr>
            <a:endParaRPr lang="tr-TR" sz="1800" dirty="0">
              <a:solidFill>
                <a:srgbClr val="000000"/>
              </a:solidFill>
              <a:highlight>
                <a:srgbClr val="FFFFFF"/>
              </a:highlight>
              <a:latin typeface="Cascadia Mono" panose="020B0609020000020004" pitchFamily="49" charset="0"/>
            </a:endParaRPr>
          </a:p>
          <a:p>
            <a:pPr marL="0" indent="0">
              <a:buNone/>
            </a:pP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public</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virtual</a:t>
            </a:r>
            <a:r>
              <a:rPr lang="en-US" sz="1800" dirty="0">
                <a:solidFill>
                  <a:srgbClr val="000000"/>
                </a:solidFill>
                <a:highlight>
                  <a:srgbClr val="FFFFFF"/>
                </a:highlight>
                <a:latin typeface="Cascadia Mono" panose="020B0609020000020004" pitchFamily="49" charset="0"/>
              </a:rPr>
              <a:t> </a:t>
            </a:r>
            <a:r>
              <a:rPr lang="en-US" sz="1800" dirty="0" err="1">
                <a:solidFill>
                  <a:srgbClr val="2B91AF"/>
                </a:solidFill>
                <a:highlight>
                  <a:srgbClr val="FFFFFF"/>
                </a:highlight>
                <a:latin typeface="Cascadia Mono" panose="020B0609020000020004" pitchFamily="49" charset="0"/>
              </a:rPr>
              <a:t>ICollection</a:t>
            </a:r>
            <a:r>
              <a:rPr lang="en-US" sz="1800" dirty="0">
                <a:solidFill>
                  <a:srgbClr val="000000"/>
                </a:solidFill>
                <a:highlight>
                  <a:srgbClr val="FFFFFF"/>
                </a:highlight>
                <a:latin typeface="Cascadia Mono" panose="020B0609020000020004" pitchFamily="49" charset="0"/>
              </a:rPr>
              <a:t>&lt;</a:t>
            </a:r>
            <a:r>
              <a:rPr lang="en-US" sz="1800" dirty="0">
                <a:solidFill>
                  <a:srgbClr val="2B91AF"/>
                </a:solidFill>
                <a:highlight>
                  <a:srgbClr val="FFFFFF"/>
                </a:highlight>
                <a:latin typeface="Cascadia Mono" panose="020B0609020000020004" pitchFamily="49" charset="0"/>
              </a:rPr>
              <a:t>Product</a:t>
            </a:r>
            <a:r>
              <a:rPr lang="en-US" sz="1800" dirty="0">
                <a:solidFill>
                  <a:srgbClr val="000000"/>
                </a:solidFill>
                <a:highlight>
                  <a:srgbClr val="FFFFFF"/>
                </a:highlight>
                <a:latin typeface="Cascadia Mono" panose="020B0609020000020004" pitchFamily="49" charset="0"/>
              </a:rPr>
              <a:t>&gt; Products { </a:t>
            </a:r>
            <a:r>
              <a:rPr lang="en-US" sz="1800" dirty="0">
                <a:solidFill>
                  <a:srgbClr val="0000FF"/>
                </a:solidFill>
                <a:highlight>
                  <a:srgbClr val="FFFFFF"/>
                </a:highlight>
                <a:latin typeface="Cascadia Mono" panose="020B0609020000020004" pitchFamily="49" charset="0"/>
              </a:rPr>
              <a:t>get</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set</a:t>
            </a:r>
            <a:r>
              <a:rPr lang="en-US" sz="1800" dirty="0">
                <a:solidFill>
                  <a:srgbClr val="000000"/>
                </a:solidFill>
                <a:highlight>
                  <a:srgbClr val="FFFFFF"/>
                </a:highlight>
                <a:latin typeface="Cascadia Mono" panose="020B0609020000020004" pitchFamily="49" charset="0"/>
              </a:rPr>
              <a:t>; }</a:t>
            </a:r>
          </a:p>
          <a:p>
            <a:pPr marL="0" indent="0">
              <a:buNone/>
            </a:pPr>
            <a:r>
              <a:rPr lang="tr-TR" sz="1800" dirty="0">
                <a:solidFill>
                  <a:srgbClr val="000000"/>
                </a:solidFill>
                <a:highlight>
                  <a:srgbClr val="FFFFFF"/>
                </a:highlight>
                <a:latin typeface="Cascadia Mono" panose="020B0609020000020004" pitchFamily="49" charset="0"/>
              </a:rPr>
              <a:t>}</a:t>
            </a:r>
            <a:endParaRPr lang="tr-TR" sz="1800" dirty="0"/>
          </a:p>
        </p:txBody>
      </p:sp>
    </p:spTree>
    <p:extLst>
      <p:ext uri="{BB962C8B-B14F-4D97-AF65-F5344CB8AC3E}">
        <p14:creationId xmlns:p14="http://schemas.microsoft.com/office/powerpoint/2010/main" val="102730097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BBA8C-B20E-19BC-7C4B-3E9DD629E2D1}"/>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F3C92B98-055A-E95E-B1D2-90595EA122E5}"/>
              </a:ext>
            </a:extLst>
          </p:cNvPr>
          <p:cNvSpPr>
            <a:spLocks noGrp="1"/>
          </p:cNvSpPr>
          <p:nvPr>
            <p:ph type="title"/>
          </p:nvPr>
        </p:nvSpPr>
        <p:spPr>
          <a:xfrm>
            <a:off x="838200" y="248495"/>
            <a:ext cx="10515600" cy="432542"/>
          </a:xfrm>
        </p:spPr>
        <p:txBody>
          <a:bodyPr>
            <a:noAutofit/>
          </a:bodyPr>
          <a:lstStyle/>
          <a:p>
            <a:pPr algn="ctr"/>
            <a:r>
              <a:rPr lang="tr-TR" sz="2800" dirty="0"/>
              <a:t>Table_Category için Category Sınıfı</a:t>
            </a:r>
          </a:p>
        </p:txBody>
      </p:sp>
      <p:sp>
        <p:nvSpPr>
          <p:cNvPr id="3" name="İçerik Yer Tutucusu 2">
            <a:extLst>
              <a:ext uri="{FF2B5EF4-FFF2-40B4-BE49-F238E27FC236}">
                <a16:creationId xmlns:a16="http://schemas.microsoft.com/office/drawing/2014/main" id="{A1BE6675-A2C9-FAEC-B6C0-492C9336309F}"/>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Dikkat edilecek olursa, önceki sayfada yer alan bir kodun Table_Category içerisinde bir sütun olarak yeri yoktu: </a:t>
            </a:r>
            <a:r>
              <a:rPr lang="en-US" sz="1800" dirty="0">
                <a:solidFill>
                  <a:srgbClr val="0000FF"/>
                </a:solidFill>
                <a:highlight>
                  <a:srgbClr val="FFFFFF"/>
                </a:highlight>
                <a:latin typeface="Cascadia Mono" panose="020B0609020000020004" pitchFamily="49" charset="0"/>
              </a:rPr>
              <a:t>public</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virtual</a:t>
            </a:r>
            <a:r>
              <a:rPr lang="en-US" sz="1800" dirty="0">
                <a:solidFill>
                  <a:srgbClr val="000000"/>
                </a:solidFill>
                <a:highlight>
                  <a:srgbClr val="FFFFFF"/>
                </a:highlight>
                <a:latin typeface="Cascadia Mono" panose="020B0609020000020004" pitchFamily="49" charset="0"/>
              </a:rPr>
              <a:t> </a:t>
            </a:r>
            <a:r>
              <a:rPr lang="en-US" sz="1800" dirty="0" err="1">
                <a:solidFill>
                  <a:srgbClr val="2B91AF"/>
                </a:solidFill>
                <a:highlight>
                  <a:srgbClr val="FFFFFF"/>
                </a:highlight>
                <a:latin typeface="Cascadia Mono" panose="020B0609020000020004" pitchFamily="49" charset="0"/>
              </a:rPr>
              <a:t>ICollection</a:t>
            </a:r>
            <a:r>
              <a:rPr lang="en-US" sz="1800" dirty="0">
                <a:solidFill>
                  <a:srgbClr val="000000"/>
                </a:solidFill>
                <a:highlight>
                  <a:srgbClr val="FFFFFF"/>
                </a:highlight>
                <a:latin typeface="Cascadia Mono" panose="020B0609020000020004" pitchFamily="49" charset="0"/>
              </a:rPr>
              <a:t>&lt;</a:t>
            </a:r>
            <a:r>
              <a:rPr lang="en-US" sz="1800" dirty="0">
                <a:solidFill>
                  <a:srgbClr val="2B91AF"/>
                </a:solidFill>
                <a:highlight>
                  <a:srgbClr val="FFFFFF"/>
                </a:highlight>
                <a:latin typeface="Cascadia Mono" panose="020B0609020000020004" pitchFamily="49" charset="0"/>
              </a:rPr>
              <a:t>Product</a:t>
            </a:r>
            <a:r>
              <a:rPr lang="en-US" sz="1800" dirty="0">
                <a:solidFill>
                  <a:srgbClr val="000000"/>
                </a:solidFill>
                <a:highlight>
                  <a:srgbClr val="FFFFFF"/>
                </a:highlight>
                <a:latin typeface="Cascadia Mono" panose="020B0609020000020004" pitchFamily="49" charset="0"/>
              </a:rPr>
              <a:t>&gt; Products { </a:t>
            </a:r>
            <a:r>
              <a:rPr lang="en-US" sz="1800" dirty="0">
                <a:solidFill>
                  <a:srgbClr val="0000FF"/>
                </a:solidFill>
                <a:highlight>
                  <a:srgbClr val="FFFFFF"/>
                </a:highlight>
                <a:latin typeface="Cascadia Mono" panose="020B0609020000020004" pitchFamily="49" charset="0"/>
              </a:rPr>
              <a:t>get</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set</a:t>
            </a:r>
            <a:r>
              <a:rPr lang="en-US" sz="1800" dirty="0">
                <a:solidFill>
                  <a:srgbClr val="000000"/>
                </a:solidFill>
                <a:highlight>
                  <a:srgbClr val="FFFFFF"/>
                </a:highlight>
                <a:latin typeface="Cascadia Mono" panose="020B0609020000020004" pitchFamily="49" charset="0"/>
              </a:rPr>
              <a:t>; }</a:t>
            </a:r>
          </a:p>
          <a:p>
            <a:pPr marL="0" indent="0" algn="just">
              <a:lnSpc>
                <a:spcPct val="100000"/>
              </a:lnSpc>
              <a:spcBef>
                <a:spcPts val="600"/>
              </a:spcBef>
              <a:spcAft>
                <a:spcPts val="600"/>
              </a:spcAft>
              <a:buNone/>
            </a:pPr>
            <a:r>
              <a:rPr lang="tr-TR" sz="1800" dirty="0"/>
              <a:t>Bu kod, Table_Category tablosunun Table_Product tablosuyla ilişkisi olduğu için eklendi. Nasıl ki SQL tarafında </a:t>
            </a:r>
            <a:r>
              <a:rPr lang="tr-TR" sz="1800" dirty="0" err="1"/>
              <a:t>Diagramlar</a:t>
            </a:r>
            <a:r>
              <a:rPr lang="tr-TR" sz="1800" dirty="0"/>
              <a:t> ile foreign key primary key ilişkisini </a:t>
            </a:r>
            <a:r>
              <a:rPr lang="tr-TR" sz="1800" dirty="0" err="1"/>
              <a:t>kuruyosak</a:t>
            </a:r>
            <a:r>
              <a:rPr lang="tr-TR" sz="1800" dirty="0"/>
              <a:t>, </a:t>
            </a:r>
            <a:r>
              <a:rPr lang="tr-TR" sz="1800" dirty="0" err="1"/>
              <a:t>EntityFramework</a:t>
            </a:r>
            <a:r>
              <a:rPr lang="tr-TR" sz="1800" dirty="0"/>
              <a:t> konseptinde de birbiriyle ilişkili sütunları </a:t>
            </a:r>
            <a:r>
              <a:rPr lang="tr-TR" sz="1800" dirty="0" err="1"/>
              <a:t>Navigation</a:t>
            </a:r>
            <a:r>
              <a:rPr lang="tr-TR" sz="1800" dirty="0"/>
              <a:t> </a:t>
            </a:r>
            <a:r>
              <a:rPr lang="tr-TR" sz="1800" dirty="0" err="1"/>
              <a:t>Property</a:t>
            </a:r>
            <a:r>
              <a:rPr lang="tr-TR" sz="1800" dirty="0"/>
              <a:t> olarak adlandırılan bu özellikler üzerinden kurarız.</a:t>
            </a:r>
          </a:p>
          <a:p>
            <a:pPr marL="0" indent="0" algn="just">
              <a:lnSpc>
                <a:spcPct val="100000"/>
              </a:lnSpc>
              <a:spcBef>
                <a:spcPts val="600"/>
              </a:spcBef>
              <a:spcAft>
                <a:spcPts val="600"/>
              </a:spcAft>
              <a:buNone/>
            </a:pPr>
            <a:r>
              <a:rPr lang="tr-TR" sz="1800" dirty="0"/>
              <a:t>Bunu bir köprü gibi düşünebilirsiniz.</a:t>
            </a:r>
          </a:p>
          <a:p>
            <a:pPr marL="0" indent="0" algn="just">
              <a:lnSpc>
                <a:spcPct val="100000"/>
              </a:lnSpc>
              <a:spcBef>
                <a:spcPts val="600"/>
              </a:spcBef>
              <a:spcAft>
                <a:spcPts val="600"/>
              </a:spcAft>
              <a:buNone/>
            </a:pPr>
            <a:r>
              <a:rPr lang="tr-TR" sz="1800" dirty="0"/>
              <a:t>Sizler de, bir tablonuzu sınıf olarak tanıtırken eğer başka bir tabloyla ilişkisi varsa yukarıdaki özellikte Product yazan yerde o tablonun sınıf adını yazıp yanındaki </a:t>
            </a:r>
            <a:r>
              <a:rPr lang="tr-TR" sz="1800" dirty="0" err="1"/>
              <a:t>Products</a:t>
            </a:r>
            <a:r>
              <a:rPr lang="tr-TR" sz="1800" dirty="0"/>
              <a:t> </a:t>
            </a:r>
            <a:r>
              <a:rPr lang="tr-TR" sz="1800" dirty="0" err="1"/>
              <a:t>property’sini</a:t>
            </a:r>
            <a:r>
              <a:rPr lang="tr-TR" sz="1800" dirty="0"/>
              <a:t> de o tabloya uygun bir isim olarak verebilirsiniz.</a:t>
            </a:r>
          </a:p>
          <a:p>
            <a:pPr marL="0" indent="0" algn="just">
              <a:lnSpc>
                <a:spcPct val="100000"/>
              </a:lnSpc>
              <a:spcBef>
                <a:spcPts val="600"/>
              </a:spcBef>
              <a:spcAft>
                <a:spcPts val="600"/>
              </a:spcAft>
              <a:buNone/>
            </a:pPr>
            <a:r>
              <a:rPr lang="tr-TR" sz="1800" dirty="0"/>
              <a:t>NOT: biz henüz Table_Product tablosuna karşılık gelen Product sınıfını yazmadığımız (oluşturmadığımız) için bu kod şimdilik hata verebilir ama önemli değil. Product sınıfını tanımlayınca bu hata </a:t>
            </a:r>
            <a:r>
              <a:rPr lang="tr-TR" sz="1800" dirty="0" err="1"/>
              <a:t>gidicektir</a:t>
            </a:r>
            <a:r>
              <a:rPr lang="tr-TR" sz="1800" dirty="0"/>
              <a:t>.</a:t>
            </a:r>
          </a:p>
          <a:p>
            <a:pPr marL="0" indent="0" algn="just">
              <a:lnSpc>
                <a:spcPct val="100000"/>
              </a:lnSpc>
              <a:spcBef>
                <a:spcPts val="600"/>
              </a:spcBef>
              <a:spcAft>
                <a:spcPts val="600"/>
              </a:spcAft>
              <a:buNone/>
            </a:pPr>
            <a:endParaRPr lang="tr-TR" sz="1800" dirty="0"/>
          </a:p>
          <a:p>
            <a:pPr marL="0" indent="0" algn="just">
              <a:lnSpc>
                <a:spcPct val="100000"/>
              </a:lnSpc>
              <a:spcBef>
                <a:spcPts val="600"/>
              </a:spcBef>
              <a:spcAft>
                <a:spcPts val="600"/>
              </a:spcAft>
              <a:buNone/>
            </a:pPr>
            <a:endParaRPr lang="tr-TR" sz="1800" dirty="0"/>
          </a:p>
        </p:txBody>
      </p:sp>
    </p:spTree>
    <p:extLst>
      <p:ext uri="{BB962C8B-B14F-4D97-AF65-F5344CB8AC3E}">
        <p14:creationId xmlns:p14="http://schemas.microsoft.com/office/powerpoint/2010/main" val="208845310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1D9F7-4665-B480-9213-F80798827005}"/>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9C53DF90-71DB-F0D4-2E15-58C26C9C99DE}"/>
              </a:ext>
            </a:extLst>
          </p:cNvPr>
          <p:cNvSpPr>
            <a:spLocks noGrp="1"/>
          </p:cNvSpPr>
          <p:nvPr>
            <p:ph type="title"/>
          </p:nvPr>
        </p:nvSpPr>
        <p:spPr>
          <a:xfrm>
            <a:off x="838200" y="248495"/>
            <a:ext cx="10515600" cy="432542"/>
          </a:xfrm>
        </p:spPr>
        <p:txBody>
          <a:bodyPr>
            <a:noAutofit/>
          </a:bodyPr>
          <a:lstStyle/>
          <a:p>
            <a:pPr algn="ctr"/>
            <a:r>
              <a:rPr lang="tr-TR" sz="2800" dirty="0"/>
              <a:t>Table_Category için Category Sınıfı</a:t>
            </a:r>
          </a:p>
        </p:txBody>
      </p:sp>
      <p:sp>
        <p:nvSpPr>
          <p:cNvPr id="3" name="İçerik Yer Tutucusu 2">
            <a:extLst>
              <a:ext uri="{FF2B5EF4-FFF2-40B4-BE49-F238E27FC236}">
                <a16:creationId xmlns:a16="http://schemas.microsoft.com/office/drawing/2014/main" id="{09A5065F-6DA5-8E20-94BA-B1CEA646EE2A}"/>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NOT: using System bloklarına, görseldeki kırmızı alanda yer alan kodlar siz de yoksa bunları yazmalısınız.</a:t>
            </a:r>
          </a:p>
          <a:p>
            <a:pPr marL="0" indent="0" algn="just">
              <a:lnSpc>
                <a:spcPct val="100000"/>
              </a:lnSpc>
              <a:spcBef>
                <a:spcPts val="600"/>
              </a:spcBef>
              <a:spcAft>
                <a:spcPts val="600"/>
              </a:spcAft>
              <a:buNone/>
            </a:pPr>
            <a:endParaRPr lang="tr-TR" sz="1800" dirty="0"/>
          </a:p>
        </p:txBody>
      </p:sp>
      <p:pic>
        <p:nvPicPr>
          <p:cNvPr id="5" name="Resim 4" descr="metin, elektronik donanım, ekran görüntüsü, yazılım içeren bir resim&#10;&#10;Yapay zeka tarafından oluşturulan içerik yanlış olabilir.">
            <a:extLst>
              <a:ext uri="{FF2B5EF4-FFF2-40B4-BE49-F238E27FC236}">
                <a16:creationId xmlns:a16="http://schemas.microsoft.com/office/drawing/2014/main" id="{DD12288E-642A-35C7-7861-C0A87392C2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56438" y="1344749"/>
            <a:ext cx="6329196" cy="5229713"/>
          </a:xfrm>
          <a:prstGeom prst="rect">
            <a:avLst/>
          </a:prstGeom>
        </p:spPr>
      </p:pic>
    </p:spTree>
    <p:extLst>
      <p:ext uri="{BB962C8B-B14F-4D97-AF65-F5344CB8AC3E}">
        <p14:creationId xmlns:p14="http://schemas.microsoft.com/office/powerpoint/2010/main" val="67010594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73091-5DC2-6306-236A-EC4932E7A3C9}"/>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CFA34445-4D9A-0DCA-32BD-C12321E24E4B}"/>
              </a:ext>
            </a:extLst>
          </p:cNvPr>
          <p:cNvSpPr>
            <a:spLocks noGrp="1"/>
          </p:cNvSpPr>
          <p:nvPr>
            <p:ph type="title"/>
          </p:nvPr>
        </p:nvSpPr>
        <p:spPr>
          <a:xfrm>
            <a:off x="838200" y="248495"/>
            <a:ext cx="10515600" cy="432542"/>
          </a:xfrm>
        </p:spPr>
        <p:txBody>
          <a:bodyPr>
            <a:noAutofit/>
          </a:bodyPr>
          <a:lstStyle/>
          <a:p>
            <a:pPr algn="ctr"/>
            <a:r>
              <a:rPr lang="tr-TR" sz="2800" dirty="0"/>
              <a:t>Table_Product için Product sınıfı</a:t>
            </a:r>
          </a:p>
        </p:txBody>
      </p:sp>
      <p:sp>
        <p:nvSpPr>
          <p:cNvPr id="3" name="İçerik Yer Tutucusu 2">
            <a:extLst>
              <a:ext uri="{FF2B5EF4-FFF2-40B4-BE49-F238E27FC236}">
                <a16:creationId xmlns:a16="http://schemas.microsoft.com/office/drawing/2014/main" id="{B379A340-5762-AEAB-185E-0BD4A289834B}"/>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Table_Product tablosunun SQL tarafındaki sütun ve  veri tipleri aşağıdaki gibiydi. C# tarafında Product sınıfı tanımlarken (Ekle-&gt;Sınıf dedikten sonra Product ismini veriyoruz sınıfımıza) bu bilgilere ihtiyacımız olacak.</a:t>
            </a:r>
          </a:p>
          <a:p>
            <a:pPr marL="0" indent="0" algn="just">
              <a:lnSpc>
                <a:spcPct val="100000"/>
              </a:lnSpc>
              <a:spcBef>
                <a:spcPts val="600"/>
              </a:spcBef>
              <a:spcAft>
                <a:spcPts val="600"/>
              </a:spcAft>
              <a:buNone/>
            </a:pPr>
            <a:endParaRPr lang="tr-TR" sz="1800" dirty="0"/>
          </a:p>
        </p:txBody>
      </p:sp>
      <p:pic>
        <p:nvPicPr>
          <p:cNvPr id="5" name="Resim 4" descr="metin, ekran görüntüsü, çizgi, yazı tipi içeren bir resim&#10;&#10;Yapay zeka tarafından oluşturulan içerik yanlış olabilir.">
            <a:extLst>
              <a:ext uri="{FF2B5EF4-FFF2-40B4-BE49-F238E27FC236}">
                <a16:creationId xmlns:a16="http://schemas.microsoft.com/office/drawing/2014/main" id="{3D8B89FD-7779-BC81-C565-15689F60D4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49558" y="2861274"/>
            <a:ext cx="8892884" cy="1568486"/>
          </a:xfrm>
          <a:prstGeom prst="rect">
            <a:avLst/>
          </a:prstGeom>
        </p:spPr>
      </p:pic>
    </p:spTree>
    <p:extLst>
      <p:ext uri="{BB962C8B-B14F-4D97-AF65-F5344CB8AC3E}">
        <p14:creationId xmlns:p14="http://schemas.microsoft.com/office/powerpoint/2010/main" val="138719257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6576F8-1E2F-52CA-6D63-6E0EF6E713F6}"/>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4A808C5D-307F-4992-0F00-1B27B98C5B4C}"/>
              </a:ext>
            </a:extLst>
          </p:cNvPr>
          <p:cNvSpPr>
            <a:spLocks noGrp="1"/>
          </p:cNvSpPr>
          <p:nvPr>
            <p:ph type="title"/>
          </p:nvPr>
        </p:nvSpPr>
        <p:spPr>
          <a:xfrm>
            <a:off x="838200" y="248495"/>
            <a:ext cx="10515600" cy="432542"/>
          </a:xfrm>
        </p:spPr>
        <p:txBody>
          <a:bodyPr>
            <a:noAutofit/>
          </a:bodyPr>
          <a:lstStyle/>
          <a:p>
            <a:pPr algn="ctr"/>
            <a:r>
              <a:rPr lang="tr-TR" sz="2800" dirty="0"/>
              <a:t>Table_Product için Product sınıfı</a:t>
            </a:r>
          </a:p>
        </p:txBody>
      </p:sp>
      <p:sp>
        <p:nvSpPr>
          <p:cNvPr id="3" name="İçerik Yer Tutucusu 2">
            <a:extLst>
              <a:ext uri="{FF2B5EF4-FFF2-40B4-BE49-F238E27FC236}">
                <a16:creationId xmlns:a16="http://schemas.microsoft.com/office/drawing/2014/main" id="{880D314A-D751-F0B4-11D7-0CB9BDD90514}"/>
              </a:ext>
            </a:extLst>
          </p:cNvPr>
          <p:cNvSpPr>
            <a:spLocks noGrp="1"/>
          </p:cNvSpPr>
          <p:nvPr>
            <p:ph idx="1"/>
          </p:nvPr>
        </p:nvSpPr>
        <p:spPr>
          <a:xfrm>
            <a:off x="838200" y="846306"/>
            <a:ext cx="10515600" cy="5885234"/>
          </a:xfrm>
        </p:spPr>
        <p:txBody>
          <a:bodyPr>
            <a:normAutofit fontScale="85000" lnSpcReduction="20000"/>
          </a:bodyPr>
          <a:lstStyle/>
          <a:p>
            <a:pPr marL="0" indent="0" algn="just">
              <a:lnSpc>
                <a:spcPct val="100000"/>
              </a:lnSpc>
              <a:spcBef>
                <a:spcPts val="600"/>
              </a:spcBef>
              <a:spcAft>
                <a:spcPts val="600"/>
              </a:spcAft>
              <a:buNone/>
            </a:pPr>
            <a:r>
              <a:rPr lang="tr-TR" sz="1800" dirty="0"/>
              <a:t>C# tarafında Table_Product tablosu için eklediğimiz Product sınıfının kodları da aşağıdaki gibi olmalıdır:</a:t>
            </a:r>
          </a:p>
          <a:p>
            <a:pPr marL="0" indent="0">
              <a:buNone/>
            </a:pPr>
            <a:r>
              <a:rPr lang="tr-TR" sz="1800" dirty="0">
                <a:solidFill>
                  <a:srgbClr val="000000"/>
                </a:solidFill>
                <a:highlight>
                  <a:srgbClr val="FFFFFF"/>
                </a:highlight>
                <a:latin typeface="Cascadia Mono" panose="020B0609020000020004" pitchFamily="49" charset="0"/>
              </a:rPr>
              <a:t>[</a:t>
            </a:r>
            <a:r>
              <a:rPr lang="tr-TR" sz="1800" dirty="0">
                <a:solidFill>
                  <a:srgbClr val="2B91AF"/>
                </a:solidFill>
                <a:highlight>
                  <a:srgbClr val="FFFFFF"/>
                </a:highlight>
                <a:latin typeface="Cascadia Mono" panose="020B0609020000020004" pitchFamily="49" charset="0"/>
              </a:rPr>
              <a:t>Table</a:t>
            </a:r>
            <a:r>
              <a:rPr lang="tr-TR" sz="1800" dirty="0">
                <a:solidFill>
                  <a:srgbClr val="000000"/>
                </a:solidFill>
                <a:highlight>
                  <a:srgbClr val="FFFFFF"/>
                </a:highlight>
                <a:latin typeface="Cascadia Mono" panose="020B0609020000020004" pitchFamily="49" charset="0"/>
              </a:rPr>
              <a:t>(</a:t>
            </a:r>
            <a:r>
              <a:rPr lang="tr-TR" sz="1800" dirty="0">
                <a:solidFill>
                  <a:srgbClr val="A31515"/>
                </a:solidFill>
                <a:highlight>
                  <a:srgbClr val="FFFFFF"/>
                </a:highlight>
                <a:latin typeface="Cascadia Mono" panose="020B0609020000020004" pitchFamily="49" charset="0"/>
              </a:rPr>
              <a:t>"Table_Product"</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err="1">
                <a:solidFill>
                  <a:srgbClr val="0000FF"/>
                </a:solidFill>
                <a:highlight>
                  <a:srgbClr val="FFFFFF"/>
                </a:highlight>
                <a:latin typeface="Cascadia Mono" panose="020B0609020000020004" pitchFamily="49" charset="0"/>
              </a:rPr>
              <a:t>internal</a:t>
            </a:r>
            <a:r>
              <a:rPr lang="tr-TR" sz="1800" dirty="0">
                <a:solidFill>
                  <a:srgbClr val="000000"/>
                </a:solidFill>
                <a:highlight>
                  <a:srgbClr val="FFFFFF"/>
                </a:highlight>
                <a:latin typeface="Cascadia Mono" panose="020B0609020000020004" pitchFamily="49" charset="0"/>
              </a:rPr>
              <a:t> </a:t>
            </a:r>
            <a:r>
              <a:rPr lang="tr-TR" sz="1800" dirty="0">
                <a:solidFill>
                  <a:srgbClr val="0000FF"/>
                </a:solidFill>
                <a:highlight>
                  <a:srgbClr val="FFFFFF"/>
                </a:highlight>
                <a:latin typeface="Cascadia Mono" panose="020B0609020000020004" pitchFamily="49" charset="0"/>
              </a:rPr>
              <a:t>class</a:t>
            </a:r>
            <a:r>
              <a:rPr lang="tr-TR" sz="1800" dirty="0">
                <a:solidFill>
                  <a:srgbClr val="000000"/>
                </a:solidFill>
                <a:highlight>
                  <a:srgbClr val="FFFFFF"/>
                </a:highlight>
                <a:latin typeface="Cascadia Mono" panose="020B0609020000020004" pitchFamily="49" charset="0"/>
              </a:rPr>
              <a:t> </a:t>
            </a:r>
            <a:r>
              <a:rPr lang="tr-TR" sz="1800" dirty="0">
                <a:solidFill>
                  <a:srgbClr val="2B91AF"/>
                </a:solidFill>
                <a:highlight>
                  <a:srgbClr val="FFFFFF"/>
                </a:highlight>
                <a:latin typeface="Cascadia Mono" panose="020B0609020000020004" pitchFamily="49" charset="0"/>
              </a:rPr>
              <a:t>Product</a:t>
            </a:r>
          </a:p>
          <a:p>
            <a:pPr marL="0" indent="0">
              <a:buNone/>
            </a:pP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a:solidFill>
                  <a:srgbClr val="2B91AF"/>
                </a:solidFill>
                <a:highlight>
                  <a:srgbClr val="FFFFFF"/>
                </a:highlight>
                <a:latin typeface="Cascadia Mono" panose="020B0609020000020004" pitchFamily="49" charset="0"/>
              </a:rPr>
              <a:t>Key</a:t>
            </a:r>
            <a:r>
              <a:rPr lang="tr-TR" sz="1800" dirty="0">
                <a:solidFill>
                  <a:srgbClr val="000000"/>
                </a:solidFill>
                <a:highlight>
                  <a:srgbClr val="FFFFFF"/>
                </a:highlight>
                <a:latin typeface="Cascadia Mono" panose="020B0609020000020004" pitchFamily="49" charset="0"/>
              </a:rPr>
              <a:t>]</a:t>
            </a:r>
          </a:p>
          <a:p>
            <a:pPr marL="0" indent="0">
              <a:buNone/>
            </a:pP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public</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int</a:t>
            </a:r>
            <a:r>
              <a:rPr lang="en-US" sz="1800" dirty="0">
                <a:solidFill>
                  <a:srgbClr val="000000"/>
                </a:solidFill>
                <a:highlight>
                  <a:srgbClr val="FFFFFF"/>
                </a:highlight>
                <a:latin typeface="Cascadia Mono" panose="020B0609020000020004" pitchFamily="49" charset="0"/>
              </a:rPr>
              <a:t> </a:t>
            </a:r>
            <a:r>
              <a:rPr lang="en-US" sz="1800" dirty="0" err="1">
                <a:solidFill>
                  <a:srgbClr val="000000"/>
                </a:solidFill>
                <a:highlight>
                  <a:srgbClr val="FFFFFF"/>
                </a:highlight>
                <a:latin typeface="Cascadia Mono" panose="020B0609020000020004" pitchFamily="49" charset="0"/>
              </a:rPr>
              <a:t>Product_Id</a:t>
            </a:r>
            <a:r>
              <a:rPr lang="en-US" sz="1800" dirty="0">
                <a:solidFill>
                  <a:srgbClr val="000000"/>
                </a:solidFill>
                <a:highlight>
                  <a:srgbClr val="FFFFFF"/>
                </a:highlight>
                <a:latin typeface="Cascadia Mono" panose="020B0609020000020004" pitchFamily="49" charset="0"/>
              </a:rPr>
              <a:t> { </a:t>
            </a:r>
            <a:r>
              <a:rPr lang="en-US" sz="1800" dirty="0">
                <a:solidFill>
                  <a:srgbClr val="0000FF"/>
                </a:solidFill>
                <a:highlight>
                  <a:srgbClr val="FFFFFF"/>
                </a:highlight>
                <a:latin typeface="Cascadia Mono" panose="020B0609020000020004" pitchFamily="49" charset="0"/>
              </a:rPr>
              <a:t>get</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set</a:t>
            </a:r>
            <a:r>
              <a:rPr lang="en-US" sz="1800" dirty="0">
                <a:solidFill>
                  <a:srgbClr val="000000"/>
                </a:solidFill>
                <a:highlight>
                  <a:srgbClr val="FFFFFF"/>
                </a:highlight>
                <a:latin typeface="Cascadia Mono" panose="020B0609020000020004" pitchFamily="49" charset="0"/>
              </a:rPr>
              <a:t>; }</a:t>
            </a:r>
          </a:p>
          <a:p>
            <a:pPr marL="0" indent="0">
              <a:buNone/>
            </a:pPr>
            <a:endParaRPr lang="tr-TR" sz="1800" dirty="0">
              <a:solidFill>
                <a:srgbClr val="000000"/>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Required</a:t>
            </a: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MaxLength</a:t>
            </a:r>
            <a:r>
              <a:rPr lang="tr-TR" sz="1800" dirty="0">
                <a:solidFill>
                  <a:srgbClr val="000000"/>
                </a:solidFill>
                <a:highlight>
                  <a:srgbClr val="FFFFFF"/>
                </a:highlight>
                <a:latin typeface="Cascadia Mono" panose="020B0609020000020004" pitchFamily="49" charset="0"/>
              </a:rPr>
              <a:t>(50)]</a:t>
            </a:r>
          </a:p>
          <a:p>
            <a:pPr marL="0" indent="0">
              <a:buNone/>
            </a:pP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public</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string</a:t>
            </a:r>
            <a:r>
              <a:rPr lang="en-US" sz="1800" dirty="0">
                <a:solidFill>
                  <a:srgbClr val="000000"/>
                </a:solidFill>
                <a:highlight>
                  <a:srgbClr val="FFFFFF"/>
                </a:highlight>
                <a:latin typeface="Cascadia Mono" panose="020B0609020000020004" pitchFamily="49" charset="0"/>
              </a:rPr>
              <a:t> </a:t>
            </a:r>
            <a:r>
              <a:rPr lang="en-US" sz="1800" dirty="0" err="1">
                <a:solidFill>
                  <a:srgbClr val="000000"/>
                </a:solidFill>
                <a:highlight>
                  <a:srgbClr val="FFFFFF"/>
                </a:highlight>
                <a:latin typeface="Cascadia Mono" panose="020B0609020000020004" pitchFamily="49" charset="0"/>
              </a:rPr>
              <a:t>Product_Name</a:t>
            </a:r>
            <a:r>
              <a:rPr lang="en-US" sz="1800" dirty="0">
                <a:solidFill>
                  <a:srgbClr val="000000"/>
                </a:solidFill>
                <a:highlight>
                  <a:srgbClr val="FFFFFF"/>
                </a:highlight>
                <a:latin typeface="Cascadia Mono" panose="020B0609020000020004" pitchFamily="49" charset="0"/>
              </a:rPr>
              <a:t> { </a:t>
            </a:r>
            <a:r>
              <a:rPr lang="en-US" sz="1800" dirty="0">
                <a:solidFill>
                  <a:srgbClr val="0000FF"/>
                </a:solidFill>
                <a:highlight>
                  <a:srgbClr val="FFFFFF"/>
                </a:highlight>
                <a:latin typeface="Cascadia Mono" panose="020B0609020000020004" pitchFamily="49" charset="0"/>
              </a:rPr>
              <a:t>get</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set</a:t>
            </a:r>
            <a:r>
              <a:rPr lang="en-US" sz="1800" dirty="0">
                <a:solidFill>
                  <a:srgbClr val="000000"/>
                </a:solidFill>
                <a:highlight>
                  <a:srgbClr val="FFFFFF"/>
                </a:highlight>
                <a:latin typeface="Cascadia Mono" panose="020B0609020000020004" pitchFamily="49" charset="0"/>
              </a:rPr>
              <a:t>; }</a:t>
            </a:r>
          </a:p>
          <a:p>
            <a:pPr marL="0" indent="0">
              <a:buNone/>
            </a:pPr>
            <a:endParaRPr lang="tr-TR" sz="1800" dirty="0">
              <a:solidFill>
                <a:srgbClr val="000000"/>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Required</a:t>
            </a:r>
            <a:r>
              <a:rPr lang="tr-TR" sz="1800" dirty="0">
                <a:solidFill>
                  <a:srgbClr val="000000"/>
                </a:solidFill>
                <a:highlight>
                  <a:srgbClr val="FFFFFF"/>
                </a:highlight>
                <a:latin typeface="Cascadia Mono" panose="020B0609020000020004" pitchFamily="49" charset="0"/>
              </a:rPr>
              <a:t>]</a:t>
            </a:r>
          </a:p>
          <a:p>
            <a:pPr marL="0" indent="0">
              <a:buNone/>
            </a:pP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public</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decimal</a:t>
            </a:r>
            <a:r>
              <a:rPr lang="en-US" sz="1800" dirty="0">
                <a:solidFill>
                  <a:srgbClr val="000000"/>
                </a:solidFill>
                <a:highlight>
                  <a:srgbClr val="FFFFFF"/>
                </a:highlight>
                <a:latin typeface="Cascadia Mono" panose="020B0609020000020004" pitchFamily="49" charset="0"/>
              </a:rPr>
              <a:t> </a:t>
            </a:r>
            <a:r>
              <a:rPr lang="en-US" sz="1800" dirty="0" err="1">
                <a:solidFill>
                  <a:srgbClr val="000000"/>
                </a:solidFill>
                <a:highlight>
                  <a:srgbClr val="FFFFFF"/>
                </a:highlight>
                <a:latin typeface="Cascadia Mono" panose="020B0609020000020004" pitchFamily="49" charset="0"/>
              </a:rPr>
              <a:t>Product_Price</a:t>
            </a:r>
            <a:r>
              <a:rPr lang="en-US" sz="1800" dirty="0">
                <a:solidFill>
                  <a:srgbClr val="000000"/>
                </a:solidFill>
                <a:highlight>
                  <a:srgbClr val="FFFFFF"/>
                </a:highlight>
                <a:latin typeface="Cascadia Mono" panose="020B0609020000020004" pitchFamily="49" charset="0"/>
              </a:rPr>
              <a:t> { </a:t>
            </a:r>
            <a:r>
              <a:rPr lang="en-US" sz="1800" dirty="0">
                <a:solidFill>
                  <a:srgbClr val="0000FF"/>
                </a:solidFill>
                <a:highlight>
                  <a:srgbClr val="FFFFFF"/>
                </a:highlight>
                <a:latin typeface="Cascadia Mono" panose="020B0609020000020004" pitchFamily="49" charset="0"/>
              </a:rPr>
              <a:t>get</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set</a:t>
            </a:r>
            <a:r>
              <a:rPr lang="en-US" sz="1800" dirty="0">
                <a:solidFill>
                  <a:srgbClr val="000000"/>
                </a:solidFill>
                <a:highlight>
                  <a:srgbClr val="FFFFFF"/>
                </a:highlight>
                <a:latin typeface="Cascadia Mono" panose="020B0609020000020004" pitchFamily="49" charset="0"/>
              </a:rPr>
              <a:t>; }</a:t>
            </a:r>
          </a:p>
          <a:p>
            <a:pPr marL="0" indent="0">
              <a:buNone/>
            </a:pPr>
            <a:endParaRPr lang="tr-TR" sz="1800" dirty="0">
              <a:solidFill>
                <a:srgbClr val="000000"/>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ForeignKey</a:t>
            </a:r>
            <a:r>
              <a:rPr lang="tr-TR" sz="1800" dirty="0">
                <a:solidFill>
                  <a:srgbClr val="000000"/>
                </a:solidFill>
                <a:highlight>
                  <a:srgbClr val="FFFFFF"/>
                </a:highlight>
                <a:latin typeface="Cascadia Mono" panose="020B0609020000020004" pitchFamily="49" charset="0"/>
              </a:rPr>
              <a:t>(</a:t>
            </a:r>
            <a:r>
              <a:rPr lang="tr-TR" sz="1800" dirty="0">
                <a:solidFill>
                  <a:srgbClr val="A31515"/>
                </a:solidFill>
                <a:highlight>
                  <a:srgbClr val="FFFFFF"/>
                </a:highlight>
                <a:latin typeface="Cascadia Mono" panose="020B0609020000020004" pitchFamily="49" charset="0"/>
              </a:rPr>
              <a:t>"Category"</a:t>
            </a:r>
            <a:r>
              <a:rPr lang="tr-TR" sz="1800" dirty="0">
                <a:solidFill>
                  <a:srgbClr val="000000"/>
                </a:solidFill>
                <a:highlight>
                  <a:srgbClr val="FFFFFF"/>
                </a:highlight>
                <a:latin typeface="Cascadia Mono" panose="020B0609020000020004" pitchFamily="49" charset="0"/>
              </a:rPr>
              <a:t>)]</a:t>
            </a:r>
          </a:p>
          <a:p>
            <a:pPr marL="0" indent="0">
              <a:buNone/>
            </a:pP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public</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int</a:t>
            </a:r>
            <a:r>
              <a:rPr lang="en-US" sz="1800" dirty="0">
                <a:solidFill>
                  <a:srgbClr val="000000"/>
                </a:solidFill>
                <a:highlight>
                  <a:srgbClr val="FFFFFF"/>
                </a:highlight>
                <a:latin typeface="Cascadia Mono" panose="020B0609020000020004" pitchFamily="49" charset="0"/>
              </a:rPr>
              <a:t> </a:t>
            </a:r>
            <a:r>
              <a:rPr lang="en-US" sz="1800" dirty="0" err="1">
                <a:solidFill>
                  <a:srgbClr val="000000"/>
                </a:solidFill>
                <a:highlight>
                  <a:srgbClr val="FFFFFF"/>
                </a:highlight>
                <a:latin typeface="Cascadia Mono" panose="020B0609020000020004" pitchFamily="49" charset="0"/>
              </a:rPr>
              <a:t>Category_Id</a:t>
            </a:r>
            <a:r>
              <a:rPr lang="en-US" sz="1800" dirty="0">
                <a:solidFill>
                  <a:srgbClr val="000000"/>
                </a:solidFill>
                <a:highlight>
                  <a:srgbClr val="FFFFFF"/>
                </a:highlight>
                <a:latin typeface="Cascadia Mono" panose="020B0609020000020004" pitchFamily="49" charset="0"/>
              </a:rPr>
              <a:t> { </a:t>
            </a:r>
            <a:r>
              <a:rPr lang="en-US" sz="1800" dirty="0">
                <a:solidFill>
                  <a:srgbClr val="0000FF"/>
                </a:solidFill>
                <a:highlight>
                  <a:srgbClr val="FFFFFF"/>
                </a:highlight>
                <a:latin typeface="Cascadia Mono" panose="020B0609020000020004" pitchFamily="49" charset="0"/>
              </a:rPr>
              <a:t>get</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set</a:t>
            </a:r>
            <a:r>
              <a:rPr lang="en-US" sz="1800" dirty="0">
                <a:solidFill>
                  <a:srgbClr val="000000"/>
                </a:solidFill>
                <a:highlight>
                  <a:srgbClr val="FFFFFF"/>
                </a:highlight>
                <a:latin typeface="Cascadia Mono" panose="020B0609020000020004" pitchFamily="49" charset="0"/>
              </a:rPr>
              <a:t>; }</a:t>
            </a:r>
          </a:p>
          <a:p>
            <a:pPr marL="0" indent="0">
              <a:buNone/>
            </a:pPr>
            <a:endParaRPr lang="tr-TR" sz="1800" dirty="0">
              <a:solidFill>
                <a:srgbClr val="000000"/>
              </a:solidFill>
              <a:highlight>
                <a:srgbClr val="FFFFFF"/>
              </a:highlight>
              <a:latin typeface="Cascadia Mono" panose="020B0609020000020004" pitchFamily="49" charset="0"/>
            </a:endParaRPr>
          </a:p>
          <a:p>
            <a:pPr marL="0" indent="0">
              <a:buNone/>
            </a:pP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public</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virtual</a:t>
            </a:r>
            <a:r>
              <a:rPr lang="en-US" sz="1800" dirty="0">
                <a:solidFill>
                  <a:srgbClr val="000000"/>
                </a:solidFill>
                <a:highlight>
                  <a:srgbClr val="FFFFFF"/>
                </a:highlight>
                <a:latin typeface="Cascadia Mono" panose="020B0609020000020004" pitchFamily="49" charset="0"/>
              </a:rPr>
              <a:t> </a:t>
            </a:r>
            <a:r>
              <a:rPr lang="en-US" sz="1800" dirty="0">
                <a:solidFill>
                  <a:srgbClr val="2B91AF"/>
                </a:solidFill>
                <a:highlight>
                  <a:srgbClr val="FFFFFF"/>
                </a:highlight>
                <a:latin typeface="Cascadia Mono" panose="020B0609020000020004" pitchFamily="49" charset="0"/>
              </a:rPr>
              <a:t>Category</a:t>
            </a:r>
            <a:r>
              <a:rPr lang="en-US" sz="1800" dirty="0">
                <a:solidFill>
                  <a:srgbClr val="000000"/>
                </a:solidFill>
                <a:highlight>
                  <a:srgbClr val="FFFFFF"/>
                </a:highlight>
                <a:latin typeface="Cascadia Mono" panose="020B0609020000020004" pitchFamily="49" charset="0"/>
              </a:rPr>
              <a:t> </a:t>
            </a:r>
            <a:r>
              <a:rPr lang="en-US" sz="1800" dirty="0" err="1">
                <a:solidFill>
                  <a:srgbClr val="000000"/>
                </a:solidFill>
                <a:highlight>
                  <a:srgbClr val="FFFFFF"/>
                </a:highlight>
                <a:latin typeface="Cascadia Mono" panose="020B0609020000020004" pitchFamily="49" charset="0"/>
              </a:rPr>
              <a:t>Category</a:t>
            </a:r>
            <a:r>
              <a:rPr lang="en-US" sz="1800" dirty="0">
                <a:solidFill>
                  <a:srgbClr val="000000"/>
                </a:solidFill>
                <a:highlight>
                  <a:srgbClr val="FFFFFF"/>
                </a:highlight>
                <a:latin typeface="Cascadia Mono" panose="020B0609020000020004" pitchFamily="49" charset="0"/>
              </a:rPr>
              <a:t> { </a:t>
            </a:r>
            <a:r>
              <a:rPr lang="en-US" sz="1800" dirty="0">
                <a:solidFill>
                  <a:srgbClr val="0000FF"/>
                </a:solidFill>
                <a:highlight>
                  <a:srgbClr val="FFFFFF"/>
                </a:highlight>
                <a:latin typeface="Cascadia Mono" panose="020B0609020000020004" pitchFamily="49" charset="0"/>
              </a:rPr>
              <a:t>get</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set</a:t>
            </a:r>
            <a:r>
              <a:rPr lang="en-US" sz="1800" dirty="0">
                <a:solidFill>
                  <a:srgbClr val="000000"/>
                </a:solidFill>
                <a:highlight>
                  <a:srgbClr val="FFFFFF"/>
                </a:highlight>
                <a:latin typeface="Cascadia Mono" panose="020B0609020000020004" pitchFamily="49" charset="0"/>
              </a:rPr>
              <a:t>; }</a:t>
            </a:r>
          </a:p>
          <a:p>
            <a:pPr marL="0" indent="0">
              <a:buNone/>
            </a:pP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public</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virtual</a:t>
            </a:r>
            <a:r>
              <a:rPr lang="en-US" sz="1800" dirty="0">
                <a:solidFill>
                  <a:srgbClr val="000000"/>
                </a:solidFill>
                <a:highlight>
                  <a:srgbClr val="FFFFFF"/>
                </a:highlight>
                <a:latin typeface="Cascadia Mono" panose="020B0609020000020004" pitchFamily="49" charset="0"/>
              </a:rPr>
              <a:t> </a:t>
            </a:r>
            <a:r>
              <a:rPr lang="en-US" sz="1800" dirty="0" err="1">
                <a:solidFill>
                  <a:srgbClr val="2B91AF"/>
                </a:solidFill>
                <a:highlight>
                  <a:srgbClr val="FFFFFF"/>
                </a:highlight>
                <a:latin typeface="Cascadia Mono" panose="020B0609020000020004" pitchFamily="49" charset="0"/>
              </a:rPr>
              <a:t>ICollection</a:t>
            </a:r>
            <a:r>
              <a:rPr lang="en-US" sz="1800" dirty="0">
                <a:solidFill>
                  <a:srgbClr val="000000"/>
                </a:solidFill>
                <a:highlight>
                  <a:srgbClr val="FFFFFF"/>
                </a:highlight>
                <a:latin typeface="Cascadia Mono" panose="020B0609020000020004" pitchFamily="49" charset="0"/>
              </a:rPr>
              <a:t>&lt;</a:t>
            </a:r>
            <a:r>
              <a:rPr lang="en-US" sz="1800" dirty="0" err="1">
                <a:solidFill>
                  <a:srgbClr val="2B91AF"/>
                </a:solidFill>
                <a:highlight>
                  <a:srgbClr val="FFFFFF"/>
                </a:highlight>
                <a:latin typeface="Cascadia Mono" panose="020B0609020000020004" pitchFamily="49" charset="0"/>
              </a:rPr>
              <a:t>CustomerProduct</a:t>
            </a:r>
            <a:r>
              <a:rPr lang="en-US" sz="1800" dirty="0">
                <a:solidFill>
                  <a:srgbClr val="000000"/>
                </a:solidFill>
                <a:highlight>
                  <a:srgbClr val="FFFFFF"/>
                </a:highlight>
                <a:latin typeface="Cascadia Mono" panose="020B0609020000020004" pitchFamily="49" charset="0"/>
              </a:rPr>
              <a:t>&gt; </a:t>
            </a:r>
            <a:r>
              <a:rPr lang="en-US" sz="1800" dirty="0" err="1">
                <a:solidFill>
                  <a:srgbClr val="000000"/>
                </a:solidFill>
                <a:highlight>
                  <a:srgbClr val="FFFFFF"/>
                </a:highlight>
                <a:latin typeface="Cascadia Mono" panose="020B0609020000020004" pitchFamily="49" charset="0"/>
              </a:rPr>
              <a:t>CustomerProducts</a:t>
            </a:r>
            <a:r>
              <a:rPr lang="en-US" sz="1800" dirty="0">
                <a:solidFill>
                  <a:srgbClr val="000000"/>
                </a:solidFill>
                <a:highlight>
                  <a:srgbClr val="FFFFFF"/>
                </a:highlight>
                <a:latin typeface="Cascadia Mono" panose="020B0609020000020004" pitchFamily="49" charset="0"/>
              </a:rPr>
              <a:t> { </a:t>
            </a:r>
            <a:r>
              <a:rPr lang="en-US" sz="1800" dirty="0">
                <a:solidFill>
                  <a:srgbClr val="0000FF"/>
                </a:solidFill>
                <a:highlight>
                  <a:srgbClr val="FFFFFF"/>
                </a:highlight>
                <a:latin typeface="Cascadia Mono" panose="020B0609020000020004" pitchFamily="49" charset="0"/>
              </a:rPr>
              <a:t>get</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set</a:t>
            </a:r>
            <a:r>
              <a:rPr lang="en-US" sz="1800" dirty="0">
                <a:solidFill>
                  <a:srgbClr val="000000"/>
                </a:solidFill>
                <a:highlight>
                  <a:srgbClr val="FFFFFF"/>
                </a:highlight>
                <a:latin typeface="Cascadia Mono" panose="020B0609020000020004" pitchFamily="49" charset="0"/>
              </a:rPr>
              <a:t>; }</a:t>
            </a:r>
          </a:p>
          <a:p>
            <a:pPr marL="0" indent="0">
              <a:buNone/>
            </a:pPr>
            <a:r>
              <a:rPr lang="tr-TR" sz="1800" dirty="0">
                <a:solidFill>
                  <a:srgbClr val="000000"/>
                </a:solidFill>
                <a:highlight>
                  <a:srgbClr val="FFFFFF"/>
                </a:highlight>
                <a:latin typeface="Cascadia Mono" panose="020B0609020000020004" pitchFamily="49" charset="0"/>
              </a:rPr>
              <a:t>}</a:t>
            </a:r>
            <a:endParaRPr lang="tr-TR" sz="1800" dirty="0"/>
          </a:p>
        </p:txBody>
      </p:sp>
    </p:spTree>
    <p:extLst>
      <p:ext uri="{BB962C8B-B14F-4D97-AF65-F5344CB8AC3E}">
        <p14:creationId xmlns:p14="http://schemas.microsoft.com/office/powerpoint/2010/main" val="365763814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CC226-B63E-2870-2E65-47BB7C6B5746}"/>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33F08FCF-788B-03F4-9D32-58BB3AD1FD06}"/>
              </a:ext>
            </a:extLst>
          </p:cNvPr>
          <p:cNvSpPr>
            <a:spLocks noGrp="1"/>
          </p:cNvSpPr>
          <p:nvPr>
            <p:ph type="title"/>
          </p:nvPr>
        </p:nvSpPr>
        <p:spPr>
          <a:xfrm>
            <a:off x="838200" y="248495"/>
            <a:ext cx="10515600" cy="432542"/>
          </a:xfrm>
        </p:spPr>
        <p:txBody>
          <a:bodyPr>
            <a:noAutofit/>
          </a:bodyPr>
          <a:lstStyle/>
          <a:p>
            <a:pPr algn="ctr"/>
            <a:r>
              <a:rPr lang="tr-TR" sz="2800" dirty="0"/>
              <a:t>Table_Product için Product sınıfı</a:t>
            </a:r>
          </a:p>
        </p:txBody>
      </p:sp>
      <p:sp>
        <p:nvSpPr>
          <p:cNvPr id="3" name="İçerik Yer Tutucusu 2">
            <a:extLst>
              <a:ext uri="{FF2B5EF4-FFF2-40B4-BE49-F238E27FC236}">
                <a16:creationId xmlns:a16="http://schemas.microsoft.com/office/drawing/2014/main" id="{2B521562-3E6B-218B-89D2-957078D74142}"/>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Product sınıfı Table_Product tablosuna karşılık geliyor. Table_Product tablosunun 2 tabloyla ilişkisi vardı. Bunlar: Table_Category ve </a:t>
            </a:r>
            <a:r>
              <a:rPr lang="tr-TR" sz="1800" dirty="0" err="1"/>
              <a:t>Table_CustomerProduct</a:t>
            </a:r>
            <a:r>
              <a:rPr lang="tr-TR" sz="1800" dirty="0"/>
              <a:t>.</a:t>
            </a:r>
          </a:p>
          <a:p>
            <a:pPr marL="0" indent="0" algn="just">
              <a:lnSpc>
                <a:spcPct val="100000"/>
              </a:lnSpc>
              <a:spcBef>
                <a:spcPts val="600"/>
              </a:spcBef>
              <a:spcAft>
                <a:spcPts val="600"/>
              </a:spcAft>
              <a:buNone/>
            </a:pPr>
            <a:r>
              <a:rPr lang="tr-TR" sz="1800" dirty="0"/>
              <a:t>Dolayısıyla </a:t>
            </a:r>
            <a:r>
              <a:rPr lang="tr-TR" sz="1800" dirty="0" err="1"/>
              <a:t>Navigation</a:t>
            </a:r>
            <a:r>
              <a:rPr lang="tr-TR" sz="1800" dirty="0"/>
              <a:t> </a:t>
            </a:r>
            <a:r>
              <a:rPr lang="tr-TR" sz="1800" dirty="0" err="1"/>
              <a:t>Property</a:t>
            </a:r>
            <a:r>
              <a:rPr lang="tr-TR" sz="1800" dirty="0"/>
              <a:t> olarak biz de 2 tane </a:t>
            </a:r>
            <a:r>
              <a:rPr lang="tr-TR" sz="1800" dirty="0" err="1"/>
              <a:t>property</a:t>
            </a:r>
            <a:r>
              <a:rPr lang="tr-TR" sz="1800" dirty="0"/>
              <a:t> ekledik. Bunlar sayesinde C# tarafında Product sınıfımızın Category ve birazdan oluşturacağımız CustomerProduct sınıflarıyla ilişkisini tanıtmış olduk. Tüm bunları, aşağıdaki 2 satırlık kod ile yaptık:</a:t>
            </a:r>
          </a:p>
          <a:p>
            <a:pPr marL="0" indent="0">
              <a:buNone/>
            </a:pPr>
            <a:r>
              <a:rPr lang="en-US" sz="1800" dirty="0">
                <a:solidFill>
                  <a:srgbClr val="0000FF"/>
                </a:solidFill>
                <a:highlight>
                  <a:srgbClr val="FFFFFF"/>
                </a:highlight>
                <a:latin typeface="Cascadia Mono" panose="020B0609020000020004" pitchFamily="49" charset="0"/>
              </a:rPr>
              <a:t>public</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virtual</a:t>
            </a:r>
            <a:r>
              <a:rPr lang="en-US" sz="1800" dirty="0">
                <a:solidFill>
                  <a:srgbClr val="000000"/>
                </a:solidFill>
                <a:highlight>
                  <a:srgbClr val="FFFFFF"/>
                </a:highlight>
                <a:latin typeface="Cascadia Mono" panose="020B0609020000020004" pitchFamily="49" charset="0"/>
              </a:rPr>
              <a:t> </a:t>
            </a:r>
            <a:r>
              <a:rPr lang="en-US" sz="1800" dirty="0">
                <a:solidFill>
                  <a:srgbClr val="2B91AF"/>
                </a:solidFill>
                <a:highlight>
                  <a:srgbClr val="FFFFFF"/>
                </a:highlight>
                <a:latin typeface="Cascadia Mono" panose="020B0609020000020004" pitchFamily="49" charset="0"/>
              </a:rPr>
              <a:t>Category</a:t>
            </a:r>
            <a:r>
              <a:rPr lang="en-US" sz="1800" dirty="0">
                <a:solidFill>
                  <a:srgbClr val="000000"/>
                </a:solidFill>
                <a:highlight>
                  <a:srgbClr val="FFFFFF"/>
                </a:highlight>
                <a:latin typeface="Cascadia Mono" panose="020B0609020000020004" pitchFamily="49" charset="0"/>
              </a:rPr>
              <a:t> </a:t>
            </a:r>
            <a:r>
              <a:rPr lang="en-US" sz="1800" dirty="0" err="1">
                <a:solidFill>
                  <a:srgbClr val="000000"/>
                </a:solidFill>
                <a:highlight>
                  <a:srgbClr val="FFFFFF"/>
                </a:highlight>
                <a:latin typeface="Cascadia Mono" panose="020B0609020000020004" pitchFamily="49" charset="0"/>
              </a:rPr>
              <a:t>Category</a:t>
            </a:r>
            <a:r>
              <a:rPr lang="en-US" sz="1800" dirty="0">
                <a:solidFill>
                  <a:srgbClr val="000000"/>
                </a:solidFill>
                <a:highlight>
                  <a:srgbClr val="FFFFFF"/>
                </a:highlight>
                <a:latin typeface="Cascadia Mono" panose="020B0609020000020004" pitchFamily="49" charset="0"/>
              </a:rPr>
              <a:t> { </a:t>
            </a:r>
            <a:r>
              <a:rPr lang="en-US" sz="1800" dirty="0">
                <a:solidFill>
                  <a:srgbClr val="0000FF"/>
                </a:solidFill>
                <a:highlight>
                  <a:srgbClr val="FFFFFF"/>
                </a:highlight>
                <a:latin typeface="Cascadia Mono" panose="020B0609020000020004" pitchFamily="49" charset="0"/>
              </a:rPr>
              <a:t>get</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set</a:t>
            </a:r>
            <a:r>
              <a:rPr lang="en-US" sz="1800" dirty="0">
                <a:solidFill>
                  <a:srgbClr val="000000"/>
                </a:solidFill>
                <a:highlight>
                  <a:srgbClr val="FFFFFF"/>
                </a:highlight>
                <a:latin typeface="Cascadia Mono" panose="020B0609020000020004" pitchFamily="49" charset="0"/>
              </a:rPr>
              <a:t>; }</a:t>
            </a:r>
          </a:p>
          <a:p>
            <a:pPr marL="0" indent="0">
              <a:buNone/>
            </a:pPr>
            <a:r>
              <a:rPr lang="en-US" sz="1800" dirty="0">
                <a:solidFill>
                  <a:srgbClr val="0000FF"/>
                </a:solidFill>
                <a:highlight>
                  <a:srgbClr val="FFFFFF"/>
                </a:highlight>
                <a:latin typeface="Cascadia Mono" panose="020B0609020000020004" pitchFamily="49" charset="0"/>
              </a:rPr>
              <a:t>public</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virtual</a:t>
            </a:r>
            <a:r>
              <a:rPr lang="en-US" sz="1800" dirty="0">
                <a:solidFill>
                  <a:srgbClr val="000000"/>
                </a:solidFill>
                <a:highlight>
                  <a:srgbClr val="FFFFFF"/>
                </a:highlight>
                <a:latin typeface="Cascadia Mono" panose="020B0609020000020004" pitchFamily="49" charset="0"/>
              </a:rPr>
              <a:t> </a:t>
            </a:r>
            <a:r>
              <a:rPr lang="en-US" sz="1800" dirty="0" err="1">
                <a:solidFill>
                  <a:srgbClr val="2B91AF"/>
                </a:solidFill>
                <a:highlight>
                  <a:srgbClr val="FFFFFF"/>
                </a:highlight>
                <a:latin typeface="Cascadia Mono" panose="020B0609020000020004" pitchFamily="49" charset="0"/>
              </a:rPr>
              <a:t>ICollection</a:t>
            </a:r>
            <a:r>
              <a:rPr lang="en-US" sz="1800" dirty="0">
                <a:solidFill>
                  <a:srgbClr val="000000"/>
                </a:solidFill>
                <a:highlight>
                  <a:srgbClr val="FFFFFF"/>
                </a:highlight>
                <a:latin typeface="Cascadia Mono" panose="020B0609020000020004" pitchFamily="49" charset="0"/>
              </a:rPr>
              <a:t>&lt;</a:t>
            </a:r>
            <a:r>
              <a:rPr lang="en-US" sz="1800" dirty="0" err="1">
                <a:solidFill>
                  <a:srgbClr val="2B91AF"/>
                </a:solidFill>
                <a:highlight>
                  <a:srgbClr val="FFFFFF"/>
                </a:highlight>
                <a:latin typeface="Cascadia Mono" panose="020B0609020000020004" pitchFamily="49" charset="0"/>
              </a:rPr>
              <a:t>CustomerProduct</a:t>
            </a:r>
            <a:r>
              <a:rPr lang="en-US" sz="1800" dirty="0">
                <a:solidFill>
                  <a:srgbClr val="000000"/>
                </a:solidFill>
                <a:highlight>
                  <a:srgbClr val="FFFFFF"/>
                </a:highlight>
                <a:latin typeface="Cascadia Mono" panose="020B0609020000020004" pitchFamily="49" charset="0"/>
              </a:rPr>
              <a:t>&gt; </a:t>
            </a:r>
            <a:r>
              <a:rPr lang="en-US" sz="1800" dirty="0" err="1">
                <a:solidFill>
                  <a:srgbClr val="000000"/>
                </a:solidFill>
                <a:highlight>
                  <a:srgbClr val="FFFFFF"/>
                </a:highlight>
                <a:latin typeface="Cascadia Mono" panose="020B0609020000020004" pitchFamily="49" charset="0"/>
              </a:rPr>
              <a:t>CustomerProducts</a:t>
            </a:r>
            <a:r>
              <a:rPr lang="en-US" sz="1800" dirty="0">
                <a:solidFill>
                  <a:srgbClr val="000000"/>
                </a:solidFill>
                <a:highlight>
                  <a:srgbClr val="FFFFFF"/>
                </a:highlight>
                <a:latin typeface="Cascadia Mono" panose="020B0609020000020004" pitchFamily="49" charset="0"/>
              </a:rPr>
              <a:t> { </a:t>
            </a:r>
            <a:r>
              <a:rPr lang="en-US" sz="1800" dirty="0">
                <a:solidFill>
                  <a:srgbClr val="0000FF"/>
                </a:solidFill>
                <a:highlight>
                  <a:srgbClr val="FFFFFF"/>
                </a:highlight>
                <a:latin typeface="Cascadia Mono" panose="020B0609020000020004" pitchFamily="49" charset="0"/>
              </a:rPr>
              <a:t>get</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set</a:t>
            </a:r>
            <a:r>
              <a:rPr lang="en-US" sz="1800" dirty="0">
                <a:solidFill>
                  <a:srgbClr val="000000"/>
                </a:solidFill>
                <a:highlight>
                  <a:srgbClr val="FFFFFF"/>
                </a:highlight>
                <a:latin typeface="Cascadia Mono" panose="020B0609020000020004" pitchFamily="49" charset="0"/>
              </a:rPr>
              <a:t>; </a:t>
            </a:r>
          </a:p>
          <a:p>
            <a:pPr marL="0" indent="0" algn="just">
              <a:lnSpc>
                <a:spcPct val="100000"/>
              </a:lnSpc>
              <a:spcBef>
                <a:spcPts val="600"/>
              </a:spcBef>
              <a:spcAft>
                <a:spcPts val="600"/>
              </a:spcAft>
              <a:buNone/>
            </a:pPr>
            <a:endParaRPr lang="tr-TR" sz="1800" dirty="0"/>
          </a:p>
        </p:txBody>
      </p:sp>
    </p:spTree>
    <p:extLst>
      <p:ext uri="{BB962C8B-B14F-4D97-AF65-F5344CB8AC3E}">
        <p14:creationId xmlns:p14="http://schemas.microsoft.com/office/powerpoint/2010/main" val="210714711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5AFEF-56DB-A012-CB62-4537DDF77668}"/>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5683D2E7-9800-EA7A-64F5-E8E4A134144E}"/>
              </a:ext>
            </a:extLst>
          </p:cNvPr>
          <p:cNvSpPr>
            <a:spLocks noGrp="1"/>
          </p:cNvSpPr>
          <p:nvPr>
            <p:ph type="title"/>
          </p:nvPr>
        </p:nvSpPr>
        <p:spPr>
          <a:xfrm>
            <a:off x="838200" y="248495"/>
            <a:ext cx="10515600" cy="432542"/>
          </a:xfrm>
        </p:spPr>
        <p:txBody>
          <a:bodyPr>
            <a:noAutofit/>
          </a:bodyPr>
          <a:lstStyle/>
          <a:p>
            <a:pPr algn="ctr"/>
            <a:r>
              <a:rPr lang="tr-TR" sz="2800" dirty="0"/>
              <a:t>Table_Product için Product sınıfı</a:t>
            </a:r>
          </a:p>
        </p:txBody>
      </p:sp>
      <p:sp>
        <p:nvSpPr>
          <p:cNvPr id="3" name="İçerik Yer Tutucusu 2">
            <a:extLst>
              <a:ext uri="{FF2B5EF4-FFF2-40B4-BE49-F238E27FC236}">
                <a16:creationId xmlns:a16="http://schemas.microsoft.com/office/drawing/2014/main" id="{C14971A0-3767-ED2A-7984-014C1AF9B7F5}"/>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Burada akıllara şu soru gelebilir: Neden Category sınıfında Product sınıfı ile ilişkisini kurarken </a:t>
            </a:r>
          </a:p>
          <a:p>
            <a:pPr marL="0" indent="0" algn="just">
              <a:lnSpc>
                <a:spcPct val="100000"/>
              </a:lnSpc>
              <a:spcBef>
                <a:spcPts val="600"/>
              </a:spcBef>
              <a:spcAft>
                <a:spcPts val="600"/>
              </a:spcAft>
              <a:buNone/>
            </a:pPr>
            <a:r>
              <a:rPr lang="en-US" sz="1800" dirty="0">
                <a:solidFill>
                  <a:srgbClr val="0000FF"/>
                </a:solidFill>
                <a:highlight>
                  <a:srgbClr val="FFFFFF"/>
                </a:highlight>
                <a:latin typeface="Cascadia Mono" panose="020B0609020000020004" pitchFamily="49" charset="0"/>
              </a:rPr>
              <a:t>public</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virtual</a:t>
            </a:r>
            <a:r>
              <a:rPr lang="en-US" sz="1800" dirty="0">
                <a:solidFill>
                  <a:srgbClr val="000000"/>
                </a:solidFill>
                <a:highlight>
                  <a:srgbClr val="FFFFFF"/>
                </a:highlight>
                <a:latin typeface="Cascadia Mono" panose="020B0609020000020004" pitchFamily="49" charset="0"/>
              </a:rPr>
              <a:t> </a:t>
            </a:r>
            <a:r>
              <a:rPr lang="en-US" sz="1800" dirty="0" err="1">
                <a:solidFill>
                  <a:srgbClr val="2B91AF"/>
                </a:solidFill>
                <a:highlight>
                  <a:srgbClr val="FFFFFF"/>
                </a:highlight>
                <a:latin typeface="Cascadia Mono" panose="020B0609020000020004" pitchFamily="49" charset="0"/>
              </a:rPr>
              <a:t>ICollection</a:t>
            </a:r>
            <a:r>
              <a:rPr lang="en-US" sz="1800" dirty="0">
                <a:solidFill>
                  <a:srgbClr val="000000"/>
                </a:solidFill>
                <a:highlight>
                  <a:srgbClr val="FFFFFF"/>
                </a:highlight>
                <a:latin typeface="Cascadia Mono" panose="020B0609020000020004" pitchFamily="49" charset="0"/>
              </a:rPr>
              <a:t>&lt;</a:t>
            </a:r>
            <a:r>
              <a:rPr lang="en-US" sz="1800" dirty="0">
                <a:solidFill>
                  <a:srgbClr val="2B91AF"/>
                </a:solidFill>
                <a:highlight>
                  <a:srgbClr val="FFFFFF"/>
                </a:highlight>
                <a:latin typeface="Cascadia Mono" panose="020B0609020000020004" pitchFamily="49" charset="0"/>
              </a:rPr>
              <a:t>Product</a:t>
            </a:r>
            <a:r>
              <a:rPr lang="en-US" sz="1800" dirty="0">
                <a:solidFill>
                  <a:srgbClr val="000000"/>
                </a:solidFill>
                <a:highlight>
                  <a:srgbClr val="FFFFFF"/>
                </a:highlight>
                <a:latin typeface="Cascadia Mono" panose="020B0609020000020004" pitchFamily="49" charset="0"/>
              </a:rPr>
              <a:t>&gt; Products { </a:t>
            </a:r>
            <a:r>
              <a:rPr lang="en-US" sz="1800" dirty="0">
                <a:solidFill>
                  <a:srgbClr val="0000FF"/>
                </a:solidFill>
                <a:highlight>
                  <a:srgbClr val="FFFFFF"/>
                </a:highlight>
                <a:latin typeface="Cascadia Mono" panose="020B0609020000020004" pitchFamily="49" charset="0"/>
              </a:rPr>
              <a:t>get</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set</a:t>
            </a:r>
            <a:r>
              <a:rPr lang="en-US" sz="1800" dirty="0">
                <a:solidFill>
                  <a:srgbClr val="000000"/>
                </a:solidFill>
                <a:highlight>
                  <a:srgbClr val="FFFFFF"/>
                </a:highlight>
                <a:latin typeface="Cascadia Mono" panose="020B0609020000020004" pitchFamily="49" charset="0"/>
              </a:rPr>
              <a:t>; }</a:t>
            </a:r>
            <a:endParaRPr lang="tr-TR" sz="1800" dirty="0"/>
          </a:p>
          <a:p>
            <a:pPr marL="0" indent="0" algn="just">
              <a:lnSpc>
                <a:spcPct val="100000"/>
              </a:lnSpc>
              <a:spcBef>
                <a:spcPts val="600"/>
              </a:spcBef>
              <a:spcAft>
                <a:spcPts val="600"/>
              </a:spcAft>
              <a:buNone/>
            </a:pPr>
            <a:r>
              <a:rPr lang="tr-TR" sz="1800" dirty="0"/>
              <a:t>Kodunu yazdık da Product sınıfında Category ile ilişkisini kurarken </a:t>
            </a:r>
          </a:p>
          <a:p>
            <a:pPr marL="0" indent="0" algn="just">
              <a:lnSpc>
                <a:spcPct val="100000"/>
              </a:lnSpc>
              <a:spcBef>
                <a:spcPts val="600"/>
              </a:spcBef>
              <a:spcAft>
                <a:spcPts val="600"/>
              </a:spcAft>
              <a:buNone/>
            </a:pPr>
            <a:r>
              <a:rPr lang="en-US" sz="1800" dirty="0">
                <a:solidFill>
                  <a:srgbClr val="0000FF"/>
                </a:solidFill>
                <a:highlight>
                  <a:srgbClr val="FFFFFF"/>
                </a:highlight>
                <a:latin typeface="Cascadia Mono" panose="020B0609020000020004" pitchFamily="49" charset="0"/>
              </a:rPr>
              <a:t>public</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virtual</a:t>
            </a:r>
            <a:r>
              <a:rPr lang="en-US" sz="1800" dirty="0">
                <a:solidFill>
                  <a:srgbClr val="000000"/>
                </a:solidFill>
                <a:highlight>
                  <a:srgbClr val="FFFFFF"/>
                </a:highlight>
                <a:latin typeface="Cascadia Mono" panose="020B0609020000020004" pitchFamily="49" charset="0"/>
              </a:rPr>
              <a:t> </a:t>
            </a:r>
            <a:r>
              <a:rPr lang="en-US" sz="1800" dirty="0">
                <a:solidFill>
                  <a:srgbClr val="2B91AF"/>
                </a:solidFill>
                <a:highlight>
                  <a:srgbClr val="FFFFFF"/>
                </a:highlight>
                <a:latin typeface="Cascadia Mono" panose="020B0609020000020004" pitchFamily="49" charset="0"/>
              </a:rPr>
              <a:t>Category</a:t>
            </a:r>
            <a:r>
              <a:rPr lang="en-US" sz="1800" dirty="0">
                <a:solidFill>
                  <a:srgbClr val="000000"/>
                </a:solidFill>
                <a:highlight>
                  <a:srgbClr val="FFFFFF"/>
                </a:highlight>
                <a:latin typeface="Cascadia Mono" panose="020B0609020000020004" pitchFamily="49" charset="0"/>
              </a:rPr>
              <a:t> </a:t>
            </a:r>
            <a:r>
              <a:rPr lang="en-US" sz="1800" dirty="0" err="1">
                <a:solidFill>
                  <a:srgbClr val="000000"/>
                </a:solidFill>
                <a:highlight>
                  <a:srgbClr val="FFFFFF"/>
                </a:highlight>
                <a:latin typeface="Cascadia Mono" panose="020B0609020000020004" pitchFamily="49" charset="0"/>
              </a:rPr>
              <a:t>Category</a:t>
            </a:r>
            <a:r>
              <a:rPr lang="en-US" sz="1800" dirty="0">
                <a:solidFill>
                  <a:srgbClr val="000000"/>
                </a:solidFill>
                <a:highlight>
                  <a:srgbClr val="FFFFFF"/>
                </a:highlight>
                <a:latin typeface="Cascadia Mono" panose="020B0609020000020004" pitchFamily="49" charset="0"/>
              </a:rPr>
              <a:t> { </a:t>
            </a:r>
            <a:r>
              <a:rPr lang="en-US" sz="1800" dirty="0">
                <a:solidFill>
                  <a:srgbClr val="0000FF"/>
                </a:solidFill>
                <a:highlight>
                  <a:srgbClr val="FFFFFF"/>
                </a:highlight>
                <a:latin typeface="Cascadia Mono" panose="020B0609020000020004" pitchFamily="49" charset="0"/>
              </a:rPr>
              <a:t>get</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set</a:t>
            </a:r>
            <a:r>
              <a:rPr lang="en-US" sz="1800" dirty="0">
                <a:solidFill>
                  <a:srgbClr val="000000"/>
                </a:solidFill>
                <a:highlight>
                  <a:srgbClr val="FFFFFF"/>
                </a:highlight>
                <a:latin typeface="Cascadia Mono" panose="020B0609020000020004" pitchFamily="49" charset="0"/>
              </a:rPr>
              <a:t>; }</a:t>
            </a:r>
            <a:endParaRPr lang="tr-TR" sz="1800" dirty="0"/>
          </a:p>
          <a:p>
            <a:pPr marL="0" indent="0" algn="just">
              <a:lnSpc>
                <a:spcPct val="100000"/>
              </a:lnSpc>
              <a:spcBef>
                <a:spcPts val="600"/>
              </a:spcBef>
              <a:spcAft>
                <a:spcPts val="600"/>
              </a:spcAft>
              <a:buNone/>
            </a:pPr>
            <a:r>
              <a:rPr lang="tr-TR" sz="1800" dirty="0"/>
              <a:t>Kodunu yazdık?</a:t>
            </a:r>
          </a:p>
          <a:p>
            <a:pPr marL="0" indent="0" algn="just">
              <a:lnSpc>
                <a:spcPct val="100000"/>
              </a:lnSpc>
              <a:spcBef>
                <a:spcPts val="600"/>
              </a:spcBef>
              <a:spcAft>
                <a:spcPts val="600"/>
              </a:spcAft>
              <a:buNone/>
            </a:pPr>
            <a:r>
              <a:rPr lang="tr-TR" sz="1800" dirty="0"/>
              <a:t>Bu durum ilişki türüyle ilgilidir. Yani Product ve Category arasında </a:t>
            </a:r>
            <a:r>
              <a:rPr lang="tr-TR" sz="1800" dirty="0" err="1"/>
              <a:t>one-to-many</a:t>
            </a:r>
            <a:r>
              <a:rPr lang="tr-TR" sz="1800" dirty="0"/>
              <a:t> ilişkisi vardır. Bir ürünün bir kategorisi olabilir ama bir kategoriye ait birden fazla ürün olabilir. Bundan dolayı ürünün bir kategorisi olduğu için biz bir </a:t>
            </a:r>
            <a:r>
              <a:rPr lang="tr-TR" sz="1800" dirty="0" err="1"/>
              <a:t>Icollection</a:t>
            </a:r>
            <a:r>
              <a:rPr lang="tr-TR" sz="1800" dirty="0"/>
              <a:t> tipinde tanımlamadık bunu direkt Category nesnesi olarak tanımladık.</a:t>
            </a:r>
          </a:p>
          <a:p>
            <a:pPr marL="0" indent="0" algn="just">
              <a:lnSpc>
                <a:spcPct val="100000"/>
              </a:lnSpc>
              <a:spcBef>
                <a:spcPts val="600"/>
              </a:spcBef>
              <a:spcAft>
                <a:spcPts val="600"/>
              </a:spcAft>
              <a:buNone/>
            </a:pPr>
            <a:r>
              <a:rPr lang="tr-TR" sz="1800" dirty="0"/>
              <a:t>Gerçek hayatta bazı durumlarda bir ürünün de birden fazla kategorisi olabilir. Eğer siz böyle bir ilişki kurmak istiyorsanız o zaman </a:t>
            </a:r>
            <a:r>
              <a:rPr lang="tr-TR" sz="1800" dirty="0" err="1"/>
              <a:t>Icollection</a:t>
            </a:r>
            <a:r>
              <a:rPr lang="tr-TR" sz="1800" dirty="0"/>
              <a:t>&lt;Category&gt; olarak tanımlarsınız. Ancak, bunun için bir de </a:t>
            </a:r>
            <a:r>
              <a:rPr lang="tr-TR" sz="1800" dirty="0" err="1"/>
              <a:t>CategoryProduct</a:t>
            </a:r>
            <a:r>
              <a:rPr lang="tr-TR" sz="1800" dirty="0"/>
              <a:t> sınıfı yazmalısınız ve bunun için SQL tarafında da buna göre bir tablo oluşturmalısınız.</a:t>
            </a:r>
          </a:p>
          <a:p>
            <a:pPr marL="0" indent="0" algn="just">
              <a:lnSpc>
                <a:spcPct val="100000"/>
              </a:lnSpc>
              <a:spcBef>
                <a:spcPts val="600"/>
              </a:spcBef>
              <a:spcAft>
                <a:spcPts val="600"/>
              </a:spcAft>
              <a:buNone/>
            </a:pPr>
            <a:r>
              <a:rPr lang="tr-TR" sz="1800" dirty="0"/>
              <a:t>Biz bu senaryoda bir ürünün bir kategorisi olabilir ilişkisini tercih ediyoruz.</a:t>
            </a:r>
          </a:p>
          <a:p>
            <a:pPr marL="0" indent="0" algn="just">
              <a:lnSpc>
                <a:spcPct val="100000"/>
              </a:lnSpc>
              <a:spcBef>
                <a:spcPts val="600"/>
              </a:spcBef>
              <a:spcAft>
                <a:spcPts val="600"/>
              </a:spcAft>
              <a:buNone/>
            </a:pPr>
            <a:endParaRPr lang="tr-TR" sz="1800" dirty="0"/>
          </a:p>
          <a:p>
            <a:pPr marL="0" indent="0" algn="just">
              <a:lnSpc>
                <a:spcPct val="100000"/>
              </a:lnSpc>
              <a:spcBef>
                <a:spcPts val="600"/>
              </a:spcBef>
              <a:spcAft>
                <a:spcPts val="600"/>
              </a:spcAft>
              <a:buNone/>
            </a:pPr>
            <a:endParaRPr lang="tr-TR" sz="1800" dirty="0"/>
          </a:p>
          <a:p>
            <a:pPr marL="0" indent="0" algn="just">
              <a:lnSpc>
                <a:spcPct val="100000"/>
              </a:lnSpc>
              <a:spcBef>
                <a:spcPts val="600"/>
              </a:spcBef>
              <a:spcAft>
                <a:spcPts val="600"/>
              </a:spcAft>
              <a:buNone/>
            </a:pPr>
            <a:endParaRPr lang="tr-TR" sz="1800" dirty="0"/>
          </a:p>
        </p:txBody>
      </p:sp>
    </p:spTree>
    <p:extLst>
      <p:ext uri="{BB962C8B-B14F-4D97-AF65-F5344CB8AC3E}">
        <p14:creationId xmlns:p14="http://schemas.microsoft.com/office/powerpoint/2010/main" val="65679767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E580F-B062-127B-B59C-EE232D66D541}"/>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F355183A-C2CF-766A-0F9E-A2E987C46768}"/>
              </a:ext>
            </a:extLst>
          </p:cNvPr>
          <p:cNvSpPr>
            <a:spLocks noGrp="1"/>
          </p:cNvSpPr>
          <p:nvPr>
            <p:ph type="title"/>
          </p:nvPr>
        </p:nvSpPr>
        <p:spPr>
          <a:xfrm>
            <a:off x="838200" y="248495"/>
            <a:ext cx="10515600" cy="432542"/>
          </a:xfrm>
        </p:spPr>
        <p:txBody>
          <a:bodyPr>
            <a:noAutofit/>
          </a:bodyPr>
          <a:lstStyle/>
          <a:p>
            <a:pPr algn="ctr"/>
            <a:r>
              <a:rPr lang="tr-TR" sz="2800" dirty="0"/>
              <a:t>Table_Product için Product sınıfı</a:t>
            </a:r>
          </a:p>
        </p:txBody>
      </p:sp>
      <p:pic>
        <p:nvPicPr>
          <p:cNvPr id="5" name="İçerik Yer Tutucusu 4" descr="metin, ekran görüntüsü, yazılım, multimedya yazılımı içeren bir resim&#10;&#10;Yapay zeka tarafından oluşturulan içerik yanlış olabilir.">
            <a:extLst>
              <a:ext uri="{FF2B5EF4-FFF2-40B4-BE49-F238E27FC236}">
                <a16:creationId xmlns:a16="http://schemas.microsoft.com/office/drawing/2014/main" id="{A62B155B-64DA-F5BA-CFB2-ACFA9E0FCD4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90059" y="798595"/>
            <a:ext cx="6611882" cy="5904061"/>
          </a:xfrm>
        </p:spPr>
      </p:pic>
    </p:spTree>
    <p:extLst>
      <p:ext uri="{BB962C8B-B14F-4D97-AF65-F5344CB8AC3E}">
        <p14:creationId xmlns:p14="http://schemas.microsoft.com/office/powerpoint/2010/main" val="259286386"/>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7294B2-C8BB-371D-7532-B9635C029018}"/>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936FFAC4-D238-F6EF-9D48-F90C7778BE7B}"/>
              </a:ext>
            </a:extLst>
          </p:cNvPr>
          <p:cNvSpPr>
            <a:spLocks noGrp="1"/>
          </p:cNvSpPr>
          <p:nvPr>
            <p:ph type="title"/>
          </p:nvPr>
        </p:nvSpPr>
        <p:spPr>
          <a:xfrm>
            <a:off x="838200" y="248495"/>
            <a:ext cx="10515600" cy="432542"/>
          </a:xfrm>
        </p:spPr>
        <p:txBody>
          <a:bodyPr>
            <a:noAutofit/>
          </a:bodyPr>
          <a:lstStyle/>
          <a:p>
            <a:pPr algn="ctr"/>
            <a:r>
              <a:rPr lang="tr-TR" sz="2800" dirty="0" err="1"/>
              <a:t>Table_CustomerProduct</a:t>
            </a:r>
            <a:r>
              <a:rPr lang="tr-TR" sz="2800" dirty="0"/>
              <a:t> Tablosu için CustomerProduct Sınıfı</a:t>
            </a:r>
          </a:p>
        </p:txBody>
      </p:sp>
      <p:sp>
        <p:nvSpPr>
          <p:cNvPr id="3" name="İçerik Yer Tutucusu 2">
            <a:extLst>
              <a:ext uri="{FF2B5EF4-FFF2-40B4-BE49-F238E27FC236}">
                <a16:creationId xmlns:a16="http://schemas.microsoft.com/office/drawing/2014/main" id="{79C891C8-4D97-F42B-1BA5-AB69B5832C65}"/>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Hangi müşterinin hangi ürünü aldığı bilgisini tutan </a:t>
            </a:r>
            <a:r>
              <a:rPr lang="tr-TR" sz="1800" dirty="0" err="1"/>
              <a:t>Table_CustomerProduct</a:t>
            </a:r>
            <a:r>
              <a:rPr lang="tr-TR" sz="1800" dirty="0"/>
              <a:t> tablosu için projemize sağ tıklayıp Ekle-&gt;Sınıf adımlarını takip edip CustomerProduct ismini veriyoruz. SQL tarafında bu tablonun sütunları ve bu sütunların veri tipleri aşağıda gösterilmektedir.</a:t>
            </a:r>
          </a:p>
          <a:p>
            <a:pPr marL="0" indent="0" algn="just">
              <a:lnSpc>
                <a:spcPct val="100000"/>
              </a:lnSpc>
              <a:spcBef>
                <a:spcPts val="600"/>
              </a:spcBef>
              <a:spcAft>
                <a:spcPts val="600"/>
              </a:spcAft>
              <a:buNone/>
            </a:pPr>
            <a:endParaRPr lang="tr-TR" sz="1800" dirty="0"/>
          </a:p>
        </p:txBody>
      </p:sp>
      <p:pic>
        <p:nvPicPr>
          <p:cNvPr id="5" name="Resim 4" descr="metin, ekran görüntüsü, çizgi, yazı tipi içeren bir resim&#10;&#10;Yapay zeka tarafından oluşturulan içerik yanlış olabilir.">
            <a:extLst>
              <a:ext uri="{FF2B5EF4-FFF2-40B4-BE49-F238E27FC236}">
                <a16:creationId xmlns:a16="http://schemas.microsoft.com/office/drawing/2014/main" id="{6BD1DC98-B9F9-22C6-9693-EC150915F8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4026" y="2560373"/>
            <a:ext cx="9383947" cy="1296968"/>
          </a:xfrm>
          <a:prstGeom prst="rect">
            <a:avLst/>
          </a:prstGeom>
        </p:spPr>
      </p:pic>
    </p:spTree>
    <p:extLst>
      <p:ext uri="{BB962C8B-B14F-4D97-AF65-F5344CB8AC3E}">
        <p14:creationId xmlns:p14="http://schemas.microsoft.com/office/powerpoint/2010/main" val="136168822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3CB385-E1D0-FF40-484F-FD8D3400584A}"/>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346AC4F3-856D-15DC-275B-F10069212453}"/>
              </a:ext>
            </a:extLst>
          </p:cNvPr>
          <p:cNvSpPr>
            <a:spLocks noGrp="1"/>
          </p:cNvSpPr>
          <p:nvPr>
            <p:ph type="title"/>
          </p:nvPr>
        </p:nvSpPr>
        <p:spPr>
          <a:xfrm>
            <a:off x="838200" y="248495"/>
            <a:ext cx="10515600" cy="432542"/>
          </a:xfrm>
        </p:spPr>
        <p:txBody>
          <a:bodyPr>
            <a:noAutofit/>
          </a:bodyPr>
          <a:lstStyle/>
          <a:p>
            <a:pPr algn="ctr"/>
            <a:r>
              <a:rPr lang="tr-TR" sz="2800" dirty="0" err="1"/>
              <a:t>Table_CustomerProduct</a:t>
            </a:r>
            <a:r>
              <a:rPr lang="tr-TR" sz="2800" dirty="0"/>
              <a:t> Tablosu için CustomerProduct Sınıfı</a:t>
            </a:r>
          </a:p>
        </p:txBody>
      </p:sp>
      <p:sp>
        <p:nvSpPr>
          <p:cNvPr id="3" name="İçerik Yer Tutucusu 2">
            <a:extLst>
              <a:ext uri="{FF2B5EF4-FFF2-40B4-BE49-F238E27FC236}">
                <a16:creationId xmlns:a16="http://schemas.microsoft.com/office/drawing/2014/main" id="{65802EE9-ACAD-74F7-C415-C7DDDDA2839D}"/>
              </a:ext>
            </a:extLst>
          </p:cNvPr>
          <p:cNvSpPr>
            <a:spLocks noGrp="1"/>
          </p:cNvSpPr>
          <p:nvPr>
            <p:ph idx="1"/>
          </p:nvPr>
        </p:nvSpPr>
        <p:spPr>
          <a:xfrm>
            <a:off x="838200" y="846306"/>
            <a:ext cx="10515600" cy="5885234"/>
          </a:xfrm>
        </p:spPr>
        <p:txBody>
          <a:bodyPr>
            <a:normAutofit fontScale="92500" lnSpcReduction="20000"/>
          </a:bodyPr>
          <a:lstStyle/>
          <a:p>
            <a:pPr marL="0" indent="0" algn="just">
              <a:lnSpc>
                <a:spcPct val="100000"/>
              </a:lnSpc>
              <a:spcBef>
                <a:spcPts val="600"/>
              </a:spcBef>
              <a:spcAft>
                <a:spcPts val="600"/>
              </a:spcAft>
              <a:buNone/>
            </a:pPr>
            <a:r>
              <a:rPr lang="tr-TR" sz="1800" dirty="0" err="1"/>
              <a:t>Table_CustomerProduct</a:t>
            </a:r>
            <a:r>
              <a:rPr lang="tr-TR" sz="1800" dirty="0"/>
              <a:t> tablosunun Table_Customer ve Table_Product ile ilişkisi bulunmaktadır. Bundan dolayı, CustomerProduct sınıfını oluştururken bu ilişkileri tanımlamamız gerekir ki nasıl ki SQL üzerinden bunların ilişkisi varsa C# tarafında da bu ilişkiyi kurmalıyız.</a:t>
            </a:r>
          </a:p>
          <a:p>
            <a:pPr marL="0" indent="0" algn="just">
              <a:lnSpc>
                <a:spcPct val="100000"/>
              </a:lnSpc>
              <a:spcBef>
                <a:spcPts val="600"/>
              </a:spcBef>
              <a:spcAft>
                <a:spcPts val="600"/>
              </a:spcAft>
              <a:buNone/>
            </a:pPr>
            <a:r>
              <a:rPr lang="tr-TR" sz="1800" dirty="0"/>
              <a:t>CustomerProduct sınıfının kodları aşağıdaki gibidir.</a:t>
            </a:r>
          </a:p>
          <a:p>
            <a:pPr marL="0" indent="0">
              <a:buNone/>
            </a:pPr>
            <a:r>
              <a:rPr lang="tr-TR" sz="1800" dirty="0">
                <a:solidFill>
                  <a:srgbClr val="000000"/>
                </a:solidFill>
                <a:highlight>
                  <a:srgbClr val="FFFFFF"/>
                </a:highlight>
                <a:latin typeface="Cascadia Mono" panose="020B0609020000020004" pitchFamily="49" charset="0"/>
              </a:rPr>
              <a:t>[</a:t>
            </a:r>
            <a:r>
              <a:rPr lang="tr-TR" sz="1800" dirty="0">
                <a:solidFill>
                  <a:srgbClr val="2B91AF"/>
                </a:solidFill>
                <a:highlight>
                  <a:srgbClr val="FFFFFF"/>
                </a:highlight>
                <a:latin typeface="Cascadia Mono" panose="020B0609020000020004" pitchFamily="49" charset="0"/>
              </a:rPr>
              <a:t>Table</a:t>
            </a:r>
            <a:r>
              <a:rPr lang="tr-TR" sz="1800" dirty="0">
                <a:solidFill>
                  <a:srgbClr val="000000"/>
                </a:solidFill>
                <a:highlight>
                  <a:srgbClr val="FFFFFF"/>
                </a:highlight>
                <a:latin typeface="Cascadia Mono" panose="020B0609020000020004" pitchFamily="49" charset="0"/>
              </a:rPr>
              <a:t>(</a:t>
            </a:r>
            <a:r>
              <a:rPr lang="tr-TR" sz="1800" dirty="0">
                <a:solidFill>
                  <a:srgbClr val="A31515"/>
                </a:solidFill>
                <a:highlight>
                  <a:srgbClr val="FFFFFF"/>
                </a:highlight>
                <a:latin typeface="Cascadia Mono" panose="020B0609020000020004" pitchFamily="49" charset="0"/>
              </a:rPr>
              <a:t>"</a:t>
            </a:r>
            <a:r>
              <a:rPr lang="tr-TR" sz="1800" dirty="0" err="1">
                <a:solidFill>
                  <a:srgbClr val="A31515"/>
                </a:solidFill>
                <a:highlight>
                  <a:srgbClr val="FFFFFF"/>
                </a:highlight>
                <a:latin typeface="Cascadia Mono" panose="020B0609020000020004" pitchFamily="49" charset="0"/>
              </a:rPr>
              <a:t>Table_CustomerProduct</a:t>
            </a:r>
            <a:r>
              <a:rPr lang="tr-TR" sz="1800" dirty="0">
                <a:solidFill>
                  <a:srgbClr val="A31515"/>
                </a:solidFill>
                <a:highlight>
                  <a:srgbClr val="FFFFFF"/>
                </a:highlight>
                <a:latin typeface="Cascadia Mono" panose="020B0609020000020004" pitchFamily="49" charset="0"/>
              </a:rPr>
              <a:t>"</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err="1">
                <a:solidFill>
                  <a:srgbClr val="0000FF"/>
                </a:solidFill>
                <a:highlight>
                  <a:srgbClr val="FFFFFF"/>
                </a:highlight>
                <a:latin typeface="Cascadia Mono" panose="020B0609020000020004" pitchFamily="49" charset="0"/>
              </a:rPr>
              <a:t>internal</a:t>
            </a:r>
            <a:r>
              <a:rPr lang="tr-TR" sz="1800" dirty="0">
                <a:solidFill>
                  <a:srgbClr val="000000"/>
                </a:solidFill>
                <a:highlight>
                  <a:srgbClr val="FFFFFF"/>
                </a:highlight>
                <a:latin typeface="Cascadia Mono" panose="020B0609020000020004" pitchFamily="49" charset="0"/>
              </a:rPr>
              <a:t> </a:t>
            </a:r>
            <a:r>
              <a:rPr lang="tr-TR" sz="1800" dirty="0">
                <a:solidFill>
                  <a:srgbClr val="0000FF"/>
                </a:solidFill>
                <a:highlight>
                  <a:srgbClr val="FFFFFF"/>
                </a:highlight>
                <a:latin typeface="Cascadia Mono" panose="020B0609020000020004" pitchFamily="49" charset="0"/>
              </a:rPr>
              <a:t>class</a:t>
            </a:r>
            <a:r>
              <a:rPr lang="tr-TR" sz="1800" dirty="0">
                <a:solidFill>
                  <a:srgbClr val="000000"/>
                </a:solidFill>
                <a:highlight>
                  <a:srgbClr val="FFFFFF"/>
                </a:highlight>
                <a:latin typeface="Cascadia Mono" panose="020B0609020000020004" pitchFamily="49" charset="0"/>
              </a:rPr>
              <a:t> </a:t>
            </a:r>
            <a:r>
              <a:rPr lang="tr-TR" sz="1800" dirty="0">
                <a:solidFill>
                  <a:srgbClr val="2B91AF"/>
                </a:solidFill>
                <a:highlight>
                  <a:srgbClr val="FFFFFF"/>
                </a:highlight>
                <a:latin typeface="Cascadia Mono" panose="020B0609020000020004" pitchFamily="49" charset="0"/>
              </a:rPr>
              <a:t>CustomerProduct</a:t>
            </a:r>
          </a:p>
          <a:p>
            <a:pPr marL="0" indent="0">
              <a:buNone/>
            </a:pP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a:solidFill>
                  <a:srgbClr val="2B91AF"/>
                </a:solidFill>
                <a:highlight>
                  <a:srgbClr val="FFFFFF"/>
                </a:highlight>
                <a:latin typeface="Cascadia Mono" panose="020B0609020000020004" pitchFamily="49" charset="0"/>
              </a:rPr>
              <a:t>Key</a:t>
            </a:r>
            <a:r>
              <a:rPr lang="tr-TR" sz="1800" dirty="0">
                <a:solidFill>
                  <a:srgbClr val="000000"/>
                </a:solidFill>
                <a:highlight>
                  <a:srgbClr val="FFFFFF"/>
                </a:highlight>
                <a:latin typeface="Cascadia Mono" panose="020B0609020000020004" pitchFamily="49" charset="0"/>
              </a:rPr>
              <a:t>]</a:t>
            </a:r>
          </a:p>
          <a:p>
            <a:pPr marL="0" indent="0">
              <a:buNone/>
            </a:pP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public</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int</a:t>
            </a:r>
            <a:r>
              <a:rPr lang="en-US" sz="1800" dirty="0">
                <a:solidFill>
                  <a:srgbClr val="000000"/>
                </a:solidFill>
                <a:highlight>
                  <a:srgbClr val="FFFFFF"/>
                </a:highlight>
                <a:latin typeface="Cascadia Mono" panose="020B0609020000020004" pitchFamily="49" charset="0"/>
              </a:rPr>
              <a:t> </a:t>
            </a:r>
            <a:r>
              <a:rPr lang="en-US" sz="1800" dirty="0" err="1">
                <a:solidFill>
                  <a:srgbClr val="000000"/>
                </a:solidFill>
                <a:highlight>
                  <a:srgbClr val="FFFFFF"/>
                </a:highlight>
                <a:latin typeface="Cascadia Mono" panose="020B0609020000020004" pitchFamily="49" charset="0"/>
              </a:rPr>
              <a:t>CusPro_Id</a:t>
            </a:r>
            <a:r>
              <a:rPr lang="en-US" sz="1800" dirty="0">
                <a:solidFill>
                  <a:srgbClr val="000000"/>
                </a:solidFill>
                <a:highlight>
                  <a:srgbClr val="FFFFFF"/>
                </a:highlight>
                <a:latin typeface="Cascadia Mono" panose="020B0609020000020004" pitchFamily="49" charset="0"/>
              </a:rPr>
              <a:t> { </a:t>
            </a:r>
            <a:r>
              <a:rPr lang="en-US" sz="1800" dirty="0">
                <a:solidFill>
                  <a:srgbClr val="0000FF"/>
                </a:solidFill>
                <a:highlight>
                  <a:srgbClr val="FFFFFF"/>
                </a:highlight>
                <a:latin typeface="Cascadia Mono" panose="020B0609020000020004" pitchFamily="49" charset="0"/>
              </a:rPr>
              <a:t>get</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set</a:t>
            </a:r>
            <a:r>
              <a:rPr lang="en-US" sz="1800" dirty="0">
                <a:solidFill>
                  <a:srgbClr val="000000"/>
                </a:solidFill>
                <a:highlight>
                  <a:srgbClr val="FFFFFF"/>
                </a:highlight>
                <a:latin typeface="Cascadia Mono" panose="020B0609020000020004" pitchFamily="49" charset="0"/>
              </a:rPr>
              <a:t>; }</a:t>
            </a:r>
          </a:p>
          <a:p>
            <a:pPr marL="0" indent="0">
              <a:buNone/>
            </a:pPr>
            <a:endParaRPr lang="tr-TR" sz="1800" dirty="0">
              <a:solidFill>
                <a:srgbClr val="000000"/>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ForeignKey</a:t>
            </a:r>
            <a:r>
              <a:rPr lang="tr-TR" sz="1800" dirty="0">
                <a:solidFill>
                  <a:srgbClr val="000000"/>
                </a:solidFill>
                <a:highlight>
                  <a:srgbClr val="FFFFFF"/>
                </a:highlight>
                <a:latin typeface="Cascadia Mono" panose="020B0609020000020004" pitchFamily="49" charset="0"/>
              </a:rPr>
              <a:t>(</a:t>
            </a:r>
            <a:r>
              <a:rPr lang="tr-TR" sz="1800" dirty="0">
                <a:solidFill>
                  <a:srgbClr val="A31515"/>
                </a:solidFill>
                <a:highlight>
                  <a:srgbClr val="FFFFFF"/>
                </a:highlight>
                <a:latin typeface="Cascadia Mono" panose="020B0609020000020004" pitchFamily="49" charset="0"/>
              </a:rPr>
              <a:t>"Customer"</a:t>
            </a:r>
            <a:r>
              <a:rPr lang="tr-TR" sz="1800" dirty="0">
                <a:solidFill>
                  <a:srgbClr val="000000"/>
                </a:solidFill>
                <a:highlight>
                  <a:srgbClr val="FFFFFF"/>
                </a:highlight>
                <a:latin typeface="Cascadia Mono" panose="020B0609020000020004" pitchFamily="49" charset="0"/>
              </a:rPr>
              <a:t>)]</a:t>
            </a:r>
          </a:p>
          <a:p>
            <a:pPr marL="0" indent="0">
              <a:buNone/>
            </a:pP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public</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int</a:t>
            </a:r>
            <a:r>
              <a:rPr lang="en-US" sz="1800" dirty="0">
                <a:solidFill>
                  <a:srgbClr val="000000"/>
                </a:solidFill>
                <a:highlight>
                  <a:srgbClr val="FFFFFF"/>
                </a:highlight>
                <a:latin typeface="Cascadia Mono" panose="020B0609020000020004" pitchFamily="49" charset="0"/>
              </a:rPr>
              <a:t> Customer_Id { </a:t>
            </a:r>
            <a:r>
              <a:rPr lang="en-US" sz="1800" dirty="0">
                <a:solidFill>
                  <a:srgbClr val="0000FF"/>
                </a:solidFill>
                <a:highlight>
                  <a:srgbClr val="FFFFFF"/>
                </a:highlight>
                <a:latin typeface="Cascadia Mono" panose="020B0609020000020004" pitchFamily="49" charset="0"/>
              </a:rPr>
              <a:t>get</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set</a:t>
            </a:r>
            <a:r>
              <a:rPr lang="en-US" sz="1800" dirty="0">
                <a:solidFill>
                  <a:srgbClr val="000000"/>
                </a:solidFill>
                <a:highlight>
                  <a:srgbClr val="FFFFFF"/>
                </a:highlight>
                <a:latin typeface="Cascadia Mono" panose="020B0609020000020004" pitchFamily="49" charset="0"/>
              </a:rPr>
              <a:t>; }</a:t>
            </a:r>
          </a:p>
          <a:p>
            <a:pPr marL="0" indent="0">
              <a:buNone/>
            </a:pPr>
            <a:endParaRPr lang="tr-TR" sz="1800" dirty="0">
              <a:solidFill>
                <a:srgbClr val="000000"/>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ForeignKey</a:t>
            </a:r>
            <a:r>
              <a:rPr lang="tr-TR" sz="1800" dirty="0">
                <a:solidFill>
                  <a:srgbClr val="000000"/>
                </a:solidFill>
                <a:highlight>
                  <a:srgbClr val="FFFFFF"/>
                </a:highlight>
                <a:latin typeface="Cascadia Mono" panose="020B0609020000020004" pitchFamily="49" charset="0"/>
              </a:rPr>
              <a:t>(</a:t>
            </a:r>
            <a:r>
              <a:rPr lang="tr-TR" sz="1800" dirty="0">
                <a:solidFill>
                  <a:srgbClr val="A31515"/>
                </a:solidFill>
                <a:highlight>
                  <a:srgbClr val="FFFFFF"/>
                </a:highlight>
                <a:latin typeface="Cascadia Mono" panose="020B0609020000020004" pitchFamily="49" charset="0"/>
              </a:rPr>
              <a:t>"Product"</a:t>
            </a:r>
            <a:r>
              <a:rPr lang="tr-TR" sz="1800" dirty="0">
                <a:solidFill>
                  <a:srgbClr val="000000"/>
                </a:solidFill>
                <a:highlight>
                  <a:srgbClr val="FFFFFF"/>
                </a:highlight>
                <a:latin typeface="Cascadia Mono" panose="020B0609020000020004" pitchFamily="49" charset="0"/>
              </a:rPr>
              <a:t>)]</a:t>
            </a:r>
          </a:p>
          <a:p>
            <a:pPr marL="0" indent="0">
              <a:buNone/>
            </a:pP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public</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int</a:t>
            </a:r>
            <a:r>
              <a:rPr lang="en-US" sz="1800" dirty="0">
                <a:solidFill>
                  <a:srgbClr val="000000"/>
                </a:solidFill>
                <a:highlight>
                  <a:srgbClr val="FFFFFF"/>
                </a:highlight>
                <a:latin typeface="Cascadia Mono" panose="020B0609020000020004" pitchFamily="49" charset="0"/>
              </a:rPr>
              <a:t> </a:t>
            </a:r>
            <a:r>
              <a:rPr lang="en-US" sz="1800" dirty="0" err="1">
                <a:solidFill>
                  <a:srgbClr val="000000"/>
                </a:solidFill>
                <a:highlight>
                  <a:srgbClr val="FFFFFF"/>
                </a:highlight>
                <a:latin typeface="Cascadia Mono" panose="020B0609020000020004" pitchFamily="49" charset="0"/>
              </a:rPr>
              <a:t>Product_Id</a:t>
            </a:r>
            <a:r>
              <a:rPr lang="en-US" sz="1800" dirty="0">
                <a:solidFill>
                  <a:srgbClr val="000000"/>
                </a:solidFill>
                <a:highlight>
                  <a:srgbClr val="FFFFFF"/>
                </a:highlight>
                <a:latin typeface="Cascadia Mono" panose="020B0609020000020004" pitchFamily="49" charset="0"/>
              </a:rPr>
              <a:t> { </a:t>
            </a:r>
            <a:r>
              <a:rPr lang="en-US" sz="1800" dirty="0">
                <a:solidFill>
                  <a:srgbClr val="0000FF"/>
                </a:solidFill>
                <a:highlight>
                  <a:srgbClr val="FFFFFF"/>
                </a:highlight>
                <a:latin typeface="Cascadia Mono" panose="020B0609020000020004" pitchFamily="49" charset="0"/>
              </a:rPr>
              <a:t>get</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set</a:t>
            </a:r>
            <a:r>
              <a:rPr lang="en-US" sz="1800" dirty="0">
                <a:solidFill>
                  <a:srgbClr val="000000"/>
                </a:solidFill>
                <a:highlight>
                  <a:srgbClr val="FFFFFF"/>
                </a:highlight>
                <a:latin typeface="Cascadia Mono" panose="020B0609020000020004" pitchFamily="49" charset="0"/>
              </a:rPr>
              <a:t>; }</a:t>
            </a:r>
          </a:p>
          <a:p>
            <a:pPr marL="0" indent="0">
              <a:buNone/>
            </a:pPr>
            <a:endParaRPr lang="tr-TR" sz="1800" dirty="0">
              <a:solidFill>
                <a:srgbClr val="000000"/>
              </a:solidFill>
              <a:highlight>
                <a:srgbClr val="FFFFFF"/>
              </a:highlight>
              <a:latin typeface="Cascadia Mono" panose="020B0609020000020004" pitchFamily="49" charset="0"/>
            </a:endParaRPr>
          </a:p>
          <a:p>
            <a:pPr marL="0" indent="0">
              <a:buNone/>
            </a:pP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public</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virtual</a:t>
            </a:r>
            <a:r>
              <a:rPr lang="en-US" sz="1800" dirty="0">
                <a:solidFill>
                  <a:srgbClr val="000000"/>
                </a:solidFill>
                <a:highlight>
                  <a:srgbClr val="FFFFFF"/>
                </a:highlight>
                <a:latin typeface="Cascadia Mono" panose="020B0609020000020004" pitchFamily="49" charset="0"/>
              </a:rPr>
              <a:t> </a:t>
            </a:r>
            <a:r>
              <a:rPr lang="en-US" sz="1800" dirty="0">
                <a:solidFill>
                  <a:srgbClr val="2B91AF"/>
                </a:solidFill>
                <a:highlight>
                  <a:srgbClr val="FFFFFF"/>
                </a:highlight>
                <a:latin typeface="Cascadia Mono" panose="020B0609020000020004" pitchFamily="49" charset="0"/>
              </a:rPr>
              <a:t>Customer</a:t>
            </a:r>
            <a:r>
              <a:rPr lang="en-US" sz="1800" dirty="0">
                <a:solidFill>
                  <a:srgbClr val="000000"/>
                </a:solidFill>
                <a:highlight>
                  <a:srgbClr val="FFFFFF"/>
                </a:highlight>
                <a:latin typeface="Cascadia Mono" panose="020B0609020000020004" pitchFamily="49" charset="0"/>
              </a:rPr>
              <a:t> </a:t>
            </a:r>
            <a:r>
              <a:rPr lang="en-US" sz="1800" dirty="0" err="1">
                <a:solidFill>
                  <a:srgbClr val="000000"/>
                </a:solidFill>
                <a:highlight>
                  <a:srgbClr val="FFFFFF"/>
                </a:highlight>
                <a:latin typeface="Cascadia Mono" panose="020B0609020000020004" pitchFamily="49" charset="0"/>
              </a:rPr>
              <a:t>Customer</a:t>
            </a:r>
            <a:r>
              <a:rPr lang="en-US" sz="1800" dirty="0">
                <a:solidFill>
                  <a:srgbClr val="000000"/>
                </a:solidFill>
                <a:highlight>
                  <a:srgbClr val="FFFFFF"/>
                </a:highlight>
                <a:latin typeface="Cascadia Mono" panose="020B0609020000020004" pitchFamily="49" charset="0"/>
              </a:rPr>
              <a:t> { </a:t>
            </a:r>
            <a:r>
              <a:rPr lang="en-US" sz="1800" dirty="0">
                <a:solidFill>
                  <a:srgbClr val="0000FF"/>
                </a:solidFill>
                <a:highlight>
                  <a:srgbClr val="FFFFFF"/>
                </a:highlight>
                <a:latin typeface="Cascadia Mono" panose="020B0609020000020004" pitchFamily="49" charset="0"/>
              </a:rPr>
              <a:t>get</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set</a:t>
            </a:r>
            <a:r>
              <a:rPr lang="en-US" sz="1800" dirty="0">
                <a:solidFill>
                  <a:srgbClr val="000000"/>
                </a:solidFill>
                <a:highlight>
                  <a:srgbClr val="FFFFFF"/>
                </a:highlight>
                <a:latin typeface="Cascadia Mono" panose="020B0609020000020004" pitchFamily="49" charset="0"/>
              </a:rPr>
              <a:t>; }</a:t>
            </a:r>
          </a:p>
          <a:p>
            <a:pPr marL="0" indent="0">
              <a:buNone/>
            </a:pP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public</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virtual</a:t>
            </a:r>
            <a:r>
              <a:rPr lang="en-US" sz="1800" dirty="0">
                <a:solidFill>
                  <a:srgbClr val="000000"/>
                </a:solidFill>
                <a:highlight>
                  <a:srgbClr val="FFFFFF"/>
                </a:highlight>
                <a:latin typeface="Cascadia Mono" panose="020B0609020000020004" pitchFamily="49" charset="0"/>
              </a:rPr>
              <a:t> </a:t>
            </a:r>
            <a:r>
              <a:rPr lang="en-US" sz="1800" dirty="0">
                <a:solidFill>
                  <a:srgbClr val="2B91AF"/>
                </a:solidFill>
                <a:highlight>
                  <a:srgbClr val="FFFFFF"/>
                </a:highlight>
                <a:latin typeface="Cascadia Mono" panose="020B0609020000020004" pitchFamily="49" charset="0"/>
              </a:rPr>
              <a:t>Product</a:t>
            </a:r>
            <a:r>
              <a:rPr lang="en-US" sz="1800" dirty="0">
                <a:solidFill>
                  <a:srgbClr val="000000"/>
                </a:solidFill>
                <a:highlight>
                  <a:srgbClr val="FFFFFF"/>
                </a:highlight>
                <a:latin typeface="Cascadia Mono" panose="020B0609020000020004" pitchFamily="49" charset="0"/>
              </a:rPr>
              <a:t> </a:t>
            </a:r>
            <a:r>
              <a:rPr lang="en-US" sz="1800" dirty="0" err="1">
                <a:solidFill>
                  <a:srgbClr val="000000"/>
                </a:solidFill>
                <a:highlight>
                  <a:srgbClr val="FFFFFF"/>
                </a:highlight>
                <a:latin typeface="Cascadia Mono" panose="020B0609020000020004" pitchFamily="49" charset="0"/>
              </a:rPr>
              <a:t>Product</a:t>
            </a:r>
            <a:r>
              <a:rPr lang="en-US" sz="1800" dirty="0">
                <a:solidFill>
                  <a:srgbClr val="000000"/>
                </a:solidFill>
                <a:highlight>
                  <a:srgbClr val="FFFFFF"/>
                </a:highlight>
                <a:latin typeface="Cascadia Mono" panose="020B0609020000020004" pitchFamily="49" charset="0"/>
              </a:rPr>
              <a:t> { </a:t>
            </a:r>
            <a:r>
              <a:rPr lang="en-US" sz="1800" dirty="0">
                <a:solidFill>
                  <a:srgbClr val="0000FF"/>
                </a:solidFill>
                <a:highlight>
                  <a:srgbClr val="FFFFFF"/>
                </a:highlight>
                <a:latin typeface="Cascadia Mono" panose="020B0609020000020004" pitchFamily="49" charset="0"/>
              </a:rPr>
              <a:t>get</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set</a:t>
            </a:r>
            <a:r>
              <a:rPr lang="en-US" sz="1800" dirty="0">
                <a:solidFill>
                  <a:srgbClr val="000000"/>
                </a:solidFill>
                <a:highlight>
                  <a:srgbClr val="FFFFFF"/>
                </a:highlight>
                <a:latin typeface="Cascadia Mono" panose="020B0609020000020004" pitchFamily="49" charset="0"/>
              </a:rPr>
              <a:t>; }</a:t>
            </a:r>
          </a:p>
          <a:p>
            <a:pPr marL="0" indent="0">
              <a:buNone/>
            </a:pPr>
            <a:r>
              <a:rPr lang="tr-TR" sz="1800" dirty="0">
                <a:solidFill>
                  <a:srgbClr val="000000"/>
                </a:solidFill>
                <a:highlight>
                  <a:srgbClr val="FFFFFF"/>
                </a:highlight>
                <a:latin typeface="Cascadia Mono" panose="020B0609020000020004" pitchFamily="49" charset="0"/>
              </a:rPr>
              <a:t>}</a:t>
            </a:r>
            <a:endParaRPr lang="tr-TR" sz="1800" dirty="0"/>
          </a:p>
        </p:txBody>
      </p:sp>
    </p:spTree>
    <p:extLst>
      <p:ext uri="{BB962C8B-B14F-4D97-AF65-F5344CB8AC3E}">
        <p14:creationId xmlns:p14="http://schemas.microsoft.com/office/powerpoint/2010/main" val="349587048"/>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4E0ED1-3451-684C-D1E5-439FBE8A5C63}"/>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AA56F6FF-63A7-6758-40EA-79691380177C}"/>
              </a:ext>
            </a:extLst>
          </p:cNvPr>
          <p:cNvSpPr>
            <a:spLocks noGrp="1"/>
          </p:cNvSpPr>
          <p:nvPr>
            <p:ph type="title"/>
          </p:nvPr>
        </p:nvSpPr>
        <p:spPr>
          <a:xfrm>
            <a:off x="838200" y="248495"/>
            <a:ext cx="10515600" cy="432542"/>
          </a:xfrm>
        </p:spPr>
        <p:txBody>
          <a:bodyPr>
            <a:noAutofit/>
          </a:bodyPr>
          <a:lstStyle/>
          <a:p>
            <a:pPr algn="ctr"/>
            <a:r>
              <a:rPr lang="tr-TR" sz="2800" dirty="0" err="1"/>
              <a:t>Table_CustomerProduct</a:t>
            </a:r>
            <a:r>
              <a:rPr lang="tr-TR" sz="2800" dirty="0"/>
              <a:t> Tablosu için CustomerProduct Sınıfı</a:t>
            </a:r>
          </a:p>
        </p:txBody>
      </p:sp>
      <p:sp>
        <p:nvSpPr>
          <p:cNvPr id="3" name="İçerik Yer Tutucusu 2">
            <a:extLst>
              <a:ext uri="{FF2B5EF4-FFF2-40B4-BE49-F238E27FC236}">
                <a16:creationId xmlns:a16="http://schemas.microsoft.com/office/drawing/2014/main" id="{BD010F43-6B21-88BB-48F3-A2B361D4F69B}"/>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Dikkat edilecek olursa Customer ve Product sınıflarını birer </a:t>
            </a:r>
            <a:r>
              <a:rPr lang="tr-TR" sz="1800" dirty="0" err="1"/>
              <a:t>Icollection</a:t>
            </a:r>
            <a:r>
              <a:rPr lang="tr-TR" sz="1800" dirty="0"/>
              <a:t> olarak tanımlamadık. Çünkü bu tablo zaten her iki tablonun da buluştuğu ilişkinin kendisidir. Burada ara tablo yoktur. Bundan dolayı, bu şekilde tanımladık.</a:t>
            </a:r>
          </a:p>
          <a:p>
            <a:pPr marL="0" indent="0" algn="just">
              <a:lnSpc>
                <a:spcPct val="100000"/>
              </a:lnSpc>
              <a:spcBef>
                <a:spcPts val="600"/>
              </a:spcBef>
              <a:spcAft>
                <a:spcPts val="600"/>
              </a:spcAft>
              <a:buNone/>
            </a:pPr>
            <a:endParaRPr lang="tr-TR" sz="1800" dirty="0"/>
          </a:p>
        </p:txBody>
      </p:sp>
      <p:pic>
        <p:nvPicPr>
          <p:cNvPr id="5" name="Resim 4" descr="metin, elektronik donanım, ekran görüntüsü, yazılım içeren bir resim&#10;&#10;Yapay zeka tarafından oluşturulan içerik yanlış olabilir.">
            <a:extLst>
              <a:ext uri="{FF2B5EF4-FFF2-40B4-BE49-F238E27FC236}">
                <a16:creationId xmlns:a16="http://schemas.microsoft.com/office/drawing/2014/main" id="{C4FA28E1-B754-649C-D4B3-E08BC4A70C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2640" y="1531819"/>
            <a:ext cx="4600719" cy="5118299"/>
          </a:xfrm>
          <a:prstGeom prst="rect">
            <a:avLst/>
          </a:prstGeom>
        </p:spPr>
      </p:pic>
    </p:spTree>
    <p:extLst>
      <p:ext uri="{BB962C8B-B14F-4D97-AF65-F5344CB8AC3E}">
        <p14:creationId xmlns:p14="http://schemas.microsoft.com/office/powerpoint/2010/main" val="363849584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F63BA-99E4-C755-8481-21AEF99C6802}"/>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E03757D8-A0E9-0546-3389-58DA764EC47D}"/>
              </a:ext>
            </a:extLst>
          </p:cNvPr>
          <p:cNvSpPr>
            <a:spLocks noGrp="1"/>
          </p:cNvSpPr>
          <p:nvPr>
            <p:ph type="title"/>
          </p:nvPr>
        </p:nvSpPr>
        <p:spPr>
          <a:xfrm>
            <a:off x="838200" y="248495"/>
            <a:ext cx="10515600" cy="432542"/>
          </a:xfrm>
        </p:spPr>
        <p:txBody>
          <a:bodyPr>
            <a:noAutofit/>
          </a:bodyPr>
          <a:lstStyle/>
          <a:p>
            <a:pPr algn="ctr"/>
            <a:r>
              <a:rPr lang="tr-TR" sz="2800" dirty="0" err="1"/>
              <a:t>Table_CustomerProduct</a:t>
            </a:r>
            <a:r>
              <a:rPr lang="tr-TR" sz="2800" dirty="0"/>
              <a:t> Tablosu için CustomerProduct Sınıfı</a:t>
            </a:r>
          </a:p>
        </p:txBody>
      </p:sp>
      <p:sp>
        <p:nvSpPr>
          <p:cNvPr id="3" name="İçerik Yer Tutucusu 2">
            <a:extLst>
              <a:ext uri="{FF2B5EF4-FFF2-40B4-BE49-F238E27FC236}">
                <a16:creationId xmlns:a16="http://schemas.microsoft.com/office/drawing/2014/main" id="{37CFE988-5A8F-1753-B1C3-81785BBC0485}"/>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Eğer </a:t>
            </a:r>
            <a:r>
              <a:rPr lang="tr-TR" sz="1800" dirty="0" err="1"/>
              <a:t>Icollection</a:t>
            </a:r>
            <a:r>
              <a:rPr lang="tr-TR" sz="1800" dirty="0"/>
              <a:t> ile normal bir sınıf nesnesi tanımlama arasındaki farkı anlamadıysanız aşağıdaki görsel sizin için faydalı olabilir:</a:t>
            </a:r>
          </a:p>
          <a:p>
            <a:pPr marL="0" indent="0" algn="just">
              <a:lnSpc>
                <a:spcPct val="100000"/>
              </a:lnSpc>
              <a:spcBef>
                <a:spcPts val="600"/>
              </a:spcBef>
              <a:spcAft>
                <a:spcPts val="600"/>
              </a:spcAft>
              <a:buNone/>
            </a:pPr>
            <a:endParaRPr lang="tr-TR" sz="1800" dirty="0"/>
          </a:p>
        </p:txBody>
      </p:sp>
      <p:pic>
        <p:nvPicPr>
          <p:cNvPr id="5" name="Resim 4" descr="metin, ekran görüntüsü, yazı tipi içeren bir resim&#10;&#10;Yapay zeka tarafından oluşturulan içerik yanlış olabilir.">
            <a:extLst>
              <a:ext uri="{FF2B5EF4-FFF2-40B4-BE49-F238E27FC236}">
                <a16:creationId xmlns:a16="http://schemas.microsoft.com/office/drawing/2014/main" id="{D3AAC5A2-E665-AF04-1461-0435BF540F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1781" y="2000602"/>
            <a:ext cx="9968438" cy="2632358"/>
          </a:xfrm>
          <a:prstGeom prst="rect">
            <a:avLst/>
          </a:prstGeom>
        </p:spPr>
      </p:pic>
    </p:spTree>
    <p:extLst>
      <p:ext uri="{BB962C8B-B14F-4D97-AF65-F5344CB8AC3E}">
        <p14:creationId xmlns:p14="http://schemas.microsoft.com/office/powerpoint/2010/main" val="218411201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A94B8-4F25-AD35-80E4-337A7051C6EF}"/>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2B5F3E52-B0D4-490A-C216-4A4E4AF58458}"/>
              </a:ext>
            </a:extLst>
          </p:cNvPr>
          <p:cNvSpPr>
            <a:spLocks noGrp="1"/>
          </p:cNvSpPr>
          <p:nvPr>
            <p:ph type="title"/>
          </p:nvPr>
        </p:nvSpPr>
        <p:spPr>
          <a:xfrm>
            <a:off x="838200" y="248495"/>
            <a:ext cx="10515600" cy="432542"/>
          </a:xfrm>
        </p:spPr>
        <p:txBody>
          <a:bodyPr>
            <a:noAutofit/>
          </a:bodyPr>
          <a:lstStyle/>
          <a:p>
            <a:pPr algn="ctr"/>
            <a:r>
              <a:rPr lang="tr-TR" sz="2800" dirty="0"/>
              <a:t>Customer Sınıfının Düzeltilmesi</a:t>
            </a:r>
          </a:p>
        </p:txBody>
      </p:sp>
      <p:sp>
        <p:nvSpPr>
          <p:cNvPr id="3" name="İçerik Yer Tutucusu 2">
            <a:extLst>
              <a:ext uri="{FF2B5EF4-FFF2-40B4-BE49-F238E27FC236}">
                <a16:creationId xmlns:a16="http://schemas.microsoft.com/office/drawing/2014/main" id="{FA10E7D2-D311-3461-5C69-41221A1CC464}"/>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Hatırlarsanız ilk tablomuz olan Table_Customer için yazdığımız ilk sınıfın (Customer) kodlarını tamamlamıştık ve 4 temel veri tabanı işlemini de halletmiştik. Ancak, projemizi genişlettik ve yeni işlemler-ilişkiler ekledik. Bunun için Table_Customer tablosunun da </a:t>
            </a:r>
            <a:r>
              <a:rPr lang="tr-TR" sz="1800" dirty="0" err="1"/>
              <a:t>Table_CustomerProduct</a:t>
            </a:r>
            <a:r>
              <a:rPr lang="tr-TR" sz="1800" dirty="0"/>
              <a:t> ile ilişkisi mevcuttur.</a:t>
            </a:r>
          </a:p>
          <a:p>
            <a:pPr marL="0" indent="0" algn="just">
              <a:lnSpc>
                <a:spcPct val="100000"/>
              </a:lnSpc>
              <a:spcBef>
                <a:spcPts val="600"/>
              </a:spcBef>
              <a:spcAft>
                <a:spcPts val="600"/>
              </a:spcAft>
              <a:buNone/>
            </a:pPr>
            <a:r>
              <a:rPr lang="tr-TR" sz="1800" dirty="0"/>
              <a:t>Yani, C# tarafında Customer sınıfında CustomerProduct sınıfı için bir ilişki eklememiz lazım.</a:t>
            </a:r>
          </a:p>
          <a:p>
            <a:pPr marL="0" indent="0" algn="just">
              <a:lnSpc>
                <a:spcPct val="100000"/>
              </a:lnSpc>
              <a:spcBef>
                <a:spcPts val="600"/>
              </a:spcBef>
              <a:spcAft>
                <a:spcPts val="600"/>
              </a:spcAft>
              <a:buNone/>
            </a:pPr>
            <a:endParaRPr lang="tr-TR" sz="1800" dirty="0"/>
          </a:p>
        </p:txBody>
      </p:sp>
    </p:spTree>
    <p:extLst>
      <p:ext uri="{BB962C8B-B14F-4D97-AF65-F5344CB8AC3E}">
        <p14:creationId xmlns:p14="http://schemas.microsoft.com/office/powerpoint/2010/main" val="13991703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ACD0C-C7C2-A244-E77B-B36C6B8F6D32}"/>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E3CDA33E-3ECB-5F1A-656C-22DC27C7DB56}"/>
              </a:ext>
            </a:extLst>
          </p:cNvPr>
          <p:cNvSpPr>
            <a:spLocks noGrp="1"/>
          </p:cNvSpPr>
          <p:nvPr>
            <p:ph type="title"/>
          </p:nvPr>
        </p:nvSpPr>
        <p:spPr>
          <a:xfrm>
            <a:off x="838200" y="248495"/>
            <a:ext cx="10515600" cy="432542"/>
          </a:xfrm>
        </p:spPr>
        <p:txBody>
          <a:bodyPr>
            <a:noAutofit/>
          </a:bodyPr>
          <a:lstStyle/>
          <a:p>
            <a:pPr algn="ctr"/>
            <a:r>
              <a:rPr lang="tr-TR" sz="2800" dirty="0"/>
              <a:t>Customer Sınıfının Düzeltilmesi</a:t>
            </a:r>
          </a:p>
        </p:txBody>
      </p:sp>
      <p:sp>
        <p:nvSpPr>
          <p:cNvPr id="3" name="İçerik Yer Tutucusu 2">
            <a:extLst>
              <a:ext uri="{FF2B5EF4-FFF2-40B4-BE49-F238E27FC236}">
                <a16:creationId xmlns:a16="http://schemas.microsoft.com/office/drawing/2014/main" id="{D4780C7A-E10B-E0DF-14A8-C5B78C221C41}"/>
              </a:ext>
            </a:extLst>
          </p:cNvPr>
          <p:cNvSpPr>
            <a:spLocks noGrp="1"/>
          </p:cNvSpPr>
          <p:nvPr>
            <p:ph idx="1"/>
          </p:nvPr>
        </p:nvSpPr>
        <p:spPr>
          <a:xfrm>
            <a:off x="838200" y="846306"/>
            <a:ext cx="10515600" cy="5885234"/>
          </a:xfrm>
        </p:spPr>
        <p:txBody>
          <a:bodyPr>
            <a:normAutofit fontScale="62500" lnSpcReduction="20000"/>
          </a:bodyPr>
          <a:lstStyle/>
          <a:p>
            <a:pPr marL="0" indent="0" algn="just">
              <a:lnSpc>
                <a:spcPct val="100000"/>
              </a:lnSpc>
              <a:spcBef>
                <a:spcPts val="600"/>
              </a:spcBef>
              <a:spcAft>
                <a:spcPts val="600"/>
              </a:spcAft>
              <a:buNone/>
            </a:pPr>
            <a:r>
              <a:rPr lang="tr-TR" sz="1800" dirty="0"/>
              <a:t>Mevcut Customer sınıfının kodları aşağıdaki gibidir:</a:t>
            </a:r>
          </a:p>
          <a:p>
            <a:pPr marL="0" indent="0">
              <a:buNone/>
            </a:pPr>
            <a:r>
              <a:rPr lang="tr-TR" sz="1800" dirty="0">
                <a:solidFill>
                  <a:srgbClr val="000000"/>
                </a:solidFill>
                <a:highlight>
                  <a:srgbClr val="FFFFFF"/>
                </a:highlight>
                <a:latin typeface="Cascadia Mono" panose="020B0609020000020004" pitchFamily="49" charset="0"/>
              </a:rPr>
              <a:t>[</a:t>
            </a:r>
            <a:r>
              <a:rPr lang="tr-TR" sz="1800" dirty="0">
                <a:solidFill>
                  <a:srgbClr val="2B91AF"/>
                </a:solidFill>
                <a:highlight>
                  <a:srgbClr val="FFFFFF"/>
                </a:highlight>
                <a:latin typeface="Cascadia Mono" panose="020B0609020000020004" pitchFamily="49" charset="0"/>
              </a:rPr>
              <a:t>Table</a:t>
            </a:r>
            <a:r>
              <a:rPr lang="tr-TR" sz="1800" dirty="0">
                <a:solidFill>
                  <a:srgbClr val="000000"/>
                </a:solidFill>
                <a:highlight>
                  <a:srgbClr val="FFFFFF"/>
                </a:highlight>
                <a:latin typeface="Cascadia Mono" panose="020B0609020000020004" pitchFamily="49" charset="0"/>
              </a:rPr>
              <a:t>(</a:t>
            </a:r>
            <a:r>
              <a:rPr lang="tr-TR" sz="1800" dirty="0">
                <a:solidFill>
                  <a:srgbClr val="A31515"/>
                </a:solidFill>
                <a:highlight>
                  <a:srgbClr val="FFFFFF"/>
                </a:highlight>
                <a:latin typeface="Cascadia Mono" panose="020B0609020000020004" pitchFamily="49" charset="0"/>
              </a:rPr>
              <a:t>"Table_Customer"</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err="1">
                <a:solidFill>
                  <a:srgbClr val="0000FF"/>
                </a:solidFill>
                <a:highlight>
                  <a:srgbClr val="FFFFFF"/>
                </a:highlight>
                <a:latin typeface="Cascadia Mono" panose="020B0609020000020004" pitchFamily="49" charset="0"/>
              </a:rPr>
              <a:t>internal</a:t>
            </a:r>
            <a:r>
              <a:rPr lang="tr-TR" sz="1800" dirty="0">
                <a:solidFill>
                  <a:srgbClr val="000000"/>
                </a:solidFill>
                <a:highlight>
                  <a:srgbClr val="FFFFFF"/>
                </a:highlight>
                <a:latin typeface="Cascadia Mono" panose="020B0609020000020004" pitchFamily="49" charset="0"/>
              </a:rPr>
              <a:t> </a:t>
            </a:r>
            <a:r>
              <a:rPr lang="tr-TR" sz="1800" dirty="0">
                <a:solidFill>
                  <a:srgbClr val="0000FF"/>
                </a:solidFill>
                <a:highlight>
                  <a:srgbClr val="FFFFFF"/>
                </a:highlight>
                <a:latin typeface="Cascadia Mono" panose="020B0609020000020004" pitchFamily="49" charset="0"/>
              </a:rPr>
              <a:t>class</a:t>
            </a:r>
            <a:r>
              <a:rPr lang="tr-TR" sz="1800" dirty="0">
                <a:solidFill>
                  <a:srgbClr val="000000"/>
                </a:solidFill>
                <a:highlight>
                  <a:srgbClr val="FFFFFF"/>
                </a:highlight>
                <a:latin typeface="Cascadia Mono" panose="020B0609020000020004" pitchFamily="49" charset="0"/>
              </a:rPr>
              <a:t> </a:t>
            </a:r>
            <a:r>
              <a:rPr lang="tr-TR" sz="1800" dirty="0">
                <a:solidFill>
                  <a:srgbClr val="2B91AF"/>
                </a:solidFill>
                <a:highlight>
                  <a:srgbClr val="FFFFFF"/>
                </a:highlight>
                <a:latin typeface="Cascadia Mono" panose="020B0609020000020004" pitchFamily="49" charset="0"/>
              </a:rPr>
              <a:t>Customer</a:t>
            </a:r>
          </a:p>
          <a:p>
            <a:pPr marL="0" indent="0">
              <a:buNone/>
            </a:pP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a:solidFill>
                  <a:srgbClr val="2B91AF"/>
                </a:solidFill>
                <a:highlight>
                  <a:srgbClr val="FFFFFF"/>
                </a:highlight>
                <a:latin typeface="Cascadia Mono" panose="020B0609020000020004" pitchFamily="49" charset="0"/>
              </a:rPr>
              <a:t>Key</a:t>
            </a:r>
            <a:r>
              <a:rPr lang="tr-TR" sz="1800" dirty="0">
                <a:solidFill>
                  <a:srgbClr val="000000"/>
                </a:solidFill>
                <a:highlight>
                  <a:srgbClr val="FFFFFF"/>
                </a:highlight>
                <a:latin typeface="Cascadia Mono" panose="020B0609020000020004" pitchFamily="49" charset="0"/>
              </a:rPr>
              <a:t>]</a:t>
            </a:r>
          </a:p>
          <a:p>
            <a:pPr marL="0" indent="0">
              <a:buNone/>
            </a:pP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public</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int</a:t>
            </a:r>
            <a:r>
              <a:rPr lang="en-US" sz="1800" dirty="0">
                <a:solidFill>
                  <a:srgbClr val="000000"/>
                </a:solidFill>
                <a:highlight>
                  <a:srgbClr val="FFFFFF"/>
                </a:highlight>
                <a:latin typeface="Cascadia Mono" panose="020B0609020000020004" pitchFamily="49" charset="0"/>
              </a:rPr>
              <a:t> Customer_Id { </a:t>
            </a:r>
            <a:r>
              <a:rPr lang="en-US" sz="1800" dirty="0">
                <a:solidFill>
                  <a:srgbClr val="0000FF"/>
                </a:solidFill>
                <a:highlight>
                  <a:srgbClr val="FFFFFF"/>
                </a:highlight>
                <a:latin typeface="Cascadia Mono" panose="020B0609020000020004" pitchFamily="49" charset="0"/>
              </a:rPr>
              <a:t>get</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set</a:t>
            </a:r>
            <a:r>
              <a:rPr lang="en-US" sz="1800" dirty="0">
                <a:solidFill>
                  <a:srgbClr val="000000"/>
                </a:solidFill>
                <a:highlight>
                  <a:srgbClr val="FFFFFF"/>
                </a:highlight>
                <a:latin typeface="Cascadia Mono" panose="020B0609020000020004" pitchFamily="49" charset="0"/>
              </a:rPr>
              <a:t>; }</a:t>
            </a:r>
          </a:p>
          <a:p>
            <a:pPr marL="0" indent="0">
              <a:buNone/>
            </a:pPr>
            <a:endParaRPr lang="tr-TR" sz="1800" dirty="0">
              <a:solidFill>
                <a:srgbClr val="000000"/>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Required</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MaxLength</a:t>
            </a:r>
            <a:r>
              <a:rPr lang="tr-TR" sz="1800" dirty="0">
                <a:solidFill>
                  <a:srgbClr val="000000"/>
                </a:solidFill>
                <a:highlight>
                  <a:srgbClr val="FFFFFF"/>
                </a:highlight>
                <a:latin typeface="Cascadia Mono" panose="020B0609020000020004" pitchFamily="49" charset="0"/>
              </a:rPr>
              <a:t>(50)]</a:t>
            </a:r>
          </a:p>
          <a:p>
            <a:pPr marL="0" indent="0">
              <a:buNone/>
            </a:pP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public</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string</a:t>
            </a:r>
            <a:r>
              <a:rPr lang="en-US" sz="1800" dirty="0">
                <a:solidFill>
                  <a:srgbClr val="000000"/>
                </a:solidFill>
                <a:highlight>
                  <a:srgbClr val="FFFFFF"/>
                </a:highlight>
                <a:latin typeface="Cascadia Mono" panose="020B0609020000020004" pitchFamily="49" charset="0"/>
              </a:rPr>
              <a:t> </a:t>
            </a:r>
            <a:r>
              <a:rPr lang="en-US" sz="1800" dirty="0" err="1">
                <a:solidFill>
                  <a:srgbClr val="000000"/>
                </a:solidFill>
                <a:highlight>
                  <a:srgbClr val="FFFFFF"/>
                </a:highlight>
                <a:latin typeface="Cascadia Mono" panose="020B0609020000020004" pitchFamily="49" charset="0"/>
              </a:rPr>
              <a:t>Customer_Name</a:t>
            </a:r>
            <a:r>
              <a:rPr lang="en-US" sz="1800" dirty="0">
                <a:solidFill>
                  <a:srgbClr val="000000"/>
                </a:solidFill>
                <a:highlight>
                  <a:srgbClr val="FFFFFF"/>
                </a:highlight>
                <a:latin typeface="Cascadia Mono" panose="020B0609020000020004" pitchFamily="49" charset="0"/>
              </a:rPr>
              <a:t> { </a:t>
            </a:r>
            <a:r>
              <a:rPr lang="en-US" sz="1800" dirty="0">
                <a:solidFill>
                  <a:srgbClr val="0000FF"/>
                </a:solidFill>
                <a:highlight>
                  <a:srgbClr val="FFFFFF"/>
                </a:highlight>
                <a:latin typeface="Cascadia Mono" panose="020B0609020000020004" pitchFamily="49" charset="0"/>
              </a:rPr>
              <a:t>get</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set</a:t>
            </a:r>
            <a:r>
              <a:rPr lang="en-US" sz="1800" dirty="0">
                <a:solidFill>
                  <a:srgbClr val="000000"/>
                </a:solidFill>
                <a:highlight>
                  <a:srgbClr val="FFFFFF"/>
                </a:highlight>
                <a:latin typeface="Cascadia Mono" panose="020B0609020000020004" pitchFamily="49" charset="0"/>
              </a:rPr>
              <a:t>; }</a:t>
            </a:r>
          </a:p>
          <a:p>
            <a:pPr marL="0" indent="0">
              <a:buNone/>
            </a:pPr>
            <a:endParaRPr lang="tr-TR" sz="1800" dirty="0">
              <a:solidFill>
                <a:srgbClr val="000000"/>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Required</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MaxLength</a:t>
            </a:r>
            <a:r>
              <a:rPr lang="tr-TR" sz="1800" dirty="0">
                <a:solidFill>
                  <a:srgbClr val="000000"/>
                </a:solidFill>
                <a:highlight>
                  <a:srgbClr val="FFFFFF"/>
                </a:highlight>
                <a:latin typeface="Cascadia Mono" panose="020B0609020000020004" pitchFamily="49" charset="0"/>
              </a:rPr>
              <a:t>(50)]</a:t>
            </a:r>
          </a:p>
          <a:p>
            <a:pPr marL="0" indent="0">
              <a:buNone/>
            </a:pP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public</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string</a:t>
            </a:r>
            <a:r>
              <a:rPr lang="en-US" sz="1800" dirty="0">
                <a:solidFill>
                  <a:srgbClr val="000000"/>
                </a:solidFill>
                <a:highlight>
                  <a:srgbClr val="FFFFFF"/>
                </a:highlight>
                <a:latin typeface="Cascadia Mono" panose="020B0609020000020004" pitchFamily="49" charset="0"/>
              </a:rPr>
              <a:t> </a:t>
            </a:r>
            <a:r>
              <a:rPr lang="en-US" sz="1800" dirty="0" err="1">
                <a:solidFill>
                  <a:srgbClr val="000000"/>
                </a:solidFill>
                <a:highlight>
                  <a:srgbClr val="FFFFFF"/>
                </a:highlight>
                <a:latin typeface="Cascadia Mono" panose="020B0609020000020004" pitchFamily="49" charset="0"/>
              </a:rPr>
              <a:t>Customer_Surname</a:t>
            </a:r>
            <a:r>
              <a:rPr lang="en-US" sz="1800" dirty="0">
                <a:solidFill>
                  <a:srgbClr val="000000"/>
                </a:solidFill>
                <a:highlight>
                  <a:srgbClr val="FFFFFF"/>
                </a:highlight>
                <a:latin typeface="Cascadia Mono" panose="020B0609020000020004" pitchFamily="49" charset="0"/>
              </a:rPr>
              <a:t> { </a:t>
            </a:r>
            <a:r>
              <a:rPr lang="en-US" sz="1800" dirty="0">
                <a:solidFill>
                  <a:srgbClr val="0000FF"/>
                </a:solidFill>
                <a:highlight>
                  <a:srgbClr val="FFFFFF"/>
                </a:highlight>
                <a:latin typeface="Cascadia Mono" panose="020B0609020000020004" pitchFamily="49" charset="0"/>
              </a:rPr>
              <a:t>get</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set</a:t>
            </a:r>
            <a:r>
              <a:rPr lang="en-US" sz="1800" dirty="0">
                <a:solidFill>
                  <a:srgbClr val="000000"/>
                </a:solidFill>
                <a:highlight>
                  <a:srgbClr val="FFFFFF"/>
                </a:highlight>
                <a:latin typeface="Cascadia Mono" panose="020B0609020000020004" pitchFamily="49" charset="0"/>
              </a:rPr>
              <a:t>; }</a:t>
            </a:r>
          </a:p>
          <a:p>
            <a:pPr marL="0" indent="0">
              <a:buNone/>
            </a:pPr>
            <a:endParaRPr lang="tr-TR" sz="1800" dirty="0">
              <a:solidFill>
                <a:srgbClr val="000000"/>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Required</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MaxLength</a:t>
            </a:r>
            <a:r>
              <a:rPr lang="tr-TR" sz="1800" dirty="0">
                <a:solidFill>
                  <a:srgbClr val="000000"/>
                </a:solidFill>
                <a:highlight>
                  <a:srgbClr val="FFFFFF"/>
                </a:highlight>
                <a:latin typeface="Cascadia Mono" panose="020B0609020000020004" pitchFamily="49" charset="0"/>
              </a:rPr>
              <a:t>(50)]</a:t>
            </a:r>
          </a:p>
          <a:p>
            <a:pPr marL="0" indent="0">
              <a:buNone/>
            </a:pP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public</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string</a:t>
            </a:r>
            <a:r>
              <a:rPr lang="en-US" sz="1800" dirty="0">
                <a:solidFill>
                  <a:srgbClr val="000000"/>
                </a:solidFill>
                <a:highlight>
                  <a:srgbClr val="FFFFFF"/>
                </a:highlight>
                <a:latin typeface="Cascadia Mono" panose="020B0609020000020004" pitchFamily="49" charset="0"/>
              </a:rPr>
              <a:t> </a:t>
            </a:r>
            <a:r>
              <a:rPr lang="en-US" sz="1800" dirty="0" err="1">
                <a:solidFill>
                  <a:srgbClr val="000000"/>
                </a:solidFill>
                <a:highlight>
                  <a:srgbClr val="FFFFFF"/>
                </a:highlight>
                <a:latin typeface="Cascadia Mono" panose="020B0609020000020004" pitchFamily="49" charset="0"/>
              </a:rPr>
              <a:t>Customer_email</a:t>
            </a:r>
            <a:r>
              <a:rPr lang="en-US" sz="1800" dirty="0">
                <a:solidFill>
                  <a:srgbClr val="000000"/>
                </a:solidFill>
                <a:highlight>
                  <a:srgbClr val="FFFFFF"/>
                </a:highlight>
                <a:latin typeface="Cascadia Mono" panose="020B0609020000020004" pitchFamily="49" charset="0"/>
              </a:rPr>
              <a:t> { </a:t>
            </a:r>
            <a:r>
              <a:rPr lang="en-US" sz="1800" dirty="0">
                <a:solidFill>
                  <a:srgbClr val="0000FF"/>
                </a:solidFill>
                <a:highlight>
                  <a:srgbClr val="FFFFFF"/>
                </a:highlight>
                <a:latin typeface="Cascadia Mono" panose="020B0609020000020004" pitchFamily="49" charset="0"/>
              </a:rPr>
              <a:t>get</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set</a:t>
            </a:r>
            <a:r>
              <a:rPr lang="en-US" sz="1800" dirty="0">
                <a:solidFill>
                  <a:srgbClr val="000000"/>
                </a:solidFill>
                <a:highlight>
                  <a:srgbClr val="FFFFFF"/>
                </a:highlight>
                <a:latin typeface="Cascadia Mono" panose="020B0609020000020004" pitchFamily="49" charset="0"/>
              </a:rPr>
              <a:t>; }</a:t>
            </a:r>
          </a:p>
          <a:p>
            <a:pPr marL="0" indent="0">
              <a:buNone/>
            </a:pPr>
            <a:endParaRPr lang="tr-TR" sz="1800" dirty="0">
              <a:solidFill>
                <a:srgbClr val="000000"/>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Required</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MaxLength</a:t>
            </a:r>
            <a:r>
              <a:rPr lang="tr-TR" sz="1800" dirty="0">
                <a:solidFill>
                  <a:srgbClr val="000000"/>
                </a:solidFill>
                <a:highlight>
                  <a:srgbClr val="FFFFFF"/>
                </a:highlight>
                <a:latin typeface="Cascadia Mono" panose="020B0609020000020004" pitchFamily="49" charset="0"/>
              </a:rPr>
              <a:t>(50)]</a:t>
            </a:r>
          </a:p>
          <a:p>
            <a:pPr marL="0" indent="0">
              <a:buNone/>
            </a:pP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public</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string</a:t>
            </a:r>
            <a:r>
              <a:rPr lang="en-US" sz="1800" dirty="0">
                <a:solidFill>
                  <a:srgbClr val="000000"/>
                </a:solidFill>
                <a:highlight>
                  <a:srgbClr val="FFFFFF"/>
                </a:highlight>
                <a:latin typeface="Cascadia Mono" panose="020B0609020000020004" pitchFamily="49" charset="0"/>
              </a:rPr>
              <a:t> </a:t>
            </a:r>
            <a:r>
              <a:rPr lang="en-US" sz="1800" dirty="0" err="1">
                <a:solidFill>
                  <a:srgbClr val="000000"/>
                </a:solidFill>
                <a:highlight>
                  <a:srgbClr val="FFFFFF"/>
                </a:highlight>
                <a:latin typeface="Cascadia Mono" panose="020B0609020000020004" pitchFamily="49" charset="0"/>
              </a:rPr>
              <a:t>Customer_telephone</a:t>
            </a:r>
            <a:r>
              <a:rPr lang="en-US" sz="1800" dirty="0">
                <a:solidFill>
                  <a:srgbClr val="000000"/>
                </a:solidFill>
                <a:highlight>
                  <a:srgbClr val="FFFFFF"/>
                </a:highlight>
                <a:latin typeface="Cascadia Mono" panose="020B0609020000020004" pitchFamily="49" charset="0"/>
              </a:rPr>
              <a:t> { </a:t>
            </a:r>
            <a:r>
              <a:rPr lang="en-US" sz="1800" dirty="0">
                <a:solidFill>
                  <a:srgbClr val="0000FF"/>
                </a:solidFill>
                <a:highlight>
                  <a:srgbClr val="FFFFFF"/>
                </a:highlight>
                <a:latin typeface="Cascadia Mono" panose="020B0609020000020004" pitchFamily="49" charset="0"/>
              </a:rPr>
              <a:t>get</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set</a:t>
            </a:r>
            <a:r>
              <a:rPr lang="en-US" sz="1800" dirty="0">
                <a:solidFill>
                  <a:srgbClr val="000000"/>
                </a:solidFill>
                <a:highlight>
                  <a:srgbClr val="FFFFFF"/>
                </a:highlight>
                <a:latin typeface="Cascadia Mono" panose="020B0609020000020004" pitchFamily="49" charset="0"/>
              </a:rPr>
              <a:t>; }</a:t>
            </a:r>
          </a:p>
          <a:p>
            <a:pPr marL="0" indent="0">
              <a:buNone/>
            </a:pPr>
            <a:r>
              <a:rPr lang="tr-TR" sz="1800" dirty="0">
                <a:solidFill>
                  <a:srgbClr val="000000"/>
                </a:solidFill>
                <a:highlight>
                  <a:srgbClr val="FFFFFF"/>
                </a:highlight>
                <a:latin typeface="Cascadia Mono" panose="020B0609020000020004" pitchFamily="49" charset="0"/>
              </a:rPr>
              <a:t>}</a:t>
            </a:r>
            <a:endParaRPr lang="tr-TR" sz="1800" dirty="0"/>
          </a:p>
        </p:txBody>
      </p:sp>
    </p:spTree>
    <p:extLst>
      <p:ext uri="{BB962C8B-B14F-4D97-AF65-F5344CB8AC3E}">
        <p14:creationId xmlns:p14="http://schemas.microsoft.com/office/powerpoint/2010/main" val="84123909"/>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779262-0996-3CDD-908B-1C0418A8945C}"/>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D4538FDD-385A-1746-27A1-C4CB39B8A51D}"/>
              </a:ext>
            </a:extLst>
          </p:cNvPr>
          <p:cNvSpPr>
            <a:spLocks noGrp="1"/>
          </p:cNvSpPr>
          <p:nvPr>
            <p:ph type="title"/>
          </p:nvPr>
        </p:nvSpPr>
        <p:spPr>
          <a:xfrm>
            <a:off x="838200" y="248495"/>
            <a:ext cx="10515600" cy="432542"/>
          </a:xfrm>
        </p:spPr>
        <p:txBody>
          <a:bodyPr>
            <a:noAutofit/>
          </a:bodyPr>
          <a:lstStyle/>
          <a:p>
            <a:pPr algn="ctr"/>
            <a:r>
              <a:rPr lang="tr-TR" sz="2800" dirty="0"/>
              <a:t>Customer Sınıfının Düzeltilmesi</a:t>
            </a:r>
          </a:p>
        </p:txBody>
      </p:sp>
      <p:pic>
        <p:nvPicPr>
          <p:cNvPr id="5" name="İçerik Yer Tutucusu 4" descr="metin, ekran görüntüsü, yazılım, multimedya yazılımı içeren bir resim&#10;&#10;Yapay zeka tarafından oluşturulan içerik yanlış olabilir.">
            <a:extLst>
              <a:ext uri="{FF2B5EF4-FFF2-40B4-BE49-F238E27FC236}">
                <a16:creationId xmlns:a16="http://schemas.microsoft.com/office/drawing/2014/main" id="{736B573C-9CDF-2493-0FDF-6537BD87B09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00112" y="826851"/>
            <a:ext cx="4569111" cy="5782654"/>
          </a:xfrm>
        </p:spPr>
      </p:pic>
    </p:spTree>
    <p:extLst>
      <p:ext uri="{BB962C8B-B14F-4D97-AF65-F5344CB8AC3E}">
        <p14:creationId xmlns:p14="http://schemas.microsoft.com/office/powerpoint/2010/main" val="2472120662"/>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77683-B809-F6D1-4FDC-A610F7E2F14C}"/>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BFED4E03-6D6B-B8A8-7EAB-E9EE90E1BDA5}"/>
              </a:ext>
            </a:extLst>
          </p:cNvPr>
          <p:cNvSpPr>
            <a:spLocks noGrp="1"/>
          </p:cNvSpPr>
          <p:nvPr>
            <p:ph type="title"/>
          </p:nvPr>
        </p:nvSpPr>
        <p:spPr>
          <a:xfrm>
            <a:off x="838200" y="248495"/>
            <a:ext cx="10515600" cy="432542"/>
          </a:xfrm>
        </p:spPr>
        <p:txBody>
          <a:bodyPr>
            <a:noAutofit/>
          </a:bodyPr>
          <a:lstStyle/>
          <a:p>
            <a:pPr algn="ctr"/>
            <a:r>
              <a:rPr lang="tr-TR" sz="2800" dirty="0"/>
              <a:t>Customer Sınıfının Düzeltilmesi</a:t>
            </a:r>
          </a:p>
        </p:txBody>
      </p:sp>
      <p:sp>
        <p:nvSpPr>
          <p:cNvPr id="3" name="İçerik Yer Tutucusu 2">
            <a:extLst>
              <a:ext uri="{FF2B5EF4-FFF2-40B4-BE49-F238E27FC236}">
                <a16:creationId xmlns:a16="http://schemas.microsoft.com/office/drawing/2014/main" id="{17535C21-C5B2-F521-20F8-B6B9F21A95A5}"/>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Şimdi Customer sınıfı içerisine aşağıdaki kodu ekliyoruz:</a:t>
            </a:r>
          </a:p>
          <a:p>
            <a:pPr marL="0" indent="0" algn="just">
              <a:lnSpc>
                <a:spcPct val="100000"/>
              </a:lnSpc>
              <a:spcBef>
                <a:spcPts val="600"/>
              </a:spcBef>
              <a:spcAft>
                <a:spcPts val="600"/>
              </a:spcAft>
              <a:buNone/>
            </a:pPr>
            <a:r>
              <a:rPr lang="en-US" sz="1800" dirty="0">
                <a:solidFill>
                  <a:srgbClr val="0000FF"/>
                </a:solidFill>
                <a:highlight>
                  <a:srgbClr val="FFFFFF"/>
                </a:highlight>
                <a:latin typeface="Cascadia Mono" panose="020B0609020000020004" pitchFamily="49" charset="0"/>
              </a:rPr>
              <a:t>public</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virtual</a:t>
            </a:r>
            <a:r>
              <a:rPr lang="en-US" sz="1800" dirty="0">
                <a:solidFill>
                  <a:srgbClr val="000000"/>
                </a:solidFill>
                <a:highlight>
                  <a:srgbClr val="FFFFFF"/>
                </a:highlight>
                <a:latin typeface="Cascadia Mono" panose="020B0609020000020004" pitchFamily="49" charset="0"/>
              </a:rPr>
              <a:t> </a:t>
            </a:r>
            <a:r>
              <a:rPr lang="en-US" sz="1800" dirty="0" err="1">
                <a:solidFill>
                  <a:srgbClr val="2B91AF"/>
                </a:solidFill>
                <a:highlight>
                  <a:srgbClr val="FFFFFF"/>
                </a:highlight>
                <a:latin typeface="Cascadia Mono" panose="020B0609020000020004" pitchFamily="49" charset="0"/>
              </a:rPr>
              <a:t>ICollection</a:t>
            </a:r>
            <a:r>
              <a:rPr lang="en-US" sz="1800" dirty="0">
                <a:solidFill>
                  <a:srgbClr val="000000"/>
                </a:solidFill>
                <a:highlight>
                  <a:srgbClr val="FFFFFF"/>
                </a:highlight>
                <a:latin typeface="Cascadia Mono" panose="020B0609020000020004" pitchFamily="49" charset="0"/>
              </a:rPr>
              <a:t>&lt;</a:t>
            </a:r>
            <a:r>
              <a:rPr lang="en-US" sz="1800" dirty="0" err="1">
                <a:solidFill>
                  <a:srgbClr val="2B91AF"/>
                </a:solidFill>
                <a:highlight>
                  <a:srgbClr val="FFFFFF"/>
                </a:highlight>
                <a:latin typeface="Cascadia Mono" panose="020B0609020000020004" pitchFamily="49" charset="0"/>
              </a:rPr>
              <a:t>CustomerProduct</a:t>
            </a:r>
            <a:r>
              <a:rPr lang="en-US" sz="1800" dirty="0">
                <a:solidFill>
                  <a:srgbClr val="000000"/>
                </a:solidFill>
                <a:highlight>
                  <a:srgbClr val="FFFFFF"/>
                </a:highlight>
                <a:latin typeface="Cascadia Mono" panose="020B0609020000020004" pitchFamily="49" charset="0"/>
              </a:rPr>
              <a:t>&gt; </a:t>
            </a:r>
            <a:r>
              <a:rPr lang="en-US" sz="1800" dirty="0" err="1">
                <a:solidFill>
                  <a:srgbClr val="000000"/>
                </a:solidFill>
                <a:highlight>
                  <a:srgbClr val="FFFFFF"/>
                </a:highlight>
                <a:latin typeface="Cascadia Mono" panose="020B0609020000020004" pitchFamily="49" charset="0"/>
              </a:rPr>
              <a:t>CustomerProducts</a:t>
            </a:r>
            <a:r>
              <a:rPr lang="en-US" sz="1800" dirty="0">
                <a:solidFill>
                  <a:srgbClr val="000000"/>
                </a:solidFill>
                <a:highlight>
                  <a:srgbClr val="FFFFFF"/>
                </a:highlight>
                <a:latin typeface="Cascadia Mono" panose="020B0609020000020004" pitchFamily="49" charset="0"/>
              </a:rPr>
              <a:t> { </a:t>
            </a:r>
            <a:r>
              <a:rPr lang="en-US" sz="1800" dirty="0">
                <a:solidFill>
                  <a:srgbClr val="0000FF"/>
                </a:solidFill>
                <a:highlight>
                  <a:srgbClr val="FFFFFF"/>
                </a:highlight>
                <a:latin typeface="Cascadia Mono" panose="020B0609020000020004" pitchFamily="49" charset="0"/>
              </a:rPr>
              <a:t>get</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set</a:t>
            </a:r>
            <a:r>
              <a:rPr lang="en-US" sz="1800" dirty="0">
                <a:solidFill>
                  <a:srgbClr val="000000"/>
                </a:solidFill>
                <a:highlight>
                  <a:srgbClr val="FFFFFF"/>
                </a:highlight>
                <a:latin typeface="Cascadia Mono" panose="020B0609020000020004" pitchFamily="49" charset="0"/>
              </a:rPr>
              <a:t>; }</a:t>
            </a:r>
            <a:endParaRPr lang="tr-TR" sz="1800" dirty="0"/>
          </a:p>
          <a:p>
            <a:pPr marL="0" indent="0" algn="just">
              <a:lnSpc>
                <a:spcPct val="100000"/>
              </a:lnSpc>
              <a:spcBef>
                <a:spcPts val="600"/>
              </a:spcBef>
              <a:spcAft>
                <a:spcPts val="600"/>
              </a:spcAft>
              <a:buNone/>
            </a:pPr>
            <a:r>
              <a:rPr lang="tr-TR" sz="1800" dirty="0"/>
              <a:t>Customer sınıfının birden fazla CustomerProduct ile işi olabileceği için </a:t>
            </a:r>
            <a:r>
              <a:rPr lang="tr-TR" sz="1800" dirty="0" err="1"/>
              <a:t>Icollection</a:t>
            </a:r>
            <a:r>
              <a:rPr lang="tr-TR" sz="1800" dirty="0"/>
              <a:t> olarak ekledik.</a:t>
            </a:r>
          </a:p>
        </p:txBody>
      </p:sp>
    </p:spTree>
    <p:extLst>
      <p:ext uri="{BB962C8B-B14F-4D97-AF65-F5344CB8AC3E}">
        <p14:creationId xmlns:p14="http://schemas.microsoft.com/office/powerpoint/2010/main" val="3675849337"/>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0AD03D-FA0C-C9B4-FAC6-3006F41BE35D}"/>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C45B48BF-CFBC-F322-73F4-93F92D7FEEC2}"/>
              </a:ext>
            </a:extLst>
          </p:cNvPr>
          <p:cNvSpPr>
            <a:spLocks noGrp="1"/>
          </p:cNvSpPr>
          <p:nvPr>
            <p:ph type="title"/>
          </p:nvPr>
        </p:nvSpPr>
        <p:spPr>
          <a:xfrm>
            <a:off x="838200" y="248495"/>
            <a:ext cx="10515600" cy="432542"/>
          </a:xfrm>
        </p:spPr>
        <p:txBody>
          <a:bodyPr>
            <a:noAutofit/>
          </a:bodyPr>
          <a:lstStyle/>
          <a:p>
            <a:pPr algn="ctr"/>
            <a:r>
              <a:rPr lang="tr-TR" sz="2800" dirty="0"/>
              <a:t>Customer Sınıfının Düzeltilmesi</a:t>
            </a:r>
          </a:p>
        </p:txBody>
      </p:sp>
      <p:pic>
        <p:nvPicPr>
          <p:cNvPr id="5" name="İçerik Yer Tutucusu 4" descr="metin, ekran görüntüsü, yazılım, işletim sistemi içeren bir resim&#10;&#10;Yapay zeka tarafından oluşturulan içerik yanlış olabilir.">
            <a:extLst>
              <a:ext uri="{FF2B5EF4-FFF2-40B4-BE49-F238E27FC236}">
                <a16:creationId xmlns:a16="http://schemas.microsoft.com/office/drawing/2014/main" id="{DF2190F8-1F0F-88C5-CCBD-9B3DBB60B89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25725" y="826433"/>
            <a:ext cx="6940550" cy="6031567"/>
          </a:xfrm>
        </p:spPr>
      </p:pic>
    </p:spTree>
    <p:extLst>
      <p:ext uri="{BB962C8B-B14F-4D97-AF65-F5344CB8AC3E}">
        <p14:creationId xmlns:p14="http://schemas.microsoft.com/office/powerpoint/2010/main" val="1811792764"/>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ED086-5C07-BA0C-DAAF-869A3B1A8368}"/>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741FC408-3112-D19B-80C3-02846F78806E}"/>
              </a:ext>
            </a:extLst>
          </p:cNvPr>
          <p:cNvSpPr>
            <a:spLocks noGrp="1"/>
          </p:cNvSpPr>
          <p:nvPr>
            <p:ph type="title"/>
          </p:nvPr>
        </p:nvSpPr>
        <p:spPr>
          <a:xfrm>
            <a:off x="838200" y="248495"/>
            <a:ext cx="10515600" cy="432542"/>
          </a:xfrm>
        </p:spPr>
        <p:txBody>
          <a:bodyPr>
            <a:noAutofit/>
          </a:bodyPr>
          <a:lstStyle/>
          <a:p>
            <a:pPr algn="ctr"/>
            <a:r>
              <a:rPr lang="tr-TR" sz="2800" dirty="0" err="1"/>
              <a:t>CustomerDbContext</a:t>
            </a:r>
            <a:r>
              <a:rPr lang="tr-TR" sz="2800" dirty="0"/>
              <a:t> Sınıfının Düzenlenmesi</a:t>
            </a:r>
          </a:p>
        </p:txBody>
      </p:sp>
      <p:sp>
        <p:nvSpPr>
          <p:cNvPr id="3" name="İçerik Yer Tutucusu 2">
            <a:extLst>
              <a:ext uri="{FF2B5EF4-FFF2-40B4-BE49-F238E27FC236}">
                <a16:creationId xmlns:a16="http://schemas.microsoft.com/office/drawing/2014/main" id="{1632D7A9-A31E-5B0C-FF9F-1DDCB8B547E8}"/>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Nasıl ki Customer sınıfı için </a:t>
            </a:r>
            <a:r>
              <a:rPr lang="tr-TR" sz="1800" dirty="0" err="1"/>
              <a:t>CustomerDbContext</a:t>
            </a:r>
            <a:r>
              <a:rPr lang="tr-TR" sz="1800" dirty="0"/>
              <a:t> içerisinde </a:t>
            </a:r>
          </a:p>
          <a:p>
            <a:pPr marL="0" indent="0" algn="just">
              <a:lnSpc>
                <a:spcPct val="100000"/>
              </a:lnSpc>
              <a:spcBef>
                <a:spcPts val="600"/>
              </a:spcBef>
              <a:spcAft>
                <a:spcPts val="600"/>
              </a:spcAft>
              <a:buNone/>
            </a:pPr>
            <a:r>
              <a:rPr lang="en-US" sz="1800" dirty="0"/>
              <a:t>public </a:t>
            </a:r>
            <a:r>
              <a:rPr lang="en-US" sz="1800" dirty="0" err="1"/>
              <a:t>DbSet</a:t>
            </a:r>
            <a:r>
              <a:rPr lang="en-US" sz="1800" dirty="0"/>
              <a:t>&lt;Customer&gt; Customers { get; set; }</a:t>
            </a:r>
            <a:r>
              <a:rPr lang="tr-TR" sz="1800" dirty="0"/>
              <a:t> kodunu tanımladıysak.</a:t>
            </a:r>
          </a:p>
          <a:p>
            <a:pPr marL="0" indent="0" algn="just">
              <a:lnSpc>
                <a:spcPct val="100000"/>
              </a:lnSpc>
              <a:spcBef>
                <a:spcPts val="600"/>
              </a:spcBef>
              <a:spcAft>
                <a:spcPts val="600"/>
              </a:spcAft>
              <a:buNone/>
            </a:pPr>
            <a:r>
              <a:rPr lang="tr-TR" sz="1800" dirty="0"/>
              <a:t> Aynı şekilde diğer sınıflar için de sırasıyla aşağıdaki kodları tanımlıyoruz:</a:t>
            </a:r>
          </a:p>
          <a:p>
            <a:pPr marL="0" indent="0" algn="just">
              <a:lnSpc>
                <a:spcPct val="100000"/>
              </a:lnSpc>
              <a:spcBef>
                <a:spcPts val="600"/>
              </a:spcBef>
              <a:spcAft>
                <a:spcPts val="600"/>
              </a:spcAft>
              <a:buNone/>
            </a:pPr>
            <a:r>
              <a:rPr lang="tr-TR" sz="1800" dirty="0"/>
              <a:t>public </a:t>
            </a:r>
            <a:r>
              <a:rPr lang="tr-TR" sz="1800" dirty="0" err="1"/>
              <a:t>DbSet</a:t>
            </a:r>
            <a:r>
              <a:rPr lang="tr-TR" sz="1800" dirty="0"/>
              <a:t>&lt;Product&gt; </a:t>
            </a:r>
            <a:r>
              <a:rPr lang="tr-TR" sz="1800" dirty="0" err="1"/>
              <a:t>Products</a:t>
            </a:r>
            <a:r>
              <a:rPr lang="tr-TR" sz="1800" dirty="0"/>
              <a:t> { </a:t>
            </a:r>
            <a:r>
              <a:rPr lang="tr-TR" sz="1800" dirty="0" err="1"/>
              <a:t>get</a:t>
            </a:r>
            <a:r>
              <a:rPr lang="tr-TR" sz="1800" dirty="0"/>
              <a:t>; set; }</a:t>
            </a:r>
          </a:p>
          <a:p>
            <a:pPr marL="0" indent="0" algn="just">
              <a:lnSpc>
                <a:spcPct val="100000"/>
              </a:lnSpc>
              <a:spcBef>
                <a:spcPts val="600"/>
              </a:spcBef>
              <a:spcAft>
                <a:spcPts val="600"/>
              </a:spcAft>
              <a:buNone/>
            </a:pPr>
            <a:r>
              <a:rPr lang="tr-TR" sz="1800" dirty="0"/>
              <a:t>public </a:t>
            </a:r>
            <a:r>
              <a:rPr lang="tr-TR" sz="1800" dirty="0" err="1"/>
              <a:t>DbSet</a:t>
            </a:r>
            <a:r>
              <a:rPr lang="tr-TR" sz="1800" dirty="0"/>
              <a:t>&lt;Category&gt; </a:t>
            </a:r>
            <a:r>
              <a:rPr lang="tr-TR" sz="1800" dirty="0" err="1"/>
              <a:t>Categories</a:t>
            </a:r>
            <a:r>
              <a:rPr lang="tr-TR" sz="1800" dirty="0"/>
              <a:t> { </a:t>
            </a:r>
            <a:r>
              <a:rPr lang="tr-TR" sz="1800" dirty="0" err="1"/>
              <a:t>get</a:t>
            </a:r>
            <a:r>
              <a:rPr lang="tr-TR" sz="1800" dirty="0"/>
              <a:t>; set; }</a:t>
            </a:r>
          </a:p>
          <a:p>
            <a:pPr marL="0" indent="0" algn="just">
              <a:lnSpc>
                <a:spcPct val="100000"/>
              </a:lnSpc>
              <a:spcBef>
                <a:spcPts val="600"/>
              </a:spcBef>
              <a:spcAft>
                <a:spcPts val="600"/>
              </a:spcAft>
              <a:buNone/>
            </a:pPr>
            <a:r>
              <a:rPr lang="tr-TR" sz="1800" dirty="0"/>
              <a:t>public </a:t>
            </a:r>
            <a:r>
              <a:rPr lang="tr-TR" sz="1800" dirty="0" err="1"/>
              <a:t>DbSet</a:t>
            </a:r>
            <a:r>
              <a:rPr lang="tr-TR" sz="1800" dirty="0"/>
              <a:t>&lt;CustomerProduct&gt; </a:t>
            </a:r>
            <a:r>
              <a:rPr lang="tr-TR" sz="1800" dirty="0" err="1"/>
              <a:t>CustomerProducts</a:t>
            </a:r>
            <a:r>
              <a:rPr lang="tr-TR" sz="1800" dirty="0"/>
              <a:t> { </a:t>
            </a:r>
            <a:r>
              <a:rPr lang="tr-TR" sz="1800" dirty="0" err="1"/>
              <a:t>get</a:t>
            </a:r>
            <a:r>
              <a:rPr lang="tr-TR" sz="1800" dirty="0"/>
              <a:t>; set; }</a:t>
            </a:r>
          </a:p>
        </p:txBody>
      </p:sp>
    </p:spTree>
    <p:extLst>
      <p:ext uri="{BB962C8B-B14F-4D97-AF65-F5344CB8AC3E}">
        <p14:creationId xmlns:p14="http://schemas.microsoft.com/office/powerpoint/2010/main" val="1503084863"/>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4C6472-E47C-79B2-F648-9580350B5FAC}"/>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1548A1E4-134C-22BD-7BAA-376F63F6139F}"/>
              </a:ext>
            </a:extLst>
          </p:cNvPr>
          <p:cNvSpPr>
            <a:spLocks noGrp="1"/>
          </p:cNvSpPr>
          <p:nvPr>
            <p:ph type="title"/>
          </p:nvPr>
        </p:nvSpPr>
        <p:spPr>
          <a:xfrm>
            <a:off x="838200" y="248495"/>
            <a:ext cx="10515600" cy="432542"/>
          </a:xfrm>
        </p:spPr>
        <p:txBody>
          <a:bodyPr>
            <a:noAutofit/>
          </a:bodyPr>
          <a:lstStyle/>
          <a:p>
            <a:pPr algn="ctr"/>
            <a:r>
              <a:rPr lang="tr-TR" sz="2800" dirty="0" err="1"/>
              <a:t>CustomerDbContext</a:t>
            </a:r>
            <a:r>
              <a:rPr lang="tr-TR" sz="2800" dirty="0"/>
              <a:t> Sınıfının Düzenlenmesi</a:t>
            </a:r>
          </a:p>
        </p:txBody>
      </p:sp>
      <p:sp>
        <p:nvSpPr>
          <p:cNvPr id="3" name="İçerik Yer Tutucusu 2">
            <a:extLst>
              <a:ext uri="{FF2B5EF4-FFF2-40B4-BE49-F238E27FC236}">
                <a16:creationId xmlns:a16="http://schemas.microsoft.com/office/drawing/2014/main" id="{2107084A-7110-6EE7-F941-DD9E75A78199}"/>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err="1"/>
              <a:t>CustomerDbContext’in</a:t>
            </a:r>
            <a:r>
              <a:rPr lang="tr-TR" sz="1800" dirty="0"/>
              <a:t> son hali aşağıdaki gibidir:</a:t>
            </a:r>
          </a:p>
          <a:p>
            <a:pPr marL="0" indent="0">
              <a:buNone/>
            </a:pPr>
            <a:r>
              <a:rPr lang="tr-TR" sz="1800" dirty="0" err="1">
                <a:solidFill>
                  <a:srgbClr val="0000FF"/>
                </a:solidFill>
                <a:highlight>
                  <a:srgbClr val="FFFFFF"/>
                </a:highlight>
                <a:latin typeface="Cascadia Mono" panose="020B0609020000020004" pitchFamily="49" charset="0"/>
              </a:rPr>
              <a:t>internal</a:t>
            </a:r>
            <a:r>
              <a:rPr lang="tr-TR" sz="1800" dirty="0">
                <a:solidFill>
                  <a:srgbClr val="000000"/>
                </a:solidFill>
                <a:highlight>
                  <a:srgbClr val="FFFFFF"/>
                </a:highlight>
                <a:latin typeface="Cascadia Mono" panose="020B0609020000020004" pitchFamily="49" charset="0"/>
              </a:rPr>
              <a:t> </a:t>
            </a:r>
            <a:r>
              <a:rPr lang="tr-TR" sz="1800" dirty="0">
                <a:solidFill>
                  <a:srgbClr val="0000FF"/>
                </a:solidFill>
                <a:highlight>
                  <a:srgbClr val="FFFFFF"/>
                </a:highlight>
                <a:latin typeface="Cascadia Mono" panose="020B0609020000020004" pitchFamily="49" charset="0"/>
              </a:rPr>
              <a:t>class</a:t>
            </a: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CustomerDbContext</a:t>
            </a:r>
            <a:r>
              <a:rPr lang="tr-TR" sz="1800" dirty="0" err="1">
                <a:solidFill>
                  <a:srgbClr val="000000"/>
                </a:solidFill>
                <a:highlight>
                  <a:srgbClr val="FFFFFF"/>
                </a:highlight>
                <a:latin typeface="Cascadia Mono" panose="020B0609020000020004" pitchFamily="49" charset="0"/>
              </a:rPr>
              <a:t>:</a:t>
            </a:r>
            <a:r>
              <a:rPr lang="tr-TR" sz="1800" dirty="0" err="1">
                <a:solidFill>
                  <a:srgbClr val="2B91AF"/>
                </a:solidFill>
                <a:highlight>
                  <a:srgbClr val="FFFFFF"/>
                </a:highlight>
                <a:latin typeface="Cascadia Mono" panose="020B0609020000020004" pitchFamily="49" charset="0"/>
              </a:rPr>
              <a:t>DbContext</a:t>
            </a:r>
            <a:endParaRPr lang="tr-TR" sz="1800" dirty="0">
              <a:solidFill>
                <a:srgbClr val="2B91AF"/>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a:t>
            </a:r>
          </a:p>
          <a:p>
            <a:pPr marL="0" indent="0">
              <a:buNone/>
            </a:pP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public</a:t>
            </a:r>
            <a:r>
              <a:rPr lang="en-US" sz="1800" dirty="0">
                <a:solidFill>
                  <a:srgbClr val="000000"/>
                </a:solidFill>
                <a:highlight>
                  <a:srgbClr val="FFFFFF"/>
                </a:highlight>
                <a:latin typeface="Cascadia Mono" panose="020B0609020000020004" pitchFamily="49" charset="0"/>
              </a:rPr>
              <a:t> </a:t>
            </a:r>
            <a:r>
              <a:rPr lang="en-US" sz="1800" dirty="0" err="1">
                <a:solidFill>
                  <a:srgbClr val="2B91AF"/>
                </a:solidFill>
                <a:highlight>
                  <a:srgbClr val="FFFFFF"/>
                </a:highlight>
                <a:latin typeface="Cascadia Mono" panose="020B0609020000020004" pitchFamily="49" charset="0"/>
              </a:rPr>
              <a:t>CustomerDbContext</a:t>
            </a:r>
            <a:r>
              <a:rPr lang="en-US" sz="1800" dirty="0">
                <a:solidFill>
                  <a:srgbClr val="000000"/>
                </a:solidFill>
                <a:highlight>
                  <a:srgbClr val="FFFFFF"/>
                </a:highlight>
                <a:latin typeface="Cascadia Mono" panose="020B0609020000020004" pitchFamily="49" charset="0"/>
              </a:rPr>
              <a:t>() : </a:t>
            </a:r>
            <a:r>
              <a:rPr lang="en-US" sz="1800" dirty="0">
                <a:solidFill>
                  <a:srgbClr val="0000FF"/>
                </a:solidFill>
                <a:highlight>
                  <a:srgbClr val="FFFFFF"/>
                </a:highlight>
                <a:latin typeface="Cascadia Mono" panose="020B0609020000020004" pitchFamily="49" charset="0"/>
              </a:rPr>
              <a:t>base</a:t>
            </a:r>
            <a:r>
              <a:rPr lang="en-US" sz="1800" dirty="0">
                <a:solidFill>
                  <a:srgbClr val="000000"/>
                </a:solidFill>
                <a:highlight>
                  <a:srgbClr val="FFFFFF"/>
                </a:highlight>
                <a:latin typeface="Cascadia Mono" panose="020B0609020000020004" pitchFamily="49" charset="0"/>
              </a:rPr>
              <a:t>(</a:t>
            </a:r>
            <a:r>
              <a:rPr lang="en-US" sz="1800" dirty="0">
                <a:solidFill>
                  <a:srgbClr val="A31515"/>
                </a:solidFill>
                <a:highlight>
                  <a:srgbClr val="FFFFFF"/>
                </a:highlight>
                <a:latin typeface="Cascadia Mono" panose="020B0609020000020004" pitchFamily="49" charset="0"/>
              </a:rPr>
              <a:t>"name=</a:t>
            </a:r>
            <a:r>
              <a:rPr lang="en-US" sz="1800" dirty="0" err="1">
                <a:solidFill>
                  <a:srgbClr val="A31515"/>
                </a:solidFill>
                <a:highlight>
                  <a:srgbClr val="FFFFFF"/>
                </a:highlight>
                <a:latin typeface="Cascadia Mono" panose="020B0609020000020004" pitchFamily="49" charset="0"/>
              </a:rPr>
              <a:t>CustomerDbContext</a:t>
            </a:r>
            <a:r>
              <a:rPr lang="en-US" sz="1800" dirty="0">
                <a:solidFill>
                  <a:srgbClr val="A31515"/>
                </a:solidFill>
                <a:highlight>
                  <a:srgbClr val="FFFFFF"/>
                </a:highlight>
                <a:latin typeface="Cascadia Mono" panose="020B0609020000020004" pitchFamily="49" charset="0"/>
              </a:rPr>
              <a:t>"</a:t>
            </a:r>
            <a:r>
              <a:rPr lang="en-US"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p>
          <a:p>
            <a:pPr marL="0" indent="0">
              <a:buNone/>
            </a:pPr>
            <a:endParaRPr lang="tr-TR" sz="1800" dirty="0">
              <a:solidFill>
                <a:srgbClr val="000000"/>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    }</a:t>
            </a:r>
          </a:p>
          <a:p>
            <a:pPr marL="0" indent="0">
              <a:buNone/>
            </a:pPr>
            <a:endParaRPr lang="tr-TR" sz="1800" dirty="0">
              <a:solidFill>
                <a:srgbClr val="000000"/>
              </a:solidFill>
              <a:highlight>
                <a:srgbClr val="FFFFFF"/>
              </a:highlight>
              <a:latin typeface="Cascadia Mono" panose="020B0609020000020004" pitchFamily="49" charset="0"/>
            </a:endParaRPr>
          </a:p>
          <a:p>
            <a:pPr marL="0" indent="0">
              <a:buNone/>
            </a:pP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public</a:t>
            </a:r>
            <a:r>
              <a:rPr lang="en-US" sz="1800" dirty="0">
                <a:solidFill>
                  <a:srgbClr val="000000"/>
                </a:solidFill>
                <a:highlight>
                  <a:srgbClr val="FFFFFF"/>
                </a:highlight>
                <a:latin typeface="Cascadia Mono" panose="020B0609020000020004" pitchFamily="49" charset="0"/>
              </a:rPr>
              <a:t> </a:t>
            </a:r>
            <a:r>
              <a:rPr lang="en-US" sz="1800" dirty="0" err="1">
                <a:solidFill>
                  <a:srgbClr val="2B91AF"/>
                </a:solidFill>
                <a:highlight>
                  <a:srgbClr val="FFFFFF"/>
                </a:highlight>
                <a:latin typeface="Cascadia Mono" panose="020B0609020000020004" pitchFamily="49" charset="0"/>
              </a:rPr>
              <a:t>DbSet</a:t>
            </a:r>
            <a:r>
              <a:rPr lang="en-US" sz="1800" dirty="0">
                <a:solidFill>
                  <a:srgbClr val="000000"/>
                </a:solidFill>
                <a:highlight>
                  <a:srgbClr val="FFFFFF"/>
                </a:highlight>
                <a:latin typeface="Cascadia Mono" panose="020B0609020000020004" pitchFamily="49" charset="0"/>
              </a:rPr>
              <a:t>&lt;</a:t>
            </a:r>
            <a:r>
              <a:rPr lang="en-US" sz="1800" dirty="0">
                <a:solidFill>
                  <a:srgbClr val="2B91AF"/>
                </a:solidFill>
                <a:highlight>
                  <a:srgbClr val="FFFFFF"/>
                </a:highlight>
                <a:latin typeface="Cascadia Mono" panose="020B0609020000020004" pitchFamily="49" charset="0"/>
              </a:rPr>
              <a:t>Customer</a:t>
            </a:r>
            <a:r>
              <a:rPr lang="en-US" sz="1800" dirty="0">
                <a:solidFill>
                  <a:srgbClr val="000000"/>
                </a:solidFill>
                <a:highlight>
                  <a:srgbClr val="FFFFFF"/>
                </a:highlight>
                <a:latin typeface="Cascadia Mono" panose="020B0609020000020004" pitchFamily="49" charset="0"/>
              </a:rPr>
              <a:t>&gt; Customers { </a:t>
            </a:r>
            <a:r>
              <a:rPr lang="en-US" sz="1800" dirty="0">
                <a:solidFill>
                  <a:srgbClr val="0000FF"/>
                </a:solidFill>
                <a:highlight>
                  <a:srgbClr val="FFFFFF"/>
                </a:highlight>
                <a:latin typeface="Cascadia Mono" panose="020B0609020000020004" pitchFamily="49" charset="0"/>
              </a:rPr>
              <a:t>get</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set</a:t>
            </a:r>
            <a:r>
              <a:rPr lang="en-US" sz="1800" dirty="0">
                <a:solidFill>
                  <a:srgbClr val="000000"/>
                </a:solidFill>
                <a:highlight>
                  <a:srgbClr val="FFFFFF"/>
                </a:highlight>
                <a:latin typeface="Cascadia Mono" panose="020B0609020000020004" pitchFamily="49" charset="0"/>
              </a:rPr>
              <a:t>; }</a:t>
            </a:r>
          </a:p>
          <a:p>
            <a:pPr marL="0" indent="0">
              <a:buNone/>
            </a:pP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public</a:t>
            </a:r>
            <a:r>
              <a:rPr lang="en-US" sz="1800" dirty="0">
                <a:solidFill>
                  <a:srgbClr val="000000"/>
                </a:solidFill>
                <a:highlight>
                  <a:srgbClr val="FFFFFF"/>
                </a:highlight>
                <a:latin typeface="Cascadia Mono" panose="020B0609020000020004" pitchFamily="49" charset="0"/>
              </a:rPr>
              <a:t> </a:t>
            </a:r>
            <a:r>
              <a:rPr lang="en-US" sz="1800" dirty="0" err="1">
                <a:solidFill>
                  <a:srgbClr val="2B91AF"/>
                </a:solidFill>
                <a:highlight>
                  <a:srgbClr val="FFFFFF"/>
                </a:highlight>
                <a:latin typeface="Cascadia Mono" panose="020B0609020000020004" pitchFamily="49" charset="0"/>
              </a:rPr>
              <a:t>DbSet</a:t>
            </a:r>
            <a:r>
              <a:rPr lang="en-US" sz="1800" dirty="0">
                <a:solidFill>
                  <a:srgbClr val="000000"/>
                </a:solidFill>
                <a:highlight>
                  <a:srgbClr val="FFFFFF"/>
                </a:highlight>
                <a:latin typeface="Cascadia Mono" panose="020B0609020000020004" pitchFamily="49" charset="0"/>
              </a:rPr>
              <a:t>&lt;</a:t>
            </a:r>
            <a:r>
              <a:rPr lang="en-US" sz="1800" dirty="0">
                <a:solidFill>
                  <a:srgbClr val="2B91AF"/>
                </a:solidFill>
                <a:highlight>
                  <a:srgbClr val="FFFFFF"/>
                </a:highlight>
                <a:latin typeface="Cascadia Mono" panose="020B0609020000020004" pitchFamily="49" charset="0"/>
              </a:rPr>
              <a:t>Product</a:t>
            </a:r>
            <a:r>
              <a:rPr lang="en-US" sz="1800" dirty="0">
                <a:solidFill>
                  <a:srgbClr val="000000"/>
                </a:solidFill>
                <a:highlight>
                  <a:srgbClr val="FFFFFF"/>
                </a:highlight>
                <a:latin typeface="Cascadia Mono" panose="020B0609020000020004" pitchFamily="49" charset="0"/>
              </a:rPr>
              <a:t>&gt; Products { </a:t>
            </a:r>
            <a:r>
              <a:rPr lang="en-US" sz="1800" dirty="0">
                <a:solidFill>
                  <a:srgbClr val="0000FF"/>
                </a:solidFill>
                <a:highlight>
                  <a:srgbClr val="FFFFFF"/>
                </a:highlight>
                <a:latin typeface="Cascadia Mono" panose="020B0609020000020004" pitchFamily="49" charset="0"/>
              </a:rPr>
              <a:t>get</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set</a:t>
            </a:r>
            <a:r>
              <a:rPr lang="en-US" sz="1800" dirty="0">
                <a:solidFill>
                  <a:srgbClr val="000000"/>
                </a:solidFill>
                <a:highlight>
                  <a:srgbClr val="FFFFFF"/>
                </a:highlight>
                <a:latin typeface="Cascadia Mono" panose="020B0609020000020004" pitchFamily="49" charset="0"/>
              </a:rPr>
              <a:t>; }</a:t>
            </a:r>
          </a:p>
          <a:p>
            <a:pPr marL="0" indent="0">
              <a:buNone/>
            </a:pP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public</a:t>
            </a:r>
            <a:r>
              <a:rPr lang="en-US" sz="1800" dirty="0">
                <a:solidFill>
                  <a:srgbClr val="000000"/>
                </a:solidFill>
                <a:highlight>
                  <a:srgbClr val="FFFFFF"/>
                </a:highlight>
                <a:latin typeface="Cascadia Mono" panose="020B0609020000020004" pitchFamily="49" charset="0"/>
              </a:rPr>
              <a:t> </a:t>
            </a:r>
            <a:r>
              <a:rPr lang="en-US" sz="1800" dirty="0" err="1">
                <a:solidFill>
                  <a:srgbClr val="2B91AF"/>
                </a:solidFill>
                <a:highlight>
                  <a:srgbClr val="FFFFFF"/>
                </a:highlight>
                <a:latin typeface="Cascadia Mono" panose="020B0609020000020004" pitchFamily="49" charset="0"/>
              </a:rPr>
              <a:t>DbSet</a:t>
            </a:r>
            <a:r>
              <a:rPr lang="en-US" sz="1800" dirty="0">
                <a:solidFill>
                  <a:srgbClr val="000000"/>
                </a:solidFill>
                <a:highlight>
                  <a:srgbClr val="FFFFFF"/>
                </a:highlight>
                <a:latin typeface="Cascadia Mono" panose="020B0609020000020004" pitchFamily="49" charset="0"/>
              </a:rPr>
              <a:t>&lt;</a:t>
            </a:r>
            <a:r>
              <a:rPr lang="en-US" sz="1800" dirty="0">
                <a:solidFill>
                  <a:srgbClr val="2B91AF"/>
                </a:solidFill>
                <a:highlight>
                  <a:srgbClr val="FFFFFF"/>
                </a:highlight>
                <a:latin typeface="Cascadia Mono" panose="020B0609020000020004" pitchFamily="49" charset="0"/>
              </a:rPr>
              <a:t>Category</a:t>
            </a:r>
            <a:r>
              <a:rPr lang="en-US" sz="1800" dirty="0">
                <a:solidFill>
                  <a:srgbClr val="000000"/>
                </a:solidFill>
                <a:highlight>
                  <a:srgbClr val="FFFFFF"/>
                </a:highlight>
                <a:latin typeface="Cascadia Mono" panose="020B0609020000020004" pitchFamily="49" charset="0"/>
              </a:rPr>
              <a:t>&gt; Categories { </a:t>
            </a:r>
            <a:r>
              <a:rPr lang="en-US" sz="1800" dirty="0">
                <a:solidFill>
                  <a:srgbClr val="0000FF"/>
                </a:solidFill>
                <a:highlight>
                  <a:srgbClr val="FFFFFF"/>
                </a:highlight>
                <a:latin typeface="Cascadia Mono" panose="020B0609020000020004" pitchFamily="49" charset="0"/>
              </a:rPr>
              <a:t>get</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set</a:t>
            </a:r>
            <a:r>
              <a:rPr lang="en-US" sz="1800" dirty="0">
                <a:solidFill>
                  <a:srgbClr val="000000"/>
                </a:solidFill>
                <a:highlight>
                  <a:srgbClr val="FFFFFF"/>
                </a:highlight>
                <a:latin typeface="Cascadia Mono" panose="020B0609020000020004" pitchFamily="49" charset="0"/>
              </a:rPr>
              <a:t>; }</a:t>
            </a:r>
          </a:p>
          <a:p>
            <a:pPr marL="0" indent="0">
              <a:buNone/>
            </a:pP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public</a:t>
            </a:r>
            <a:r>
              <a:rPr lang="en-US" sz="1800" dirty="0">
                <a:solidFill>
                  <a:srgbClr val="000000"/>
                </a:solidFill>
                <a:highlight>
                  <a:srgbClr val="FFFFFF"/>
                </a:highlight>
                <a:latin typeface="Cascadia Mono" panose="020B0609020000020004" pitchFamily="49" charset="0"/>
              </a:rPr>
              <a:t> </a:t>
            </a:r>
            <a:r>
              <a:rPr lang="en-US" sz="1800" dirty="0" err="1">
                <a:solidFill>
                  <a:srgbClr val="2B91AF"/>
                </a:solidFill>
                <a:highlight>
                  <a:srgbClr val="FFFFFF"/>
                </a:highlight>
                <a:latin typeface="Cascadia Mono" panose="020B0609020000020004" pitchFamily="49" charset="0"/>
              </a:rPr>
              <a:t>DbSet</a:t>
            </a:r>
            <a:r>
              <a:rPr lang="en-US" sz="1800" dirty="0">
                <a:solidFill>
                  <a:srgbClr val="000000"/>
                </a:solidFill>
                <a:highlight>
                  <a:srgbClr val="FFFFFF"/>
                </a:highlight>
                <a:latin typeface="Cascadia Mono" panose="020B0609020000020004" pitchFamily="49" charset="0"/>
              </a:rPr>
              <a:t>&lt;</a:t>
            </a:r>
            <a:r>
              <a:rPr lang="en-US" sz="1800" dirty="0" err="1">
                <a:solidFill>
                  <a:srgbClr val="2B91AF"/>
                </a:solidFill>
                <a:highlight>
                  <a:srgbClr val="FFFFFF"/>
                </a:highlight>
                <a:latin typeface="Cascadia Mono" panose="020B0609020000020004" pitchFamily="49" charset="0"/>
              </a:rPr>
              <a:t>CustomerProduct</a:t>
            </a:r>
            <a:r>
              <a:rPr lang="en-US" sz="1800" dirty="0">
                <a:solidFill>
                  <a:srgbClr val="000000"/>
                </a:solidFill>
                <a:highlight>
                  <a:srgbClr val="FFFFFF"/>
                </a:highlight>
                <a:latin typeface="Cascadia Mono" panose="020B0609020000020004" pitchFamily="49" charset="0"/>
              </a:rPr>
              <a:t>&gt; </a:t>
            </a:r>
            <a:r>
              <a:rPr lang="en-US" sz="1800" dirty="0" err="1">
                <a:solidFill>
                  <a:srgbClr val="000000"/>
                </a:solidFill>
                <a:highlight>
                  <a:srgbClr val="FFFFFF"/>
                </a:highlight>
                <a:latin typeface="Cascadia Mono" panose="020B0609020000020004" pitchFamily="49" charset="0"/>
              </a:rPr>
              <a:t>CustomerProducts</a:t>
            </a:r>
            <a:r>
              <a:rPr lang="en-US" sz="1800" dirty="0">
                <a:solidFill>
                  <a:srgbClr val="000000"/>
                </a:solidFill>
                <a:highlight>
                  <a:srgbClr val="FFFFFF"/>
                </a:highlight>
                <a:latin typeface="Cascadia Mono" panose="020B0609020000020004" pitchFamily="49" charset="0"/>
              </a:rPr>
              <a:t> { </a:t>
            </a:r>
            <a:r>
              <a:rPr lang="en-US" sz="1800" dirty="0">
                <a:solidFill>
                  <a:srgbClr val="0000FF"/>
                </a:solidFill>
                <a:highlight>
                  <a:srgbClr val="FFFFFF"/>
                </a:highlight>
                <a:latin typeface="Cascadia Mono" panose="020B0609020000020004" pitchFamily="49" charset="0"/>
              </a:rPr>
              <a:t>get</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set</a:t>
            </a:r>
            <a:r>
              <a:rPr lang="en-US" sz="1800" dirty="0">
                <a:solidFill>
                  <a:srgbClr val="000000"/>
                </a:solidFill>
                <a:highlight>
                  <a:srgbClr val="FFFFFF"/>
                </a:highlight>
                <a:latin typeface="Cascadia Mono" panose="020B0609020000020004" pitchFamily="49" charset="0"/>
              </a:rPr>
              <a:t>; }</a:t>
            </a:r>
          </a:p>
          <a:p>
            <a:pPr marL="0" indent="0">
              <a:buNone/>
            </a:pPr>
            <a:endParaRPr lang="tr-TR" sz="1800" dirty="0">
              <a:solidFill>
                <a:srgbClr val="000000"/>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a:t>
            </a:r>
            <a:endParaRPr lang="tr-TR" sz="1800" dirty="0"/>
          </a:p>
        </p:txBody>
      </p:sp>
    </p:spTree>
    <p:extLst>
      <p:ext uri="{BB962C8B-B14F-4D97-AF65-F5344CB8AC3E}">
        <p14:creationId xmlns:p14="http://schemas.microsoft.com/office/powerpoint/2010/main" val="4157077789"/>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207AD5-290A-5748-7A2D-60DE3AE1F0E8}"/>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2F8A7233-AECB-7E32-8D63-AC3ED46DB6B5}"/>
              </a:ext>
            </a:extLst>
          </p:cNvPr>
          <p:cNvSpPr>
            <a:spLocks noGrp="1"/>
          </p:cNvSpPr>
          <p:nvPr>
            <p:ph type="title"/>
          </p:nvPr>
        </p:nvSpPr>
        <p:spPr>
          <a:xfrm>
            <a:off x="838200" y="248495"/>
            <a:ext cx="10515600" cy="432542"/>
          </a:xfrm>
        </p:spPr>
        <p:txBody>
          <a:bodyPr>
            <a:noAutofit/>
          </a:bodyPr>
          <a:lstStyle/>
          <a:p>
            <a:pPr algn="ctr"/>
            <a:r>
              <a:rPr lang="tr-TR" sz="2800" dirty="0" err="1"/>
              <a:t>CustomerDbContext</a:t>
            </a:r>
            <a:r>
              <a:rPr lang="tr-TR" sz="2800" dirty="0"/>
              <a:t> Sınıfının Düzenlenmesi</a:t>
            </a:r>
          </a:p>
        </p:txBody>
      </p:sp>
      <p:sp>
        <p:nvSpPr>
          <p:cNvPr id="3" name="İçerik Yer Tutucusu 2">
            <a:extLst>
              <a:ext uri="{FF2B5EF4-FFF2-40B4-BE49-F238E27FC236}">
                <a16:creationId xmlns:a16="http://schemas.microsoft.com/office/drawing/2014/main" id="{2458FB68-511C-1C69-F3AB-C31A68EE48EA}"/>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Her bir sınıf için bir </a:t>
            </a:r>
            <a:r>
              <a:rPr lang="tr-TR" sz="1800" dirty="0" err="1"/>
              <a:t>DbContext</a:t>
            </a:r>
            <a:r>
              <a:rPr lang="tr-TR" sz="1800" dirty="0"/>
              <a:t> sınıfı yazmaya gerek yoktur. Bu durum, </a:t>
            </a:r>
            <a:r>
              <a:rPr lang="tr-TR" sz="1800" dirty="0" err="1"/>
              <a:t>EntityFramework</a:t>
            </a:r>
            <a:r>
              <a:rPr lang="tr-TR" sz="1800" dirty="0"/>
              <a:t> konseptine aykırıdır. Çünkü her bir sınıf bir tabloya karşılık geliyor ve bu tabloların tamamı da aynı veri tabanında yer alıyor. Dolayısıyla aynı veri tabanındaki tüm tablolar için bir tane </a:t>
            </a:r>
            <a:r>
              <a:rPr lang="tr-TR" sz="1800" dirty="0" err="1"/>
              <a:t>DbContext</a:t>
            </a:r>
            <a:r>
              <a:rPr lang="tr-TR" sz="1800" dirty="0"/>
              <a:t> sınıfı yazılması yeterlidir. Nitekim </a:t>
            </a:r>
            <a:r>
              <a:rPr lang="tr-TR" sz="1800" dirty="0" err="1"/>
              <a:t>base</a:t>
            </a:r>
            <a:r>
              <a:rPr lang="tr-TR" sz="1800" dirty="0"/>
              <a:t>(name=</a:t>
            </a:r>
            <a:r>
              <a:rPr lang="tr-TR" sz="1800" dirty="0" err="1"/>
              <a:t>CustomerDbContext</a:t>
            </a:r>
            <a:r>
              <a:rPr lang="tr-TR" sz="1800" dirty="0"/>
              <a:t>) kısmı </a:t>
            </a:r>
            <a:r>
              <a:rPr lang="tr-TR" sz="1800" dirty="0" err="1"/>
              <a:t>App.config’deki</a:t>
            </a:r>
            <a:r>
              <a:rPr lang="tr-TR" sz="1800" dirty="0"/>
              <a:t> </a:t>
            </a:r>
            <a:r>
              <a:rPr lang="tr-TR" sz="1800" dirty="0" err="1"/>
              <a:t>connectionstring</a:t>
            </a:r>
            <a:r>
              <a:rPr lang="tr-TR" sz="1800" dirty="0"/>
              <a:t> bilgisinin adı (name) </a:t>
            </a:r>
            <a:r>
              <a:rPr lang="tr-TR" sz="1800" dirty="0" err="1"/>
              <a:t>CustomerDbContext</a:t>
            </a:r>
            <a:r>
              <a:rPr lang="tr-TR" sz="1800" dirty="0"/>
              <a:t> olan bağlantıyı baz alıyordu.</a:t>
            </a:r>
          </a:p>
        </p:txBody>
      </p:sp>
    </p:spTree>
    <p:extLst>
      <p:ext uri="{BB962C8B-B14F-4D97-AF65-F5344CB8AC3E}">
        <p14:creationId xmlns:p14="http://schemas.microsoft.com/office/powerpoint/2010/main" val="3551393446"/>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04363-A736-D73E-1B88-EF3F656CF537}"/>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5751CD6E-B797-A1DB-62B5-02384CE2FE64}"/>
              </a:ext>
            </a:extLst>
          </p:cNvPr>
          <p:cNvSpPr>
            <a:spLocks noGrp="1"/>
          </p:cNvSpPr>
          <p:nvPr>
            <p:ph type="title"/>
          </p:nvPr>
        </p:nvSpPr>
        <p:spPr>
          <a:xfrm>
            <a:off x="838200" y="248495"/>
            <a:ext cx="10515600" cy="432542"/>
          </a:xfrm>
        </p:spPr>
        <p:txBody>
          <a:bodyPr>
            <a:noAutofit/>
          </a:bodyPr>
          <a:lstStyle/>
          <a:p>
            <a:pPr algn="ctr"/>
            <a:r>
              <a:rPr lang="tr-TR" sz="2800" dirty="0" err="1"/>
              <a:t>CustomerDbContext</a:t>
            </a:r>
            <a:r>
              <a:rPr lang="tr-TR" sz="2800" dirty="0"/>
              <a:t> Sınıfının Düzenlenmesi</a:t>
            </a:r>
          </a:p>
        </p:txBody>
      </p:sp>
      <p:pic>
        <p:nvPicPr>
          <p:cNvPr id="5" name="İçerik Yer Tutucusu 4" descr="metin, ekran görüntüsü, yazılım içeren bir resim&#10;&#10;Yapay zeka tarafından oluşturulan içerik yanlış olabilir.">
            <a:extLst>
              <a:ext uri="{FF2B5EF4-FFF2-40B4-BE49-F238E27FC236}">
                <a16:creationId xmlns:a16="http://schemas.microsoft.com/office/drawing/2014/main" id="{EE917E8D-51D2-BB51-5DEA-F37A8D8F0AC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94084" y="963539"/>
            <a:ext cx="6683595" cy="5665502"/>
          </a:xfrm>
        </p:spPr>
      </p:pic>
    </p:spTree>
    <p:extLst>
      <p:ext uri="{BB962C8B-B14F-4D97-AF65-F5344CB8AC3E}">
        <p14:creationId xmlns:p14="http://schemas.microsoft.com/office/powerpoint/2010/main" val="4284471246"/>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C9B51-4845-E1BF-CF7A-21DE7105FDE1}"/>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B7E04471-D369-B8A8-7245-CC74BFCA514B}"/>
              </a:ext>
            </a:extLst>
          </p:cNvPr>
          <p:cNvSpPr>
            <a:spLocks noGrp="1"/>
          </p:cNvSpPr>
          <p:nvPr>
            <p:ph type="title"/>
          </p:nvPr>
        </p:nvSpPr>
        <p:spPr>
          <a:xfrm>
            <a:off x="838200" y="248495"/>
            <a:ext cx="10515600" cy="432542"/>
          </a:xfrm>
        </p:spPr>
        <p:txBody>
          <a:bodyPr>
            <a:noAutofit/>
          </a:bodyPr>
          <a:lstStyle/>
          <a:p>
            <a:pPr algn="ctr"/>
            <a:r>
              <a:rPr lang="tr-TR" sz="2800" dirty="0"/>
              <a:t>CustomerProduct Sınıfı için Form Oluşturulması</a:t>
            </a:r>
          </a:p>
        </p:txBody>
      </p:sp>
      <p:sp>
        <p:nvSpPr>
          <p:cNvPr id="3" name="İçerik Yer Tutucusu 2">
            <a:extLst>
              <a:ext uri="{FF2B5EF4-FFF2-40B4-BE49-F238E27FC236}">
                <a16:creationId xmlns:a16="http://schemas.microsoft.com/office/drawing/2014/main" id="{3FE9BF99-5704-87CC-F735-61B2CFAFCA4E}"/>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Bütün ayarlamalarımızı yaptıktan sonra mevcut formumuza bir buton ekleyeceğiz. Bu buton bizi CustomerProduct sınıfı için oluşturacağımız form’a yönlendirecek. Bunun için ilk olarak projemize yeni bir form eklememiz lazım.</a:t>
            </a:r>
          </a:p>
          <a:p>
            <a:pPr marL="0" indent="0" algn="just">
              <a:lnSpc>
                <a:spcPct val="100000"/>
              </a:lnSpc>
              <a:spcBef>
                <a:spcPts val="600"/>
              </a:spcBef>
              <a:spcAft>
                <a:spcPts val="600"/>
              </a:spcAft>
              <a:buNone/>
            </a:pPr>
            <a:r>
              <a:rPr lang="tr-TR" sz="1800" dirty="0"/>
              <a:t>Projemize sağ tıklayıp Ekle-&gt;Form (Windows Forms) seçeneğini tıklayıp formumuza </a:t>
            </a:r>
            <a:r>
              <a:rPr lang="tr-TR" sz="1800" dirty="0" err="1"/>
              <a:t>Form_CustomerProduct</a:t>
            </a:r>
            <a:r>
              <a:rPr lang="tr-TR" sz="1800" dirty="0"/>
              <a:t> adını veriyoruz.</a:t>
            </a:r>
          </a:p>
        </p:txBody>
      </p:sp>
    </p:spTree>
    <p:extLst>
      <p:ext uri="{BB962C8B-B14F-4D97-AF65-F5344CB8AC3E}">
        <p14:creationId xmlns:p14="http://schemas.microsoft.com/office/powerpoint/2010/main" val="2865260510"/>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AE5C2-A927-C1C3-EF73-5D001020C2CA}"/>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43DC1708-BBAF-A722-0F0E-7C640EEDF698}"/>
              </a:ext>
            </a:extLst>
          </p:cNvPr>
          <p:cNvSpPr>
            <a:spLocks noGrp="1"/>
          </p:cNvSpPr>
          <p:nvPr>
            <p:ph type="title"/>
          </p:nvPr>
        </p:nvSpPr>
        <p:spPr>
          <a:xfrm>
            <a:off x="838200" y="248495"/>
            <a:ext cx="10515600" cy="432542"/>
          </a:xfrm>
        </p:spPr>
        <p:txBody>
          <a:bodyPr>
            <a:noAutofit/>
          </a:bodyPr>
          <a:lstStyle/>
          <a:p>
            <a:pPr algn="ctr"/>
            <a:r>
              <a:rPr lang="tr-TR" sz="2800" dirty="0"/>
              <a:t>CustomerProduct Sınıfı için Form Oluşturulması</a:t>
            </a:r>
          </a:p>
        </p:txBody>
      </p:sp>
      <p:pic>
        <p:nvPicPr>
          <p:cNvPr id="5" name="İçerik Yer Tutucusu 4" descr="metin, ekran görüntüsü, yazılım, multimedya yazılımı içeren bir resim&#10;&#10;Yapay zeka tarafından oluşturulan içerik yanlış olabilir.">
            <a:extLst>
              <a:ext uri="{FF2B5EF4-FFF2-40B4-BE49-F238E27FC236}">
                <a16:creationId xmlns:a16="http://schemas.microsoft.com/office/drawing/2014/main" id="{AE2D5518-4DEA-747A-A194-44318F593CC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75570" y="846138"/>
            <a:ext cx="6240859" cy="5884862"/>
          </a:xfrm>
        </p:spPr>
      </p:pic>
    </p:spTree>
    <p:extLst>
      <p:ext uri="{BB962C8B-B14F-4D97-AF65-F5344CB8AC3E}">
        <p14:creationId xmlns:p14="http://schemas.microsoft.com/office/powerpoint/2010/main" val="283783240"/>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E7D972-7230-C5BB-F72D-94396A1995A9}"/>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73FCE829-699F-1F17-A388-521FE0A996C2}"/>
              </a:ext>
            </a:extLst>
          </p:cNvPr>
          <p:cNvSpPr>
            <a:spLocks noGrp="1"/>
          </p:cNvSpPr>
          <p:nvPr>
            <p:ph type="title"/>
          </p:nvPr>
        </p:nvSpPr>
        <p:spPr>
          <a:xfrm>
            <a:off x="838200" y="248495"/>
            <a:ext cx="10515600" cy="432542"/>
          </a:xfrm>
        </p:spPr>
        <p:txBody>
          <a:bodyPr>
            <a:noAutofit/>
          </a:bodyPr>
          <a:lstStyle/>
          <a:p>
            <a:pPr algn="ctr"/>
            <a:r>
              <a:rPr lang="tr-TR" sz="2800" dirty="0"/>
              <a:t>CustomerProduct Sınıfı için Form Oluşturulması</a:t>
            </a:r>
          </a:p>
        </p:txBody>
      </p:sp>
      <p:pic>
        <p:nvPicPr>
          <p:cNvPr id="5" name="İçerik Yer Tutucusu 4" descr="metin, ekran görüntüsü, yazılım, multimedya yazılımı içeren bir resim&#10;&#10;Yapay zeka tarafından oluşturulan içerik yanlış olabilir.">
            <a:extLst>
              <a:ext uri="{FF2B5EF4-FFF2-40B4-BE49-F238E27FC236}">
                <a16:creationId xmlns:a16="http://schemas.microsoft.com/office/drawing/2014/main" id="{D6981344-32E0-D3D4-DBBE-0D5BE650E33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18745" y="846138"/>
            <a:ext cx="8554509" cy="5884862"/>
          </a:xfrm>
        </p:spPr>
      </p:pic>
    </p:spTree>
    <p:extLst>
      <p:ext uri="{BB962C8B-B14F-4D97-AF65-F5344CB8AC3E}">
        <p14:creationId xmlns:p14="http://schemas.microsoft.com/office/powerpoint/2010/main" val="3859526946"/>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21BAC-004E-FA6A-7B01-974941DC4658}"/>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D34A71B2-58A7-BCF7-1600-4448C9F9D1E7}"/>
              </a:ext>
            </a:extLst>
          </p:cNvPr>
          <p:cNvSpPr>
            <a:spLocks noGrp="1"/>
          </p:cNvSpPr>
          <p:nvPr>
            <p:ph type="title"/>
          </p:nvPr>
        </p:nvSpPr>
        <p:spPr>
          <a:xfrm>
            <a:off x="838200" y="248495"/>
            <a:ext cx="10515600" cy="432542"/>
          </a:xfrm>
        </p:spPr>
        <p:txBody>
          <a:bodyPr>
            <a:noAutofit/>
          </a:bodyPr>
          <a:lstStyle/>
          <a:p>
            <a:pPr algn="ctr"/>
            <a:r>
              <a:rPr lang="tr-TR" sz="2800" dirty="0"/>
              <a:t>CustomerProduct Sınıfı için Form Oluşturulması</a:t>
            </a:r>
          </a:p>
        </p:txBody>
      </p:sp>
      <p:sp>
        <p:nvSpPr>
          <p:cNvPr id="3" name="İçerik Yer Tutucusu 2">
            <a:extLst>
              <a:ext uri="{FF2B5EF4-FFF2-40B4-BE49-F238E27FC236}">
                <a16:creationId xmlns:a16="http://schemas.microsoft.com/office/drawing/2014/main" id="{E6385A92-B1F6-2A7E-4B41-9FD1A0509D52}"/>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Şimdi, ilk formumuza dönüp yeni bir buton ekleyip bunun text bilgisine Form CustomerProduct ismini verip id bilgisine de </a:t>
            </a:r>
            <a:r>
              <a:rPr lang="tr-TR" sz="1800" dirty="0" err="1"/>
              <a:t>btn_form_cp</a:t>
            </a:r>
            <a:r>
              <a:rPr lang="tr-TR" sz="1800" dirty="0"/>
              <a:t> adını veriyoruz.</a:t>
            </a:r>
          </a:p>
          <a:p>
            <a:pPr marL="0" indent="0" algn="just">
              <a:lnSpc>
                <a:spcPct val="100000"/>
              </a:lnSpc>
              <a:spcBef>
                <a:spcPts val="600"/>
              </a:spcBef>
              <a:spcAft>
                <a:spcPts val="600"/>
              </a:spcAft>
              <a:buNone/>
            </a:pPr>
            <a:r>
              <a:rPr lang="tr-TR" sz="1800" dirty="0"/>
              <a:t>Form’un görsel bütünlüğü açısından yeni bir groupbox ekleyip, başka formlara geçişi sağlayacak olan butonları burada toplayabiliriz.</a:t>
            </a:r>
          </a:p>
          <a:p>
            <a:pPr marL="0" indent="0" algn="just">
              <a:lnSpc>
                <a:spcPct val="100000"/>
              </a:lnSpc>
              <a:spcBef>
                <a:spcPts val="600"/>
              </a:spcBef>
              <a:spcAft>
                <a:spcPts val="600"/>
              </a:spcAft>
              <a:buNone/>
            </a:pPr>
            <a:r>
              <a:rPr lang="tr-TR" sz="1800" dirty="0"/>
              <a:t>İlk formumuzun son hali sonraki sayfada yer almaktadır.</a:t>
            </a:r>
          </a:p>
          <a:p>
            <a:pPr marL="0" indent="0" algn="just">
              <a:lnSpc>
                <a:spcPct val="100000"/>
              </a:lnSpc>
              <a:spcBef>
                <a:spcPts val="600"/>
              </a:spcBef>
              <a:spcAft>
                <a:spcPts val="600"/>
              </a:spcAft>
              <a:buNone/>
            </a:pPr>
            <a:endParaRPr lang="tr-TR" sz="1800" dirty="0"/>
          </a:p>
        </p:txBody>
      </p:sp>
    </p:spTree>
    <p:extLst>
      <p:ext uri="{BB962C8B-B14F-4D97-AF65-F5344CB8AC3E}">
        <p14:creationId xmlns:p14="http://schemas.microsoft.com/office/powerpoint/2010/main" val="3797509474"/>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D735C7-4F29-94A8-7B64-87FB20E2B7F8}"/>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B3570A6A-C278-AE98-47AF-ABC35AFC25F0}"/>
              </a:ext>
            </a:extLst>
          </p:cNvPr>
          <p:cNvSpPr>
            <a:spLocks noGrp="1"/>
          </p:cNvSpPr>
          <p:nvPr>
            <p:ph type="title"/>
          </p:nvPr>
        </p:nvSpPr>
        <p:spPr>
          <a:xfrm>
            <a:off x="838200" y="248495"/>
            <a:ext cx="10515600" cy="432542"/>
          </a:xfrm>
        </p:spPr>
        <p:txBody>
          <a:bodyPr>
            <a:noAutofit/>
          </a:bodyPr>
          <a:lstStyle/>
          <a:p>
            <a:pPr algn="ctr"/>
            <a:r>
              <a:rPr lang="tr-TR" sz="2800" dirty="0"/>
              <a:t>CustomerProduct Sınıfı için Form Oluşturulması</a:t>
            </a:r>
          </a:p>
        </p:txBody>
      </p:sp>
      <p:pic>
        <p:nvPicPr>
          <p:cNvPr id="5" name="İçerik Yer Tutucusu 4" descr="metin, ekran görüntüsü, diyagram, ekran, görüntüleme içeren bir resim&#10;&#10;Yapay zeka tarafından oluşturulan içerik yanlış olabilir.">
            <a:extLst>
              <a:ext uri="{FF2B5EF4-FFF2-40B4-BE49-F238E27FC236}">
                <a16:creationId xmlns:a16="http://schemas.microsoft.com/office/drawing/2014/main" id="{3392222D-BE07-DA64-68FE-4CC50971619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24776" y="784033"/>
            <a:ext cx="9542448" cy="6005505"/>
          </a:xfrm>
        </p:spPr>
      </p:pic>
    </p:spTree>
    <p:extLst>
      <p:ext uri="{BB962C8B-B14F-4D97-AF65-F5344CB8AC3E}">
        <p14:creationId xmlns:p14="http://schemas.microsoft.com/office/powerpoint/2010/main" val="1932697029"/>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4C7B8-8812-D640-9B4D-440955BCB71F}"/>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5E74543F-E7DF-F850-2D56-53EF1D457760}"/>
              </a:ext>
            </a:extLst>
          </p:cNvPr>
          <p:cNvSpPr>
            <a:spLocks noGrp="1"/>
          </p:cNvSpPr>
          <p:nvPr>
            <p:ph type="title"/>
          </p:nvPr>
        </p:nvSpPr>
        <p:spPr>
          <a:xfrm>
            <a:off x="838200" y="248495"/>
            <a:ext cx="10515600" cy="432542"/>
          </a:xfrm>
        </p:spPr>
        <p:txBody>
          <a:bodyPr>
            <a:noAutofit/>
          </a:bodyPr>
          <a:lstStyle/>
          <a:p>
            <a:pPr algn="ctr"/>
            <a:r>
              <a:rPr lang="tr-TR" sz="2800" dirty="0"/>
              <a:t>CustomerProduct Sınıfı için Form Oluşturulması</a:t>
            </a:r>
          </a:p>
        </p:txBody>
      </p:sp>
      <p:sp>
        <p:nvSpPr>
          <p:cNvPr id="3" name="İçerik Yer Tutucusu 2">
            <a:extLst>
              <a:ext uri="{FF2B5EF4-FFF2-40B4-BE49-F238E27FC236}">
                <a16:creationId xmlns:a16="http://schemas.microsoft.com/office/drawing/2014/main" id="{41CE5DB4-B03D-0649-3281-DC0E09706EA5}"/>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Şimdi, son eklediğimiz butona çift tıklayıp bunun click olayı için </a:t>
            </a:r>
            <a:r>
              <a:rPr lang="tr-TR" sz="1800" dirty="0" err="1"/>
              <a:t>Form_CustomerProduct</a:t>
            </a:r>
            <a:r>
              <a:rPr lang="tr-TR" sz="1800" dirty="0"/>
              <a:t> formuna geçişi için aşağıdaki kodu yazıyoruz:</a:t>
            </a:r>
          </a:p>
          <a:p>
            <a:pPr marL="0" indent="0">
              <a:buNone/>
            </a:pPr>
            <a:r>
              <a:rPr lang="tr-TR" sz="1800" dirty="0" err="1">
                <a:solidFill>
                  <a:srgbClr val="0000FF"/>
                </a:solidFill>
                <a:highlight>
                  <a:srgbClr val="FFFFFF"/>
                </a:highlight>
                <a:latin typeface="Cascadia Mono" panose="020B0609020000020004" pitchFamily="49" charset="0"/>
              </a:rPr>
              <a:t>private</a:t>
            </a:r>
            <a:r>
              <a:rPr lang="tr-TR" sz="1800" dirty="0">
                <a:solidFill>
                  <a:srgbClr val="000000"/>
                </a:solidFill>
                <a:highlight>
                  <a:srgbClr val="FFFFFF"/>
                </a:highlight>
                <a:latin typeface="Cascadia Mono" panose="020B0609020000020004" pitchFamily="49" charset="0"/>
              </a:rPr>
              <a:t> </a:t>
            </a:r>
            <a:r>
              <a:rPr lang="tr-TR" sz="1800" dirty="0">
                <a:solidFill>
                  <a:srgbClr val="0000FF"/>
                </a:solidFill>
                <a:highlight>
                  <a:srgbClr val="FFFFFF"/>
                </a:highlight>
                <a:latin typeface="Cascadia Mono" panose="020B0609020000020004" pitchFamily="49" charset="0"/>
              </a:rPr>
              <a:t>void</a:t>
            </a: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btn_form_cp_Click</a:t>
            </a:r>
            <a:r>
              <a:rPr lang="tr-TR" sz="1800" dirty="0">
                <a:solidFill>
                  <a:srgbClr val="000000"/>
                </a:solidFill>
                <a:highlight>
                  <a:srgbClr val="FFFFFF"/>
                </a:highlight>
                <a:latin typeface="Cascadia Mono" panose="020B0609020000020004" pitchFamily="49" charset="0"/>
              </a:rPr>
              <a:t>(</a:t>
            </a:r>
            <a:r>
              <a:rPr lang="tr-TR" sz="1800" dirty="0" err="1">
                <a:solidFill>
                  <a:srgbClr val="0000FF"/>
                </a:solidFill>
                <a:highlight>
                  <a:srgbClr val="FFFFFF"/>
                </a:highlight>
                <a:latin typeface="Cascadia Mono" panose="020B0609020000020004" pitchFamily="49" charset="0"/>
              </a:rPr>
              <a:t>object</a:t>
            </a: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sender</a:t>
            </a: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EventArgs</a:t>
            </a:r>
            <a:r>
              <a:rPr lang="tr-TR" sz="1800" dirty="0">
                <a:solidFill>
                  <a:srgbClr val="000000"/>
                </a:solidFill>
                <a:highlight>
                  <a:srgbClr val="FFFFFF"/>
                </a:highlight>
                <a:latin typeface="Cascadia Mono" panose="020B0609020000020004" pitchFamily="49" charset="0"/>
              </a:rPr>
              <a:t> e)</a:t>
            </a:r>
          </a:p>
          <a:p>
            <a:pPr marL="0" indent="0">
              <a:buNone/>
            </a:pPr>
            <a:r>
              <a:rPr lang="tr-TR" sz="1800" dirty="0">
                <a:solidFill>
                  <a:srgbClr val="000000"/>
                </a:solidFill>
                <a:highlight>
                  <a:srgbClr val="FFFFFF"/>
                </a:highlight>
                <a:latin typeface="Cascadia Mono" panose="020B0609020000020004" pitchFamily="49" charset="0"/>
              </a:rPr>
              <a:t>{</a:t>
            </a:r>
          </a:p>
          <a:p>
            <a:pPr marL="0" indent="0">
              <a:buNone/>
            </a:pPr>
            <a:r>
              <a:rPr lang="en-US" sz="1800" dirty="0">
                <a:solidFill>
                  <a:srgbClr val="000000"/>
                </a:solidFill>
                <a:highlight>
                  <a:srgbClr val="FFFFFF"/>
                </a:highlight>
                <a:latin typeface="Cascadia Mono" panose="020B0609020000020004" pitchFamily="49" charset="0"/>
              </a:rPr>
              <a:t>    </a:t>
            </a:r>
            <a:r>
              <a:rPr lang="en-US" sz="1800" dirty="0" err="1">
                <a:solidFill>
                  <a:srgbClr val="2B91AF"/>
                </a:solidFill>
                <a:highlight>
                  <a:srgbClr val="FFFFFF"/>
                </a:highlight>
                <a:latin typeface="Cascadia Mono" panose="020B0609020000020004" pitchFamily="49" charset="0"/>
              </a:rPr>
              <a:t>Form_CustomerProduct</a:t>
            </a:r>
            <a:r>
              <a:rPr lang="en-US" sz="1800" dirty="0">
                <a:solidFill>
                  <a:srgbClr val="000000"/>
                </a:solidFill>
                <a:highlight>
                  <a:srgbClr val="FFFFFF"/>
                </a:highlight>
                <a:latin typeface="Cascadia Mono" panose="020B0609020000020004" pitchFamily="49" charset="0"/>
              </a:rPr>
              <a:t> form2_cp = </a:t>
            </a:r>
            <a:r>
              <a:rPr lang="en-US" sz="1800" dirty="0">
                <a:solidFill>
                  <a:srgbClr val="0000FF"/>
                </a:solidFill>
                <a:highlight>
                  <a:srgbClr val="FFFFFF"/>
                </a:highlight>
                <a:latin typeface="Cascadia Mono" panose="020B0609020000020004" pitchFamily="49" charset="0"/>
              </a:rPr>
              <a:t>new</a:t>
            </a:r>
            <a:r>
              <a:rPr lang="en-US" sz="1800" dirty="0">
                <a:solidFill>
                  <a:srgbClr val="000000"/>
                </a:solidFill>
                <a:highlight>
                  <a:srgbClr val="FFFFFF"/>
                </a:highlight>
                <a:latin typeface="Cascadia Mono" panose="020B0609020000020004" pitchFamily="49" charset="0"/>
              </a:rPr>
              <a:t> </a:t>
            </a:r>
            <a:r>
              <a:rPr lang="en-US" sz="1800" dirty="0" err="1">
                <a:solidFill>
                  <a:srgbClr val="2B91AF"/>
                </a:solidFill>
                <a:highlight>
                  <a:srgbClr val="FFFFFF"/>
                </a:highlight>
                <a:latin typeface="Cascadia Mono" panose="020B0609020000020004" pitchFamily="49" charset="0"/>
              </a:rPr>
              <a:t>Form_CustomerProduct</a:t>
            </a:r>
            <a:r>
              <a:rPr lang="en-US"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0000FF"/>
                </a:solidFill>
                <a:highlight>
                  <a:srgbClr val="FFFFFF"/>
                </a:highlight>
                <a:latin typeface="Cascadia Mono" panose="020B0609020000020004" pitchFamily="49" charset="0"/>
              </a:rPr>
              <a:t>this</a:t>
            </a:r>
            <a:r>
              <a:rPr lang="tr-TR" sz="1800" dirty="0" err="1">
                <a:solidFill>
                  <a:srgbClr val="000000"/>
                </a:solidFill>
                <a:highlight>
                  <a:srgbClr val="FFFFFF"/>
                </a:highlight>
                <a:latin typeface="Cascadia Mono" panose="020B0609020000020004" pitchFamily="49" charset="0"/>
              </a:rPr>
              <a:t>.Hide</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form2_cp.ShowDialog();</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0000FF"/>
                </a:solidFill>
                <a:highlight>
                  <a:srgbClr val="FFFFFF"/>
                </a:highlight>
                <a:latin typeface="Cascadia Mono" panose="020B0609020000020004" pitchFamily="49" charset="0"/>
              </a:rPr>
              <a:t>this</a:t>
            </a:r>
            <a:r>
              <a:rPr lang="tr-TR" sz="1800" dirty="0" err="1">
                <a:solidFill>
                  <a:srgbClr val="000000"/>
                </a:solidFill>
                <a:highlight>
                  <a:srgbClr val="FFFFFF"/>
                </a:highlight>
                <a:latin typeface="Cascadia Mono" panose="020B0609020000020004" pitchFamily="49" charset="0"/>
              </a:rPr>
              <a:t>.Close</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a:t>
            </a:r>
            <a:endParaRPr lang="tr-TR" sz="1800" dirty="0"/>
          </a:p>
        </p:txBody>
      </p:sp>
    </p:spTree>
    <p:extLst>
      <p:ext uri="{BB962C8B-B14F-4D97-AF65-F5344CB8AC3E}">
        <p14:creationId xmlns:p14="http://schemas.microsoft.com/office/powerpoint/2010/main" val="2376662785"/>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56D9DE-07A8-8D75-2567-413A8D931889}"/>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0EBC4433-3AF7-C08D-E560-4E527189E143}"/>
              </a:ext>
            </a:extLst>
          </p:cNvPr>
          <p:cNvSpPr>
            <a:spLocks noGrp="1"/>
          </p:cNvSpPr>
          <p:nvPr>
            <p:ph type="title"/>
          </p:nvPr>
        </p:nvSpPr>
        <p:spPr>
          <a:xfrm>
            <a:off x="838200" y="248495"/>
            <a:ext cx="10515600" cy="432542"/>
          </a:xfrm>
        </p:spPr>
        <p:txBody>
          <a:bodyPr>
            <a:noAutofit/>
          </a:bodyPr>
          <a:lstStyle/>
          <a:p>
            <a:pPr algn="ctr"/>
            <a:r>
              <a:rPr lang="tr-TR" sz="2800" dirty="0"/>
              <a:t>CustomerProduct Sınıfı için Form Oluşturulması</a:t>
            </a:r>
          </a:p>
        </p:txBody>
      </p:sp>
      <p:pic>
        <p:nvPicPr>
          <p:cNvPr id="5" name="İçerik Yer Tutucusu 4" descr="metin, ekran görüntüsü, yazı tipi içeren bir resim&#10;&#10;Yapay zeka tarafından oluşturulan içerik yanlış olabilir.">
            <a:extLst>
              <a:ext uri="{FF2B5EF4-FFF2-40B4-BE49-F238E27FC236}">
                <a16:creationId xmlns:a16="http://schemas.microsoft.com/office/drawing/2014/main" id="{510B2DB0-1D0D-C25C-95F7-7E2EE3F33C4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60685" y="1913916"/>
            <a:ext cx="8470630" cy="2117657"/>
          </a:xfrm>
        </p:spPr>
      </p:pic>
    </p:spTree>
    <p:extLst>
      <p:ext uri="{BB962C8B-B14F-4D97-AF65-F5344CB8AC3E}">
        <p14:creationId xmlns:p14="http://schemas.microsoft.com/office/powerpoint/2010/main" val="675924942"/>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D84FC-873E-382E-03A1-C035042B24EC}"/>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57163B79-DE7E-1B2B-C1C7-1C8BEE1C93B9}"/>
              </a:ext>
            </a:extLst>
          </p:cNvPr>
          <p:cNvSpPr>
            <a:spLocks noGrp="1"/>
          </p:cNvSpPr>
          <p:nvPr>
            <p:ph type="title"/>
          </p:nvPr>
        </p:nvSpPr>
        <p:spPr>
          <a:xfrm>
            <a:off x="838200" y="248495"/>
            <a:ext cx="10515600" cy="432542"/>
          </a:xfrm>
        </p:spPr>
        <p:txBody>
          <a:bodyPr>
            <a:noAutofit/>
          </a:bodyPr>
          <a:lstStyle/>
          <a:p>
            <a:pPr algn="ctr"/>
            <a:r>
              <a:rPr lang="tr-TR" sz="2800" dirty="0"/>
              <a:t>CustomerProduct Sınıfı için Form Oluşturulması</a:t>
            </a:r>
          </a:p>
        </p:txBody>
      </p:sp>
      <p:sp>
        <p:nvSpPr>
          <p:cNvPr id="3" name="İçerik Yer Tutucusu 2">
            <a:extLst>
              <a:ext uri="{FF2B5EF4-FFF2-40B4-BE49-F238E27FC236}">
                <a16:creationId xmlns:a16="http://schemas.microsoft.com/office/drawing/2014/main" id="{9C6E50A1-20C8-09FD-A9FE-796A35F6F849}"/>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Kodunuzu çalıştırıp butona tıkladığınızda yeni eklediğiniz boş form’a geçiş yaptığını göreceksiniz.</a:t>
            </a:r>
          </a:p>
          <a:p>
            <a:pPr marL="0" indent="0" algn="just">
              <a:lnSpc>
                <a:spcPct val="100000"/>
              </a:lnSpc>
              <a:spcBef>
                <a:spcPts val="600"/>
              </a:spcBef>
              <a:spcAft>
                <a:spcPts val="600"/>
              </a:spcAft>
              <a:buNone/>
            </a:pPr>
            <a:r>
              <a:rPr lang="tr-TR" sz="1800" dirty="0"/>
              <a:t>Şimdi ise ikinci formumuzu doldurmamız lazım.</a:t>
            </a:r>
          </a:p>
          <a:p>
            <a:pPr marL="0" indent="0" algn="just">
              <a:lnSpc>
                <a:spcPct val="100000"/>
              </a:lnSpc>
              <a:spcBef>
                <a:spcPts val="600"/>
              </a:spcBef>
              <a:spcAft>
                <a:spcPts val="600"/>
              </a:spcAft>
              <a:buNone/>
            </a:pPr>
            <a:r>
              <a:rPr lang="tr-TR" sz="1800" dirty="0"/>
              <a:t>Yine bir adet datagridview ekleyeceğiz.</a:t>
            </a:r>
          </a:p>
          <a:p>
            <a:pPr marL="0" indent="0" algn="just">
              <a:lnSpc>
                <a:spcPct val="100000"/>
              </a:lnSpc>
              <a:spcBef>
                <a:spcPts val="600"/>
              </a:spcBef>
              <a:spcAft>
                <a:spcPts val="600"/>
              </a:spcAft>
              <a:buNone/>
            </a:pPr>
            <a:r>
              <a:rPr lang="tr-TR" sz="1800" dirty="0"/>
              <a:t>Verileri listelemek, silmek ve eklemek için 3 adet buton ekleyeceğiz.</a:t>
            </a:r>
          </a:p>
          <a:p>
            <a:pPr marL="0" indent="0" algn="just">
              <a:lnSpc>
                <a:spcPct val="100000"/>
              </a:lnSpc>
              <a:spcBef>
                <a:spcPts val="600"/>
              </a:spcBef>
              <a:spcAft>
                <a:spcPts val="600"/>
              </a:spcAft>
              <a:buNone/>
            </a:pPr>
            <a:r>
              <a:rPr lang="tr-TR" sz="1800" dirty="0"/>
              <a:t>2 adet </a:t>
            </a:r>
            <a:r>
              <a:rPr lang="tr-TR" sz="1800" dirty="0" err="1"/>
              <a:t>label</a:t>
            </a:r>
            <a:r>
              <a:rPr lang="tr-TR" sz="1800" dirty="0"/>
              <a:t> ve 2 adet </a:t>
            </a:r>
            <a:r>
              <a:rPr lang="tr-TR" sz="1800" dirty="0" err="1"/>
              <a:t>combobox</a:t>
            </a:r>
            <a:r>
              <a:rPr lang="tr-TR" sz="1800" dirty="0"/>
              <a:t> ekleyeceğiz.</a:t>
            </a:r>
          </a:p>
          <a:p>
            <a:pPr marL="0" indent="0" algn="just">
              <a:lnSpc>
                <a:spcPct val="100000"/>
              </a:lnSpc>
              <a:spcBef>
                <a:spcPts val="600"/>
              </a:spcBef>
              <a:spcAft>
                <a:spcPts val="600"/>
              </a:spcAft>
              <a:buNone/>
            </a:pPr>
            <a:r>
              <a:rPr lang="tr-TR" sz="1800" dirty="0"/>
              <a:t>Diğer formdan farklı olarak bu </a:t>
            </a:r>
            <a:r>
              <a:rPr lang="tr-TR" sz="1800" dirty="0" err="1"/>
              <a:t>form’da</a:t>
            </a:r>
            <a:r>
              <a:rPr lang="tr-TR" sz="1800" dirty="0"/>
              <a:t> güncelleme yapmamıza gerek yok. Çünkü CustomerProduct sınıfı, Customer ve Product sınıflarını içerdiği için burada yapılacak bir güncelleme aslında diğerinde yapılabilir.</a:t>
            </a:r>
          </a:p>
          <a:p>
            <a:pPr marL="0" indent="0" algn="just">
              <a:lnSpc>
                <a:spcPct val="100000"/>
              </a:lnSpc>
              <a:spcBef>
                <a:spcPts val="600"/>
              </a:spcBef>
              <a:spcAft>
                <a:spcPts val="600"/>
              </a:spcAft>
              <a:buNone/>
            </a:pPr>
            <a:r>
              <a:rPr lang="tr-TR" sz="1800" dirty="0"/>
              <a:t>Biz burada sadece hangi müşterinin hangi ürünü satın aldığıyla ilgileniyoruz.</a:t>
            </a:r>
          </a:p>
          <a:p>
            <a:pPr marL="0" indent="0" algn="just">
              <a:lnSpc>
                <a:spcPct val="100000"/>
              </a:lnSpc>
              <a:spcBef>
                <a:spcPts val="600"/>
              </a:spcBef>
              <a:spcAft>
                <a:spcPts val="600"/>
              </a:spcAft>
              <a:buNone/>
            </a:pPr>
            <a:r>
              <a:rPr lang="tr-TR" sz="1800" dirty="0" err="1"/>
              <a:t>Textbox</a:t>
            </a:r>
            <a:r>
              <a:rPr lang="tr-TR" sz="1800" dirty="0"/>
              <a:t> yerine </a:t>
            </a:r>
            <a:r>
              <a:rPr lang="tr-TR" sz="1800" dirty="0" err="1"/>
              <a:t>combobox</a:t>
            </a:r>
            <a:r>
              <a:rPr lang="tr-TR" sz="1800" dirty="0"/>
              <a:t> kullanmamızın sebebi de yine aynı şekilde buradaki Customer bilgilerinin Customer sınıfından gelmesi ve Product bilgilerinin de Product sınıfından gelmesi. Dolayısıyla biz sadece var olan müşteriler ve var olan ürünlerle ilgileneceğiz.</a:t>
            </a:r>
          </a:p>
          <a:p>
            <a:pPr marL="0" indent="0" algn="just">
              <a:lnSpc>
                <a:spcPct val="100000"/>
              </a:lnSpc>
              <a:spcBef>
                <a:spcPts val="600"/>
              </a:spcBef>
              <a:spcAft>
                <a:spcPts val="600"/>
              </a:spcAft>
              <a:buNone/>
            </a:pPr>
            <a:endParaRPr lang="tr-TR" sz="1800" dirty="0"/>
          </a:p>
        </p:txBody>
      </p:sp>
    </p:spTree>
    <p:extLst>
      <p:ext uri="{BB962C8B-B14F-4D97-AF65-F5344CB8AC3E}">
        <p14:creationId xmlns:p14="http://schemas.microsoft.com/office/powerpoint/2010/main" val="88139995"/>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654054-AB42-7433-E3D0-0311A2DF30E1}"/>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F88F9481-321B-5188-4572-C91B0E72E23D}"/>
              </a:ext>
            </a:extLst>
          </p:cNvPr>
          <p:cNvSpPr>
            <a:spLocks noGrp="1"/>
          </p:cNvSpPr>
          <p:nvPr>
            <p:ph type="title"/>
          </p:nvPr>
        </p:nvSpPr>
        <p:spPr>
          <a:xfrm>
            <a:off x="838200" y="248495"/>
            <a:ext cx="10515600" cy="432542"/>
          </a:xfrm>
        </p:spPr>
        <p:txBody>
          <a:bodyPr>
            <a:noAutofit/>
          </a:bodyPr>
          <a:lstStyle/>
          <a:p>
            <a:pPr algn="ctr"/>
            <a:r>
              <a:rPr lang="tr-TR" sz="2800" dirty="0"/>
              <a:t>CustomerProduct Sınıfı için Form Oluşturulması</a:t>
            </a:r>
          </a:p>
        </p:txBody>
      </p:sp>
      <p:sp>
        <p:nvSpPr>
          <p:cNvPr id="3" name="İçerik Yer Tutucusu 2">
            <a:extLst>
              <a:ext uri="{FF2B5EF4-FFF2-40B4-BE49-F238E27FC236}">
                <a16:creationId xmlns:a16="http://schemas.microsoft.com/office/drawing/2014/main" id="{583D1FEC-6904-DAC1-7B2C-AC8D2718804B}"/>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Ekleyeceğimiz bileşenlerin id bilgileri şöyle olacak:</a:t>
            </a:r>
          </a:p>
          <a:p>
            <a:pPr marL="0" indent="0" algn="just">
              <a:lnSpc>
                <a:spcPct val="100000"/>
              </a:lnSpc>
              <a:spcBef>
                <a:spcPts val="600"/>
              </a:spcBef>
              <a:spcAft>
                <a:spcPts val="600"/>
              </a:spcAft>
              <a:buNone/>
            </a:pPr>
            <a:r>
              <a:rPr lang="tr-TR" sz="1800" dirty="0" err="1"/>
              <a:t>Combobox’lar</a:t>
            </a:r>
            <a:r>
              <a:rPr lang="tr-TR" sz="1800" dirty="0"/>
              <a:t> için </a:t>
            </a:r>
            <a:r>
              <a:rPr lang="tr-TR" sz="1800" dirty="0" err="1"/>
              <a:t>combo_customer</a:t>
            </a:r>
            <a:r>
              <a:rPr lang="tr-TR" sz="1800" dirty="0"/>
              <a:t>, </a:t>
            </a:r>
            <a:r>
              <a:rPr lang="tr-TR" sz="1800" dirty="0" err="1"/>
              <a:t>combo_product</a:t>
            </a:r>
            <a:endParaRPr lang="tr-TR" sz="1800" dirty="0"/>
          </a:p>
          <a:p>
            <a:pPr marL="0" indent="0" algn="just">
              <a:lnSpc>
                <a:spcPct val="100000"/>
              </a:lnSpc>
              <a:spcBef>
                <a:spcPts val="600"/>
              </a:spcBef>
              <a:spcAft>
                <a:spcPts val="600"/>
              </a:spcAft>
              <a:buNone/>
            </a:pPr>
            <a:r>
              <a:rPr lang="tr-TR" sz="1800" dirty="0"/>
              <a:t>Butonlar için btn_listele, </a:t>
            </a:r>
            <a:r>
              <a:rPr lang="tr-TR" sz="1800" dirty="0" err="1"/>
              <a:t>btn_ekle</a:t>
            </a:r>
            <a:r>
              <a:rPr lang="tr-TR" sz="1800" dirty="0"/>
              <a:t>, </a:t>
            </a:r>
            <a:r>
              <a:rPr lang="tr-TR" sz="1800" dirty="0" err="1"/>
              <a:t>btn_sil</a:t>
            </a:r>
            <a:endParaRPr lang="tr-TR" sz="1800" dirty="0"/>
          </a:p>
          <a:p>
            <a:pPr marL="0" indent="0" algn="just">
              <a:lnSpc>
                <a:spcPct val="100000"/>
              </a:lnSpc>
              <a:spcBef>
                <a:spcPts val="600"/>
              </a:spcBef>
              <a:spcAft>
                <a:spcPts val="600"/>
              </a:spcAft>
              <a:buNone/>
            </a:pPr>
            <a:r>
              <a:rPr lang="tr-TR" sz="1800" dirty="0"/>
              <a:t>Bir adet buton daha ekleyeceğiz. Bu buton da önceki form’a geçiş yapmak için kullanılacak. Ona da </a:t>
            </a:r>
            <a:r>
              <a:rPr lang="tr-TR" sz="1800" dirty="0" err="1"/>
              <a:t>btn_form_customer</a:t>
            </a:r>
            <a:r>
              <a:rPr lang="tr-TR" sz="1800" dirty="0"/>
              <a:t> diyeceğiz.</a:t>
            </a:r>
          </a:p>
          <a:p>
            <a:pPr marL="0" indent="0" algn="just">
              <a:lnSpc>
                <a:spcPct val="100000"/>
              </a:lnSpc>
              <a:spcBef>
                <a:spcPts val="600"/>
              </a:spcBef>
              <a:spcAft>
                <a:spcPts val="600"/>
              </a:spcAft>
              <a:buNone/>
            </a:pPr>
            <a:r>
              <a:rPr lang="tr-TR" sz="1800" dirty="0"/>
              <a:t>Formumuzun görünümü sonraki sayfada yer almaktadır.</a:t>
            </a:r>
          </a:p>
          <a:p>
            <a:pPr marL="0" indent="0" algn="just">
              <a:lnSpc>
                <a:spcPct val="100000"/>
              </a:lnSpc>
              <a:spcBef>
                <a:spcPts val="600"/>
              </a:spcBef>
              <a:spcAft>
                <a:spcPts val="600"/>
              </a:spcAft>
              <a:buNone/>
            </a:pPr>
            <a:endParaRPr lang="tr-TR" sz="1800" dirty="0"/>
          </a:p>
        </p:txBody>
      </p:sp>
    </p:spTree>
    <p:extLst>
      <p:ext uri="{BB962C8B-B14F-4D97-AF65-F5344CB8AC3E}">
        <p14:creationId xmlns:p14="http://schemas.microsoft.com/office/powerpoint/2010/main" val="116361526"/>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240CA8-FBCA-2581-51A0-E2508F098A59}"/>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0D50D209-4EF7-0C0A-CCFB-C83C35896FC3}"/>
              </a:ext>
            </a:extLst>
          </p:cNvPr>
          <p:cNvSpPr>
            <a:spLocks noGrp="1"/>
          </p:cNvSpPr>
          <p:nvPr>
            <p:ph type="title"/>
          </p:nvPr>
        </p:nvSpPr>
        <p:spPr>
          <a:xfrm>
            <a:off x="838200" y="248495"/>
            <a:ext cx="10515600" cy="432542"/>
          </a:xfrm>
        </p:spPr>
        <p:txBody>
          <a:bodyPr>
            <a:noAutofit/>
          </a:bodyPr>
          <a:lstStyle/>
          <a:p>
            <a:pPr algn="ctr"/>
            <a:r>
              <a:rPr lang="tr-TR" sz="2800" dirty="0"/>
              <a:t>CustomerProduct Sınıfı için Form Oluşturulması</a:t>
            </a:r>
          </a:p>
        </p:txBody>
      </p:sp>
      <p:pic>
        <p:nvPicPr>
          <p:cNvPr id="5" name="İçerik Yer Tutucusu 4" descr="metin, ekran, görüntüleme, ekran görüntüsü, yazılım içeren bir resim&#10;&#10;Yapay zeka tarafından oluşturulan içerik yanlış olabilir.">
            <a:extLst>
              <a:ext uri="{FF2B5EF4-FFF2-40B4-BE49-F238E27FC236}">
                <a16:creationId xmlns:a16="http://schemas.microsoft.com/office/drawing/2014/main" id="{F7CA3AD4-9C1C-38C8-6EDA-928657367A2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93944" y="846138"/>
            <a:ext cx="9404112" cy="5884862"/>
          </a:xfrm>
        </p:spPr>
      </p:pic>
    </p:spTree>
    <p:extLst>
      <p:ext uri="{BB962C8B-B14F-4D97-AF65-F5344CB8AC3E}">
        <p14:creationId xmlns:p14="http://schemas.microsoft.com/office/powerpoint/2010/main" val="2707658432"/>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ED769-6C7C-A793-C6CF-A07CCC649565}"/>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46B66072-36F5-39AA-4BC7-D7E0E0C4448E}"/>
              </a:ext>
            </a:extLst>
          </p:cNvPr>
          <p:cNvSpPr>
            <a:spLocks noGrp="1"/>
          </p:cNvSpPr>
          <p:nvPr>
            <p:ph type="title"/>
          </p:nvPr>
        </p:nvSpPr>
        <p:spPr>
          <a:xfrm>
            <a:off x="838200" y="248495"/>
            <a:ext cx="10515600" cy="432542"/>
          </a:xfrm>
        </p:spPr>
        <p:txBody>
          <a:bodyPr>
            <a:noAutofit/>
          </a:bodyPr>
          <a:lstStyle/>
          <a:p>
            <a:pPr algn="ctr"/>
            <a:r>
              <a:rPr lang="tr-TR" sz="2800" dirty="0"/>
              <a:t>CustomerProduct Sınıfı için Form Oluşturulması</a:t>
            </a:r>
          </a:p>
        </p:txBody>
      </p:sp>
      <p:sp>
        <p:nvSpPr>
          <p:cNvPr id="3" name="İçerik Yer Tutucusu 2">
            <a:extLst>
              <a:ext uri="{FF2B5EF4-FFF2-40B4-BE49-F238E27FC236}">
                <a16:creationId xmlns:a16="http://schemas.microsoft.com/office/drawing/2014/main" id="{DD3FCD7D-FDAD-EAB8-C33F-5E825E00C536}"/>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Formumuzu oluşturduktan sonra, neden Customer ve Product bilgilerini tek bir tabloda tek bir sınıfta birleştirdiğimizi anlamalıyız. Şimdi, SQL tarafına gidip </a:t>
            </a:r>
            <a:r>
              <a:rPr lang="tr-TR" sz="1800" dirty="0" err="1"/>
              <a:t>Table_CustomerProduct</a:t>
            </a:r>
            <a:r>
              <a:rPr lang="tr-TR" sz="1800" dirty="0"/>
              <a:t> sınıfına bir select * </a:t>
            </a:r>
            <a:r>
              <a:rPr lang="tr-TR" sz="1800" dirty="0" err="1"/>
              <a:t>from</a:t>
            </a:r>
            <a:r>
              <a:rPr lang="tr-TR" sz="1800" dirty="0"/>
              <a:t> sorgusu yazacağız.</a:t>
            </a:r>
          </a:p>
        </p:txBody>
      </p:sp>
    </p:spTree>
    <p:extLst>
      <p:ext uri="{BB962C8B-B14F-4D97-AF65-F5344CB8AC3E}">
        <p14:creationId xmlns:p14="http://schemas.microsoft.com/office/powerpoint/2010/main" val="3395281456"/>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D214-7CA5-AF2C-B47E-EAA815631ECA}"/>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66DE4F0F-1A00-AF7E-D428-A598FEE74AFE}"/>
              </a:ext>
            </a:extLst>
          </p:cNvPr>
          <p:cNvSpPr>
            <a:spLocks noGrp="1"/>
          </p:cNvSpPr>
          <p:nvPr>
            <p:ph type="title"/>
          </p:nvPr>
        </p:nvSpPr>
        <p:spPr>
          <a:xfrm>
            <a:off x="838200" y="248495"/>
            <a:ext cx="10515600" cy="432542"/>
          </a:xfrm>
        </p:spPr>
        <p:txBody>
          <a:bodyPr>
            <a:noAutofit/>
          </a:bodyPr>
          <a:lstStyle/>
          <a:p>
            <a:pPr algn="ctr"/>
            <a:r>
              <a:rPr lang="tr-TR" sz="2800" dirty="0"/>
              <a:t>CustomerProduct Sınıfı için Form Oluşturulması</a:t>
            </a:r>
          </a:p>
        </p:txBody>
      </p:sp>
      <p:sp>
        <p:nvSpPr>
          <p:cNvPr id="3" name="İçerik Yer Tutucusu 2">
            <a:extLst>
              <a:ext uri="{FF2B5EF4-FFF2-40B4-BE49-F238E27FC236}">
                <a16:creationId xmlns:a16="http://schemas.microsoft.com/office/drawing/2014/main" id="{492D1938-1CA4-A5CC-A3CD-B68C4A3D933B}"/>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Aşağıda Table_CustomerProduct tablosundaki mevcut kayıtları görüyoruz. Burada:</a:t>
            </a:r>
          </a:p>
          <a:p>
            <a:pPr marL="0" indent="0" algn="just">
              <a:lnSpc>
                <a:spcPct val="100000"/>
              </a:lnSpc>
              <a:spcBef>
                <a:spcPts val="600"/>
              </a:spcBef>
              <a:spcAft>
                <a:spcPts val="600"/>
              </a:spcAft>
              <a:buNone/>
            </a:pPr>
            <a:r>
              <a:rPr lang="tr-TR" sz="1800" dirty="0" err="1"/>
              <a:t>CusPro_Id</a:t>
            </a:r>
            <a:r>
              <a:rPr lang="tr-TR" sz="1800" dirty="0"/>
              <a:t> sütunu Table_CustomerProduct tablosunun primary key sütunudur (kayıtların sıra numarasını tutar)</a:t>
            </a:r>
          </a:p>
          <a:p>
            <a:pPr marL="0" indent="0" algn="just">
              <a:lnSpc>
                <a:spcPct val="100000"/>
              </a:lnSpc>
              <a:spcBef>
                <a:spcPts val="600"/>
              </a:spcBef>
              <a:spcAft>
                <a:spcPts val="600"/>
              </a:spcAft>
              <a:buNone/>
            </a:pPr>
            <a:r>
              <a:rPr lang="tr-TR" sz="1800" dirty="0"/>
              <a:t>Customer_Id sütunu, Table_Customer tablosundaki ilgili müşterinin tüm bilgilerini tutan foreign key sütunudur</a:t>
            </a:r>
          </a:p>
          <a:p>
            <a:pPr marL="0" indent="0" algn="just">
              <a:lnSpc>
                <a:spcPct val="100000"/>
              </a:lnSpc>
              <a:spcBef>
                <a:spcPts val="600"/>
              </a:spcBef>
              <a:spcAft>
                <a:spcPts val="600"/>
              </a:spcAft>
              <a:buNone/>
            </a:pPr>
            <a:r>
              <a:rPr lang="tr-TR" sz="1800" dirty="0" err="1"/>
              <a:t>Product_Id</a:t>
            </a:r>
            <a:r>
              <a:rPr lang="tr-TR" sz="1800" dirty="0"/>
              <a:t> sütunu, Table_Product tablosundaki ilgili ürünün tüm bilgilerini tutan foreign key sütunudur</a:t>
            </a:r>
          </a:p>
          <a:p>
            <a:pPr marL="0" indent="0" algn="just">
              <a:lnSpc>
                <a:spcPct val="100000"/>
              </a:lnSpc>
              <a:spcBef>
                <a:spcPts val="600"/>
              </a:spcBef>
              <a:spcAft>
                <a:spcPts val="600"/>
              </a:spcAft>
              <a:buNone/>
            </a:pPr>
            <a:r>
              <a:rPr lang="tr-TR" sz="1800" dirty="0"/>
              <a:t>Ancak bu şekilde bakınca oldukça anlamsız gelebilir. Çünkü herhangi bir bilgi içermiyor.</a:t>
            </a:r>
          </a:p>
        </p:txBody>
      </p:sp>
      <p:pic>
        <p:nvPicPr>
          <p:cNvPr id="5" name="Resim 4" descr="metin, ekran görüntüsü, yazı tipi, sayı, numara içeren bir resim&#10;&#10;Yapay zeka tarafından oluşturulan içerik yanlış olabilir.">
            <a:extLst>
              <a:ext uri="{FF2B5EF4-FFF2-40B4-BE49-F238E27FC236}">
                <a16:creationId xmlns:a16="http://schemas.microsoft.com/office/drawing/2014/main" id="{1F64E97B-AE1C-058C-3985-B17379C1A1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64298" y="3887497"/>
            <a:ext cx="6663403" cy="2124197"/>
          </a:xfrm>
          <a:prstGeom prst="rect">
            <a:avLst/>
          </a:prstGeom>
        </p:spPr>
      </p:pic>
    </p:spTree>
    <p:extLst>
      <p:ext uri="{BB962C8B-B14F-4D97-AF65-F5344CB8AC3E}">
        <p14:creationId xmlns:p14="http://schemas.microsoft.com/office/powerpoint/2010/main" val="1544721508"/>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C2E2D7-8509-8ECE-2A59-101495CEA8C4}"/>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02F300C5-F5ED-392B-F107-39B0E1D0860F}"/>
              </a:ext>
            </a:extLst>
          </p:cNvPr>
          <p:cNvSpPr>
            <a:spLocks noGrp="1"/>
          </p:cNvSpPr>
          <p:nvPr>
            <p:ph type="title"/>
          </p:nvPr>
        </p:nvSpPr>
        <p:spPr>
          <a:xfrm>
            <a:off x="838200" y="248495"/>
            <a:ext cx="10515600" cy="432542"/>
          </a:xfrm>
        </p:spPr>
        <p:txBody>
          <a:bodyPr>
            <a:noAutofit/>
          </a:bodyPr>
          <a:lstStyle/>
          <a:p>
            <a:pPr algn="ctr"/>
            <a:r>
              <a:rPr lang="tr-TR" sz="2800" dirty="0"/>
              <a:t>CustomerProduct Sınıfı için Form Oluşturulması</a:t>
            </a:r>
          </a:p>
        </p:txBody>
      </p:sp>
      <p:sp>
        <p:nvSpPr>
          <p:cNvPr id="3" name="İçerik Yer Tutucusu 2">
            <a:extLst>
              <a:ext uri="{FF2B5EF4-FFF2-40B4-BE49-F238E27FC236}">
                <a16:creationId xmlns:a16="http://schemas.microsoft.com/office/drawing/2014/main" id="{CC0CEE5F-88C8-E144-7565-8EBD90DCD531}"/>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Şimdi, Table_CustomerProduct tablosundaki ilk kaydı inceleyelim.</a:t>
            </a:r>
          </a:p>
          <a:p>
            <a:pPr marL="0" indent="0" algn="just">
              <a:lnSpc>
                <a:spcPct val="100000"/>
              </a:lnSpc>
              <a:spcBef>
                <a:spcPts val="600"/>
              </a:spcBef>
              <a:spcAft>
                <a:spcPts val="600"/>
              </a:spcAft>
              <a:buNone/>
            </a:pPr>
            <a:endParaRPr lang="tr-TR" sz="1800" dirty="0"/>
          </a:p>
          <a:p>
            <a:pPr marL="0" indent="0" algn="just">
              <a:lnSpc>
                <a:spcPct val="100000"/>
              </a:lnSpc>
              <a:spcBef>
                <a:spcPts val="600"/>
              </a:spcBef>
              <a:spcAft>
                <a:spcPts val="600"/>
              </a:spcAft>
              <a:buNone/>
            </a:pPr>
            <a:endParaRPr lang="tr-TR" sz="1800" dirty="0"/>
          </a:p>
          <a:p>
            <a:pPr marL="0" indent="0" algn="just">
              <a:lnSpc>
                <a:spcPct val="100000"/>
              </a:lnSpc>
              <a:spcBef>
                <a:spcPts val="600"/>
              </a:spcBef>
              <a:spcAft>
                <a:spcPts val="600"/>
              </a:spcAft>
              <a:buNone/>
            </a:pPr>
            <a:endParaRPr lang="tr-TR" sz="1800" dirty="0"/>
          </a:p>
          <a:p>
            <a:pPr marL="0" indent="0" algn="just">
              <a:lnSpc>
                <a:spcPct val="100000"/>
              </a:lnSpc>
              <a:spcBef>
                <a:spcPts val="600"/>
              </a:spcBef>
              <a:spcAft>
                <a:spcPts val="600"/>
              </a:spcAft>
              <a:buNone/>
            </a:pPr>
            <a:endParaRPr lang="tr-TR" sz="1800" dirty="0"/>
          </a:p>
          <a:p>
            <a:pPr marL="0" indent="0" algn="just">
              <a:lnSpc>
                <a:spcPct val="100000"/>
              </a:lnSpc>
              <a:spcBef>
                <a:spcPts val="600"/>
              </a:spcBef>
              <a:spcAft>
                <a:spcPts val="600"/>
              </a:spcAft>
              <a:buNone/>
            </a:pPr>
            <a:r>
              <a:rPr lang="tr-TR" sz="1800" dirty="0"/>
              <a:t>Table_Customer tablosundaki 1. kayıttaki müşteriyi bulalım önce. Aşağıda, Table_Customer tablosundaki ilk kayıt gösterilmektedir.</a:t>
            </a:r>
          </a:p>
          <a:p>
            <a:pPr marL="0" indent="0" algn="just">
              <a:lnSpc>
                <a:spcPct val="100000"/>
              </a:lnSpc>
              <a:spcBef>
                <a:spcPts val="600"/>
              </a:spcBef>
              <a:spcAft>
                <a:spcPts val="600"/>
              </a:spcAft>
              <a:buNone/>
            </a:pPr>
            <a:endParaRPr lang="tr-TR" sz="1800" dirty="0"/>
          </a:p>
        </p:txBody>
      </p:sp>
      <p:pic>
        <p:nvPicPr>
          <p:cNvPr id="5" name="Resim 4" descr="metin, ekran görüntüsü, yazı tipi, sayı, numara içeren bir resim&#10;&#10;Yapay zeka tarafından oluşturulan içerik yanlış olabilir.">
            <a:extLst>
              <a:ext uri="{FF2B5EF4-FFF2-40B4-BE49-F238E27FC236}">
                <a16:creationId xmlns:a16="http://schemas.microsoft.com/office/drawing/2014/main" id="{4351B8DE-7813-968E-8ED4-A37CC87FE2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30756" y="1183801"/>
            <a:ext cx="4016088" cy="1280271"/>
          </a:xfrm>
          <a:prstGeom prst="rect">
            <a:avLst/>
          </a:prstGeom>
        </p:spPr>
      </p:pic>
      <p:pic>
        <p:nvPicPr>
          <p:cNvPr id="7" name="Resim 6" descr="metin, ekran görüntüsü, sayı, numara, yazı tipi içeren bir resim&#10;&#10;Yapay zeka tarafından oluşturulan içerik yanlış olabilir.">
            <a:extLst>
              <a:ext uri="{FF2B5EF4-FFF2-40B4-BE49-F238E27FC236}">
                <a16:creationId xmlns:a16="http://schemas.microsoft.com/office/drawing/2014/main" id="{9415AB72-685B-9E39-C398-48425C136B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34018" y="3706033"/>
            <a:ext cx="9723963" cy="2903472"/>
          </a:xfrm>
          <a:prstGeom prst="rect">
            <a:avLst/>
          </a:prstGeom>
        </p:spPr>
      </p:pic>
    </p:spTree>
    <p:extLst>
      <p:ext uri="{BB962C8B-B14F-4D97-AF65-F5344CB8AC3E}">
        <p14:creationId xmlns:p14="http://schemas.microsoft.com/office/powerpoint/2010/main" val="3471272554"/>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0148D-4ED9-0853-7C4A-719C0B3A1E78}"/>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71371970-E1EC-2007-3A05-3FD5DE3E2059}"/>
              </a:ext>
            </a:extLst>
          </p:cNvPr>
          <p:cNvSpPr>
            <a:spLocks noGrp="1"/>
          </p:cNvSpPr>
          <p:nvPr>
            <p:ph type="title"/>
          </p:nvPr>
        </p:nvSpPr>
        <p:spPr>
          <a:xfrm>
            <a:off x="838200" y="248495"/>
            <a:ext cx="10515600" cy="432542"/>
          </a:xfrm>
        </p:spPr>
        <p:txBody>
          <a:bodyPr>
            <a:noAutofit/>
          </a:bodyPr>
          <a:lstStyle/>
          <a:p>
            <a:pPr algn="ctr"/>
            <a:r>
              <a:rPr lang="tr-TR" sz="2800" dirty="0"/>
              <a:t>CustomerProduct Sınıfı için Form Oluşturulması</a:t>
            </a:r>
          </a:p>
        </p:txBody>
      </p:sp>
      <p:sp>
        <p:nvSpPr>
          <p:cNvPr id="3" name="İçerik Yer Tutucusu 2">
            <a:extLst>
              <a:ext uri="{FF2B5EF4-FFF2-40B4-BE49-F238E27FC236}">
                <a16:creationId xmlns:a16="http://schemas.microsoft.com/office/drawing/2014/main" id="{BD995888-D582-1C80-85EB-BBD2E8604F59}"/>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Demek ki burada 1 numara ile kast edilen Aslında Furkan ATLAN müşterisiymiş. Şimdi de aldığı ürünün ID bilgisini hatırlayalım:</a:t>
            </a:r>
          </a:p>
          <a:p>
            <a:pPr marL="0" indent="0" algn="just">
              <a:lnSpc>
                <a:spcPct val="100000"/>
              </a:lnSpc>
              <a:spcBef>
                <a:spcPts val="600"/>
              </a:spcBef>
              <a:spcAft>
                <a:spcPts val="600"/>
              </a:spcAft>
              <a:buNone/>
            </a:pPr>
            <a:endParaRPr lang="tr-TR" sz="1800" dirty="0"/>
          </a:p>
          <a:p>
            <a:pPr marL="0" indent="0" algn="just">
              <a:lnSpc>
                <a:spcPct val="100000"/>
              </a:lnSpc>
              <a:spcBef>
                <a:spcPts val="600"/>
              </a:spcBef>
              <a:spcAft>
                <a:spcPts val="600"/>
              </a:spcAft>
              <a:buNone/>
            </a:pPr>
            <a:endParaRPr lang="tr-TR" sz="1800" dirty="0"/>
          </a:p>
          <a:p>
            <a:pPr marL="0" indent="0" algn="just">
              <a:lnSpc>
                <a:spcPct val="100000"/>
              </a:lnSpc>
              <a:spcBef>
                <a:spcPts val="600"/>
              </a:spcBef>
              <a:spcAft>
                <a:spcPts val="600"/>
              </a:spcAft>
              <a:buNone/>
            </a:pPr>
            <a:endParaRPr lang="tr-TR" sz="1800" dirty="0"/>
          </a:p>
          <a:p>
            <a:pPr marL="0" indent="0" algn="just">
              <a:lnSpc>
                <a:spcPct val="100000"/>
              </a:lnSpc>
              <a:spcBef>
                <a:spcPts val="600"/>
              </a:spcBef>
              <a:spcAft>
                <a:spcPts val="600"/>
              </a:spcAft>
              <a:buNone/>
            </a:pPr>
            <a:r>
              <a:rPr lang="tr-TR" sz="1800" dirty="0"/>
              <a:t>1 numaralı müşteri (Furkan ATLAN), 3 numaralı ürünü almış. Şimdi Table_Product tablosundaki 3. kayıtta yer alan ürüne bakalım:</a:t>
            </a:r>
          </a:p>
          <a:p>
            <a:pPr marL="0" indent="0" algn="just">
              <a:lnSpc>
                <a:spcPct val="100000"/>
              </a:lnSpc>
              <a:spcBef>
                <a:spcPts val="600"/>
              </a:spcBef>
              <a:spcAft>
                <a:spcPts val="600"/>
              </a:spcAft>
              <a:buNone/>
            </a:pPr>
            <a:endParaRPr lang="tr-TR" sz="1800" dirty="0"/>
          </a:p>
          <a:p>
            <a:pPr marL="0" indent="0" algn="just">
              <a:lnSpc>
                <a:spcPct val="100000"/>
              </a:lnSpc>
              <a:spcBef>
                <a:spcPts val="600"/>
              </a:spcBef>
              <a:spcAft>
                <a:spcPts val="600"/>
              </a:spcAft>
              <a:buNone/>
            </a:pPr>
            <a:endParaRPr lang="tr-TR" sz="1800" dirty="0"/>
          </a:p>
          <a:p>
            <a:pPr marL="0" indent="0" algn="just">
              <a:lnSpc>
                <a:spcPct val="100000"/>
              </a:lnSpc>
              <a:spcBef>
                <a:spcPts val="600"/>
              </a:spcBef>
              <a:spcAft>
                <a:spcPts val="600"/>
              </a:spcAft>
              <a:buNone/>
            </a:pPr>
            <a:endParaRPr lang="tr-TR" sz="1800" dirty="0"/>
          </a:p>
        </p:txBody>
      </p:sp>
      <p:pic>
        <p:nvPicPr>
          <p:cNvPr id="4" name="Resim 3" descr="metin, ekran görüntüsü, yazı tipi, sayı, numara içeren bir resim&#10;&#10;Yapay zeka tarafından oluşturulan içerik yanlış olabilir.">
            <a:extLst>
              <a:ext uri="{FF2B5EF4-FFF2-40B4-BE49-F238E27FC236}">
                <a16:creationId xmlns:a16="http://schemas.microsoft.com/office/drawing/2014/main" id="{570DA7B9-136D-BB72-1B5C-67F98198B6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11300" y="1349171"/>
            <a:ext cx="4016088" cy="1280271"/>
          </a:xfrm>
          <a:prstGeom prst="rect">
            <a:avLst/>
          </a:prstGeom>
        </p:spPr>
      </p:pic>
      <p:pic>
        <p:nvPicPr>
          <p:cNvPr id="6" name="Resim 5">
            <a:extLst>
              <a:ext uri="{FF2B5EF4-FFF2-40B4-BE49-F238E27FC236}">
                <a16:creationId xmlns:a16="http://schemas.microsoft.com/office/drawing/2014/main" id="{BFF2D282-45AA-A145-A793-AA93A08625CF}"/>
              </a:ext>
            </a:extLst>
          </p:cNvPr>
          <p:cNvPicPr>
            <a:picLocks noChangeAspect="1"/>
          </p:cNvPicPr>
          <p:nvPr/>
        </p:nvPicPr>
        <p:blipFill>
          <a:blip r:embed="rId3"/>
          <a:stretch>
            <a:fillRect/>
          </a:stretch>
        </p:blipFill>
        <p:spPr>
          <a:xfrm>
            <a:off x="1992752" y="3704212"/>
            <a:ext cx="8401050" cy="2095500"/>
          </a:xfrm>
          <a:prstGeom prst="rect">
            <a:avLst/>
          </a:prstGeom>
        </p:spPr>
      </p:pic>
    </p:spTree>
    <p:extLst>
      <p:ext uri="{BB962C8B-B14F-4D97-AF65-F5344CB8AC3E}">
        <p14:creationId xmlns:p14="http://schemas.microsoft.com/office/powerpoint/2010/main" val="3176124736"/>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921B78-652B-3EF3-2C2F-02C096CFCC19}"/>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1E4CAEF7-99CD-4BCE-4DDA-67BD4724A6A9}"/>
              </a:ext>
            </a:extLst>
          </p:cNvPr>
          <p:cNvSpPr>
            <a:spLocks noGrp="1"/>
          </p:cNvSpPr>
          <p:nvPr>
            <p:ph type="title"/>
          </p:nvPr>
        </p:nvSpPr>
        <p:spPr>
          <a:xfrm>
            <a:off x="838200" y="248495"/>
            <a:ext cx="10515600" cy="432542"/>
          </a:xfrm>
        </p:spPr>
        <p:txBody>
          <a:bodyPr>
            <a:noAutofit/>
          </a:bodyPr>
          <a:lstStyle/>
          <a:p>
            <a:pPr algn="ctr"/>
            <a:r>
              <a:rPr lang="tr-TR" sz="2800" dirty="0"/>
              <a:t>CustomerProduct Sınıfı için Form Oluşturulması</a:t>
            </a:r>
          </a:p>
        </p:txBody>
      </p:sp>
      <p:sp>
        <p:nvSpPr>
          <p:cNvPr id="3" name="İçerik Yer Tutucusu 2">
            <a:extLst>
              <a:ext uri="{FF2B5EF4-FFF2-40B4-BE49-F238E27FC236}">
                <a16:creationId xmlns:a16="http://schemas.microsoft.com/office/drawing/2014/main" id="{43C93B78-B1A5-5994-B957-33EFF06BF9A3}"/>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Şimdi bu bilgilere göre şunu söyleyebiliriz. Furkan ATLAN isimli müşteri, 750 TL tutarında bir Keten Kumaş pantolon almış.</a:t>
            </a:r>
          </a:p>
          <a:p>
            <a:pPr marL="0" indent="0" algn="just">
              <a:lnSpc>
                <a:spcPct val="100000"/>
              </a:lnSpc>
              <a:spcBef>
                <a:spcPts val="600"/>
              </a:spcBef>
              <a:spcAft>
                <a:spcPts val="600"/>
              </a:spcAft>
              <a:buNone/>
            </a:pPr>
            <a:r>
              <a:rPr lang="tr-TR" sz="1800" dirty="0"/>
              <a:t>İşte Table_CustomerProduct tablosu ve C# tarafında buna karşılık gelen CustomerProduct sınıfı bu iş için oluşturuldu.</a:t>
            </a:r>
          </a:p>
          <a:p>
            <a:pPr marL="0" indent="0" algn="just">
              <a:lnSpc>
                <a:spcPct val="100000"/>
              </a:lnSpc>
              <a:spcBef>
                <a:spcPts val="600"/>
              </a:spcBef>
              <a:spcAft>
                <a:spcPts val="600"/>
              </a:spcAft>
              <a:buNone/>
            </a:pPr>
            <a:r>
              <a:rPr lang="tr-TR" sz="1800" dirty="0"/>
              <a:t>Çünkü Table_Customer tablosu tek başına sadece müşteri bilgilerini tutuyor. Table_Product tablosu da tek başına sadece ürünlerin bilgilerini tutuyor ama Table_CustomerProduct tablosu, hangi müşteri hangi ürünü almış, bir müşterinin aldığı toplam ürün sayısı kaç, bir müşterinin aldığı ürünlere ödediği toplam tutar ne kadar? Gibi soruların yanıtları için oluşturuldu.</a:t>
            </a:r>
          </a:p>
        </p:txBody>
      </p:sp>
    </p:spTree>
    <p:extLst>
      <p:ext uri="{BB962C8B-B14F-4D97-AF65-F5344CB8AC3E}">
        <p14:creationId xmlns:p14="http://schemas.microsoft.com/office/powerpoint/2010/main" val="1429050702"/>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D93F90-1C04-90D2-CCD4-87E6D5E5A0FB}"/>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A48BE9DD-A6EB-972B-7D1D-16425C5165D2}"/>
              </a:ext>
            </a:extLst>
          </p:cNvPr>
          <p:cNvSpPr>
            <a:spLocks noGrp="1"/>
          </p:cNvSpPr>
          <p:nvPr>
            <p:ph type="title"/>
          </p:nvPr>
        </p:nvSpPr>
        <p:spPr>
          <a:xfrm>
            <a:off x="838200" y="248495"/>
            <a:ext cx="10515600" cy="432542"/>
          </a:xfrm>
        </p:spPr>
        <p:txBody>
          <a:bodyPr>
            <a:noAutofit/>
          </a:bodyPr>
          <a:lstStyle/>
          <a:p>
            <a:pPr algn="ctr"/>
            <a:r>
              <a:rPr lang="tr-TR" sz="2800" dirty="0"/>
              <a:t>CustomerProduct Sınıfı için Form Oluşturulması</a:t>
            </a:r>
          </a:p>
        </p:txBody>
      </p:sp>
      <p:sp>
        <p:nvSpPr>
          <p:cNvPr id="3" name="İçerik Yer Tutucusu 2">
            <a:extLst>
              <a:ext uri="{FF2B5EF4-FFF2-40B4-BE49-F238E27FC236}">
                <a16:creationId xmlns:a16="http://schemas.microsoft.com/office/drawing/2014/main" id="{DA76F58E-B2D7-72C2-456E-335A104C00AD}"/>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Şimdi ilk olarak, Table_CustomerProduct tablosu için listeleme sorgusu yazacağız. Ancak, normalde bu sorguda sadece müşteri ve ürünün id bilgisi gelecek. Biz böyle bir şey istemiyoruz. Dolayısıyla bir JOIN işlemi yapacağız. ID bilgileri yerine o id bilgilerinin tuttuğu diğer bilgileri (müşteri isim, müşteri </a:t>
            </a:r>
            <a:r>
              <a:rPr lang="tr-TR" sz="1800" dirty="0" err="1"/>
              <a:t>soyisim</a:t>
            </a:r>
            <a:r>
              <a:rPr lang="tr-TR" sz="1800" dirty="0"/>
              <a:t>, ürün isim, ürün fiyatı, ürünün kategorisi). Ürün kategorisini de yine id olarak değil name olarak getireceğiz.</a:t>
            </a:r>
          </a:p>
          <a:p>
            <a:pPr marL="0" indent="0" algn="just">
              <a:lnSpc>
                <a:spcPct val="100000"/>
              </a:lnSpc>
              <a:spcBef>
                <a:spcPts val="600"/>
              </a:spcBef>
              <a:spcAft>
                <a:spcPts val="600"/>
              </a:spcAft>
              <a:buNone/>
            </a:pPr>
            <a:r>
              <a:rPr lang="tr-TR" sz="1800" dirty="0"/>
              <a:t>Şimdi ilk iş olarak LİSTELE text bilgisine ve btn_listele name bilgisine sahip olan butona çift tıklayıp try-catch blokları açıp kodlarımızı yazmaya başlayalım.</a:t>
            </a:r>
          </a:p>
          <a:p>
            <a:pPr marL="0" indent="0" algn="just">
              <a:lnSpc>
                <a:spcPct val="100000"/>
              </a:lnSpc>
              <a:spcBef>
                <a:spcPts val="600"/>
              </a:spcBef>
              <a:spcAft>
                <a:spcPts val="600"/>
              </a:spcAft>
              <a:buNone/>
            </a:pPr>
            <a:endParaRPr lang="tr-TR" sz="1800" dirty="0"/>
          </a:p>
        </p:txBody>
      </p:sp>
    </p:spTree>
    <p:extLst>
      <p:ext uri="{BB962C8B-B14F-4D97-AF65-F5344CB8AC3E}">
        <p14:creationId xmlns:p14="http://schemas.microsoft.com/office/powerpoint/2010/main" val="3684596420"/>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55110E-AED2-FE17-E174-6E86E0440C8D}"/>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CF5938E0-9C6F-2C01-D337-65BA402EB5EE}"/>
              </a:ext>
            </a:extLst>
          </p:cNvPr>
          <p:cNvSpPr>
            <a:spLocks noGrp="1"/>
          </p:cNvSpPr>
          <p:nvPr>
            <p:ph type="title"/>
          </p:nvPr>
        </p:nvSpPr>
        <p:spPr>
          <a:xfrm>
            <a:off x="838200" y="248495"/>
            <a:ext cx="10515600" cy="432542"/>
          </a:xfrm>
        </p:spPr>
        <p:txBody>
          <a:bodyPr>
            <a:noAutofit/>
          </a:bodyPr>
          <a:lstStyle/>
          <a:p>
            <a:pPr algn="ctr"/>
            <a:r>
              <a:rPr lang="tr-TR" sz="2800" dirty="0"/>
              <a:t>CustomerProduct Sınıfı için Form Oluşturulması</a:t>
            </a:r>
          </a:p>
        </p:txBody>
      </p:sp>
      <p:sp>
        <p:nvSpPr>
          <p:cNvPr id="3" name="İçerik Yer Tutucusu 2">
            <a:extLst>
              <a:ext uri="{FF2B5EF4-FFF2-40B4-BE49-F238E27FC236}">
                <a16:creationId xmlns:a16="http://schemas.microsoft.com/office/drawing/2014/main" id="{271597EC-CA7D-B3D3-0563-C36398931B26}"/>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Şimdi öncelikle hatırlarsanız bizim tüm tablolarımızın 4 temel işlemi için </a:t>
            </a:r>
            <a:r>
              <a:rPr lang="tr-TR" sz="1800" dirty="0" err="1"/>
              <a:t>CustomerDbContext</a:t>
            </a:r>
            <a:r>
              <a:rPr lang="tr-TR" sz="1800" dirty="0"/>
              <a:t> sınıfını oluşturmuştuk ve tüm tablolarımızı da buraya bağlamıştık.</a:t>
            </a:r>
          </a:p>
          <a:p>
            <a:pPr marL="0" indent="0" algn="just">
              <a:lnSpc>
                <a:spcPct val="100000"/>
              </a:lnSpc>
              <a:spcBef>
                <a:spcPts val="600"/>
              </a:spcBef>
              <a:spcAft>
                <a:spcPts val="600"/>
              </a:spcAft>
              <a:buNone/>
            </a:pPr>
            <a:r>
              <a:rPr lang="tr-TR" sz="1800" dirty="0"/>
              <a:t>Dolayısıyla Table_CustomerProduct tablosu için sorgu yazarken de </a:t>
            </a:r>
            <a:r>
              <a:rPr lang="tr-TR" sz="1800" dirty="0" err="1"/>
              <a:t>CustomerDbContext</a:t>
            </a:r>
            <a:r>
              <a:rPr lang="tr-TR" sz="1800" dirty="0"/>
              <a:t> sınıfını kullanacağız.</a:t>
            </a:r>
          </a:p>
          <a:p>
            <a:pPr marL="0" indent="0" algn="just">
              <a:lnSpc>
                <a:spcPct val="100000"/>
              </a:lnSpc>
              <a:spcBef>
                <a:spcPts val="600"/>
              </a:spcBef>
              <a:spcAft>
                <a:spcPts val="600"/>
              </a:spcAft>
              <a:buNone/>
            </a:pPr>
            <a:r>
              <a:rPr lang="tr-TR" sz="1800" dirty="0"/>
              <a:t>İlk </a:t>
            </a:r>
            <a:r>
              <a:rPr lang="tr-TR" sz="1800" dirty="0" err="1"/>
              <a:t>form’da</a:t>
            </a:r>
            <a:r>
              <a:rPr lang="tr-TR" sz="1800" dirty="0"/>
              <a:t> </a:t>
            </a:r>
            <a:r>
              <a:rPr lang="tr-TR" sz="1800" dirty="0" err="1"/>
              <a:t>db</a:t>
            </a:r>
            <a:r>
              <a:rPr lang="tr-TR" sz="1800" dirty="0"/>
              <a:t> adında bir nesne türetmiştik. Aynısını 2. formda da yine public alanda yapacağız ki tüm tablolar ile ilgili 4 temel işlemi bu </a:t>
            </a:r>
            <a:r>
              <a:rPr lang="tr-TR" sz="1800" dirty="0" err="1"/>
              <a:t>db</a:t>
            </a:r>
            <a:r>
              <a:rPr lang="tr-TR" sz="1800" dirty="0"/>
              <a:t> nesnesi üzerinden gerçekleştirebilelim.</a:t>
            </a:r>
          </a:p>
          <a:p>
            <a:pPr marL="0" indent="0" algn="just">
              <a:lnSpc>
                <a:spcPct val="100000"/>
              </a:lnSpc>
              <a:spcBef>
                <a:spcPts val="600"/>
              </a:spcBef>
              <a:spcAft>
                <a:spcPts val="600"/>
              </a:spcAft>
              <a:buNone/>
            </a:pPr>
            <a:r>
              <a:rPr lang="tr-TR" sz="1800" dirty="0"/>
              <a:t>Bir tablodaki tüm sütunları değil de sadece istediğimiz sütunları yazmak için SQL’de </a:t>
            </a:r>
            <a:r>
              <a:rPr lang="tr-TR" sz="1800" dirty="0" err="1"/>
              <a:t>join</a:t>
            </a:r>
            <a:r>
              <a:rPr lang="tr-TR" sz="1800" dirty="0"/>
              <a:t> işlemi yaptığımızı hatırlayın.</a:t>
            </a:r>
          </a:p>
          <a:p>
            <a:pPr marL="0" indent="0" algn="just">
              <a:lnSpc>
                <a:spcPct val="100000"/>
              </a:lnSpc>
              <a:spcBef>
                <a:spcPts val="600"/>
              </a:spcBef>
              <a:spcAft>
                <a:spcPts val="600"/>
              </a:spcAft>
              <a:buNone/>
            </a:pPr>
            <a:r>
              <a:rPr lang="tr-TR" sz="1800" dirty="0"/>
              <a:t>C# tarafında bu tarz özel sorgulara LINQ sorguları denir. </a:t>
            </a:r>
            <a:r>
              <a:rPr lang="tr-TR" sz="1800" dirty="0" err="1"/>
              <a:t>LINQ’in</a:t>
            </a:r>
            <a:r>
              <a:rPr lang="tr-TR" sz="1800" dirty="0"/>
              <a:t> açılımı: Language </a:t>
            </a:r>
            <a:r>
              <a:rPr lang="tr-TR" sz="1800" dirty="0" err="1"/>
              <a:t>Integrated</a:t>
            </a:r>
            <a:r>
              <a:rPr lang="tr-TR" sz="1800" dirty="0"/>
              <a:t> </a:t>
            </a:r>
            <a:r>
              <a:rPr lang="tr-TR" sz="1800" dirty="0" err="1"/>
              <a:t>Query’dir</a:t>
            </a:r>
            <a:r>
              <a:rPr lang="tr-TR" sz="1800" dirty="0"/>
              <a:t>. LINQ, C# tarafında SQL, XML gibi veri kaynakları için yazılan özel sorgunun adıdır.</a:t>
            </a:r>
          </a:p>
          <a:p>
            <a:pPr marL="0" indent="0" algn="just">
              <a:lnSpc>
                <a:spcPct val="100000"/>
              </a:lnSpc>
              <a:spcBef>
                <a:spcPts val="600"/>
              </a:spcBef>
              <a:spcAft>
                <a:spcPts val="600"/>
              </a:spcAft>
              <a:buNone/>
            </a:pPr>
            <a:endParaRPr lang="tr-TR" sz="1800" dirty="0"/>
          </a:p>
        </p:txBody>
      </p:sp>
    </p:spTree>
    <p:extLst>
      <p:ext uri="{BB962C8B-B14F-4D97-AF65-F5344CB8AC3E}">
        <p14:creationId xmlns:p14="http://schemas.microsoft.com/office/powerpoint/2010/main" val="2576450960"/>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9CBF3-E3D7-26EA-4442-299F65F8EDBA}"/>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07E24CA1-E8D4-9F38-DA81-1578043C88BB}"/>
              </a:ext>
            </a:extLst>
          </p:cNvPr>
          <p:cNvSpPr>
            <a:spLocks noGrp="1"/>
          </p:cNvSpPr>
          <p:nvPr>
            <p:ph type="title"/>
          </p:nvPr>
        </p:nvSpPr>
        <p:spPr>
          <a:xfrm>
            <a:off x="838200" y="248495"/>
            <a:ext cx="10515600" cy="432542"/>
          </a:xfrm>
        </p:spPr>
        <p:txBody>
          <a:bodyPr>
            <a:noAutofit/>
          </a:bodyPr>
          <a:lstStyle/>
          <a:p>
            <a:pPr algn="ctr"/>
            <a:r>
              <a:rPr lang="tr-TR" sz="2800" dirty="0"/>
              <a:t>CustomerProduct Sınıfı için Form Oluşturulması</a:t>
            </a:r>
          </a:p>
        </p:txBody>
      </p:sp>
      <p:sp>
        <p:nvSpPr>
          <p:cNvPr id="3" name="İçerik Yer Tutucusu 2">
            <a:extLst>
              <a:ext uri="{FF2B5EF4-FFF2-40B4-BE49-F238E27FC236}">
                <a16:creationId xmlns:a16="http://schemas.microsoft.com/office/drawing/2014/main" id="{C44EA393-5A08-AD80-9768-78E7514FAA40}"/>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İlk olarak 2. formumuzun kod sayfasına gidip public alanda yine </a:t>
            </a:r>
            <a:r>
              <a:rPr lang="tr-TR" sz="1800" dirty="0" err="1"/>
              <a:t>CustomerDbContext</a:t>
            </a:r>
            <a:r>
              <a:rPr lang="tr-TR" sz="1800" dirty="0"/>
              <a:t> sınıfından türeyen ve </a:t>
            </a:r>
            <a:r>
              <a:rPr lang="tr-TR" sz="1800" dirty="0" err="1"/>
              <a:t>db</a:t>
            </a:r>
            <a:r>
              <a:rPr lang="tr-TR" sz="1800" dirty="0"/>
              <a:t> adında bir </a:t>
            </a:r>
            <a:r>
              <a:rPr lang="tr-TR" sz="1800" dirty="0" err="1"/>
              <a:t>instance</a:t>
            </a:r>
            <a:r>
              <a:rPr lang="tr-TR" sz="1800" dirty="0"/>
              <a:t> türeteceğiz.</a:t>
            </a:r>
          </a:p>
          <a:p>
            <a:pPr marL="0" indent="0" algn="just">
              <a:lnSpc>
                <a:spcPct val="100000"/>
              </a:lnSpc>
              <a:spcBef>
                <a:spcPts val="600"/>
              </a:spcBef>
              <a:spcAft>
                <a:spcPts val="600"/>
              </a:spcAft>
              <a:buNone/>
            </a:pPr>
            <a:r>
              <a:rPr lang="tr-TR" sz="1800" dirty="0" err="1">
                <a:solidFill>
                  <a:srgbClr val="0000FF"/>
                </a:solidFill>
                <a:highlight>
                  <a:srgbClr val="FFFFFF"/>
                </a:highlight>
                <a:latin typeface="Cascadia Mono" panose="020B0609020000020004" pitchFamily="49" charset="0"/>
              </a:rPr>
              <a:t>CustomerDbContext</a:t>
            </a: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db</a:t>
            </a:r>
            <a:r>
              <a:rPr lang="tr-TR" sz="1800" dirty="0">
                <a:solidFill>
                  <a:srgbClr val="000000"/>
                </a:solidFill>
                <a:highlight>
                  <a:srgbClr val="FFFFFF"/>
                </a:highlight>
                <a:latin typeface="Cascadia Mono" panose="020B0609020000020004" pitchFamily="49" charset="0"/>
              </a:rPr>
              <a:t> = </a:t>
            </a:r>
            <a:r>
              <a:rPr lang="tr-TR" sz="1800" dirty="0" err="1">
                <a:solidFill>
                  <a:srgbClr val="0000FF"/>
                </a:solidFill>
                <a:highlight>
                  <a:srgbClr val="FFFFFF"/>
                </a:highlight>
                <a:latin typeface="Cascadia Mono" panose="020B0609020000020004" pitchFamily="49" charset="0"/>
              </a:rPr>
              <a:t>new</a:t>
            </a: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CustomerDbContext</a:t>
            </a:r>
            <a:r>
              <a:rPr lang="tr-TR" sz="1800" dirty="0">
                <a:solidFill>
                  <a:srgbClr val="000000"/>
                </a:solidFill>
                <a:highlight>
                  <a:srgbClr val="FFFFFF"/>
                </a:highlight>
                <a:latin typeface="Cascadia Mono" panose="020B0609020000020004" pitchFamily="49" charset="0"/>
              </a:rPr>
              <a:t>();</a:t>
            </a:r>
          </a:p>
          <a:p>
            <a:pPr marL="0" indent="0" algn="just">
              <a:lnSpc>
                <a:spcPct val="100000"/>
              </a:lnSpc>
              <a:spcBef>
                <a:spcPts val="600"/>
              </a:spcBef>
              <a:spcAft>
                <a:spcPts val="600"/>
              </a:spcAft>
              <a:buNone/>
            </a:pPr>
            <a:r>
              <a:rPr lang="tr-TR" sz="1800" dirty="0">
                <a:solidFill>
                  <a:srgbClr val="000000"/>
                </a:solidFill>
                <a:highlight>
                  <a:srgbClr val="FFFFFF"/>
                </a:highlight>
                <a:latin typeface="Cascadia Mono" panose="020B0609020000020004" pitchFamily="49" charset="0"/>
              </a:rPr>
              <a:t>Ayrıca using bloklarının olduğu kısma şu kodu yazacağız:</a:t>
            </a:r>
          </a:p>
          <a:p>
            <a:pPr marL="0" indent="0" algn="just">
              <a:lnSpc>
                <a:spcPct val="100000"/>
              </a:lnSpc>
              <a:spcBef>
                <a:spcPts val="600"/>
              </a:spcBef>
              <a:spcAft>
                <a:spcPts val="600"/>
              </a:spcAft>
              <a:buNone/>
            </a:pPr>
            <a:r>
              <a:rPr lang="tr-TR" sz="1800" dirty="0">
                <a:solidFill>
                  <a:srgbClr val="0000FF"/>
                </a:solidFill>
                <a:highlight>
                  <a:srgbClr val="FFFFFF"/>
                </a:highlight>
                <a:latin typeface="Cascadia Mono" panose="020B0609020000020004" pitchFamily="49" charset="0"/>
              </a:rPr>
              <a:t>using</a:t>
            </a: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System.Xml.Linq</a:t>
            </a:r>
            <a:r>
              <a:rPr lang="tr-TR" sz="1800" dirty="0">
                <a:solidFill>
                  <a:srgbClr val="000000"/>
                </a:solidFill>
                <a:highlight>
                  <a:srgbClr val="FFFFFF"/>
                </a:highlight>
                <a:latin typeface="Cascadia Mono" panose="020B0609020000020004" pitchFamily="49" charset="0"/>
              </a:rPr>
              <a:t>;</a:t>
            </a:r>
            <a:endParaRPr lang="tr-TR" sz="1800" dirty="0"/>
          </a:p>
        </p:txBody>
      </p:sp>
    </p:spTree>
    <p:extLst>
      <p:ext uri="{BB962C8B-B14F-4D97-AF65-F5344CB8AC3E}">
        <p14:creationId xmlns:p14="http://schemas.microsoft.com/office/powerpoint/2010/main" val="3899287597"/>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984BB-5330-859A-B6DC-1D04CE6CE39E}"/>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FC97C1D5-2BE7-3FC5-5062-489C74C00829}"/>
              </a:ext>
            </a:extLst>
          </p:cNvPr>
          <p:cNvSpPr>
            <a:spLocks noGrp="1"/>
          </p:cNvSpPr>
          <p:nvPr>
            <p:ph type="title"/>
          </p:nvPr>
        </p:nvSpPr>
        <p:spPr>
          <a:xfrm>
            <a:off x="838200" y="248495"/>
            <a:ext cx="10515600" cy="432542"/>
          </a:xfrm>
        </p:spPr>
        <p:txBody>
          <a:bodyPr>
            <a:noAutofit/>
          </a:bodyPr>
          <a:lstStyle/>
          <a:p>
            <a:pPr algn="ctr"/>
            <a:r>
              <a:rPr lang="tr-TR" sz="2800" dirty="0"/>
              <a:t>CustomerProduct Sınıfı için Form Oluşturulması</a:t>
            </a:r>
          </a:p>
        </p:txBody>
      </p:sp>
      <p:pic>
        <p:nvPicPr>
          <p:cNvPr id="5" name="İçerik Yer Tutucusu 4" descr="metin, ekran görüntüsü, yazılım, multimedya yazılımı içeren bir resim&#10;&#10;Yapay zeka tarafından oluşturulan içerik yanlış olabilir.">
            <a:extLst>
              <a:ext uri="{FF2B5EF4-FFF2-40B4-BE49-F238E27FC236}">
                <a16:creationId xmlns:a16="http://schemas.microsoft.com/office/drawing/2014/main" id="{38800078-9C70-C486-30F0-F6E2BA65FBC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12977" y="884191"/>
            <a:ext cx="6766046" cy="5817339"/>
          </a:xfrm>
        </p:spPr>
      </p:pic>
    </p:spTree>
    <p:extLst>
      <p:ext uri="{BB962C8B-B14F-4D97-AF65-F5344CB8AC3E}">
        <p14:creationId xmlns:p14="http://schemas.microsoft.com/office/powerpoint/2010/main" val="239975122"/>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1D89D2-A8D3-4CD8-D207-3B1FF2766BE6}"/>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7DA8D42E-1105-B531-BE2E-4526650CD377}"/>
              </a:ext>
            </a:extLst>
          </p:cNvPr>
          <p:cNvSpPr>
            <a:spLocks noGrp="1"/>
          </p:cNvSpPr>
          <p:nvPr>
            <p:ph type="title"/>
          </p:nvPr>
        </p:nvSpPr>
        <p:spPr>
          <a:xfrm>
            <a:off x="838200" y="248495"/>
            <a:ext cx="10515600" cy="432542"/>
          </a:xfrm>
        </p:spPr>
        <p:txBody>
          <a:bodyPr>
            <a:noAutofit/>
          </a:bodyPr>
          <a:lstStyle/>
          <a:p>
            <a:pPr algn="ctr"/>
            <a:r>
              <a:rPr lang="tr-TR" sz="2800" dirty="0"/>
              <a:t>CustomerProduct Sınıfı için LİSTELEME İşlemi</a:t>
            </a:r>
          </a:p>
        </p:txBody>
      </p:sp>
      <p:sp>
        <p:nvSpPr>
          <p:cNvPr id="3" name="İçerik Yer Tutucusu 2">
            <a:extLst>
              <a:ext uri="{FF2B5EF4-FFF2-40B4-BE49-F238E27FC236}">
                <a16:creationId xmlns:a16="http://schemas.microsoft.com/office/drawing/2014/main" id="{8F7FFBC2-AF64-9C9F-D1A4-EBB06D9858E5}"/>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Şimdi </a:t>
            </a:r>
            <a:r>
              <a:rPr lang="tr-TR" sz="1800" dirty="0" err="1"/>
              <a:t>btn_listele’nin</a:t>
            </a:r>
            <a:r>
              <a:rPr lang="tr-TR" sz="1800" dirty="0"/>
              <a:t> click olayı içerisine listeleme işlemi için kodumuzu yazacağız. Ancak, bu defa uzun bir sorgu olacağı için bu sorguyu bir değişkene atayacağız. Bu, derleyicinin (</a:t>
            </a:r>
            <a:r>
              <a:rPr lang="tr-TR" sz="1800" dirty="0" err="1"/>
              <a:t>compiler</a:t>
            </a:r>
            <a:r>
              <a:rPr lang="tr-TR" sz="1800" dirty="0"/>
              <a:t>) sorgu türünü otomatik olarak çözmesi için kullanışlı bir yöntemdir. NOT using bloklarının olduğu kısma şu kodu kopyalayın: </a:t>
            </a:r>
          </a:p>
          <a:p>
            <a:pPr marL="0" indent="0" algn="just">
              <a:lnSpc>
                <a:spcPct val="100000"/>
              </a:lnSpc>
              <a:spcBef>
                <a:spcPts val="600"/>
              </a:spcBef>
              <a:spcAft>
                <a:spcPts val="600"/>
              </a:spcAft>
              <a:buNone/>
            </a:pPr>
            <a:r>
              <a:rPr lang="tr-TR" sz="1800" dirty="0"/>
              <a:t>using </a:t>
            </a:r>
            <a:r>
              <a:rPr lang="tr-TR" sz="1800" dirty="0" err="1"/>
              <a:t>System.Data.Entity</a:t>
            </a:r>
            <a:r>
              <a:rPr lang="tr-TR" sz="1800" dirty="0"/>
              <a:t>;</a:t>
            </a:r>
          </a:p>
        </p:txBody>
      </p:sp>
    </p:spTree>
    <p:extLst>
      <p:ext uri="{BB962C8B-B14F-4D97-AF65-F5344CB8AC3E}">
        <p14:creationId xmlns:p14="http://schemas.microsoft.com/office/powerpoint/2010/main" val="1462358066"/>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774D5-4435-2809-2EFA-9B0262973CFC}"/>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D9DBCEDC-6AE4-96F4-BA05-1F7CCB817AED}"/>
              </a:ext>
            </a:extLst>
          </p:cNvPr>
          <p:cNvSpPr>
            <a:spLocks noGrp="1"/>
          </p:cNvSpPr>
          <p:nvPr>
            <p:ph type="title"/>
          </p:nvPr>
        </p:nvSpPr>
        <p:spPr>
          <a:xfrm>
            <a:off x="838200" y="248495"/>
            <a:ext cx="10515600" cy="432542"/>
          </a:xfrm>
        </p:spPr>
        <p:txBody>
          <a:bodyPr>
            <a:noAutofit/>
          </a:bodyPr>
          <a:lstStyle/>
          <a:p>
            <a:pPr algn="ctr"/>
            <a:r>
              <a:rPr lang="tr-TR" sz="2800" dirty="0"/>
              <a:t>CustomerProduct Sınıfı için LİSTELEME İşlemi</a:t>
            </a:r>
          </a:p>
        </p:txBody>
      </p:sp>
      <p:sp>
        <p:nvSpPr>
          <p:cNvPr id="3" name="İçerik Yer Tutucusu 2">
            <a:extLst>
              <a:ext uri="{FF2B5EF4-FFF2-40B4-BE49-F238E27FC236}">
                <a16:creationId xmlns:a16="http://schemas.microsoft.com/office/drawing/2014/main" id="{B8426204-4D54-C1F8-ECDC-0CF6757D34B8}"/>
              </a:ext>
            </a:extLst>
          </p:cNvPr>
          <p:cNvSpPr>
            <a:spLocks noGrp="1"/>
          </p:cNvSpPr>
          <p:nvPr>
            <p:ph idx="1"/>
          </p:nvPr>
        </p:nvSpPr>
        <p:spPr>
          <a:xfrm>
            <a:off x="838200" y="846306"/>
            <a:ext cx="10515600" cy="5885234"/>
          </a:xfrm>
        </p:spPr>
        <p:txBody>
          <a:bodyPr>
            <a:normAutofit lnSpcReduction="10000"/>
          </a:bodyPr>
          <a:lstStyle/>
          <a:p>
            <a:pPr marL="0" indent="0" algn="just">
              <a:lnSpc>
                <a:spcPct val="100000"/>
              </a:lnSpc>
              <a:spcBef>
                <a:spcPts val="600"/>
              </a:spcBef>
              <a:spcAft>
                <a:spcPts val="600"/>
              </a:spcAft>
              <a:buNone/>
            </a:pPr>
            <a:r>
              <a:rPr lang="tr-TR" sz="1800" dirty="0"/>
              <a:t>Aşağıdaki kodu da </a:t>
            </a:r>
            <a:r>
              <a:rPr lang="tr-TR" sz="1800" dirty="0" err="1"/>
              <a:t>btn_listele’nin</a:t>
            </a:r>
            <a:r>
              <a:rPr lang="tr-TR" sz="1800" dirty="0"/>
              <a:t> içine yazın</a:t>
            </a:r>
          </a:p>
          <a:p>
            <a:pPr marL="0" indent="0" algn="just">
              <a:lnSpc>
                <a:spcPct val="100000"/>
              </a:lnSpc>
              <a:spcBef>
                <a:spcPts val="600"/>
              </a:spcBef>
              <a:spcAft>
                <a:spcPts val="600"/>
              </a:spcAft>
              <a:buNone/>
            </a:pPr>
            <a:r>
              <a:rPr lang="tr-TR" sz="1800" dirty="0"/>
              <a:t>var list = </a:t>
            </a:r>
            <a:r>
              <a:rPr lang="tr-TR" sz="1800" dirty="0" err="1"/>
              <a:t>db.CustomerProducts</a:t>
            </a:r>
            <a:endParaRPr lang="tr-TR" sz="1800" dirty="0"/>
          </a:p>
          <a:p>
            <a:pPr marL="0" indent="0" algn="just">
              <a:lnSpc>
                <a:spcPct val="100000"/>
              </a:lnSpc>
              <a:spcBef>
                <a:spcPts val="600"/>
              </a:spcBef>
              <a:spcAft>
                <a:spcPts val="600"/>
              </a:spcAft>
              <a:buNone/>
            </a:pPr>
            <a:r>
              <a:rPr lang="tr-TR" sz="1800" dirty="0"/>
              <a:t>    .</a:t>
            </a:r>
            <a:r>
              <a:rPr lang="tr-TR" sz="1800" dirty="0" err="1"/>
              <a:t>Include</a:t>
            </a:r>
            <a:r>
              <a:rPr lang="tr-TR" sz="1800" dirty="0"/>
              <a:t>(</a:t>
            </a:r>
            <a:r>
              <a:rPr lang="tr-TR" sz="1800" dirty="0" err="1"/>
              <a:t>cp</a:t>
            </a:r>
            <a:r>
              <a:rPr lang="tr-TR" sz="1800" dirty="0"/>
              <a:t> =&gt; </a:t>
            </a:r>
            <a:r>
              <a:rPr lang="tr-TR" sz="1800" dirty="0" err="1"/>
              <a:t>cp.Customer</a:t>
            </a:r>
            <a:r>
              <a:rPr lang="tr-TR" sz="1800" dirty="0"/>
              <a:t>)</a:t>
            </a:r>
          </a:p>
          <a:p>
            <a:pPr marL="0" indent="0" algn="just">
              <a:lnSpc>
                <a:spcPct val="100000"/>
              </a:lnSpc>
              <a:spcBef>
                <a:spcPts val="600"/>
              </a:spcBef>
              <a:spcAft>
                <a:spcPts val="600"/>
              </a:spcAft>
              <a:buNone/>
            </a:pPr>
            <a:r>
              <a:rPr lang="tr-TR" sz="1800" dirty="0"/>
              <a:t>    .</a:t>
            </a:r>
            <a:r>
              <a:rPr lang="tr-TR" sz="1800" dirty="0" err="1"/>
              <a:t>Include</a:t>
            </a:r>
            <a:r>
              <a:rPr lang="tr-TR" sz="1800" dirty="0"/>
              <a:t>(</a:t>
            </a:r>
            <a:r>
              <a:rPr lang="tr-TR" sz="1800" dirty="0" err="1"/>
              <a:t>cp</a:t>
            </a:r>
            <a:r>
              <a:rPr lang="tr-TR" sz="1800" dirty="0"/>
              <a:t> =&gt; </a:t>
            </a:r>
            <a:r>
              <a:rPr lang="tr-TR" sz="1800" dirty="0" err="1"/>
              <a:t>cp.Product.Category</a:t>
            </a:r>
            <a:r>
              <a:rPr lang="tr-TR" sz="1800" dirty="0"/>
              <a:t>)</a:t>
            </a:r>
          </a:p>
          <a:p>
            <a:pPr marL="0" indent="0" algn="just">
              <a:lnSpc>
                <a:spcPct val="100000"/>
              </a:lnSpc>
              <a:spcBef>
                <a:spcPts val="600"/>
              </a:spcBef>
              <a:spcAft>
                <a:spcPts val="600"/>
              </a:spcAft>
              <a:buNone/>
            </a:pPr>
            <a:r>
              <a:rPr lang="tr-TR" sz="1800" dirty="0"/>
              <a:t>    .Select(</a:t>
            </a:r>
            <a:r>
              <a:rPr lang="tr-TR" sz="1800" dirty="0" err="1"/>
              <a:t>cp</a:t>
            </a:r>
            <a:r>
              <a:rPr lang="tr-TR" sz="1800" dirty="0"/>
              <a:t> =&gt; </a:t>
            </a:r>
            <a:r>
              <a:rPr lang="tr-TR" sz="1800" dirty="0" err="1"/>
              <a:t>new</a:t>
            </a:r>
            <a:endParaRPr lang="tr-TR" sz="1800" dirty="0"/>
          </a:p>
          <a:p>
            <a:pPr marL="0" indent="0" algn="just">
              <a:lnSpc>
                <a:spcPct val="100000"/>
              </a:lnSpc>
              <a:spcBef>
                <a:spcPts val="600"/>
              </a:spcBef>
              <a:spcAft>
                <a:spcPts val="600"/>
              </a:spcAft>
              <a:buNone/>
            </a:pPr>
            <a:r>
              <a:rPr lang="tr-TR" sz="1800" dirty="0"/>
              <a:t>    {</a:t>
            </a:r>
          </a:p>
          <a:p>
            <a:pPr marL="0" indent="0" algn="just">
              <a:lnSpc>
                <a:spcPct val="100000"/>
              </a:lnSpc>
              <a:spcBef>
                <a:spcPts val="600"/>
              </a:spcBef>
              <a:spcAft>
                <a:spcPts val="600"/>
              </a:spcAft>
              <a:buNone/>
            </a:pPr>
            <a:r>
              <a:rPr lang="tr-TR" sz="1800" dirty="0"/>
              <a:t>        </a:t>
            </a:r>
            <a:r>
              <a:rPr lang="tr-TR" sz="1800" dirty="0" err="1"/>
              <a:t>cp.CusPro_Id</a:t>
            </a:r>
            <a:r>
              <a:rPr lang="tr-TR" sz="1800" dirty="0"/>
              <a:t>,</a:t>
            </a:r>
          </a:p>
          <a:p>
            <a:pPr marL="0" indent="0" algn="just">
              <a:lnSpc>
                <a:spcPct val="100000"/>
              </a:lnSpc>
              <a:spcBef>
                <a:spcPts val="600"/>
              </a:spcBef>
              <a:spcAft>
                <a:spcPts val="600"/>
              </a:spcAft>
              <a:buNone/>
            </a:pPr>
            <a:r>
              <a:rPr lang="tr-TR" sz="1800" dirty="0"/>
              <a:t>        </a:t>
            </a:r>
            <a:r>
              <a:rPr lang="tr-TR" sz="1800" dirty="0" err="1"/>
              <a:t>MüşteriAdı</a:t>
            </a:r>
            <a:r>
              <a:rPr lang="tr-TR" sz="1800" dirty="0"/>
              <a:t> = </a:t>
            </a:r>
            <a:r>
              <a:rPr lang="tr-TR" sz="1800" dirty="0" err="1"/>
              <a:t>cp.Customer.Customer_Name</a:t>
            </a:r>
            <a:r>
              <a:rPr lang="tr-TR" sz="1800" dirty="0"/>
              <a:t>,</a:t>
            </a:r>
          </a:p>
          <a:p>
            <a:pPr marL="0" indent="0" algn="just">
              <a:lnSpc>
                <a:spcPct val="100000"/>
              </a:lnSpc>
              <a:spcBef>
                <a:spcPts val="600"/>
              </a:spcBef>
              <a:spcAft>
                <a:spcPts val="600"/>
              </a:spcAft>
              <a:buNone/>
            </a:pPr>
            <a:r>
              <a:rPr lang="tr-TR" sz="1800" dirty="0"/>
              <a:t>        </a:t>
            </a:r>
            <a:r>
              <a:rPr lang="tr-TR" sz="1800" dirty="0" err="1"/>
              <a:t>MüşteriSoyadı</a:t>
            </a:r>
            <a:r>
              <a:rPr lang="tr-TR" sz="1800" dirty="0"/>
              <a:t> = </a:t>
            </a:r>
            <a:r>
              <a:rPr lang="tr-TR" sz="1800" dirty="0" err="1"/>
              <a:t>cp.Customer.Customer_Surname</a:t>
            </a:r>
            <a:r>
              <a:rPr lang="tr-TR" sz="1800" dirty="0"/>
              <a:t>,</a:t>
            </a:r>
          </a:p>
          <a:p>
            <a:pPr marL="0" indent="0" algn="just">
              <a:lnSpc>
                <a:spcPct val="100000"/>
              </a:lnSpc>
              <a:spcBef>
                <a:spcPts val="600"/>
              </a:spcBef>
              <a:spcAft>
                <a:spcPts val="600"/>
              </a:spcAft>
              <a:buNone/>
            </a:pPr>
            <a:r>
              <a:rPr lang="tr-TR" sz="1800" dirty="0"/>
              <a:t>        </a:t>
            </a:r>
            <a:r>
              <a:rPr lang="tr-TR" sz="1800" dirty="0" err="1"/>
              <a:t>ÜrünAdı</a:t>
            </a:r>
            <a:r>
              <a:rPr lang="tr-TR" sz="1800" dirty="0"/>
              <a:t> = </a:t>
            </a:r>
            <a:r>
              <a:rPr lang="tr-TR" sz="1800" dirty="0" err="1"/>
              <a:t>cp.Product.Product_Name</a:t>
            </a:r>
            <a:r>
              <a:rPr lang="tr-TR" sz="1800" dirty="0"/>
              <a:t>,</a:t>
            </a:r>
          </a:p>
          <a:p>
            <a:pPr marL="0" indent="0" algn="just">
              <a:lnSpc>
                <a:spcPct val="100000"/>
              </a:lnSpc>
              <a:spcBef>
                <a:spcPts val="600"/>
              </a:spcBef>
              <a:spcAft>
                <a:spcPts val="600"/>
              </a:spcAft>
              <a:buNone/>
            </a:pPr>
            <a:r>
              <a:rPr lang="tr-TR" sz="1800" dirty="0"/>
              <a:t>        </a:t>
            </a:r>
            <a:r>
              <a:rPr lang="tr-TR" sz="1800" dirty="0" err="1"/>
              <a:t>ÜrünFiyatı</a:t>
            </a:r>
            <a:r>
              <a:rPr lang="tr-TR" sz="1800" dirty="0"/>
              <a:t> = </a:t>
            </a:r>
            <a:r>
              <a:rPr lang="tr-TR" sz="1800" dirty="0" err="1"/>
              <a:t>cp.Product.Product_Price</a:t>
            </a:r>
            <a:r>
              <a:rPr lang="tr-TR" sz="1800" dirty="0"/>
              <a:t>,</a:t>
            </a:r>
          </a:p>
          <a:p>
            <a:pPr marL="0" indent="0" algn="just">
              <a:lnSpc>
                <a:spcPct val="100000"/>
              </a:lnSpc>
              <a:spcBef>
                <a:spcPts val="600"/>
              </a:spcBef>
              <a:spcAft>
                <a:spcPts val="600"/>
              </a:spcAft>
              <a:buNone/>
            </a:pPr>
            <a:r>
              <a:rPr lang="tr-TR" sz="1800" dirty="0"/>
              <a:t>        Kategori = </a:t>
            </a:r>
            <a:r>
              <a:rPr lang="tr-TR" sz="1800" dirty="0" err="1"/>
              <a:t>cp.Product.Category.Category_Name</a:t>
            </a:r>
            <a:endParaRPr lang="tr-TR" sz="1800" dirty="0"/>
          </a:p>
          <a:p>
            <a:pPr marL="0" indent="0" algn="just">
              <a:lnSpc>
                <a:spcPct val="100000"/>
              </a:lnSpc>
              <a:spcBef>
                <a:spcPts val="600"/>
              </a:spcBef>
              <a:spcAft>
                <a:spcPts val="600"/>
              </a:spcAft>
              <a:buNone/>
            </a:pPr>
            <a:r>
              <a:rPr lang="tr-TR" sz="1800" dirty="0"/>
              <a:t>    })</a:t>
            </a:r>
          </a:p>
          <a:p>
            <a:pPr marL="0" indent="0" algn="just">
              <a:lnSpc>
                <a:spcPct val="100000"/>
              </a:lnSpc>
              <a:spcBef>
                <a:spcPts val="600"/>
              </a:spcBef>
              <a:spcAft>
                <a:spcPts val="600"/>
              </a:spcAft>
              <a:buNone/>
            </a:pPr>
            <a:r>
              <a:rPr lang="tr-TR" sz="1800" dirty="0"/>
              <a:t>    .</a:t>
            </a:r>
            <a:r>
              <a:rPr lang="tr-TR" sz="1800" dirty="0" err="1"/>
              <a:t>ToList</a:t>
            </a:r>
            <a:r>
              <a:rPr lang="tr-TR" sz="1800" dirty="0"/>
              <a:t>();</a:t>
            </a:r>
          </a:p>
        </p:txBody>
      </p:sp>
    </p:spTree>
    <p:extLst>
      <p:ext uri="{BB962C8B-B14F-4D97-AF65-F5344CB8AC3E}">
        <p14:creationId xmlns:p14="http://schemas.microsoft.com/office/powerpoint/2010/main" val="3073059568"/>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AA0483-A9F3-9101-EE1F-CE7FED59C47E}"/>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DF987C4E-272C-3920-E5B8-14AE9CF16860}"/>
              </a:ext>
            </a:extLst>
          </p:cNvPr>
          <p:cNvSpPr>
            <a:spLocks noGrp="1"/>
          </p:cNvSpPr>
          <p:nvPr>
            <p:ph type="title"/>
          </p:nvPr>
        </p:nvSpPr>
        <p:spPr>
          <a:xfrm>
            <a:off x="838200" y="248495"/>
            <a:ext cx="10515600" cy="432542"/>
          </a:xfrm>
        </p:spPr>
        <p:txBody>
          <a:bodyPr>
            <a:noAutofit/>
          </a:bodyPr>
          <a:lstStyle/>
          <a:p>
            <a:pPr algn="ctr"/>
            <a:r>
              <a:rPr lang="tr-TR" sz="2800" dirty="0"/>
              <a:t>CustomerProduct Sınıfı için LİSTELEME İşlemi</a:t>
            </a:r>
          </a:p>
        </p:txBody>
      </p:sp>
      <p:sp>
        <p:nvSpPr>
          <p:cNvPr id="3" name="İçerik Yer Tutucusu 2">
            <a:extLst>
              <a:ext uri="{FF2B5EF4-FFF2-40B4-BE49-F238E27FC236}">
                <a16:creationId xmlns:a16="http://schemas.microsoft.com/office/drawing/2014/main" id="{1C0D386A-A96C-90EB-548E-637C341BDAB6}"/>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Şimdi bu sorguyu adım adım işleyelim.</a:t>
            </a:r>
          </a:p>
          <a:p>
            <a:pPr marL="0" indent="0" algn="just">
              <a:lnSpc>
                <a:spcPct val="100000"/>
              </a:lnSpc>
              <a:spcBef>
                <a:spcPts val="600"/>
              </a:spcBef>
              <a:spcAft>
                <a:spcPts val="600"/>
              </a:spcAft>
              <a:buNone/>
            </a:pPr>
            <a:r>
              <a:rPr lang="tr-TR" sz="1800" dirty="0" err="1"/>
              <a:t>db</a:t>
            </a:r>
            <a:r>
              <a:rPr lang="tr-TR" sz="1800" dirty="0"/>
              <a:t> nesnesi </a:t>
            </a:r>
            <a:r>
              <a:rPr lang="tr-TR" sz="1800" dirty="0" err="1"/>
              <a:t>CustomerDbContext</a:t>
            </a:r>
            <a:r>
              <a:rPr lang="tr-TR" sz="1800" dirty="0"/>
              <a:t> sınıfından türetilmişti. Table_CustomerProduct tablosu ile ilgili işlemler de </a:t>
            </a:r>
            <a:r>
              <a:rPr lang="tr-TR" sz="1800" dirty="0" err="1"/>
              <a:t>CustomerDbContext</a:t>
            </a:r>
            <a:r>
              <a:rPr lang="tr-TR" sz="1800" dirty="0"/>
              <a:t> sınıfı içerisinde yer alıyordu:</a:t>
            </a:r>
          </a:p>
          <a:p>
            <a:pPr marL="0" indent="0" algn="just">
              <a:lnSpc>
                <a:spcPct val="100000"/>
              </a:lnSpc>
              <a:spcBef>
                <a:spcPts val="600"/>
              </a:spcBef>
              <a:spcAft>
                <a:spcPts val="600"/>
              </a:spcAft>
              <a:buNone/>
            </a:pPr>
            <a:endParaRPr lang="tr-TR" sz="1800" dirty="0"/>
          </a:p>
        </p:txBody>
      </p:sp>
      <p:pic>
        <p:nvPicPr>
          <p:cNvPr id="5" name="Resim 4">
            <a:extLst>
              <a:ext uri="{FF2B5EF4-FFF2-40B4-BE49-F238E27FC236}">
                <a16:creationId xmlns:a16="http://schemas.microsoft.com/office/drawing/2014/main" id="{A1F4121B-FE4F-AD75-8684-25C8AFCEF95F}"/>
              </a:ext>
            </a:extLst>
          </p:cNvPr>
          <p:cNvPicPr>
            <a:picLocks noChangeAspect="1"/>
          </p:cNvPicPr>
          <p:nvPr/>
        </p:nvPicPr>
        <p:blipFill>
          <a:blip r:embed="rId2"/>
          <a:stretch>
            <a:fillRect/>
          </a:stretch>
        </p:blipFill>
        <p:spPr>
          <a:xfrm>
            <a:off x="3114675" y="2424822"/>
            <a:ext cx="5962650" cy="3448050"/>
          </a:xfrm>
          <a:prstGeom prst="rect">
            <a:avLst/>
          </a:prstGeom>
        </p:spPr>
      </p:pic>
    </p:spTree>
    <p:extLst>
      <p:ext uri="{BB962C8B-B14F-4D97-AF65-F5344CB8AC3E}">
        <p14:creationId xmlns:p14="http://schemas.microsoft.com/office/powerpoint/2010/main" val="3755130519"/>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35376-34A5-FF9C-717A-39692222C4AE}"/>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00C87872-32DA-73A5-3CB0-E847C0AE7887}"/>
              </a:ext>
            </a:extLst>
          </p:cNvPr>
          <p:cNvSpPr>
            <a:spLocks noGrp="1"/>
          </p:cNvSpPr>
          <p:nvPr>
            <p:ph type="title"/>
          </p:nvPr>
        </p:nvSpPr>
        <p:spPr>
          <a:xfrm>
            <a:off x="838200" y="248495"/>
            <a:ext cx="10515600" cy="432542"/>
          </a:xfrm>
        </p:spPr>
        <p:txBody>
          <a:bodyPr>
            <a:noAutofit/>
          </a:bodyPr>
          <a:lstStyle/>
          <a:p>
            <a:pPr algn="ctr"/>
            <a:r>
              <a:rPr lang="tr-TR" sz="2800" dirty="0"/>
              <a:t>CustomerProduct Sınıfı için LİSTELEME İşlemi</a:t>
            </a:r>
          </a:p>
        </p:txBody>
      </p:sp>
      <p:sp>
        <p:nvSpPr>
          <p:cNvPr id="3" name="İçerik Yer Tutucusu 2">
            <a:extLst>
              <a:ext uri="{FF2B5EF4-FFF2-40B4-BE49-F238E27FC236}">
                <a16:creationId xmlns:a16="http://schemas.microsoft.com/office/drawing/2014/main" id="{26779E5B-E145-A98F-0D37-DFD5A61E2705}"/>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err="1"/>
              <a:t>cp</a:t>
            </a:r>
            <a:r>
              <a:rPr lang="tr-TR" sz="1800" dirty="0"/>
              <a:t> anahtar kelimesi bir lambda kısaltmasıdır. Lambda C#’</a:t>
            </a:r>
            <a:r>
              <a:rPr lang="tr-TR" sz="1800" dirty="0" err="1"/>
              <a:t>taki</a:t>
            </a:r>
            <a:r>
              <a:rPr lang="tr-TR" sz="1800" dirty="0"/>
              <a:t> sorgularda kullanılan bir yapıdır.</a:t>
            </a:r>
          </a:p>
          <a:p>
            <a:pPr marL="0" indent="0" algn="just">
              <a:lnSpc>
                <a:spcPct val="100000"/>
              </a:lnSpc>
              <a:spcBef>
                <a:spcPts val="600"/>
              </a:spcBef>
              <a:spcAft>
                <a:spcPts val="600"/>
              </a:spcAft>
              <a:buNone/>
            </a:pPr>
            <a:r>
              <a:rPr lang="tr-TR" sz="1800" dirty="0"/>
              <a:t>Biz her defasında CustomerProduct demek yerine bunu </a:t>
            </a:r>
            <a:r>
              <a:rPr lang="tr-TR" sz="1800" dirty="0" err="1"/>
              <a:t>cp</a:t>
            </a:r>
            <a:r>
              <a:rPr lang="tr-TR" sz="1800" dirty="0"/>
              <a:t> adıyla kısalttık (Tıpkı SQL’deki AS ifadesi gibi)</a:t>
            </a:r>
          </a:p>
          <a:p>
            <a:pPr marL="0" indent="0" algn="just">
              <a:lnSpc>
                <a:spcPct val="100000"/>
              </a:lnSpc>
              <a:spcBef>
                <a:spcPts val="600"/>
              </a:spcBef>
              <a:spcAft>
                <a:spcPts val="600"/>
              </a:spcAft>
              <a:buNone/>
            </a:pPr>
            <a:r>
              <a:rPr lang="tr-TR" sz="1800" dirty="0"/>
              <a:t>Sonra da </a:t>
            </a:r>
          </a:p>
          <a:p>
            <a:pPr marL="0" indent="0" algn="just">
              <a:lnSpc>
                <a:spcPct val="100000"/>
              </a:lnSpc>
              <a:spcBef>
                <a:spcPts val="600"/>
              </a:spcBef>
              <a:spcAft>
                <a:spcPts val="600"/>
              </a:spcAft>
              <a:buNone/>
            </a:pPr>
            <a:r>
              <a:rPr lang="tr-TR" sz="1800" dirty="0"/>
              <a:t>.</a:t>
            </a:r>
            <a:r>
              <a:rPr lang="tr-TR" sz="1800" dirty="0" err="1"/>
              <a:t>Include</a:t>
            </a:r>
            <a:r>
              <a:rPr lang="tr-TR" sz="1800" dirty="0"/>
              <a:t>(</a:t>
            </a:r>
            <a:r>
              <a:rPr lang="tr-TR" sz="1800" dirty="0" err="1"/>
              <a:t>cp</a:t>
            </a:r>
            <a:r>
              <a:rPr lang="tr-TR" sz="1800" dirty="0"/>
              <a:t> =&gt; </a:t>
            </a:r>
            <a:r>
              <a:rPr lang="tr-TR" sz="1800" dirty="0" err="1"/>
              <a:t>cp.Customer</a:t>
            </a:r>
            <a:r>
              <a:rPr lang="tr-TR" sz="1800" dirty="0"/>
              <a:t>)</a:t>
            </a:r>
          </a:p>
          <a:p>
            <a:pPr marL="0" indent="0" algn="just">
              <a:lnSpc>
                <a:spcPct val="100000"/>
              </a:lnSpc>
              <a:spcBef>
                <a:spcPts val="600"/>
              </a:spcBef>
              <a:spcAft>
                <a:spcPts val="600"/>
              </a:spcAft>
              <a:buNone/>
            </a:pPr>
            <a:r>
              <a:rPr lang="tr-TR" sz="1800" dirty="0"/>
              <a:t>.</a:t>
            </a:r>
            <a:r>
              <a:rPr lang="tr-TR" sz="1800" dirty="0" err="1"/>
              <a:t>Include</a:t>
            </a:r>
            <a:r>
              <a:rPr lang="tr-TR" sz="1800" dirty="0"/>
              <a:t>(</a:t>
            </a:r>
            <a:r>
              <a:rPr lang="tr-TR" sz="1800" dirty="0" err="1"/>
              <a:t>cp</a:t>
            </a:r>
            <a:r>
              <a:rPr lang="tr-TR" sz="1800" dirty="0"/>
              <a:t> =&gt; </a:t>
            </a:r>
            <a:r>
              <a:rPr lang="tr-TR" sz="1800" dirty="0" err="1"/>
              <a:t>cp.Product.Category</a:t>
            </a:r>
            <a:r>
              <a:rPr lang="tr-TR" sz="1800" dirty="0"/>
              <a:t>) komutlarıyla Table_CustomerProduct üzerinde yer alan Table_Customer tablosuna Customer_Id üzerinden ve yine Table_CustomerProduct üzerinde yer alan Table_Product tablosuna da </a:t>
            </a:r>
            <a:r>
              <a:rPr lang="tr-TR" sz="1800" dirty="0" err="1"/>
              <a:t>Product_Id</a:t>
            </a:r>
            <a:r>
              <a:rPr lang="tr-TR" sz="1800" dirty="0"/>
              <a:t> üzerinden eriştik bu iki satırlık komutla.</a:t>
            </a:r>
          </a:p>
          <a:p>
            <a:pPr marL="0" indent="0" algn="just">
              <a:lnSpc>
                <a:spcPct val="100000"/>
              </a:lnSpc>
              <a:spcBef>
                <a:spcPts val="600"/>
              </a:spcBef>
              <a:spcAft>
                <a:spcPts val="600"/>
              </a:spcAft>
              <a:buNone/>
            </a:pPr>
            <a:r>
              <a:rPr lang="tr-TR" sz="1800" dirty="0"/>
              <a:t>Yani Table_CustomerProduct tablosunda foreign key olarak kullanılan anahtarları kullanarak bu anahtarların primary key olarak tanımlandığı tablolara eriştik.</a:t>
            </a:r>
          </a:p>
          <a:p>
            <a:pPr marL="0" indent="0" algn="just">
              <a:lnSpc>
                <a:spcPct val="100000"/>
              </a:lnSpc>
              <a:spcBef>
                <a:spcPts val="600"/>
              </a:spcBef>
              <a:spcAft>
                <a:spcPts val="600"/>
              </a:spcAft>
              <a:buNone/>
            </a:pPr>
            <a:r>
              <a:rPr lang="tr-TR" sz="1800" dirty="0"/>
              <a:t> </a:t>
            </a:r>
          </a:p>
          <a:p>
            <a:pPr marL="0" indent="0" algn="just">
              <a:lnSpc>
                <a:spcPct val="100000"/>
              </a:lnSpc>
              <a:spcBef>
                <a:spcPts val="600"/>
              </a:spcBef>
              <a:spcAft>
                <a:spcPts val="600"/>
              </a:spcAft>
              <a:buNone/>
            </a:pPr>
            <a:r>
              <a:rPr lang="tr-TR" sz="1800" dirty="0"/>
              <a:t>NOT: Product tablosundaki foreign key sayesinde de Category tablosuna eriştik ki </a:t>
            </a:r>
            <a:r>
              <a:rPr lang="tr-TR" sz="1800" dirty="0" err="1"/>
              <a:t>Category_Id</a:t>
            </a:r>
            <a:r>
              <a:rPr lang="tr-TR" sz="1800" dirty="0"/>
              <a:t> yerine </a:t>
            </a:r>
            <a:r>
              <a:rPr lang="tr-TR" sz="1800" dirty="0" err="1"/>
              <a:t>Category_Name</a:t>
            </a:r>
            <a:r>
              <a:rPr lang="tr-TR" sz="1800" dirty="0"/>
              <a:t> bilgisini çekebilelim. </a:t>
            </a:r>
          </a:p>
          <a:p>
            <a:pPr marL="0" indent="0" algn="just">
              <a:lnSpc>
                <a:spcPct val="100000"/>
              </a:lnSpc>
              <a:spcBef>
                <a:spcPts val="600"/>
              </a:spcBef>
              <a:spcAft>
                <a:spcPts val="600"/>
              </a:spcAft>
              <a:buNone/>
            </a:pPr>
            <a:r>
              <a:rPr lang="tr-TR" sz="1800" dirty="0"/>
              <a:t>Sizler de tüm tablolarınız için bir tane </a:t>
            </a:r>
            <a:r>
              <a:rPr lang="tr-TR" sz="1800" dirty="0" err="1"/>
              <a:t>DbContext</a:t>
            </a:r>
            <a:r>
              <a:rPr lang="tr-TR" sz="1800" dirty="0"/>
              <a:t> sınıfı oluşturup hepsini orda tanımlarsanız tüm tablolarınıza erişebilirsiniz.</a:t>
            </a:r>
          </a:p>
        </p:txBody>
      </p:sp>
    </p:spTree>
    <p:extLst>
      <p:ext uri="{BB962C8B-B14F-4D97-AF65-F5344CB8AC3E}">
        <p14:creationId xmlns:p14="http://schemas.microsoft.com/office/powerpoint/2010/main" val="2642347975"/>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CABB7-F205-78EA-43D2-16AEE927C7DF}"/>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958654A2-7005-5DEC-6F34-91326DB8AC90}"/>
              </a:ext>
            </a:extLst>
          </p:cNvPr>
          <p:cNvSpPr>
            <a:spLocks noGrp="1"/>
          </p:cNvSpPr>
          <p:nvPr>
            <p:ph type="title"/>
          </p:nvPr>
        </p:nvSpPr>
        <p:spPr>
          <a:xfrm>
            <a:off x="838200" y="248495"/>
            <a:ext cx="10515600" cy="432542"/>
          </a:xfrm>
        </p:spPr>
        <p:txBody>
          <a:bodyPr>
            <a:noAutofit/>
          </a:bodyPr>
          <a:lstStyle/>
          <a:p>
            <a:pPr algn="ctr"/>
            <a:r>
              <a:rPr lang="tr-TR" sz="2800" dirty="0"/>
              <a:t>CustomerProduct Sınıfı için LİSTELEME İşlemi</a:t>
            </a:r>
          </a:p>
        </p:txBody>
      </p:sp>
      <p:sp>
        <p:nvSpPr>
          <p:cNvPr id="3" name="İçerik Yer Tutucusu 2">
            <a:extLst>
              <a:ext uri="{FF2B5EF4-FFF2-40B4-BE49-F238E27FC236}">
                <a16:creationId xmlns:a16="http://schemas.microsoft.com/office/drawing/2014/main" id="{D5581B44-2AC5-E6EB-488B-8439D96E502B}"/>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.Select(</a:t>
            </a:r>
            <a:r>
              <a:rPr lang="tr-TR" sz="1800" dirty="0" err="1"/>
              <a:t>cp</a:t>
            </a:r>
            <a:r>
              <a:rPr lang="tr-TR" sz="1800" dirty="0"/>
              <a:t> =&gt; </a:t>
            </a:r>
            <a:r>
              <a:rPr lang="tr-TR" sz="1800" dirty="0" err="1"/>
              <a:t>new</a:t>
            </a:r>
            <a:endParaRPr lang="tr-TR" sz="1800" dirty="0"/>
          </a:p>
          <a:p>
            <a:pPr marL="0" indent="0" algn="just">
              <a:lnSpc>
                <a:spcPct val="100000"/>
              </a:lnSpc>
              <a:spcBef>
                <a:spcPts val="600"/>
              </a:spcBef>
              <a:spcAft>
                <a:spcPts val="600"/>
              </a:spcAft>
              <a:buNone/>
            </a:pPr>
            <a:r>
              <a:rPr lang="tr-TR" sz="1800" dirty="0"/>
              <a:t>    {</a:t>
            </a:r>
          </a:p>
          <a:p>
            <a:pPr marL="0" indent="0" algn="just">
              <a:lnSpc>
                <a:spcPct val="100000"/>
              </a:lnSpc>
              <a:spcBef>
                <a:spcPts val="600"/>
              </a:spcBef>
              <a:spcAft>
                <a:spcPts val="600"/>
              </a:spcAft>
              <a:buNone/>
            </a:pPr>
            <a:r>
              <a:rPr lang="tr-TR" sz="1800" dirty="0"/>
              <a:t>        </a:t>
            </a:r>
            <a:r>
              <a:rPr lang="tr-TR" sz="1800" dirty="0" err="1"/>
              <a:t>cp.CusPro_Id</a:t>
            </a:r>
            <a:r>
              <a:rPr lang="tr-TR" sz="1800" dirty="0"/>
              <a:t>,</a:t>
            </a:r>
          </a:p>
          <a:p>
            <a:pPr marL="0" indent="0" algn="just">
              <a:lnSpc>
                <a:spcPct val="100000"/>
              </a:lnSpc>
              <a:spcBef>
                <a:spcPts val="600"/>
              </a:spcBef>
              <a:spcAft>
                <a:spcPts val="600"/>
              </a:spcAft>
              <a:buNone/>
            </a:pPr>
            <a:r>
              <a:rPr lang="tr-TR" sz="1800" dirty="0"/>
              <a:t>        </a:t>
            </a:r>
            <a:r>
              <a:rPr lang="tr-TR" sz="1800" dirty="0" err="1"/>
              <a:t>MüşteriAdı</a:t>
            </a:r>
            <a:r>
              <a:rPr lang="tr-TR" sz="1800" dirty="0"/>
              <a:t> = </a:t>
            </a:r>
            <a:r>
              <a:rPr lang="tr-TR" sz="1800" dirty="0" err="1"/>
              <a:t>cp.Customer.Customer_Name</a:t>
            </a:r>
            <a:r>
              <a:rPr lang="tr-TR" sz="1800" dirty="0"/>
              <a:t>,</a:t>
            </a:r>
          </a:p>
          <a:p>
            <a:pPr marL="0" indent="0" algn="just">
              <a:lnSpc>
                <a:spcPct val="100000"/>
              </a:lnSpc>
              <a:spcBef>
                <a:spcPts val="600"/>
              </a:spcBef>
              <a:spcAft>
                <a:spcPts val="600"/>
              </a:spcAft>
              <a:buNone/>
            </a:pPr>
            <a:r>
              <a:rPr lang="tr-TR" sz="1800" dirty="0"/>
              <a:t>        </a:t>
            </a:r>
            <a:r>
              <a:rPr lang="tr-TR" sz="1800" dirty="0" err="1"/>
              <a:t>MüşteriSoyadı</a:t>
            </a:r>
            <a:r>
              <a:rPr lang="tr-TR" sz="1800" dirty="0"/>
              <a:t> = </a:t>
            </a:r>
            <a:r>
              <a:rPr lang="tr-TR" sz="1800" dirty="0" err="1"/>
              <a:t>cp.Customer.Customer_Surname</a:t>
            </a:r>
            <a:r>
              <a:rPr lang="tr-TR" sz="1800" dirty="0"/>
              <a:t>,</a:t>
            </a:r>
          </a:p>
          <a:p>
            <a:pPr marL="0" indent="0" algn="just">
              <a:lnSpc>
                <a:spcPct val="100000"/>
              </a:lnSpc>
              <a:spcBef>
                <a:spcPts val="600"/>
              </a:spcBef>
              <a:spcAft>
                <a:spcPts val="600"/>
              </a:spcAft>
              <a:buNone/>
            </a:pPr>
            <a:r>
              <a:rPr lang="tr-TR" sz="1800" dirty="0"/>
              <a:t>        </a:t>
            </a:r>
            <a:r>
              <a:rPr lang="tr-TR" sz="1800" dirty="0" err="1"/>
              <a:t>ÜrünAdı</a:t>
            </a:r>
            <a:r>
              <a:rPr lang="tr-TR" sz="1800" dirty="0"/>
              <a:t> = </a:t>
            </a:r>
            <a:r>
              <a:rPr lang="tr-TR" sz="1800" dirty="0" err="1"/>
              <a:t>cp.Product.Product_Name</a:t>
            </a:r>
            <a:r>
              <a:rPr lang="tr-TR" sz="1800" dirty="0"/>
              <a:t>,</a:t>
            </a:r>
          </a:p>
          <a:p>
            <a:pPr marL="0" indent="0" algn="just">
              <a:lnSpc>
                <a:spcPct val="100000"/>
              </a:lnSpc>
              <a:spcBef>
                <a:spcPts val="600"/>
              </a:spcBef>
              <a:spcAft>
                <a:spcPts val="600"/>
              </a:spcAft>
              <a:buNone/>
            </a:pPr>
            <a:r>
              <a:rPr lang="tr-TR" sz="1800" dirty="0"/>
              <a:t>        </a:t>
            </a:r>
            <a:r>
              <a:rPr lang="tr-TR" sz="1800" dirty="0" err="1"/>
              <a:t>ÜrünFiyatı</a:t>
            </a:r>
            <a:r>
              <a:rPr lang="tr-TR" sz="1800" dirty="0"/>
              <a:t> = </a:t>
            </a:r>
            <a:r>
              <a:rPr lang="tr-TR" sz="1800" dirty="0" err="1"/>
              <a:t>cp.Product.Product_Price</a:t>
            </a:r>
            <a:r>
              <a:rPr lang="tr-TR" sz="1800" dirty="0"/>
              <a:t>,</a:t>
            </a:r>
          </a:p>
          <a:p>
            <a:pPr marL="0" indent="0" algn="just">
              <a:lnSpc>
                <a:spcPct val="100000"/>
              </a:lnSpc>
              <a:spcBef>
                <a:spcPts val="600"/>
              </a:spcBef>
              <a:spcAft>
                <a:spcPts val="600"/>
              </a:spcAft>
              <a:buNone/>
            </a:pPr>
            <a:r>
              <a:rPr lang="tr-TR" sz="1800" dirty="0"/>
              <a:t>        Kategori = </a:t>
            </a:r>
            <a:r>
              <a:rPr lang="tr-TR" sz="1800" dirty="0" err="1"/>
              <a:t>cp.Product.Category.Category_Name</a:t>
            </a:r>
            <a:endParaRPr lang="tr-TR" sz="1800" dirty="0"/>
          </a:p>
          <a:p>
            <a:pPr marL="0" indent="0" algn="just">
              <a:lnSpc>
                <a:spcPct val="100000"/>
              </a:lnSpc>
              <a:spcBef>
                <a:spcPts val="600"/>
              </a:spcBef>
              <a:spcAft>
                <a:spcPts val="600"/>
              </a:spcAft>
              <a:buNone/>
            </a:pPr>
            <a:r>
              <a:rPr lang="tr-TR" sz="1800" dirty="0"/>
              <a:t>    })</a:t>
            </a:r>
          </a:p>
          <a:p>
            <a:pPr marL="0" indent="0" algn="just">
              <a:lnSpc>
                <a:spcPct val="100000"/>
              </a:lnSpc>
              <a:spcBef>
                <a:spcPts val="600"/>
              </a:spcBef>
              <a:spcAft>
                <a:spcPts val="600"/>
              </a:spcAft>
              <a:buNone/>
            </a:pPr>
            <a:r>
              <a:rPr lang="tr-TR" sz="1800" dirty="0"/>
              <a:t>    .</a:t>
            </a:r>
            <a:r>
              <a:rPr lang="tr-TR" sz="1800" dirty="0" err="1"/>
              <a:t>ToList</a:t>
            </a:r>
            <a:r>
              <a:rPr lang="tr-TR" sz="1800" dirty="0"/>
              <a:t>();  sorgusu ile </a:t>
            </a:r>
            <a:r>
              <a:rPr lang="tr-TR" sz="1800" dirty="0" err="1"/>
              <a:t>customerproduct</a:t>
            </a:r>
            <a:r>
              <a:rPr lang="tr-TR" sz="1800" dirty="0"/>
              <a:t> öğesi içerisinde sadece istediğimiz alanları seçmek için select komutunu özelleştirdik. </a:t>
            </a:r>
            <a:r>
              <a:rPr lang="tr-TR" sz="1800" dirty="0" err="1"/>
              <a:t>new</a:t>
            </a:r>
            <a:r>
              <a:rPr lang="tr-TR" sz="1800" dirty="0"/>
              <a:t>  anahtar kelimesi normalde bir sınıftan bir nesne türetildiğinde kullanılır. Ama buradaki amacı bu değil, hem sadece istediğimiz sütunları getirmek için hem de bu sütunlara AS (</a:t>
            </a:r>
            <a:r>
              <a:rPr lang="tr-TR" sz="1800" dirty="0" err="1"/>
              <a:t>Alias</a:t>
            </a:r>
            <a:r>
              <a:rPr lang="tr-TR" sz="1800" dirty="0"/>
              <a:t>) özelliğiyle orijinal sütun isimleriyle değil de kendi istediğimiz sütun isimleriyle gelsin diye kullandık. Son olarak tüm bu sorguyu .</a:t>
            </a:r>
            <a:r>
              <a:rPr lang="tr-TR" sz="1800" dirty="0" err="1"/>
              <a:t>ToList</a:t>
            </a:r>
            <a:r>
              <a:rPr lang="tr-TR" sz="1800" dirty="0"/>
              <a:t>() metoduyla bir listeleme işlemine dönüştürüyoruz. (Önceki formda da listeleme işlemi için .</a:t>
            </a:r>
            <a:r>
              <a:rPr lang="tr-TR" sz="1800" dirty="0" err="1"/>
              <a:t>ToList</a:t>
            </a:r>
            <a:r>
              <a:rPr lang="tr-TR" sz="1800" dirty="0"/>
              <a:t>() metodunu kullanmıştık)</a:t>
            </a:r>
          </a:p>
        </p:txBody>
      </p:sp>
    </p:spTree>
    <p:extLst>
      <p:ext uri="{BB962C8B-B14F-4D97-AF65-F5344CB8AC3E}">
        <p14:creationId xmlns:p14="http://schemas.microsoft.com/office/powerpoint/2010/main" val="3906438089"/>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BE748-DB62-0693-F384-0E0CD60F907C}"/>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18B1EFDE-517D-5A60-2A69-8D6DEE0AB00F}"/>
              </a:ext>
            </a:extLst>
          </p:cNvPr>
          <p:cNvSpPr>
            <a:spLocks noGrp="1"/>
          </p:cNvSpPr>
          <p:nvPr>
            <p:ph type="title"/>
          </p:nvPr>
        </p:nvSpPr>
        <p:spPr>
          <a:xfrm>
            <a:off x="838200" y="248495"/>
            <a:ext cx="10515600" cy="432542"/>
          </a:xfrm>
        </p:spPr>
        <p:txBody>
          <a:bodyPr>
            <a:noAutofit/>
          </a:bodyPr>
          <a:lstStyle/>
          <a:p>
            <a:pPr algn="ctr"/>
            <a:r>
              <a:rPr lang="tr-TR" sz="2800" dirty="0"/>
              <a:t>CustomerProduct Sınıfı için LİSTELEME İşlemi</a:t>
            </a:r>
          </a:p>
        </p:txBody>
      </p:sp>
      <p:sp>
        <p:nvSpPr>
          <p:cNvPr id="3" name="İçerik Yer Tutucusu 2">
            <a:extLst>
              <a:ext uri="{FF2B5EF4-FFF2-40B4-BE49-F238E27FC236}">
                <a16:creationId xmlns:a16="http://schemas.microsoft.com/office/drawing/2014/main" id="{461D9804-AED0-F477-4A57-62FD87588539}"/>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NOT: tüm kodu try-catch blokları arasına yazmayı unutmayın:</a:t>
            </a:r>
          </a:p>
          <a:p>
            <a:pPr marL="0" indent="0" algn="just">
              <a:lnSpc>
                <a:spcPct val="100000"/>
              </a:lnSpc>
              <a:spcBef>
                <a:spcPts val="600"/>
              </a:spcBef>
              <a:spcAft>
                <a:spcPts val="600"/>
              </a:spcAft>
              <a:buNone/>
            </a:pPr>
            <a:endParaRPr lang="tr-TR" sz="1800" dirty="0"/>
          </a:p>
        </p:txBody>
      </p:sp>
      <p:pic>
        <p:nvPicPr>
          <p:cNvPr id="5" name="Resim 4" descr="metin, ekran görüntüsü, yazılım içeren bir resim&#10;&#10;Yapay zeka tarafından oluşturulan içerik yanlış olabilir.">
            <a:extLst>
              <a:ext uri="{FF2B5EF4-FFF2-40B4-BE49-F238E27FC236}">
                <a16:creationId xmlns:a16="http://schemas.microsoft.com/office/drawing/2014/main" id="{9D7D46CB-A264-5A4C-3339-41C646B053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11152" y="1386752"/>
            <a:ext cx="6847807" cy="4892654"/>
          </a:xfrm>
          <a:prstGeom prst="rect">
            <a:avLst/>
          </a:prstGeom>
        </p:spPr>
      </p:pic>
    </p:spTree>
    <p:extLst>
      <p:ext uri="{BB962C8B-B14F-4D97-AF65-F5344CB8AC3E}">
        <p14:creationId xmlns:p14="http://schemas.microsoft.com/office/powerpoint/2010/main" val="928095600"/>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6A7279-7903-F0D9-E223-F9DAD97A30E4}"/>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AF9A7C75-307F-B1BC-AB0C-FF0D7D1D94C8}"/>
              </a:ext>
            </a:extLst>
          </p:cNvPr>
          <p:cNvSpPr>
            <a:spLocks noGrp="1"/>
          </p:cNvSpPr>
          <p:nvPr>
            <p:ph type="title"/>
          </p:nvPr>
        </p:nvSpPr>
        <p:spPr>
          <a:xfrm>
            <a:off x="838200" y="248495"/>
            <a:ext cx="10515600" cy="432542"/>
          </a:xfrm>
        </p:spPr>
        <p:txBody>
          <a:bodyPr>
            <a:noAutofit/>
          </a:bodyPr>
          <a:lstStyle/>
          <a:p>
            <a:pPr algn="ctr"/>
            <a:r>
              <a:rPr lang="tr-TR" sz="2800" dirty="0"/>
              <a:t>CustomerProduct Sınıfı için LİSTELEME İşlemi</a:t>
            </a:r>
          </a:p>
        </p:txBody>
      </p:sp>
      <p:sp>
        <p:nvSpPr>
          <p:cNvPr id="3" name="İçerik Yer Tutucusu 2">
            <a:extLst>
              <a:ext uri="{FF2B5EF4-FFF2-40B4-BE49-F238E27FC236}">
                <a16:creationId xmlns:a16="http://schemas.microsoft.com/office/drawing/2014/main" id="{AF44051E-70B9-B0C0-78A1-37C4C8A277FB}"/>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Daha sonra bu yazdığımız sorguyu </a:t>
            </a:r>
            <a:r>
              <a:rPr lang="tr-TR" sz="1800" dirty="0" err="1"/>
              <a:t>datagridview’in</a:t>
            </a:r>
            <a:r>
              <a:rPr lang="tr-TR" sz="1800" dirty="0"/>
              <a:t> </a:t>
            </a:r>
            <a:r>
              <a:rPr lang="tr-TR" sz="1800" dirty="0" err="1"/>
              <a:t>DataSource</a:t>
            </a:r>
            <a:r>
              <a:rPr lang="tr-TR" sz="1800" dirty="0"/>
              <a:t> özelliğine atıyoruz ki artık butona tıklandığında datagridview içerisine bilgiler yüklensin.</a:t>
            </a:r>
          </a:p>
          <a:p>
            <a:r>
              <a:rPr lang="tr-TR" sz="1800" dirty="0">
                <a:solidFill>
                  <a:srgbClr val="000000"/>
                </a:solidFill>
                <a:highlight>
                  <a:srgbClr val="FFFFFF"/>
                </a:highlight>
                <a:latin typeface="Cascadia Mono" panose="020B0609020000020004" pitchFamily="49" charset="0"/>
              </a:rPr>
              <a:t>dataGridView1.DataSource = list;</a:t>
            </a:r>
          </a:p>
          <a:p>
            <a:pPr marL="0" indent="0">
              <a:buNone/>
            </a:pPr>
            <a:endParaRPr lang="tr-TR" sz="1800" dirty="0">
              <a:solidFill>
                <a:srgbClr val="000000"/>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Sonra da </a:t>
            </a:r>
            <a:r>
              <a:rPr lang="tr-TR" sz="1800" dirty="0" err="1">
                <a:solidFill>
                  <a:srgbClr val="000000"/>
                </a:solidFill>
                <a:highlight>
                  <a:srgbClr val="FFFFFF"/>
                </a:highlight>
                <a:latin typeface="Cascadia Mono" panose="020B0609020000020004" pitchFamily="49" charset="0"/>
              </a:rPr>
              <a:t>datagridview’in</a:t>
            </a:r>
            <a:r>
              <a:rPr lang="tr-TR" sz="1800" dirty="0">
                <a:solidFill>
                  <a:srgbClr val="000000"/>
                </a:solidFill>
                <a:highlight>
                  <a:srgbClr val="FFFFFF"/>
                </a:highlight>
                <a:latin typeface="Cascadia Mono" panose="020B0609020000020004" pitchFamily="49" charset="0"/>
              </a:rPr>
              <a:t> sütunları tüm ekranı eşit bir şekilde kaplasın diye aşağıdaki sorguyu yazıyoruz.</a:t>
            </a:r>
          </a:p>
          <a:p>
            <a:r>
              <a:rPr lang="tr-TR" sz="1800" dirty="0">
                <a:solidFill>
                  <a:srgbClr val="000000"/>
                </a:solidFill>
                <a:highlight>
                  <a:srgbClr val="FFFFFF"/>
                </a:highlight>
                <a:latin typeface="Cascadia Mono" panose="020B0609020000020004" pitchFamily="49" charset="0"/>
              </a:rPr>
              <a:t>dataGridView1.AutoSizeColumnsMode = </a:t>
            </a:r>
            <a:r>
              <a:rPr lang="tr-TR" sz="1800" dirty="0" err="1">
                <a:solidFill>
                  <a:srgbClr val="2B91AF"/>
                </a:solidFill>
                <a:highlight>
                  <a:srgbClr val="FFFFFF"/>
                </a:highlight>
                <a:latin typeface="Cascadia Mono" panose="020B0609020000020004" pitchFamily="49" charset="0"/>
              </a:rPr>
              <a:t>DataGridViewAutoSizeColumnsMode</a:t>
            </a:r>
            <a:r>
              <a:rPr lang="tr-TR" sz="1800" dirty="0" err="1">
                <a:solidFill>
                  <a:srgbClr val="000000"/>
                </a:solidFill>
                <a:highlight>
                  <a:srgbClr val="FFFFFF"/>
                </a:highlight>
                <a:latin typeface="Cascadia Mono" panose="020B0609020000020004" pitchFamily="49" charset="0"/>
              </a:rPr>
              <a:t>.Fill</a:t>
            </a:r>
            <a:r>
              <a:rPr lang="tr-TR" sz="1800" dirty="0">
                <a:solidFill>
                  <a:srgbClr val="000000"/>
                </a:solidFill>
                <a:highlight>
                  <a:srgbClr val="FFFFFF"/>
                </a:highlight>
                <a:latin typeface="Cascadia Mono" panose="020B0609020000020004" pitchFamily="49" charset="0"/>
              </a:rPr>
              <a:t>;</a:t>
            </a:r>
            <a:endParaRPr lang="tr-TR" sz="1800" dirty="0"/>
          </a:p>
        </p:txBody>
      </p:sp>
    </p:spTree>
    <p:extLst>
      <p:ext uri="{BB962C8B-B14F-4D97-AF65-F5344CB8AC3E}">
        <p14:creationId xmlns:p14="http://schemas.microsoft.com/office/powerpoint/2010/main" val="1684563450"/>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B007F-E1E7-5134-CFB4-C5E53AEFF50A}"/>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A9F7CAAB-B0A4-DD1B-83ED-7867131F3021}"/>
              </a:ext>
            </a:extLst>
          </p:cNvPr>
          <p:cNvSpPr>
            <a:spLocks noGrp="1"/>
          </p:cNvSpPr>
          <p:nvPr>
            <p:ph type="title"/>
          </p:nvPr>
        </p:nvSpPr>
        <p:spPr>
          <a:xfrm>
            <a:off x="838200" y="248495"/>
            <a:ext cx="10515600" cy="432542"/>
          </a:xfrm>
        </p:spPr>
        <p:txBody>
          <a:bodyPr>
            <a:noAutofit/>
          </a:bodyPr>
          <a:lstStyle/>
          <a:p>
            <a:pPr algn="ctr"/>
            <a:r>
              <a:rPr lang="tr-TR" sz="2800" dirty="0"/>
              <a:t>CustomerProduct Sınıfı için LİSTELEME İşlemi</a:t>
            </a:r>
          </a:p>
        </p:txBody>
      </p:sp>
      <p:pic>
        <p:nvPicPr>
          <p:cNvPr id="5" name="İçerik Yer Tutucusu 4" descr="metin, ekran görüntüsü, yazılım, yazı tipi içeren bir resim&#10;&#10;Yapay zeka tarafından oluşturulan içerik yanlış olabilir.">
            <a:extLst>
              <a:ext uri="{FF2B5EF4-FFF2-40B4-BE49-F238E27FC236}">
                <a16:creationId xmlns:a16="http://schemas.microsoft.com/office/drawing/2014/main" id="{42E0FF24-8B24-D98B-4B84-B66C9CEF652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05140" y="929915"/>
            <a:ext cx="8739340" cy="5640284"/>
          </a:xfrm>
        </p:spPr>
      </p:pic>
    </p:spTree>
    <p:extLst>
      <p:ext uri="{BB962C8B-B14F-4D97-AF65-F5344CB8AC3E}">
        <p14:creationId xmlns:p14="http://schemas.microsoft.com/office/powerpoint/2010/main" val="3768108542"/>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55EE0-509A-9334-4A0E-065526685F08}"/>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CBA1C60A-56AD-989C-8A52-39E1BBC393F3}"/>
              </a:ext>
            </a:extLst>
          </p:cNvPr>
          <p:cNvSpPr>
            <a:spLocks noGrp="1"/>
          </p:cNvSpPr>
          <p:nvPr>
            <p:ph type="title"/>
          </p:nvPr>
        </p:nvSpPr>
        <p:spPr>
          <a:xfrm>
            <a:off x="838200" y="248495"/>
            <a:ext cx="10515600" cy="432542"/>
          </a:xfrm>
        </p:spPr>
        <p:txBody>
          <a:bodyPr>
            <a:noAutofit/>
          </a:bodyPr>
          <a:lstStyle/>
          <a:p>
            <a:pPr algn="ctr"/>
            <a:r>
              <a:rPr lang="tr-TR" sz="2800" dirty="0"/>
              <a:t>CustomerProduct Sınıfı için LİSTELEME İşlemi</a:t>
            </a:r>
          </a:p>
        </p:txBody>
      </p:sp>
      <p:sp>
        <p:nvSpPr>
          <p:cNvPr id="3" name="İçerik Yer Tutucusu 2">
            <a:extLst>
              <a:ext uri="{FF2B5EF4-FFF2-40B4-BE49-F238E27FC236}">
                <a16:creationId xmlns:a16="http://schemas.microsoft.com/office/drawing/2014/main" id="{E0327654-C386-965B-4F43-DBC2E1011DD1}"/>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Şimdi programımızı çalıştırıp ikinci form’a geçip, listeleme tuşuna basınca sonuçları görüyoruz:</a:t>
            </a:r>
          </a:p>
        </p:txBody>
      </p:sp>
      <p:pic>
        <p:nvPicPr>
          <p:cNvPr id="5" name="Resim 4" descr="metin, ekran görüntüsü, yazılım, bilgisayar simgesi içeren bir resim&#10;&#10;Yapay zeka tarafından oluşturulan içerik yanlış olabilir.">
            <a:extLst>
              <a:ext uri="{FF2B5EF4-FFF2-40B4-BE49-F238E27FC236}">
                <a16:creationId xmlns:a16="http://schemas.microsoft.com/office/drawing/2014/main" id="{3F48B2AD-5B36-D611-A643-178404FA9B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2485" y="1261869"/>
            <a:ext cx="10120559" cy="5347636"/>
          </a:xfrm>
          <a:prstGeom prst="rect">
            <a:avLst/>
          </a:prstGeom>
        </p:spPr>
      </p:pic>
    </p:spTree>
    <p:extLst>
      <p:ext uri="{BB962C8B-B14F-4D97-AF65-F5344CB8AC3E}">
        <p14:creationId xmlns:p14="http://schemas.microsoft.com/office/powerpoint/2010/main" val="3530213512"/>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61CC23-8F2D-A24C-9C33-70BE720F5159}"/>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2FB8A7EA-D74C-ABCA-0FB7-8870238E0614}"/>
              </a:ext>
            </a:extLst>
          </p:cNvPr>
          <p:cNvSpPr>
            <a:spLocks noGrp="1"/>
          </p:cNvSpPr>
          <p:nvPr>
            <p:ph type="title"/>
          </p:nvPr>
        </p:nvSpPr>
        <p:spPr>
          <a:xfrm>
            <a:off x="838200" y="248495"/>
            <a:ext cx="10515600" cy="432542"/>
          </a:xfrm>
        </p:spPr>
        <p:txBody>
          <a:bodyPr>
            <a:noAutofit/>
          </a:bodyPr>
          <a:lstStyle/>
          <a:p>
            <a:pPr algn="ctr"/>
            <a:r>
              <a:rPr lang="tr-TR" sz="2800" dirty="0"/>
              <a:t>CustomerProduct Sınıfı için LİSTELEME İşlemi</a:t>
            </a:r>
          </a:p>
        </p:txBody>
      </p:sp>
      <p:sp>
        <p:nvSpPr>
          <p:cNvPr id="3" name="İçerik Yer Tutucusu 2">
            <a:extLst>
              <a:ext uri="{FF2B5EF4-FFF2-40B4-BE49-F238E27FC236}">
                <a16:creationId xmlns:a16="http://schemas.microsoft.com/office/drawing/2014/main" id="{DCC17646-CBAC-DD16-D80A-6B5A74AEEE50}"/>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Görüldüğü gibi her şey istediğimiz gibi geldi. Ancak, Table_CustomerProduct tablosunun </a:t>
            </a:r>
            <a:r>
              <a:rPr lang="tr-TR" sz="1800" dirty="0" err="1"/>
              <a:t>CusPro_Id</a:t>
            </a:r>
            <a:r>
              <a:rPr lang="tr-TR" sz="1800" dirty="0"/>
              <a:t> sütunu orijinal ismiyle geldi. Bizim bu sütundaki bilgilere hiç ihtiyacımız yok. Dolayısıyla bu sütunu kaldırmak için kodlarımıza aşağıdaki kodu da ekliyoruz:</a:t>
            </a:r>
          </a:p>
          <a:p>
            <a:pPr marL="0" indent="0" algn="just">
              <a:lnSpc>
                <a:spcPct val="100000"/>
              </a:lnSpc>
              <a:spcBef>
                <a:spcPts val="600"/>
              </a:spcBef>
              <a:spcAft>
                <a:spcPts val="600"/>
              </a:spcAft>
              <a:buNone/>
            </a:pPr>
            <a:r>
              <a:rPr lang="en-US" sz="1800" dirty="0">
                <a:solidFill>
                  <a:srgbClr val="000000"/>
                </a:solidFill>
                <a:highlight>
                  <a:srgbClr val="FFFFFF"/>
                </a:highlight>
                <a:latin typeface="Cascadia Mono" panose="020B0609020000020004" pitchFamily="49" charset="0"/>
              </a:rPr>
              <a:t>dataGridView1.Columns[</a:t>
            </a:r>
            <a:r>
              <a:rPr lang="en-US" sz="1800" dirty="0">
                <a:solidFill>
                  <a:srgbClr val="A31515"/>
                </a:solidFill>
                <a:highlight>
                  <a:srgbClr val="FFFFFF"/>
                </a:highlight>
                <a:latin typeface="Cascadia Mono" panose="020B0609020000020004" pitchFamily="49" charset="0"/>
              </a:rPr>
              <a:t>"</a:t>
            </a:r>
            <a:r>
              <a:rPr lang="en-US" sz="1800" dirty="0" err="1">
                <a:solidFill>
                  <a:srgbClr val="A31515"/>
                </a:solidFill>
                <a:highlight>
                  <a:srgbClr val="FFFFFF"/>
                </a:highlight>
                <a:latin typeface="Cascadia Mono" panose="020B0609020000020004" pitchFamily="49" charset="0"/>
              </a:rPr>
              <a:t>CusPro_Id</a:t>
            </a:r>
            <a:r>
              <a:rPr lang="en-US" sz="1800" dirty="0">
                <a:solidFill>
                  <a:srgbClr val="A31515"/>
                </a:solidFill>
                <a:highlight>
                  <a:srgbClr val="FFFFFF"/>
                </a:highlight>
                <a:latin typeface="Cascadia Mono" panose="020B0609020000020004" pitchFamily="49" charset="0"/>
              </a:rPr>
              <a:t>"</a:t>
            </a:r>
            <a:r>
              <a:rPr lang="en-US" sz="1800" dirty="0">
                <a:solidFill>
                  <a:srgbClr val="000000"/>
                </a:solidFill>
                <a:highlight>
                  <a:srgbClr val="FFFFFF"/>
                </a:highlight>
                <a:latin typeface="Cascadia Mono" panose="020B0609020000020004" pitchFamily="49" charset="0"/>
              </a:rPr>
              <a:t>].Visible = </a:t>
            </a:r>
            <a:r>
              <a:rPr lang="en-US" sz="1800" dirty="0">
                <a:solidFill>
                  <a:srgbClr val="0000FF"/>
                </a:solidFill>
                <a:highlight>
                  <a:srgbClr val="FFFFFF"/>
                </a:highlight>
                <a:latin typeface="Cascadia Mono" panose="020B0609020000020004" pitchFamily="49" charset="0"/>
              </a:rPr>
              <a:t>false</a:t>
            </a:r>
            <a:r>
              <a:rPr lang="en-US" sz="1800" dirty="0">
                <a:solidFill>
                  <a:srgbClr val="000000"/>
                </a:solidFill>
                <a:highlight>
                  <a:srgbClr val="FFFFFF"/>
                </a:highlight>
                <a:latin typeface="Cascadia Mono" panose="020B0609020000020004" pitchFamily="49" charset="0"/>
              </a:rPr>
              <a:t>;</a:t>
            </a:r>
            <a:endParaRPr lang="tr-TR" sz="1800" dirty="0"/>
          </a:p>
        </p:txBody>
      </p:sp>
    </p:spTree>
    <p:extLst>
      <p:ext uri="{BB962C8B-B14F-4D97-AF65-F5344CB8AC3E}">
        <p14:creationId xmlns:p14="http://schemas.microsoft.com/office/powerpoint/2010/main" val="2433722937"/>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FC67A-3D07-E41C-3ABA-4EA88CA1403E}"/>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4A9FAE47-1157-0563-C7EE-01E6EBC7A91D}"/>
              </a:ext>
            </a:extLst>
          </p:cNvPr>
          <p:cNvSpPr>
            <a:spLocks noGrp="1"/>
          </p:cNvSpPr>
          <p:nvPr>
            <p:ph type="title"/>
          </p:nvPr>
        </p:nvSpPr>
        <p:spPr>
          <a:xfrm>
            <a:off x="838200" y="248495"/>
            <a:ext cx="10515600" cy="432542"/>
          </a:xfrm>
        </p:spPr>
        <p:txBody>
          <a:bodyPr>
            <a:noAutofit/>
          </a:bodyPr>
          <a:lstStyle/>
          <a:p>
            <a:pPr algn="ctr"/>
            <a:r>
              <a:rPr lang="tr-TR" sz="2800" dirty="0"/>
              <a:t>CustomerProduct Sınıfı için LİSTELEME İşlemi</a:t>
            </a:r>
          </a:p>
        </p:txBody>
      </p:sp>
      <p:pic>
        <p:nvPicPr>
          <p:cNvPr id="5" name="İçerik Yer Tutucusu 4" descr="metin, ekran görüntüsü, yazılım, multimedya yazılımı içeren bir resim&#10;&#10;Yapay zeka tarafından oluşturulan içerik yanlış olabilir.">
            <a:extLst>
              <a:ext uri="{FF2B5EF4-FFF2-40B4-BE49-F238E27FC236}">
                <a16:creationId xmlns:a16="http://schemas.microsoft.com/office/drawing/2014/main" id="{1A628569-3215-61A3-127F-6A927996D99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13681" y="948125"/>
            <a:ext cx="8564637" cy="5786634"/>
          </a:xfrm>
        </p:spPr>
      </p:pic>
    </p:spTree>
    <p:extLst>
      <p:ext uri="{BB962C8B-B14F-4D97-AF65-F5344CB8AC3E}">
        <p14:creationId xmlns:p14="http://schemas.microsoft.com/office/powerpoint/2010/main" val="3202483204"/>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58730-CD55-104D-E196-B63A5961D4E9}"/>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E53BB284-97ED-2628-E05E-3A10A01D0A87}"/>
              </a:ext>
            </a:extLst>
          </p:cNvPr>
          <p:cNvSpPr>
            <a:spLocks noGrp="1"/>
          </p:cNvSpPr>
          <p:nvPr>
            <p:ph type="title"/>
          </p:nvPr>
        </p:nvSpPr>
        <p:spPr>
          <a:xfrm>
            <a:off x="838200" y="248495"/>
            <a:ext cx="10515600" cy="432542"/>
          </a:xfrm>
        </p:spPr>
        <p:txBody>
          <a:bodyPr>
            <a:noAutofit/>
          </a:bodyPr>
          <a:lstStyle/>
          <a:p>
            <a:pPr algn="ctr"/>
            <a:r>
              <a:rPr lang="tr-TR" sz="2800" dirty="0"/>
              <a:t>CustomerProduct Sınıfı için LİSTELEME İşlemi</a:t>
            </a:r>
          </a:p>
        </p:txBody>
      </p:sp>
      <p:sp>
        <p:nvSpPr>
          <p:cNvPr id="3" name="İçerik Yer Tutucusu 2">
            <a:extLst>
              <a:ext uri="{FF2B5EF4-FFF2-40B4-BE49-F238E27FC236}">
                <a16:creationId xmlns:a16="http://schemas.microsoft.com/office/drawing/2014/main" id="{3D033ECF-FBE0-318A-82F3-2C181A129C1C}"/>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Şimdi tekrar kodu çalıştırıp ikinci form’a geçiş yapıp listeleme işlemini gerçekleştiriyoruz. Görüldüğü gibi istemediğimiz sütunumuz artık görünmüyor.</a:t>
            </a:r>
          </a:p>
        </p:txBody>
      </p:sp>
      <p:pic>
        <p:nvPicPr>
          <p:cNvPr id="5" name="Resim 4" descr="metin, çizgi, sayı, numara, yazı tipi içeren bir resim&#10;&#10;Yapay zeka tarafından oluşturulan içerik yanlış olabilir.">
            <a:extLst>
              <a:ext uri="{FF2B5EF4-FFF2-40B4-BE49-F238E27FC236}">
                <a16:creationId xmlns:a16="http://schemas.microsoft.com/office/drawing/2014/main" id="{D2F1DAA6-27D6-F31C-D6A5-5FFC76EC34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5797" y="1756265"/>
            <a:ext cx="10920406" cy="3345470"/>
          </a:xfrm>
          <a:prstGeom prst="rect">
            <a:avLst/>
          </a:prstGeom>
        </p:spPr>
      </p:pic>
    </p:spTree>
    <p:extLst>
      <p:ext uri="{BB962C8B-B14F-4D97-AF65-F5344CB8AC3E}">
        <p14:creationId xmlns:p14="http://schemas.microsoft.com/office/powerpoint/2010/main" val="1558204785"/>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1EA8B-3B66-949E-64E5-05CC47363065}"/>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EDD77B16-58C5-9BF4-23F8-A23A235B464E}"/>
              </a:ext>
            </a:extLst>
          </p:cNvPr>
          <p:cNvSpPr>
            <a:spLocks noGrp="1"/>
          </p:cNvSpPr>
          <p:nvPr>
            <p:ph type="title"/>
          </p:nvPr>
        </p:nvSpPr>
        <p:spPr>
          <a:xfrm>
            <a:off x="838200" y="248495"/>
            <a:ext cx="10515600" cy="432542"/>
          </a:xfrm>
        </p:spPr>
        <p:txBody>
          <a:bodyPr>
            <a:noAutofit/>
          </a:bodyPr>
          <a:lstStyle/>
          <a:p>
            <a:pPr algn="ctr"/>
            <a:r>
              <a:rPr lang="tr-TR" sz="2800" dirty="0"/>
              <a:t>CustomerProduct Sınıfı için Form Oluşturulması</a:t>
            </a:r>
          </a:p>
        </p:txBody>
      </p:sp>
      <p:sp>
        <p:nvSpPr>
          <p:cNvPr id="3" name="İçerik Yer Tutucusu 2">
            <a:extLst>
              <a:ext uri="{FF2B5EF4-FFF2-40B4-BE49-F238E27FC236}">
                <a16:creationId xmlns:a16="http://schemas.microsoft.com/office/drawing/2014/main" id="{589DC480-E987-197E-60FE-A20ADAD19B96}"/>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Şimdi sıra geldi, </a:t>
            </a:r>
            <a:r>
              <a:rPr lang="tr-TR" sz="1800" dirty="0" err="1"/>
              <a:t>combobox’lara</a:t>
            </a:r>
            <a:r>
              <a:rPr lang="tr-TR" sz="1800" dirty="0"/>
              <a:t>. Bu </a:t>
            </a:r>
            <a:r>
              <a:rPr lang="tr-TR" sz="1800" dirty="0" err="1"/>
              <a:t>combobox’lar</a:t>
            </a:r>
            <a:r>
              <a:rPr lang="tr-TR" sz="1800" dirty="0"/>
              <a:t> form ilk yüklendiğinde yani daha hiçbir butona tıklanmamışken ve hiçbir olay gerçekleşmemişken Start butonuna tıklanıp kodlar ilk çalıştırıldığında bu </a:t>
            </a:r>
            <a:r>
              <a:rPr lang="tr-TR" sz="1800" dirty="0" err="1"/>
              <a:t>combobox’lar</a:t>
            </a:r>
            <a:r>
              <a:rPr lang="tr-TR" sz="1800" dirty="0"/>
              <a:t> boş gözükmesin ve veriler o an içerisine yüklensin istiyoruz. Bunun için form üzerinde herhangi bir bileşene tıklamadan form’un üzerine çift tıklayınca sizi </a:t>
            </a:r>
            <a:r>
              <a:rPr lang="tr-TR" sz="1800" dirty="0" err="1"/>
              <a:t>Form_Load</a:t>
            </a:r>
            <a:r>
              <a:rPr lang="tr-TR" sz="1800" dirty="0"/>
              <a:t> olayının içerisine götürecektir (</a:t>
            </a:r>
            <a:r>
              <a:rPr lang="tr-TR" sz="1800" dirty="0" err="1"/>
              <a:t>Form_load</a:t>
            </a:r>
            <a:r>
              <a:rPr lang="tr-TR" sz="1800" dirty="0"/>
              <a:t> metodunun içine götürecektir)</a:t>
            </a:r>
          </a:p>
          <a:p>
            <a:pPr marL="0" indent="0" algn="just">
              <a:lnSpc>
                <a:spcPct val="100000"/>
              </a:lnSpc>
              <a:spcBef>
                <a:spcPts val="600"/>
              </a:spcBef>
              <a:spcAft>
                <a:spcPts val="600"/>
              </a:spcAft>
              <a:buNone/>
            </a:pPr>
            <a:endParaRPr lang="tr-TR" sz="1800" dirty="0"/>
          </a:p>
        </p:txBody>
      </p:sp>
    </p:spTree>
    <p:extLst>
      <p:ext uri="{BB962C8B-B14F-4D97-AF65-F5344CB8AC3E}">
        <p14:creationId xmlns:p14="http://schemas.microsoft.com/office/powerpoint/2010/main" val="3538245620"/>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ADE2B8-4C6E-4C94-486D-AA1439905CB6}"/>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FFC66B54-26A4-A598-D513-9EB753317F59}"/>
              </a:ext>
            </a:extLst>
          </p:cNvPr>
          <p:cNvSpPr>
            <a:spLocks noGrp="1"/>
          </p:cNvSpPr>
          <p:nvPr>
            <p:ph type="title"/>
          </p:nvPr>
        </p:nvSpPr>
        <p:spPr>
          <a:xfrm>
            <a:off x="838200" y="248495"/>
            <a:ext cx="10515600" cy="432542"/>
          </a:xfrm>
        </p:spPr>
        <p:txBody>
          <a:bodyPr>
            <a:noAutofit/>
          </a:bodyPr>
          <a:lstStyle/>
          <a:p>
            <a:pPr algn="ctr"/>
            <a:r>
              <a:rPr lang="tr-TR" sz="2800" dirty="0"/>
              <a:t>Değerlerin </a:t>
            </a:r>
            <a:r>
              <a:rPr lang="tr-TR" sz="2800" dirty="0" err="1"/>
              <a:t>Combobox’a</a:t>
            </a:r>
            <a:r>
              <a:rPr lang="tr-TR" sz="2800" dirty="0"/>
              <a:t> Yüklenmesi</a:t>
            </a:r>
          </a:p>
        </p:txBody>
      </p:sp>
      <p:sp>
        <p:nvSpPr>
          <p:cNvPr id="3" name="İçerik Yer Tutucusu 2">
            <a:extLst>
              <a:ext uri="{FF2B5EF4-FFF2-40B4-BE49-F238E27FC236}">
                <a16:creationId xmlns:a16="http://schemas.microsoft.com/office/drawing/2014/main" id="{501689EB-CFD6-FCD5-7586-12F61EA3E195}"/>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Projeyi çalıştırmadan henüz form’un tasarım sekmesindeyken şekildeki kırmızı ile seçili alan gibi boş bir yere çift tıklarsanız sizi ilgili metodun içerisine yönlendirecektir.</a:t>
            </a:r>
          </a:p>
        </p:txBody>
      </p:sp>
      <p:pic>
        <p:nvPicPr>
          <p:cNvPr id="5" name="Resim 4" descr="ekran görüntüsü, metin, ekran, görüntüleme, bilgisayar içeren bir resim&#10;&#10;Yapay zeka tarafından oluşturulan içerik yanlış olabilir.">
            <a:extLst>
              <a:ext uri="{FF2B5EF4-FFF2-40B4-BE49-F238E27FC236}">
                <a16:creationId xmlns:a16="http://schemas.microsoft.com/office/drawing/2014/main" id="{AB57E8DE-AC9D-D7C9-B93B-719BE9DD50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5246" y="1555085"/>
            <a:ext cx="11621507" cy="4740051"/>
          </a:xfrm>
          <a:prstGeom prst="rect">
            <a:avLst/>
          </a:prstGeom>
        </p:spPr>
      </p:pic>
    </p:spTree>
    <p:extLst>
      <p:ext uri="{BB962C8B-B14F-4D97-AF65-F5344CB8AC3E}">
        <p14:creationId xmlns:p14="http://schemas.microsoft.com/office/powerpoint/2010/main" val="323745922"/>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A062A4-8A37-8F67-F053-CF4DF9181937}"/>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6D05C35D-D467-B3C5-4B68-D2A24EC0E8B1}"/>
              </a:ext>
            </a:extLst>
          </p:cNvPr>
          <p:cNvSpPr>
            <a:spLocks noGrp="1"/>
          </p:cNvSpPr>
          <p:nvPr>
            <p:ph type="title"/>
          </p:nvPr>
        </p:nvSpPr>
        <p:spPr>
          <a:xfrm>
            <a:off x="838200" y="248495"/>
            <a:ext cx="10515600" cy="432542"/>
          </a:xfrm>
        </p:spPr>
        <p:txBody>
          <a:bodyPr>
            <a:noAutofit/>
          </a:bodyPr>
          <a:lstStyle/>
          <a:p>
            <a:pPr algn="ctr"/>
            <a:r>
              <a:rPr lang="tr-TR" sz="2800" dirty="0"/>
              <a:t>Değerlerin </a:t>
            </a:r>
            <a:r>
              <a:rPr lang="tr-TR" sz="2800" dirty="0" err="1"/>
              <a:t>Combobox’a</a:t>
            </a:r>
            <a:r>
              <a:rPr lang="tr-TR" sz="2800" dirty="0"/>
              <a:t> Yüklenmesi</a:t>
            </a:r>
          </a:p>
        </p:txBody>
      </p:sp>
      <p:sp>
        <p:nvSpPr>
          <p:cNvPr id="3" name="İçerik Yer Tutucusu 2">
            <a:extLst>
              <a:ext uri="{FF2B5EF4-FFF2-40B4-BE49-F238E27FC236}">
                <a16:creationId xmlns:a16="http://schemas.microsoft.com/office/drawing/2014/main" id="{08E6AAC0-D6BA-E313-8332-102CE8C0C2EB}"/>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Aşağıdaki gibi bir load metodunun içerisine yönlendirileceksiniz:</a:t>
            </a:r>
          </a:p>
          <a:p>
            <a:pPr marL="0" indent="0" algn="just">
              <a:lnSpc>
                <a:spcPct val="100000"/>
              </a:lnSpc>
              <a:spcBef>
                <a:spcPts val="600"/>
              </a:spcBef>
              <a:spcAft>
                <a:spcPts val="600"/>
              </a:spcAft>
              <a:buNone/>
            </a:pPr>
            <a:r>
              <a:rPr lang="tr-TR" sz="1800" dirty="0" err="1"/>
              <a:t>Form_load</a:t>
            </a:r>
            <a:r>
              <a:rPr lang="tr-TR" sz="1800" dirty="0"/>
              <a:t> metoduna yazdığımız metotlar ve açıklamaları sonraki sayfada verilmiştir.</a:t>
            </a:r>
          </a:p>
          <a:p>
            <a:pPr marL="0" indent="0" algn="just">
              <a:lnSpc>
                <a:spcPct val="100000"/>
              </a:lnSpc>
              <a:spcBef>
                <a:spcPts val="600"/>
              </a:spcBef>
              <a:spcAft>
                <a:spcPts val="600"/>
              </a:spcAft>
              <a:buNone/>
            </a:pPr>
            <a:endParaRPr lang="tr-TR" sz="1800" dirty="0"/>
          </a:p>
        </p:txBody>
      </p:sp>
      <p:pic>
        <p:nvPicPr>
          <p:cNvPr id="5" name="Resim 4">
            <a:extLst>
              <a:ext uri="{FF2B5EF4-FFF2-40B4-BE49-F238E27FC236}">
                <a16:creationId xmlns:a16="http://schemas.microsoft.com/office/drawing/2014/main" id="{085B45F1-541D-F852-19A8-766641C9BB7E}"/>
              </a:ext>
            </a:extLst>
          </p:cNvPr>
          <p:cNvPicPr>
            <a:picLocks noChangeAspect="1"/>
          </p:cNvPicPr>
          <p:nvPr/>
        </p:nvPicPr>
        <p:blipFill>
          <a:blip r:embed="rId2"/>
          <a:stretch>
            <a:fillRect/>
          </a:stretch>
        </p:blipFill>
        <p:spPr>
          <a:xfrm>
            <a:off x="1450339" y="2172335"/>
            <a:ext cx="9718209" cy="1256665"/>
          </a:xfrm>
          <a:prstGeom prst="rect">
            <a:avLst/>
          </a:prstGeom>
        </p:spPr>
      </p:pic>
    </p:spTree>
    <p:extLst>
      <p:ext uri="{BB962C8B-B14F-4D97-AF65-F5344CB8AC3E}">
        <p14:creationId xmlns:p14="http://schemas.microsoft.com/office/powerpoint/2010/main" val="1553952711"/>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309C9A-F693-64D2-B96F-7FA3F79FCB5A}"/>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F9B92303-CC99-DE5B-C804-474D8E8F25D1}"/>
              </a:ext>
            </a:extLst>
          </p:cNvPr>
          <p:cNvSpPr>
            <a:spLocks noGrp="1"/>
          </p:cNvSpPr>
          <p:nvPr>
            <p:ph type="title"/>
          </p:nvPr>
        </p:nvSpPr>
        <p:spPr>
          <a:xfrm>
            <a:off x="838200" y="248495"/>
            <a:ext cx="10515600" cy="432542"/>
          </a:xfrm>
        </p:spPr>
        <p:txBody>
          <a:bodyPr>
            <a:noAutofit/>
          </a:bodyPr>
          <a:lstStyle/>
          <a:p>
            <a:pPr algn="ctr"/>
            <a:r>
              <a:rPr lang="tr-TR" sz="2800" dirty="0"/>
              <a:t>Değerlerin </a:t>
            </a:r>
            <a:r>
              <a:rPr lang="tr-TR" sz="2800" dirty="0" err="1"/>
              <a:t>Combobox’a</a:t>
            </a:r>
            <a:r>
              <a:rPr lang="tr-TR" sz="2800" dirty="0"/>
              <a:t> Yüklenmesi</a:t>
            </a:r>
          </a:p>
        </p:txBody>
      </p:sp>
      <p:sp>
        <p:nvSpPr>
          <p:cNvPr id="3" name="İçerik Yer Tutucusu 2">
            <a:extLst>
              <a:ext uri="{FF2B5EF4-FFF2-40B4-BE49-F238E27FC236}">
                <a16:creationId xmlns:a16="http://schemas.microsoft.com/office/drawing/2014/main" id="{6C1C2D1E-9A11-E207-34E4-002694BD25C2}"/>
              </a:ext>
            </a:extLst>
          </p:cNvPr>
          <p:cNvSpPr>
            <a:spLocks noGrp="1"/>
          </p:cNvSpPr>
          <p:nvPr>
            <p:ph idx="1"/>
          </p:nvPr>
        </p:nvSpPr>
        <p:spPr>
          <a:xfrm>
            <a:off x="838200" y="846306"/>
            <a:ext cx="10515600" cy="5885234"/>
          </a:xfrm>
        </p:spPr>
        <p:txBody>
          <a:bodyPr>
            <a:normAutofit fontScale="55000" lnSpcReduction="20000"/>
          </a:bodyPr>
          <a:lstStyle/>
          <a:p>
            <a:pPr marL="0" indent="0">
              <a:buNone/>
            </a:pPr>
            <a:r>
              <a:rPr lang="tr-TR" sz="1800" dirty="0" err="1">
                <a:solidFill>
                  <a:srgbClr val="0000FF"/>
                </a:solidFill>
                <a:highlight>
                  <a:srgbClr val="FFFFFF"/>
                </a:highlight>
                <a:latin typeface="Cascadia Mono" panose="020B0609020000020004" pitchFamily="49" charset="0"/>
              </a:rPr>
              <a:t>try</a:t>
            </a:r>
            <a:endParaRPr lang="tr-TR" sz="1800" dirty="0">
              <a:solidFill>
                <a:srgbClr val="0000FF"/>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combo_customer.DataSource</a:t>
            </a:r>
            <a:r>
              <a:rPr lang="tr-TR" sz="1800" dirty="0">
                <a:solidFill>
                  <a:srgbClr val="000000"/>
                </a:solidFill>
                <a:highlight>
                  <a:srgbClr val="FFFFFF"/>
                </a:highlight>
                <a:latin typeface="Cascadia Mono" panose="020B0609020000020004" pitchFamily="49" charset="0"/>
              </a:rPr>
              <a:t> = </a:t>
            </a:r>
            <a:r>
              <a:rPr lang="tr-TR" sz="1800" dirty="0" err="1">
                <a:solidFill>
                  <a:srgbClr val="000000"/>
                </a:solidFill>
                <a:highlight>
                  <a:srgbClr val="FFFFFF"/>
                </a:highlight>
                <a:latin typeface="Cascadia Mono" panose="020B0609020000020004" pitchFamily="49" charset="0"/>
              </a:rPr>
              <a:t>db.Customers</a:t>
            </a:r>
            <a:r>
              <a:rPr lang="tr-TR" sz="1800" dirty="0">
                <a:solidFill>
                  <a:srgbClr val="000000"/>
                </a:solidFill>
                <a:highlight>
                  <a:srgbClr val="FFFFFF"/>
                </a:highlight>
                <a:latin typeface="Cascadia Mono" panose="020B0609020000020004" pitchFamily="49" charset="0"/>
              </a:rPr>
              <a:t> </a:t>
            </a:r>
            <a:r>
              <a:rPr lang="tr-TR" sz="1800" dirty="0">
                <a:solidFill>
                  <a:srgbClr val="008000"/>
                </a:solidFill>
                <a:highlight>
                  <a:srgbClr val="FFFFFF"/>
                </a:highlight>
                <a:latin typeface="Cascadia Mono" panose="020B0609020000020004" pitchFamily="49" charset="0"/>
              </a:rPr>
              <a:t>// </a:t>
            </a:r>
            <a:r>
              <a:rPr lang="tr-TR" sz="1800" dirty="0" err="1">
                <a:solidFill>
                  <a:srgbClr val="008000"/>
                </a:solidFill>
                <a:highlight>
                  <a:srgbClr val="FFFFFF"/>
                </a:highlight>
                <a:latin typeface="Cascadia Mono" panose="020B0609020000020004" pitchFamily="49" charset="0"/>
              </a:rPr>
              <a:t>Table_Customers</a:t>
            </a:r>
            <a:r>
              <a:rPr lang="tr-TR" sz="1800" dirty="0">
                <a:solidFill>
                  <a:srgbClr val="008000"/>
                </a:solidFill>
                <a:highlight>
                  <a:srgbClr val="FFFFFF"/>
                </a:highlight>
                <a:latin typeface="Cascadia Mono" panose="020B0609020000020004" pitchFamily="49" charset="0"/>
              </a:rPr>
              <a:t> tablosunu seçiyoruz</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OrderBy</a:t>
            </a:r>
            <a:r>
              <a:rPr lang="tr-TR" sz="1800" dirty="0">
                <a:solidFill>
                  <a:srgbClr val="000000"/>
                </a:solidFill>
                <a:highlight>
                  <a:srgbClr val="FFFFFF"/>
                </a:highlight>
                <a:latin typeface="Cascadia Mono" panose="020B0609020000020004" pitchFamily="49" charset="0"/>
              </a:rPr>
              <a:t>(c =&gt; </a:t>
            </a:r>
            <a:r>
              <a:rPr lang="tr-TR" sz="1800" dirty="0" err="1">
                <a:solidFill>
                  <a:srgbClr val="000000"/>
                </a:solidFill>
                <a:highlight>
                  <a:srgbClr val="FFFFFF"/>
                </a:highlight>
                <a:latin typeface="Cascadia Mono" panose="020B0609020000020004" pitchFamily="49" charset="0"/>
              </a:rPr>
              <a:t>c.Customer_Name</a:t>
            </a:r>
            <a:r>
              <a:rPr lang="tr-TR" sz="1800" dirty="0">
                <a:solidFill>
                  <a:srgbClr val="000000"/>
                </a:solidFill>
                <a:highlight>
                  <a:srgbClr val="FFFFFF"/>
                </a:highlight>
                <a:latin typeface="Cascadia Mono" panose="020B0609020000020004" pitchFamily="49" charset="0"/>
              </a:rPr>
              <a:t>) </a:t>
            </a:r>
            <a:r>
              <a:rPr lang="tr-TR" sz="1800" dirty="0">
                <a:solidFill>
                  <a:srgbClr val="008000"/>
                </a:solidFill>
                <a:highlight>
                  <a:srgbClr val="FFFFFF"/>
                </a:highlight>
                <a:latin typeface="Cascadia Mono" panose="020B0609020000020004" pitchFamily="49" charset="0"/>
              </a:rPr>
              <a:t>// </a:t>
            </a:r>
            <a:r>
              <a:rPr lang="tr-TR" sz="1800" dirty="0" err="1">
                <a:solidFill>
                  <a:srgbClr val="008000"/>
                </a:solidFill>
                <a:highlight>
                  <a:srgbClr val="FFFFFF"/>
                </a:highlight>
                <a:latin typeface="Cascadia Mono" panose="020B0609020000020004" pitchFamily="49" charset="0"/>
              </a:rPr>
              <a:t>OrderBy</a:t>
            </a:r>
            <a:r>
              <a:rPr lang="tr-TR" sz="1800" dirty="0">
                <a:solidFill>
                  <a:srgbClr val="008000"/>
                </a:solidFill>
                <a:highlight>
                  <a:srgbClr val="FFFFFF"/>
                </a:highlight>
                <a:latin typeface="Cascadia Mono" panose="020B0609020000020004" pitchFamily="49" charset="0"/>
              </a:rPr>
              <a:t> metodu ile müşterinin adına göre alfabetik şekilde sıralıyoruz</a:t>
            </a:r>
          </a:p>
          <a:p>
            <a:pPr marL="0" indent="0">
              <a:buNone/>
            </a:pPr>
            <a:r>
              <a:rPr lang="tr-TR" sz="1800" dirty="0">
                <a:solidFill>
                  <a:srgbClr val="000000"/>
                </a:solidFill>
                <a:highlight>
                  <a:srgbClr val="FFFFFF"/>
                </a:highlight>
                <a:latin typeface="Cascadia Mono" panose="020B0609020000020004" pitchFamily="49" charset="0"/>
              </a:rPr>
              <a:t>    .Select(c =&gt; </a:t>
            </a:r>
            <a:r>
              <a:rPr lang="tr-TR" sz="1800" dirty="0" err="1">
                <a:solidFill>
                  <a:srgbClr val="0000FF"/>
                </a:solidFill>
                <a:highlight>
                  <a:srgbClr val="FFFFFF"/>
                </a:highlight>
                <a:latin typeface="Cascadia Mono" panose="020B0609020000020004" pitchFamily="49" charset="0"/>
              </a:rPr>
              <a:t>new</a:t>
            </a:r>
            <a:endParaRPr lang="tr-TR" sz="1800" dirty="0">
              <a:solidFill>
                <a:srgbClr val="0000FF"/>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    {   </a:t>
            </a:r>
            <a:r>
              <a:rPr lang="tr-TR" sz="1800" dirty="0" err="1">
                <a:solidFill>
                  <a:srgbClr val="000000"/>
                </a:solidFill>
                <a:highlight>
                  <a:srgbClr val="FFFFFF"/>
                </a:highlight>
                <a:latin typeface="Cascadia Mono" panose="020B0609020000020004" pitchFamily="49" charset="0"/>
              </a:rPr>
              <a:t>c.Customer_Id</a:t>
            </a:r>
            <a:r>
              <a:rPr lang="tr-TR" sz="1800" dirty="0">
                <a:solidFill>
                  <a:srgbClr val="000000"/>
                </a:solidFill>
                <a:highlight>
                  <a:srgbClr val="FFFFFF"/>
                </a:highlight>
                <a:latin typeface="Cascadia Mono" panose="020B0609020000020004" pitchFamily="49" charset="0"/>
              </a:rPr>
              <a:t>, </a:t>
            </a:r>
            <a:r>
              <a:rPr lang="tr-TR" sz="1800" dirty="0">
                <a:solidFill>
                  <a:srgbClr val="008000"/>
                </a:solidFill>
                <a:highlight>
                  <a:srgbClr val="FFFFFF"/>
                </a:highlight>
                <a:latin typeface="Cascadia Mono" panose="020B0609020000020004" pitchFamily="49" charset="0"/>
              </a:rPr>
              <a:t>// </a:t>
            </a:r>
            <a:r>
              <a:rPr lang="tr-TR" sz="1800" dirty="0" err="1">
                <a:solidFill>
                  <a:srgbClr val="008000"/>
                </a:solidFill>
                <a:highlight>
                  <a:srgbClr val="FFFFFF"/>
                </a:highlight>
                <a:latin typeface="Cascadia Mono" panose="020B0609020000020004" pitchFamily="49" charset="0"/>
              </a:rPr>
              <a:t>combobox'ta</a:t>
            </a:r>
            <a:r>
              <a:rPr lang="tr-TR" sz="1800" dirty="0">
                <a:solidFill>
                  <a:srgbClr val="008000"/>
                </a:solidFill>
                <a:highlight>
                  <a:srgbClr val="FFFFFF"/>
                </a:highlight>
                <a:latin typeface="Cascadia Mono" panose="020B0609020000020004" pitchFamily="49" charset="0"/>
              </a:rPr>
              <a:t> gösterilecek değerler arka planda bu ID bilgisine göre seçilecek</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FullName</a:t>
            </a:r>
            <a:r>
              <a:rPr lang="tr-TR" sz="1800" dirty="0">
                <a:solidFill>
                  <a:srgbClr val="000000"/>
                </a:solidFill>
                <a:highlight>
                  <a:srgbClr val="FFFFFF"/>
                </a:highlight>
                <a:latin typeface="Cascadia Mono" panose="020B0609020000020004" pitchFamily="49" charset="0"/>
              </a:rPr>
              <a:t> = </a:t>
            </a:r>
            <a:r>
              <a:rPr lang="tr-TR" sz="1800" dirty="0" err="1">
                <a:solidFill>
                  <a:srgbClr val="000000"/>
                </a:solidFill>
                <a:highlight>
                  <a:srgbClr val="FFFFFF"/>
                </a:highlight>
                <a:latin typeface="Cascadia Mono" panose="020B0609020000020004" pitchFamily="49" charset="0"/>
              </a:rPr>
              <a:t>c.Customer_Name</a:t>
            </a:r>
            <a:r>
              <a:rPr lang="tr-TR" sz="1800" dirty="0">
                <a:solidFill>
                  <a:srgbClr val="000000"/>
                </a:solidFill>
                <a:highlight>
                  <a:srgbClr val="FFFFFF"/>
                </a:highlight>
                <a:latin typeface="Cascadia Mono" panose="020B0609020000020004" pitchFamily="49" charset="0"/>
              </a:rPr>
              <a:t> + </a:t>
            </a:r>
            <a:r>
              <a:rPr lang="tr-TR" sz="1800" dirty="0">
                <a:solidFill>
                  <a:srgbClr val="A31515"/>
                </a:solidFill>
                <a:highlight>
                  <a:srgbClr val="FFFFFF"/>
                </a:highlight>
                <a:latin typeface="Cascadia Mono" panose="020B0609020000020004" pitchFamily="49" charset="0"/>
              </a:rPr>
              <a:t>" "</a:t>
            </a:r>
            <a:r>
              <a:rPr lang="tr-TR" sz="1800" dirty="0">
                <a:solidFill>
                  <a:srgbClr val="000000"/>
                </a:solidFill>
                <a:highlight>
                  <a:srgbClr val="FFFFFF"/>
                </a:highlight>
                <a:latin typeface="Cascadia Mono" panose="020B0609020000020004" pitchFamily="49" charset="0"/>
              </a:rPr>
              <a:t> + </a:t>
            </a:r>
            <a:r>
              <a:rPr lang="tr-TR" sz="1800" dirty="0" err="1">
                <a:solidFill>
                  <a:srgbClr val="000000"/>
                </a:solidFill>
                <a:highlight>
                  <a:srgbClr val="FFFFFF"/>
                </a:highlight>
                <a:latin typeface="Cascadia Mono" panose="020B0609020000020004" pitchFamily="49" charset="0"/>
              </a:rPr>
              <a:t>c.Customer_Surname</a:t>
            </a:r>
            <a:r>
              <a:rPr lang="tr-TR" sz="1800" dirty="0">
                <a:solidFill>
                  <a:srgbClr val="000000"/>
                </a:solidFill>
                <a:highlight>
                  <a:srgbClr val="FFFFFF"/>
                </a:highlight>
                <a:latin typeface="Cascadia Mono" panose="020B0609020000020004" pitchFamily="49" charset="0"/>
              </a:rPr>
              <a:t> </a:t>
            </a:r>
            <a:r>
              <a:rPr lang="tr-TR" sz="1800" dirty="0">
                <a:solidFill>
                  <a:srgbClr val="008000"/>
                </a:solidFill>
                <a:highlight>
                  <a:srgbClr val="FFFFFF"/>
                </a:highlight>
                <a:latin typeface="Cascadia Mono" panose="020B0609020000020004" pitchFamily="49" charset="0"/>
              </a:rPr>
              <a:t>// </a:t>
            </a:r>
            <a:r>
              <a:rPr lang="tr-TR" sz="1800" dirty="0" err="1">
                <a:solidFill>
                  <a:srgbClr val="008000"/>
                </a:solidFill>
                <a:highlight>
                  <a:srgbClr val="FFFFFF"/>
                </a:highlight>
                <a:latin typeface="Cascadia Mono" panose="020B0609020000020004" pitchFamily="49" charset="0"/>
              </a:rPr>
              <a:t>combobox'ta</a:t>
            </a:r>
            <a:r>
              <a:rPr lang="tr-TR" sz="1800" dirty="0">
                <a:solidFill>
                  <a:srgbClr val="008000"/>
                </a:solidFill>
                <a:highlight>
                  <a:srgbClr val="FFFFFF"/>
                </a:highlight>
                <a:latin typeface="Cascadia Mono" panose="020B0609020000020004" pitchFamily="49" charset="0"/>
              </a:rPr>
              <a:t> değerler bu şekilde listelenecek</a:t>
            </a:r>
          </a:p>
          <a:p>
            <a:pPr marL="0" indent="0">
              <a:buNone/>
            </a:pPr>
            <a:r>
              <a:rPr lang="tr-TR" sz="1800" dirty="0">
                <a:solidFill>
                  <a:srgbClr val="000000"/>
                </a:solidFill>
                <a:highlight>
                  <a:srgbClr val="FFFFFF"/>
                </a:highlight>
                <a:latin typeface="Cascadia Mono" panose="020B0609020000020004" pitchFamily="49" charset="0"/>
              </a:rPr>
              <a:t>    })</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ToList</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combo_customer.DisplayMember</a:t>
            </a:r>
            <a:r>
              <a:rPr lang="tr-TR" sz="1800" dirty="0">
                <a:solidFill>
                  <a:srgbClr val="000000"/>
                </a:solidFill>
                <a:highlight>
                  <a:srgbClr val="FFFFFF"/>
                </a:highlight>
                <a:latin typeface="Cascadia Mono" panose="020B0609020000020004" pitchFamily="49" charset="0"/>
              </a:rPr>
              <a:t> = </a:t>
            </a:r>
            <a:r>
              <a:rPr lang="tr-TR" sz="1800" dirty="0">
                <a:solidFill>
                  <a:srgbClr val="A31515"/>
                </a:solidFill>
                <a:highlight>
                  <a:srgbClr val="FFFFFF"/>
                </a:highlight>
                <a:latin typeface="Cascadia Mono" panose="020B0609020000020004" pitchFamily="49" charset="0"/>
              </a:rPr>
              <a:t>"</a:t>
            </a:r>
            <a:r>
              <a:rPr lang="tr-TR" sz="1800" dirty="0" err="1">
                <a:solidFill>
                  <a:srgbClr val="A31515"/>
                </a:solidFill>
                <a:highlight>
                  <a:srgbClr val="FFFFFF"/>
                </a:highlight>
                <a:latin typeface="Cascadia Mono" panose="020B0609020000020004" pitchFamily="49" charset="0"/>
              </a:rPr>
              <a:t>FullName</a:t>
            </a:r>
            <a:r>
              <a:rPr lang="tr-TR" sz="1800" dirty="0">
                <a:solidFill>
                  <a:srgbClr val="A31515"/>
                </a:solidFill>
                <a:highlight>
                  <a:srgbClr val="FFFFFF"/>
                </a:highlight>
                <a:latin typeface="Cascadia Mono" panose="020B0609020000020004" pitchFamily="49" charset="0"/>
              </a:rPr>
              <a:t>"</a:t>
            </a:r>
            <a:r>
              <a:rPr lang="tr-TR" sz="1800" dirty="0">
                <a:solidFill>
                  <a:srgbClr val="000000"/>
                </a:solidFill>
                <a:highlight>
                  <a:srgbClr val="FFFFFF"/>
                </a:highlight>
                <a:latin typeface="Cascadia Mono" panose="020B0609020000020004" pitchFamily="49" charset="0"/>
              </a:rPr>
              <a:t>; </a:t>
            </a:r>
            <a:r>
              <a:rPr lang="tr-TR" sz="1800" dirty="0">
                <a:solidFill>
                  <a:srgbClr val="008000"/>
                </a:solidFill>
                <a:highlight>
                  <a:srgbClr val="FFFFFF"/>
                </a:highlight>
                <a:latin typeface="Cascadia Mono" panose="020B0609020000020004" pitchFamily="49" charset="0"/>
              </a:rPr>
              <a:t>// </a:t>
            </a:r>
            <a:r>
              <a:rPr lang="tr-TR" sz="1800" dirty="0" err="1">
                <a:solidFill>
                  <a:srgbClr val="008000"/>
                </a:solidFill>
                <a:highlight>
                  <a:srgbClr val="FFFFFF"/>
                </a:highlight>
                <a:latin typeface="Cascadia Mono" panose="020B0609020000020004" pitchFamily="49" charset="0"/>
              </a:rPr>
              <a:t>Combobox'ta</a:t>
            </a:r>
            <a:r>
              <a:rPr lang="tr-TR" sz="1800" dirty="0">
                <a:solidFill>
                  <a:srgbClr val="008000"/>
                </a:solidFill>
                <a:highlight>
                  <a:srgbClr val="FFFFFF"/>
                </a:highlight>
                <a:latin typeface="Cascadia Mono" panose="020B0609020000020004" pitchFamily="49" charset="0"/>
              </a:rPr>
              <a:t> bize gösterilecek isimler </a:t>
            </a:r>
            <a:r>
              <a:rPr lang="tr-TR" sz="1800" dirty="0" err="1">
                <a:solidFill>
                  <a:srgbClr val="008000"/>
                </a:solidFill>
                <a:highlight>
                  <a:srgbClr val="FFFFFF"/>
                </a:highlight>
                <a:latin typeface="Cascadia Mono" panose="020B0609020000020004" pitchFamily="49" charset="0"/>
              </a:rPr>
              <a:t>FullName'den</a:t>
            </a:r>
            <a:r>
              <a:rPr lang="tr-TR" sz="1800" dirty="0">
                <a:solidFill>
                  <a:srgbClr val="008000"/>
                </a:solidFill>
                <a:highlight>
                  <a:srgbClr val="FFFFFF"/>
                </a:highlight>
                <a:latin typeface="Cascadia Mono" panose="020B0609020000020004" pitchFamily="49" charset="0"/>
              </a:rPr>
              <a:t> seçiliyor (yukarıdaki değişken)</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combo_customer.ValueMember</a:t>
            </a:r>
            <a:r>
              <a:rPr lang="tr-TR" sz="1800" dirty="0">
                <a:solidFill>
                  <a:srgbClr val="000000"/>
                </a:solidFill>
                <a:highlight>
                  <a:srgbClr val="FFFFFF"/>
                </a:highlight>
                <a:latin typeface="Cascadia Mono" panose="020B0609020000020004" pitchFamily="49" charset="0"/>
              </a:rPr>
              <a:t> = </a:t>
            </a:r>
            <a:r>
              <a:rPr lang="tr-TR" sz="1800" dirty="0">
                <a:solidFill>
                  <a:srgbClr val="A31515"/>
                </a:solidFill>
                <a:highlight>
                  <a:srgbClr val="FFFFFF"/>
                </a:highlight>
                <a:latin typeface="Cascadia Mono" panose="020B0609020000020004" pitchFamily="49" charset="0"/>
              </a:rPr>
              <a:t>"Customer_Id"</a:t>
            </a:r>
            <a:r>
              <a:rPr lang="tr-TR" sz="1800" dirty="0">
                <a:solidFill>
                  <a:srgbClr val="000000"/>
                </a:solidFill>
                <a:highlight>
                  <a:srgbClr val="FFFFFF"/>
                </a:highlight>
                <a:latin typeface="Cascadia Mono" panose="020B0609020000020004" pitchFamily="49" charset="0"/>
              </a:rPr>
              <a:t>; </a:t>
            </a:r>
            <a:r>
              <a:rPr lang="tr-TR" sz="1800" dirty="0">
                <a:solidFill>
                  <a:srgbClr val="008000"/>
                </a:solidFill>
                <a:highlight>
                  <a:srgbClr val="FFFFFF"/>
                </a:highlight>
                <a:latin typeface="Cascadia Mono" panose="020B0609020000020004" pitchFamily="49" charset="0"/>
              </a:rPr>
              <a:t>// </a:t>
            </a:r>
            <a:r>
              <a:rPr lang="tr-TR" sz="1800" dirty="0" err="1">
                <a:solidFill>
                  <a:srgbClr val="008000"/>
                </a:solidFill>
                <a:highlight>
                  <a:srgbClr val="FFFFFF"/>
                </a:highlight>
                <a:latin typeface="Cascadia Mono" panose="020B0609020000020004" pitchFamily="49" charset="0"/>
              </a:rPr>
              <a:t>Combobox'ta</a:t>
            </a:r>
            <a:r>
              <a:rPr lang="tr-TR" sz="1800" dirty="0">
                <a:solidFill>
                  <a:srgbClr val="008000"/>
                </a:solidFill>
                <a:highlight>
                  <a:srgbClr val="FFFFFF"/>
                </a:highlight>
                <a:latin typeface="Cascadia Mono" panose="020B0609020000020004" pitchFamily="49" charset="0"/>
              </a:rPr>
              <a:t> gösterilen değerler arka planda ID bilgisinden çekiliyor</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a:solidFill>
                  <a:srgbClr val="008000"/>
                </a:solidFill>
                <a:highlight>
                  <a:srgbClr val="FFFFFF"/>
                </a:highlight>
                <a:latin typeface="Cascadia Mono" panose="020B0609020000020004" pitchFamily="49" charset="0"/>
              </a:rPr>
              <a:t>// aynı şeyler aşağıdakiler için de geçerli</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combo_product.DataSource</a:t>
            </a:r>
            <a:r>
              <a:rPr lang="tr-TR" sz="1800" dirty="0">
                <a:solidFill>
                  <a:srgbClr val="000000"/>
                </a:solidFill>
                <a:highlight>
                  <a:srgbClr val="FFFFFF"/>
                </a:highlight>
                <a:latin typeface="Cascadia Mono" panose="020B0609020000020004" pitchFamily="49" charset="0"/>
              </a:rPr>
              <a:t> = </a:t>
            </a:r>
            <a:r>
              <a:rPr lang="tr-TR" sz="1800" dirty="0" err="1">
                <a:solidFill>
                  <a:srgbClr val="000000"/>
                </a:solidFill>
                <a:highlight>
                  <a:srgbClr val="FFFFFF"/>
                </a:highlight>
                <a:latin typeface="Cascadia Mono" panose="020B0609020000020004" pitchFamily="49" charset="0"/>
              </a:rPr>
              <a:t>db.Products</a:t>
            </a:r>
            <a:endParaRPr lang="tr-TR" sz="1800" dirty="0">
              <a:solidFill>
                <a:srgbClr val="000000"/>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Include</a:t>
            </a:r>
            <a:r>
              <a:rPr lang="tr-TR" sz="1800" dirty="0">
                <a:solidFill>
                  <a:srgbClr val="000000"/>
                </a:solidFill>
                <a:highlight>
                  <a:srgbClr val="FFFFFF"/>
                </a:highlight>
                <a:latin typeface="Cascadia Mono" panose="020B0609020000020004" pitchFamily="49" charset="0"/>
              </a:rPr>
              <a:t>(p =&gt; </a:t>
            </a:r>
            <a:r>
              <a:rPr lang="tr-TR" sz="1800" dirty="0" err="1">
                <a:solidFill>
                  <a:srgbClr val="000000"/>
                </a:solidFill>
                <a:highlight>
                  <a:srgbClr val="FFFFFF"/>
                </a:highlight>
                <a:latin typeface="Cascadia Mono" panose="020B0609020000020004" pitchFamily="49" charset="0"/>
              </a:rPr>
              <a:t>p.Category</a:t>
            </a:r>
            <a:r>
              <a:rPr lang="tr-TR" sz="1800" dirty="0">
                <a:solidFill>
                  <a:srgbClr val="000000"/>
                </a:solidFill>
                <a:highlight>
                  <a:srgbClr val="FFFFFF"/>
                </a:highlight>
                <a:latin typeface="Cascadia Mono" panose="020B0609020000020004" pitchFamily="49" charset="0"/>
              </a:rPr>
              <a:t>)</a:t>
            </a:r>
          </a:p>
          <a:p>
            <a:pPr marL="0" indent="0">
              <a:buNone/>
            </a:pPr>
            <a:r>
              <a:rPr lang="en-US" sz="1800" dirty="0">
                <a:solidFill>
                  <a:srgbClr val="000000"/>
                </a:solidFill>
                <a:highlight>
                  <a:srgbClr val="FFFFFF"/>
                </a:highlight>
                <a:latin typeface="Cascadia Mono" panose="020B0609020000020004" pitchFamily="49" charset="0"/>
              </a:rPr>
              <a:t>        .</a:t>
            </a:r>
            <a:r>
              <a:rPr lang="en-US" sz="1800" dirty="0" err="1">
                <a:solidFill>
                  <a:srgbClr val="000000"/>
                </a:solidFill>
                <a:highlight>
                  <a:srgbClr val="FFFFFF"/>
                </a:highlight>
                <a:latin typeface="Cascadia Mono" panose="020B0609020000020004" pitchFamily="49" charset="0"/>
              </a:rPr>
              <a:t>OrderBy</a:t>
            </a:r>
            <a:r>
              <a:rPr lang="en-US" sz="1800" dirty="0">
                <a:solidFill>
                  <a:srgbClr val="000000"/>
                </a:solidFill>
                <a:highlight>
                  <a:srgbClr val="FFFFFF"/>
                </a:highlight>
                <a:latin typeface="Cascadia Mono" panose="020B0609020000020004" pitchFamily="49" charset="0"/>
              </a:rPr>
              <a:t>(p =&gt; </a:t>
            </a:r>
            <a:r>
              <a:rPr lang="en-US" sz="1800" dirty="0" err="1">
                <a:solidFill>
                  <a:srgbClr val="000000"/>
                </a:solidFill>
                <a:highlight>
                  <a:srgbClr val="FFFFFF"/>
                </a:highlight>
                <a:latin typeface="Cascadia Mono" panose="020B0609020000020004" pitchFamily="49" charset="0"/>
              </a:rPr>
              <a:t>p.Product_Name</a:t>
            </a:r>
            <a:r>
              <a:rPr lang="en-US"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.Select(p =&gt; </a:t>
            </a:r>
            <a:r>
              <a:rPr lang="tr-TR" sz="1800" dirty="0" err="1">
                <a:solidFill>
                  <a:srgbClr val="0000FF"/>
                </a:solidFill>
                <a:highlight>
                  <a:srgbClr val="FFFFFF"/>
                </a:highlight>
                <a:latin typeface="Cascadia Mono" panose="020B0609020000020004" pitchFamily="49" charset="0"/>
              </a:rPr>
              <a:t>new</a:t>
            </a:r>
            <a:endParaRPr lang="tr-TR" sz="1800" dirty="0">
              <a:solidFill>
                <a:srgbClr val="0000FF"/>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        {   </a:t>
            </a:r>
            <a:r>
              <a:rPr lang="tr-TR" sz="1800" dirty="0" err="1">
                <a:solidFill>
                  <a:srgbClr val="000000"/>
                </a:solidFill>
                <a:highlight>
                  <a:srgbClr val="FFFFFF"/>
                </a:highlight>
                <a:latin typeface="Cascadia Mono" panose="020B0609020000020004" pitchFamily="49" charset="0"/>
              </a:rPr>
              <a:t>p.Product_Id</a:t>
            </a:r>
            <a:r>
              <a:rPr lang="tr-TR" sz="1800" dirty="0">
                <a:solidFill>
                  <a:srgbClr val="000000"/>
                </a:solidFill>
                <a:highlight>
                  <a:srgbClr val="FFFFFF"/>
                </a:highlight>
                <a:latin typeface="Cascadia Mono" panose="020B0609020000020004" pitchFamily="49" charset="0"/>
              </a:rPr>
              <a:t>,</a:t>
            </a:r>
          </a:p>
          <a:p>
            <a:pPr marL="0" indent="0">
              <a:buNone/>
            </a:pPr>
            <a:r>
              <a:rPr lang="en-US" sz="1800" dirty="0">
                <a:solidFill>
                  <a:srgbClr val="000000"/>
                </a:solidFill>
                <a:highlight>
                  <a:srgbClr val="FFFFFF"/>
                </a:highlight>
                <a:latin typeface="Cascadia Mono" panose="020B0609020000020004" pitchFamily="49" charset="0"/>
              </a:rPr>
              <a:t>            </a:t>
            </a:r>
            <a:r>
              <a:rPr lang="en-US" sz="1800" dirty="0" err="1">
                <a:solidFill>
                  <a:srgbClr val="000000"/>
                </a:solidFill>
                <a:highlight>
                  <a:srgbClr val="FFFFFF"/>
                </a:highlight>
                <a:latin typeface="Cascadia Mono" panose="020B0609020000020004" pitchFamily="49" charset="0"/>
              </a:rPr>
              <a:t>ProductInfo</a:t>
            </a:r>
            <a:r>
              <a:rPr lang="en-US" sz="1800" dirty="0">
                <a:solidFill>
                  <a:srgbClr val="000000"/>
                </a:solidFill>
                <a:highlight>
                  <a:srgbClr val="FFFFFF"/>
                </a:highlight>
                <a:latin typeface="Cascadia Mono" panose="020B0609020000020004" pitchFamily="49" charset="0"/>
              </a:rPr>
              <a:t> = </a:t>
            </a:r>
            <a:r>
              <a:rPr lang="en-US" sz="1800" dirty="0" err="1">
                <a:solidFill>
                  <a:srgbClr val="000000"/>
                </a:solidFill>
                <a:highlight>
                  <a:srgbClr val="FFFFFF"/>
                </a:highlight>
                <a:latin typeface="Cascadia Mono" panose="020B0609020000020004" pitchFamily="49" charset="0"/>
              </a:rPr>
              <a:t>p.Product_Name</a:t>
            </a:r>
            <a:r>
              <a:rPr lang="en-US" sz="1800" dirty="0">
                <a:solidFill>
                  <a:srgbClr val="000000"/>
                </a:solidFill>
                <a:highlight>
                  <a:srgbClr val="FFFFFF"/>
                </a:highlight>
                <a:latin typeface="Cascadia Mono" panose="020B0609020000020004" pitchFamily="49" charset="0"/>
              </a:rPr>
              <a:t> + </a:t>
            </a:r>
            <a:r>
              <a:rPr lang="en-US" sz="1800" dirty="0">
                <a:solidFill>
                  <a:srgbClr val="A31515"/>
                </a:solidFill>
                <a:highlight>
                  <a:srgbClr val="FFFFFF"/>
                </a:highlight>
                <a:latin typeface="Cascadia Mono" panose="020B0609020000020004" pitchFamily="49" charset="0"/>
              </a:rPr>
              <a:t>" - "</a:t>
            </a:r>
            <a:r>
              <a:rPr lang="en-US" sz="1800" dirty="0">
                <a:solidFill>
                  <a:srgbClr val="000000"/>
                </a:solidFill>
                <a:highlight>
                  <a:srgbClr val="FFFFFF"/>
                </a:highlight>
                <a:latin typeface="Cascadia Mono" panose="020B0609020000020004" pitchFamily="49" charset="0"/>
              </a:rPr>
              <a:t> + </a:t>
            </a:r>
            <a:r>
              <a:rPr lang="en-US" sz="1800" dirty="0" err="1">
                <a:solidFill>
                  <a:srgbClr val="000000"/>
                </a:solidFill>
                <a:highlight>
                  <a:srgbClr val="FFFFFF"/>
                </a:highlight>
                <a:latin typeface="Cascadia Mono" panose="020B0609020000020004" pitchFamily="49" charset="0"/>
              </a:rPr>
              <a:t>p.Product_Price</a:t>
            </a:r>
            <a:r>
              <a:rPr lang="en-US" sz="1800" dirty="0">
                <a:solidFill>
                  <a:srgbClr val="000000"/>
                </a:solidFill>
                <a:highlight>
                  <a:srgbClr val="FFFFFF"/>
                </a:highlight>
                <a:latin typeface="Cascadia Mono" panose="020B0609020000020004" pitchFamily="49" charset="0"/>
              </a:rPr>
              <a:t> + </a:t>
            </a:r>
            <a:r>
              <a:rPr lang="en-US" sz="1800" dirty="0">
                <a:solidFill>
                  <a:srgbClr val="A31515"/>
                </a:solidFill>
                <a:highlight>
                  <a:srgbClr val="FFFFFF"/>
                </a:highlight>
                <a:latin typeface="Cascadia Mono" panose="020B0609020000020004" pitchFamily="49" charset="0"/>
              </a:rPr>
              <a:t>"₺ ("</a:t>
            </a:r>
            <a:r>
              <a:rPr lang="en-US" sz="1800" dirty="0">
                <a:solidFill>
                  <a:srgbClr val="000000"/>
                </a:solidFill>
                <a:highlight>
                  <a:srgbClr val="FFFFFF"/>
                </a:highlight>
                <a:latin typeface="Cascadia Mono" panose="020B0609020000020004" pitchFamily="49" charset="0"/>
              </a:rPr>
              <a:t> + </a:t>
            </a:r>
            <a:r>
              <a:rPr lang="en-US" sz="1800" dirty="0" err="1">
                <a:solidFill>
                  <a:srgbClr val="000000"/>
                </a:solidFill>
                <a:highlight>
                  <a:srgbClr val="FFFFFF"/>
                </a:highlight>
                <a:latin typeface="Cascadia Mono" panose="020B0609020000020004" pitchFamily="49" charset="0"/>
              </a:rPr>
              <a:t>p.Category.Category_Name</a:t>
            </a:r>
            <a:r>
              <a:rPr lang="en-US" sz="1800" dirty="0">
                <a:solidFill>
                  <a:srgbClr val="000000"/>
                </a:solidFill>
                <a:highlight>
                  <a:srgbClr val="FFFFFF"/>
                </a:highlight>
                <a:latin typeface="Cascadia Mono" panose="020B0609020000020004" pitchFamily="49" charset="0"/>
              </a:rPr>
              <a:t> + </a:t>
            </a:r>
            <a:r>
              <a:rPr lang="en-US" sz="1800" dirty="0">
                <a:solidFill>
                  <a:srgbClr val="A31515"/>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ToList</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combo_product.DisplayMember</a:t>
            </a:r>
            <a:r>
              <a:rPr lang="tr-TR" sz="1800" dirty="0">
                <a:solidFill>
                  <a:srgbClr val="000000"/>
                </a:solidFill>
                <a:highlight>
                  <a:srgbClr val="FFFFFF"/>
                </a:highlight>
                <a:latin typeface="Cascadia Mono" panose="020B0609020000020004" pitchFamily="49" charset="0"/>
              </a:rPr>
              <a:t> = </a:t>
            </a:r>
            <a:r>
              <a:rPr lang="tr-TR" sz="1800" dirty="0">
                <a:solidFill>
                  <a:srgbClr val="A31515"/>
                </a:solidFill>
                <a:highlight>
                  <a:srgbClr val="FFFFFF"/>
                </a:highlight>
                <a:latin typeface="Cascadia Mono" panose="020B0609020000020004" pitchFamily="49" charset="0"/>
              </a:rPr>
              <a:t>"</a:t>
            </a:r>
            <a:r>
              <a:rPr lang="tr-TR" sz="1800" dirty="0" err="1">
                <a:solidFill>
                  <a:srgbClr val="A31515"/>
                </a:solidFill>
                <a:highlight>
                  <a:srgbClr val="FFFFFF"/>
                </a:highlight>
                <a:latin typeface="Cascadia Mono" panose="020B0609020000020004" pitchFamily="49" charset="0"/>
              </a:rPr>
              <a:t>ProductInfo</a:t>
            </a:r>
            <a:r>
              <a:rPr lang="tr-TR" sz="1800" dirty="0">
                <a:solidFill>
                  <a:srgbClr val="A31515"/>
                </a:solidFill>
                <a:highlight>
                  <a:srgbClr val="FFFFFF"/>
                </a:highlight>
                <a:latin typeface="Cascadia Mono" panose="020B0609020000020004" pitchFamily="49" charset="0"/>
              </a:rPr>
              <a:t>"</a:t>
            </a:r>
            <a:r>
              <a:rPr lang="tr-TR" sz="1800" dirty="0">
                <a:solidFill>
                  <a:srgbClr val="000000"/>
                </a:solidFill>
                <a:highlight>
                  <a:srgbClr val="FFFFFF"/>
                </a:highlight>
                <a:latin typeface="Cascadia Mono" panose="020B0609020000020004" pitchFamily="49" charset="0"/>
              </a:rPr>
              <a:t>;</a:t>
            </a:r>
          </a:p>
          <a:p>
            <a:pPr marL="0" indent="0">
              <a:buNone/>
            </a:pPr>
            <a:r>
              <a:rPr lang="en-US" sz="1800" dirty="0">
                <a:solidFill>
                  <a:srgbClr val="000000"/>
                </a:solidFill>
                <a:highlight>
                  <a:srgbClr val="FFFFFF"/>
                </a:highlight>
                <a:latin typeface="Cascadia Mono" panose="020B0609020000020004" pitchFamily="49" charset="0"/>
              </a:rPr>
              <a:t>    </a:t>
            </a:r>
            <a:r>
              <a:rPr lang="en-US" sz="1800" dirty="0" err="1">
                <a:solidFill>
                  <a:srgbClr val="000000"/>
                </a:solidFill>
                <a:highlight>
                  <a:srgbClr val="FFFFFF"/>
                </a:highlight>
                <a:latin typeface="Cascadia Mono" panose="020B0609020000020004" pitchFamily="49" charset="0"/>
              </a:rPr>
              <a:t>combo_product.ValueMember</a:t>
            </a:r>
            <a:r>
              <a:rPr lang="en-US" sz="1800" dirty="0">
                <a:solidFill>
                  <a:srgbClr val="000000"/>
                </a:solidFill>
                <a:highlight>
                  <a:srgbClr val="FFFFFF"/>
                </a:highlight>
                <a:latin typeface="Cascadia Mono" panose="020B0609020000020004" pitchFamily="49" charset="0"/>
              </a:rPr>
              <a:t> = </a:t>
            </a:r>
            <a:r>
              <a:rPr lang="en-US" sz="1800" dirty="0">
                <a:solidFill>
                  <a:srgbClr val="A31515"/>
                </a:solidFill>
                <a:highlight>
                  <a:srgbClr val="FFFFFF"/>
                </a:highlight>
                <a:latin typeface="Cascadia Mono" panose="020B0609020000020004" pitchFamily="49" charset="0"/>
              </a:rPr>
              <a:t>"</a:t>
            </a:r>
            <a:r>
              <a:rPr lang="en-US" sz="1800" dirty="0" err="1">
                <a:solidFill>
                  <a:srgbClr val="A31515"/>
                </a:solidFill>
                <a:highlight>
                  <a:srgbClr val="FFFFFF"/>
                </a:highlight>
                <a:latin typeface="Cascadia Mono" panose="020B0609020000020004" pitchFamily="49" charset="0"/>
              </a:rPr>
              <a:t>Product_Id</a:t>
            </a:r>
            <a:r>
              <a:rPr lang="en-US" sz="1800" dirty="0">
                <a:solidFill>
                  <a:srgbClr val="A31515"/>
                </a:solidFill>
                <a:highlight>
                  <a:srgbClr val="FFFFFF"/>
                </a:highlight>
                <a:latin typeface="Cascadia Mono" panose="020B0609020000020004" pitchFamily="49" charset="0"/>
              </a:rPr>
              <a:t>"</a:t>
            </a:r>
            <a:r>
              <a:rPr lang="en-US" sz="1800" dirty="0">
                <a:solidFill>
                  <a:srgbClr val="000000"/>
                </a:solidFill>
                <a:highlight>
                  <a:srgbClr val="FFFFFF"/>
                </a:highlight>
                <a:latin typeface="Cascadia Mono" panose="020B0609020000020004" pitchFamily="49" charset="0"/>
              </a:rPr>
              <a:t>;</a:t>
            </a:r>
            <a:endParaRPr lang="tr-TR" sz="1800" dirty="0">
              <a:solidFill>
                <a:srgbClr val="000000"/>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btn_listele.PerformClick</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a:t>
            </a:r>
          </a:p>
          <a:p>
            <a:pPr marL="0" indent="0">
              <a:buNone/>
            </a:pPr>
            <a:r>
              <a:rPr lang="tr-TR" sz="1800" dirty="0" err="1">
                <a:solidFill>
                  <a:srgbClr val="0000FF"/>
                </a:solidFill>
                <a:highlight>
                  <a:srgbClr val="FFFFFF"/>
                </a:highlight>
                <a:latin typeface="Cascadia Mono" panose="020B0609020000020004" pitchFamily="49" charset="0"/>
              </a:rPr>
              <a:t>catch</a:t>
            </a: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Exception</a:t>
            </a: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ex</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MessageBox</a:t>
            </a:r>
            <a:r>
              <a:rPr lang="tr-TR" sz="1800" dirty="0" err="1">
                <a:solidFill>
                  <a:srgbClr val="000000"/>
                </a:solidFill>
                <a:highlight>
                  <a:srgbClr val="FFFFFF"/>
                </a:highlight>
                <a:latin typeface="Cascadia Mono" panose="020B0609020000020004" pitchFamily="49" charset="0"/>
              </a:rPr>
              <a:t>.Show</a:t>
            </a:r>
            <a:r>
              <a:rPr lang="tr-TR" sz="1800" dirty="0">
                <a:solidFill>
                  <a:srgbClr val="000000"/>
                </a:solidFill>
                <a:highlight>
                  <a:srgbClr val="FFFFFF"/>
                </a:highlight>
                <a:latin typeface="Cascadia Mono" panose="020B0609020000020004" pitchFamily="49" charset="0"/>
              </a:rPr>
              <a:t>(</a:t>
            </a:r>
            <a:r>
              <a:rPr lang="tr-TR" sz="1800" dirty="0">
                <a:solidFill>
                  <a:srgbClr val="A31515"/>
                </a:solidFill>
                <a:highlight>
                  <a:srgbClr val="FFFFFF"/>
                </a:highlight>
                <a:latin typeface="Cascadia Mono" panose="020B0609020000020004" pitchFamily="49" charset="0"/>
              </a:rPr>
              <a:t>$"Hata = </a:t>
            </a:r>
            <a:r>
              <a:rPr lang="tr-TR" sz="1800" dirty="0">
                <a:solidFill>
                  <a:srgbClr val="000000"/>
                </a:solidFill>
                <a:highlight>
                  <a:srgbClr val="FFFFFF"/>
                </a:highlight>
                <a:latin typeface="Cascadia Mono" panose="020B0609020000020004" pitchFamily="49" charset="0"/>
              </a:rPr>
              <a:t>{</a:t>
            </a:r>
            <a:r>
              <a:rPr lang="tr-TR" sz="1800" dirty="0" err="1">
                <a:solidFill>
                  <a:srgbClr val="000000"/>
                </a:solidFill>
                <a:highlight>
                  <a:srgbClr val="FFFFFF"/>
                </a:highlight>
                <a:latin typeface="Cascadia Mono" panose="020B0609020000020004" pitchFamily="49" charset="0"/>
              </a:rPr>
              <a:t>ex.Message</a:t>
            </a:r>
            <a:r>
              <a:rPr lang="tr-TR" sz="1800" dirty="0">
                <a:solidFill>
                  <a:srgbClr val="000000"/>
                </a:solidFill>
                <a:highlight>
                  <a:srgbClr val="FFFFFF"/>
                </a:highlight>
                <a:latin typeface="Cascadia Mono" panose="020B0609020000020004" pitchFamily="49" charset="0"/>
              </a:rPr>
              <a:t>}</a:t>
            </a:r>
            <a:r>
              <a:rPr lang="tr-TR" sz="1800" dirty="0">
                <a:solidFill>
                  <a:srgbClr val="A31515"/>
                </a:solidFill>
                <a:highlight>
                  <a:srgbClr val="FFFFFF"/>
                </a:highlight>
                <a:latin typeface="Cascadia Mono" panose="020B0609020000020004" pitchFamily="49" charset="0"/>
              </a:rPr>
              <a:t>"</a:t>
            </a:r>
            <a:r>
              <a:rPr lang="tr-TR" sz="1800" dirty="0">
                <a:solidFill>
                  <a:srgbClr val="000000"/>
                </a:solidFill>
                <a:highlight>
                  <a:srgbClr val="FFFFFF"/>
                </a:highlight>
                <a:latin typeface="Cascadia Mono" panose="020B0609020000020004" pitchFamily="49" charset="0"/>
              </a:rPr>
              <a:t>);}</a:t>
            </a:r>
            <a:endParaRPr lang="tr-TR" sz="1800" dirty="0"/>
          </a:p>
        </p:txBody>
      </p:sp>
    </p:spTree>
    <p:extLst>
      <p:ext uri="{BB962C8B-B14F-4D97-AF65-F5344CB8AC3E}">
        <p14:creationId xmlns:p14="http://schemas.microsoft.com/office/powerpoint/2010/main" val="3779993765"/>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6C6FBC-CF69-B7E4-5A8F-2954786A876B}"/>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26B3126D-E577-994E-83DF-771318CDCEDB}"/>
              </a:ext>
            </a:extLst>
          </p:cNvPr>
          <p:cNvSpPr>
            <a:spLocks noGrp="1"/>
          </p:cNvSpPr>
          <p:nvPr>
            <p:ph type="title"/>
          </p:nvPr>
        </p:nvSpPr>
        <p:spPr>
          <a:xfrm>
            <a:off x="838200" y="248495"/>
            <a:ext cx="10515600" cy="432542"/>
          </a:xfrm>
        </p:spPr>
        <p:txBody>
          <a:bodyPr>
            <a:noAutofit/>
          </a:bodyPr>
          <a:lstStyle/>
          <a:p>
            <a:pPr algn="ctr"/>
            <a:r>
              <a:rPr lang="tr-TR" sz="2800" dirty="0"/>
              <a:t>Değerlerin </a:t>
            </a:r>
            <a:r>
              <a:rPr lang="tr-TR" sz="2800" dirty="0" err="1"/>
              <a:t>Combobox’a</a:t>
            </a:r>
            <a:r>
              <a:rPr lang="tr-TR" sz="2800" dirty="0"/>
              <a:t> Yüklenmesi</a:t>
            </a:r>
          </a:p>
        </p:txBody>
      </p:sp>
      <p:pic>
        <p:nvPicPr>
          <p:cNvPr id="5" name="İçerik Yer Tutucusu 4" descr="metin, ekran görüntüsü, yazılım içeren bir resim&#10;&#10;Yapay zeka tarafından oluşturulan içerik yanlış olabilir.">
            <a:extLst>
              <a:ext uri="{FF2B5EF4-FFF2-40B4-BE49-F238E27FC236}">
                <a16:creationId xmlns:a16="http://schemas.microsoft.com/office/drawing/2014/main" id="{A60E3BD3-206D-470C-BB2E-1EBF815439C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681037"/>
            <a:ext cx="10515600" cy="6106357"/>
          </a:xfrm>
        </p:spPr>
      </p:pic>
    </p:spTree>
    <p:extLst>
      <p:ext uri="{BB962C8B-B14F-4D97-AF65-F5344CB8AC3E}">
        <p14:creationId xmlns:p14="http://schemas.microsoft.com/office/powerpoint/2010/main" val="3858909110"/>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CC714-6DA7-AEA0-4A16-1A20B33E6254}"/>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AE56FDB2-49BA-B56D-F149-4439730B9660}"/>
              </a:ext>
            </a:extLst>
          </p:cNvPr>
          <p:cNvSpPr>
            <a:spLocks noGrp="1"/>
          </p:cNvSpPr>
          <p:nvPr>
            <p:ph type="title"/>
          </p:nvPr>
        </p:nvSpPr>
        <p:spPr>
          <a:xfrm>
            <a:off x="838200" y="248495"/>
            <a:ext cx="10515600" cy="432542"/>
          </a:xfrm>
        </p:spPr>
        <p:txBody>
          <a:bodyPr>
            <a:noAutofit/>
          </a:bodyPr>
          <a:lstStyle/>
          <a:p>
            <a:pPr algn="ctr"/>
            <a:r>
              <a:rPr lang="tr-TR" sz="2800" dirty="0"/>
              <a:t>Değerlerin </a:t>
            </a:r>
            <a:r>
              <a:rPr lang="tr-TR" sz="2800" dirty="0" err="1"/>
              <a:t>Combobox’a</a:t>
            </a:r>
            <a:r>
              <a:rPr lang="tr-TR" sz="2800" dirty="0"/>
              <a:t> Yüklenmesi</a:t>
            </a:r>
          </a:p>
        </p:txBody>
      </p:sp>
      <p:sp>
        <p:nvSpPr>
          <p:cNvPr id="3" name="İçerik Yer Tutucusu 2">
            <a:extLst>
              <a:ext uri="{FF2B5EF4-FFF2-40B4-BE49-F238E27FC236}">
                <a16:creationId xmlns:a16="http://schemas.microsoft.com/office/drawing/2014/main" id="{9DBB1ACE-25DF-1338-13E0-5A232D588015}"/>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Şimdi programımızı çalıştırıyoruz ve bu defa </a:t>
            </a:r>
            <a:r>
              <a:rPr lang="tr-TR" sz="1800" dirty="0" err="1"/>
              <a:t>combobox’ların</a:t>
            </a:r>
            <a:r>
              <a:rPr lang="tr-TR" sz="1800" dirty="0"/>
              <a:t> dolu bir şekilde geldiğini görebiliyoruz:</a:t>
            </a:r>
          </a:p>
        </p:txBody>
      </p:sp>
      <p:pic>
        <p:nvPicPr>
          <p:cNvPr id="5" name="Resim 4" descr="metin, ekran görüntüsü, yazılım, bilgisayar simgesi içeren bir resim&#10;&#10;Yapay zeka tarafından oluşturulan içerik yanlış olabilir.">
            <a:extLst>
              <a:ext uri="{FF2B5EF4-FFF2-40B4-BE49-F238E27FC236}">
                <a16:creationId xmlns:a16="http://schemas.microsoft.com/office/drawing/2014/main" id="{3B6B408B-1BB0-0091-6222-B3D9ABBA1E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35193" y="1242033"/>
            <a:ext cx="9121614" cy="5489507"/>
          </a:xfrm>
          <a:prstGeom prst="rect">
            <a:avLst/>
          </a:prstGeom>
        </p:spPr>
      </p:pic>
    </p:spTree>
    <p:extLst>
      <p:ext uri="{BB962C8B-B14F-4D97-AF65-F5344CB8AC3E}">
        <p14:creationId xmlns:p14="http://schemas.microsoft.com/office/powerpoint/2010/main" val="3550041545"/>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9DA17-1892-522E-BA13-87D4C24F41D6}"/>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DDC5C9F6-0F9F-DA1E-A54B-935BC874DE99}"/>
              </a:ext>
            </a:extLst>
          </p:cNvPr>
          <p:cNvSpPr>
            <a:spLocks noGrp="1"/>
          </p:cNvSpPr>
          <p:nvPr>
            <p:ph type="title"/>
          </p:nvPr>
        </p:nvSpPr>
        <p:spPr>
          <a:xfrm>
            <a:off x="838200" y="248495"/>
            <a:ext cx="10515600" cy="432542"/>
          </a:xfrm>
        </p:spPr>
        <p:txBody>
          <a:bodyPr>
            <a:noAutofit/>
          </a:bodyPr>
          <a:lstStyle/>
          <a:p>
            <a:pPr algn="ctr"/>
            <a:r>
              <a:rPr lang="tr-TR" sz="2800" dirty="0"/>
              <a:t>EKLEME İŞLEMİ (Add Operation)</a:t>
            </a:r>
          </a:p>
        </p:txBody>
      </p:sp>
      <p:sp>
        <p:nvSpPr>
          <p:cNvPr id="3" name="İçerik Yer Tutucusu 2">
            <a:extLst>
              <a:ext uri="{FF2B5EF4-FFF2-40B4-BE49-F238E27FC236}">
                <a16:creationId xmlns:a16="http://schemas.microsoft.com/office/drawing/2014/main" id="{58E8A27C-88FA-02C9-7912-2AE53833B98A}"/>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Şu ana kadar listeleme ve verilerin başlangıçta </a:t>
            </a:r>
            <a:r>
              <a:rPr lang="tr-TR" sz="1800" dirty="0" err="1"/>
              <a:t>combobox’lara</a:t>
            </a:r>
            <a:r>
              <a:rPr lang="tr-TR" sz="1800" dirty="0"/>
              <a:t> yüklenmesi işlemlerini yerine getirdik. Şimdi sıra geldi ekleme işlemine. </a:t>
            </a:r>
            <a:r>
              <a:rPr lang="tr-TR" sz="1800" dirty="0" err="1"/>
              <a:t>Combobox’lardaki</a:t>
            </a:r>
            <a:r>
              <a:rPr lang="tr-TR" sz="1800" dirty="0"/>
              <a:t> seçili verileri EKLE butonuna tıklayınca ekleyecek ve hemen yeni verileri </a:t>
            </a:r>
            <a:r>
              <a:rPr lang="tr-TR" sz="1800" dirty="0" err="1"/>
              <a:t>datagridview’da</a:t>
            </a:r>
            <a:r>
              <a:rPr lang="tr-TR" sz="1800" dirty="0"/>
              <a:t> listeleyecek.</a:t>
            </a:r>
          </a:p>
          <a:p>
            <a:pPr marL="0" indent="0" algn="just">
              <a:lnSpc>
                <a:spcPct val="100000"/>
              </a:lnSpc>
              <a:spcBef>
                <a:spcPts val="600"/>
              </a:spcBef>
              <a:spcAft>
                <a:spcPts val="600"/>
              </a:spcAft>
              <a:buNone/>
            </a:pPr>
            <a:r>
              <a:rPr lang="tr-TR" sz="1800" dirty="0"/>
              <a:t>Bunun için EKLE yazan butona çift tıklayıp onun click olayı içerisine kodlarımızı yazacağız.</a:t>
            </a:r>
          </a:p>
          <a:p>
            <a:pPr marL="0" indent="0" algn="just">
              <a:lnSpc>
                <a:spcPct val="100000"/>
              </a:lnSpc>
              <a:spcBef>
                <a:spcPts val="600"/>
              </a:spcBef>
              <a:spcAft>
                <a:spcPts val="600"/>
              </a:spcAft>
              <a:buNone/>
            </a:pPr>
            <a:endParaRPr lang="tr-TR" sz="1800" dirty="0"/>
          </a:p>
        </p:txBody>
      </p:sp>
    </p:spTree>
    <p:extLst>
      <p:ext uri="{BB962C8B-B14F-4D97-AF65-F5344CB8AC3E}">
        <p14:creationId xmlns:p14="http://schemas.microsoft.com/office/powerpoint/2010/main" val="2263500001"/>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B86B22-CBB5-2B7F-CDFD-E9B96A9F487F}"/>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99CBBDB6-7310-8C99-3087-02C3367FA743}"/>
              </a:ext>
            </a:extLst>
          </p:cNvPr>
          <p:cNvSpPr>
            <a:spLocks noGrp="1"/>
          </p:cNvSpPr>
          <p:nvPr>
            <p:ph type="title"/>
          </p:nvPr>
        </p:nvSpPr>
        <p:spPr>
          <a:xfrm>
            <a:off x="838200" y="248495"/>
            <a:ext cx="10515600" cy="432542"/>
          </a:xfrm>
        </p:spPr>
        <p:txBody>
          <a:bodyPr>
            <a:noAutofit/>
          </a:bodyPr>
          <a:lstStyle/>
          <a:p>
            <a:pPr algn="ctr"/>
            <a:r>
              <a:rPr lang="tr-TR" sz="2800" dirty="0"/>
              <a:t>EKLEME İŞLEMİ (Add Operation)</a:t>
            </a:r>
          </a:p>
        </p:txBody>
      </p:sp>
      <p:sp>
        <p:nvSpPr>
          <p:cNvPr id="3" name="İçerik Yer Tutucusu 2">
            <a:extLst>
              <a:ext uri="{FF2B5EF4-FFF2-40B4-BE49-F238E27FC236}">
                <a16:creationId xmlns:a16="http://schemas.microsoft.com/office/drawing/2014/main" id="{8607AD5B-5570-FF76-8116-A56D70B5BDA3}"/>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Her zamanki gibi try-catch bloklarımızı açıyoruz.</a:t>
            </a:r>
          </a:p>
        </p:txBody>
      </p:sp>
      <p:pic>
        <p:nvPicPr>
          <p:cNvPr id="5" name="Resim 4" descr="metin, ekran görüntüsü, yazı tipi içeren bir resim&#10;&#10;Yapay zeka tarafından oluşturulan içerik yanlış olabilir.">
            <a:extLst>
              <a:ext uri="{FF2B5EF4-FFF2-40B4-BE49-F238E27FC236}">
                <a16:creationId xmlns:a16="http://schemas.microsoft.com/office/drawing/2014/main" id="{DC846A73-3559-416D-847D-E1C9D47A86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32999" y="1840139"/>
            <a:ext cx="6171613" cy="2883827"/>
          </a:xfrm>
          <a:prstGeom prst="rect">
            <a:avLst/>
          </a:prstGeom>
        </p:spPr>
      </p:pic>
    </p:spTree>
    <p:extLst>
      <p:ext uri="{BB962C8B-B14F-4D97-AF65-F5344CB8AC3E}">
        <p14:creationId xmlns:p14="http://schemas.microsoft.com/office/powerpoint/2010/main" val="4022945193"/>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AF658-96D7-2353-E989-971B4CECC15E}"/>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0E6305BE-BA30-9BC2-4D0F-6300E9251B7A}"/>
              </a:ext>
            </a:extLst>
          </p:cNvPr>
          <p:cNvSpPr>
            <a:spLocks noGrp="1"/>
          </p:cNvSpPr>
          <p:nvPr>
            <p:ph type="title"/>
          </p:nvPr>
        </p:nvSpPr>
        <p:spPr>
          <a:xfrm>
            <a:off x="838200" y="248495"/>
            <a:ext cx="10515600" cy="432542"/>
          </a:xfrm>
        </p:spPr>
        <p:txBody>
          <a:bodyPr>
            <a:noAutofit/>
          </a:bodyPr>
          <a:lstStyle/>
          <a:p>
            <a:pPr algn="ctr"/>
            <a:r>
              <a:rPr lang="tr-TR" sz="2800" dirty="0"/>
              <a:t>EKLEME İŞLEMİ (Add Operation)</a:t>
            </a:r>
          </a:p>
        </p:txBody>
      </p:sp>
      <p:sp>
        <p:nvSpPr>
          <p:cNvPr id="3" name="İçerik Yer Tutucusu 2">
            <a:extLst>
              <a:ext uri="{FF2B5EF4-FFF2-40B4-BE49-F238E27FC236}">
                <a16:creationId xmlns:a16="http://schemas.microsoft.com/office/drawing/2014/main" id="{0C988385-C50B-8828-6DD9-EAA6873443A1}"/>
              </a:ext>
            </a:extLst>
          </p:cNvPr>
          <p:cNvSpPr>
            <a:spLocks noGrp="1"/>
          </p:cNvSpPr>
          <p:nvPr>
            <p:ph idx="1"/>
          </p:nvPr>
        </p:nvSpPr>
        <p:spPr>
          <a:xfrm>
            <a:off x="838200" y="846306"/>
            <a:ext cx="10515600" cy="5885234"/>
          </a:xfrm>
        </p:spPr>
        <p:txBody>
          <a:bodyPr>
            <a:normAutofit fontScale="62500" lnSpcReduction="20000"/>
          </a:bodyPr>
          <a:lstStyle/>
          <a:p>
            <a:pPr marL="0" indent="0" algn="just">
              <a:lnSpc>
                <a:spcPct val="100000"/>
              </a:lnSpc>
              <a:spcBef>
                <a:spcPts val="600"/>
              </a:spcBef>
              <a:spcAft>
                <a:spcPts val="600"/>
              </a:spcAft>
              <a:buNone/>
            </a:pPr>
            <a:r>
              <a:rPr lang="tr-TR" sz="1800" dirty="0"/>
              <a:t>Aşağıdaki kodlarla ekleme işlemini yapıyoruz. </a:t>
            </a:r>
            <a:r>
              <a:rPr lang="tr-TR" sz="1800" dirty="0" err="1"/>
              <a:t>btn_ekle’nin</a:t>
            </a:r>
            <a:r>
              <a:rPr lang="tr-TR" sz="1800" dirty="0"/>
              <a:t> içerisine bu kodları yazıyoruz:</a:t>
            </a:r>
          </a:p>
          <a:p>
            <a:pPr marL="0" indent="0">
              <a:buNone/>
            </a:pPr>
            <a:r>
              <a:rPr lang="tr-TR" sz="1800" dirty="0" err="1">
                <a:solidFill>
                  <a:srgbClr val="0000FF"/>
                </a:solidFill>
                <a:highlight>
                  <a:srgbClr val="FFFFFF"/>
                </a:highlight>
                <a:latin typeface="Cascadia Mono" panose="020B0609020000020004" pitchFamily="49" charset="0"/>
              </a:rPr>
              <a:t>try</a:t>
            </a:r>
            <a:endParaRPr lang="tr-TR" sz="1800" dirty="0">
              <a:solidFill>
                <a:srgbClr val="0000FF"/>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   </a:t>
            </a:r>
            <a:r>
              <a:rPr lang="tr-TR" sz="1800" dirty="0">
                <a:solidFill>
                  <a:srgbClr val="008000"/>
                </a:solidFill>
                <a:highlight>
                  <a:srgbClr val="FFFFFF"/>
                </a:highlight>
                <a:latin typeface="Cascadia Mono" panose="020B0609020000020004" pitchFamily="49" charset="0"/>
              </a:rPr>
              <a:t>// </a:t>
            </a:r>
            <a:r>
              <a:rPr lang="tr-TR" sz="1800" dirty="0" err="1">
                <a:solidFill>
                  <a:srgbClr val="008000"/>
                </a:solidFill>
                <a:highlight>
                  <a:srgbClr val="FFFFFF"/>
                </a:highlight>
                <a:latin typeface="Cascadia Mono" panose="020B0609020000020004" pitchFamily="49" charset="0"/>
              </a:rPr>
              <a:t>ComboBox'lardan</a:t>
            </a:r>
            <a:r>
              <a:rPr lang="tr-TR" sz="1800" dirty="0">
                <a:solidFill>
                  <a:srgbClr val="008000"/>
                </a:solidFill>
                <a:highlight>
                  <a:srgbClr val="FFFFFF"/>
                </a:highlight>
                <a:latin typeface="Cascadia Mono" panose="020B0609020000020004" pitchFamily="49" charset="0"/>
              </a:rPr>
              <a:t> seçilen </a:t>
            </a:r>
            <a:r>
              <a:rPr lang="tr-TR" sz="1800" dirty="0" err="1">
                <a:solidFill>
                  <a:srgbClr val="008000"/>
                </a:solidFill>
                <a:highlight>
                  <a:srgbClr val="FFFFFF"/>
                </a:highlight>
                <a:latin typeface="Cascadia Mono" panose="020B0609020000020004" pitchFamily="49" charset="0"/>
              </a:rPr>
              <a:t>ID'lerini</a:t>
            </a:r>
            <a:r>
              <a:rPr lang="tr-TR" sz="1800" dirty="0">
                <a:solidFill>
                  <a:srgbClr val="008000"/>
                </a:solidFill>
                <a:highlight>
                  <a:srgbClr val="FFFFFF"/>
                </a:highlight>
                <a:latin typeface="Cascadia Mono" panose="020B0609020000020004" pitchFamily="49" charset="0"/>
              </a:rPr>
              <a:t> alıyoruz</a:t>
            </a:r>
          </a:p>
          <a:p>
            <a:pPr marL="0" indent="0">
              <a:buNone/>
            </a:pP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int</a:t>
            </a:r>
            <a:r>
              <a:rPr lang="en-US" sz="1800" dirty="0">
                <a:solidFill>
                  <a:srgbClr val="000000"/>
                </a:solidFill>
                <a:highlight>
                  <a:srgbClr val="FFFFFF"/>
                </a:highlight>
                <a:latin typeface="Cascadia Mono" panose="020B0609020000020004" pitchFamily="49" charset="0"/>
              </a:rPr>
              <a:t> </a:t>
            </a:r>
            <a:r>
              <a:rPr lang="en-US" sz="1800" dirty="0" err="1">
                <a:solidFill>
                  <a:srgbClr val="000000"/>
                </a:solidFill>
                <a:highlight>
                  <a:srgbClr val="FFFFFF"/>
                </a:highlight>
                <a:latin typeface="Cascadia Mono" panose="020B0609020000020004" pitchFamily="49" charset="0"/>
              </a:rPr>
              <a:t>selectedCustomerId</a:t>
            </a:r>
            <a:r>
              <a:rPr lang="en-US" sz="1800" dirty="0">
                <a:solidFill>
                  <a:srgbClr val="000000"/>
                </a:solidFill>
                <a:highlight>
                  <a:srgbClr val="FFFFFF"/>
                </a:highlight>
                <a:latin typeface="Cascadia Mono" panose="020B0609020000020004" pitchFamily="49" charset="0"/>
              </a:rPr>
              <a:t> = (</a:t>
            </a:r>
            <a:r>
              <a:rPr lang="en-US" sz="1800" dirty="0">
                <a:solidFill>
                  <a:srgbClr val="0000FF"/>
                </a:solidFill>
                <a:highlight>
                  <a:srgbClr val="FFFFFF"/>
                </a:highlight>
                <a:latin typeface="Cascadia Mono" panose="020B0609020000020004" pitchFamily="49" charset="0"/>
              </a:rPr>
              <a:t>int</a:t>
            </a:r>
            <a:r>
              <a:rPr lang="en-US" sz="1800" dirty="0">
                <a:solidFill>
                  <a:srgbClr val="000000"/>
                </a:solidFill>
                <a:highlight>
                  <a:srgbClr val="FFFFFF"/>
                </a:highlight>
                <a:latin typeface="Cascadia Mono" panose="020B0609020000020004" pitchFamily="49" charset="0"/>
              </a:rPr>
              <a:t>)</a:t>
            </a:r>
            <a:r>
              <a:rPr lang="en-US" sz="1800" dirty="0" err="1">
                <a:solidFill>
                  <a:srgbClr val="000000"/>
                </a:solidFill>
                <a:highlight>
                  <a:srgbClr val="FFFFFF"/>
                </a:highlight>
                <a:latin typeface="Cascadia Mono" panose="020B0609020000020004" pitchFamily="49" charset="0"/>
              </a:rPr>
              <a:t>combo_customer.SelectedValue</a:t>
            </a:r>
            <a:r>
              <a:rPr lang="en-US" sz="1800" dirty="0">
                <a:solidFill>
                  <a:srgbClr val="000000"/>
                </a:solidFill>
                <a:highlight>
                  <a:srgbClr val="FFFFFF"/>
                </a:highlight>
                <a:latin typeface="Cascadia Mono" panose="020B0609020000020004" pitchFamily="49" charset="0"/>
              </a:rPr>
              <a:t>;</a:t>
            </a:r>
          </a:p>
          <a:p>
            <a:pPr marL="0" indent="0">
              <a:buNone/>
            </a:pP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int</a:t>
            </a:r>
            <a:r>
              <a:rPr lang="en-US" sz="1800" dirty="0">
                <a:solidFill>
                  <a:srgbClr val="000000"/>
                </a:solidFill>
                <a:highlight>
                  <a:srgbClr val="FFFFFF"/>
                </a:highlight>
                <a:latin typeface="Cascadia Mono" panose="020B0609020000020004" pitchFamily="49" charset="0"/>
              </a:rPr>
              <a:t> </a:t>
            </a:r>
            <a:r>
              <a:rPr lang="en-US" sz="1800" dirty="0" err="1">
                <a:solidFill>
                  <a:srgbClr val="000000"/>
                </a:solidFill>
                <a:highlight>
                  <a:srgbClr val="FFFFFF"/>
                </a:highlight>
                <a:latin typeface="Cascadia Mono" panose="020B0609020000020004" pitchFamily="49" charset="0"/>
              </a:rPr>
              <a:t>selectedProductId</a:t>
            </a:r>
            <a:r>
              <a:rPr lang="en-US" sz="1800" dirty="0">
                <a:solidFill>
                  <a:srgbClr val="000000"/>
                </a:solidFill>
                <a:highlight>
                  <a:srgbClr val="FFFFFF"/>
                </a:highlight>
                <a:latin typeface="Cascadia Mono" panose="020B0609020000020004" pitchFamily="49" charset="0"/>
              </a:rPr>
              <a:t> = (</a:t>
            </a:r>
            <a:r>
              <a:rPr lang="en-US" sz="1800" dirty="0">
                <a:solidFill>
                  <a:srgbClr val="0000FF"/>
                </a:solidFill>
                <a:highlight>
                  <a:srgbClr val="FFFFFF"/>
                </a:highlight>
                <a:latin typeface="Cascadia Mono" panose="020B0609020000020004" pitchFamily="49" charset="0"/>
              </a:rPr>
              <a:t>int</a:t>
            </a:r>
            <a:r>
              <a:rPr lang="en-US" sz="1800" dirty="0">
                <a:solidFill>
                  <a:srgbClr val="000000"/>
                </a:solidFill>
                <a:highlight>
                  <a:srgbClr val="FFFFFF"/>
                </a:highlight>
                <a:latin typeface="Cascadia Mono" panose="020B0609020000020004" pitchFamily="49" charset="0"/>
              </a:rPr>
              <a:t>)</a:t>
            </a:r>
            <a:r>
              <a:rPr lang="en-US" sz="1800" dirty="0" err="1">
                <a:solidFill>
                  <a:srgbClr val="000000"/>
                </a:solidFill>
                <a:highlight>
                  <a:srgbClr val="FFFFFF"/>
                </a:highlight>
                <a:latin typeface="Cascadia Mono" panose="020B0609020000020004" pitchFamily="49" charset="0"/>
              </a:rPr>
              <a:t>combo_product.SelectedValue</a:t>
            </a:r>
            <a:r>
              <a:rPr lang="en-US" sz="1800" dirty="0">
                <a:solidFill>
                  <a:srgbClr val="000000"/>
                </a:solidFill>
                <a:highlight>
                  <a:srgbClr val="FFFFFF"/>
                </a:highlight>
                <a:latin typeface="Cascadia Mono" panose="020B0609020000020004" pitchFamily="49" charset="0"/>
              </a:rPr>
              <a:t>;</a:t>
            </a:r>
          </a:p>
          <a:p>
            <a:pPr marL="0" indent="0">
              <a:buNone/>
            </a:pPr>
            <a:endParaRPr lang="tr-TR" sz="1800" dirty="0">
              <a:solidFill>
                <a:srgbClr val="000000"/>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    </a:t>
            </a:r>
            <a:r>
              <a:rPr lang="tr-TR" sz="1800" dirty="0">
                <a:solidFill>
                  <a:srgbClr val="008000"/>
                </a:solidFill>
                <a:highlight>
                  <a:srgbClr val="FFFFFF"/>
                </a:highlight>
                <a:latin typeface="Cascadia Mono" panose="020B0609020000020004" pitchFamily="49" charset="0"/>
              </a:rPr>
              <a:t>// Yeni CustomerProduct nesnesi oluşturuyoruz</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a:solidFill>
                  <a:srgbClr val="0000FF"/>
                </a:solidFill>
                <a:highlight>
                  <a:srgbClr val="FFFFFF"/>
                </a:highlight>
                <a:latin typeface="Cascadia Mono" panose="020B0609020000020004" pitchFamily="49" charset="0"/>
              </a:rPr>
              <a:t>var</a:t>
            </a: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newRecord</a:t>
            </a:r>
            <a:r>
              <a:rPr lang="tr-TR" sz="1800" dirty="0">
                <a:solidFill>
                  <a:srgbClr val="000000"/>
                </a:solidFill>
                <a:highlight>
                  <a:srgbClr val="FFFFFF"/>
                </a:highlight>
                <a:latin typeface="Cascadia Mono" panose="020B0609020000020004" pitchFamily="49" charset="0"/>
              </a:rPr>
              <a:t> = </a:t>
            </a:r>
            <a:r>
              <a:rPr lang="tr-TR" sz="1800" dirty="0" err="1">
                <a:solidFill>
                  <a:srgbClr val="0000FF"/>
                </a:solidFill>
                <a:highlight>
                  <a:srgbClr val="FFFFFF"/>
                </a:highlight>
                <a:latin typeface="Cascadia Mono" panose="020B0609020000020004" pitchFamily="49" charset="0"/>
              </a:rPr>
              <a:t>new</a:t>
            </a:r>
            <a:r>
              <a:rPr lang="tr-TR" sz="1800" dirty="0">
                <a:solidFill>
                  <a:srgbClr val="000000"/>
                </a:solidFill>
                <a:highlight>
                  <a:srgbClr val="FFFFFF"/>
                </a:highlight>
                <a:latin typeface="Cascadia Mono" panose="020B0609020000020004" pitchFamily="49" charset="0"/>
              </a:rPr>
              <a:t> </a:t>
            </a:r>
            <a:r>
              <a:rPr lang="tr-TR" sz="1800" dirty="0">
                <a:solidFill>
                  <a:srgbClr val="2B91AF"/>
                </a:solidFill>
                <a:highlight>
                  <a:srgbClr val="FFFFFF"/>
                </a:highlight>
                <a:latin typeface="Cascadia Mono" panose="020B0609020000020004" pitchFamily="49" charset="0"/>
              </a:rPr>
              <a:t>CustomerProduct</a:t>
            </a:r>
          </a:p>
          <a:p>
            <a:pPr marL="0" indent="0">
              <a:buNone/>
            </a:pPr>
            <a:r>
              <a:rPr lang="tr-TR" sz="1800" dirty="0">
                <a:solidFill>
                  <a:srgbClr val="000000"/>
                </a:solidFill>
                <a:highlight>
                  <a:srgbClr val="FFFFFF"/>
                </a:highlight>
                <a:latin typeface="Cascadia Mono" panose="020B0609020000020004" pitchFamily="49" charset="0"/>
              </a:rPr>
              <a:t>    {</a:t>
            </a:r>
          </a:p>
          <a:p>
            <a:pPr marL="0" indent="0">
              <a:buNone/>
            </a:pPr>
            <a:r>
              <a:rPr lang="tr-TR" sz="1800" dirty="0">
                <a:solidFill>
                  <a:srgbClr val="000000"/>
                </a:solidFill>
                <a:highlight>
                  <a:srgbClr val="FFFFFF"/>
                </a:highlight>
                <a:latin typeface="Cascadia Mono" panose="020B0609020000020004" pitchFamily="49" charset="0"/>
              </a:rPr>
              <a:t>        Customer_Id = </a:t>
            </a:r>
            <a:r>
              <a:rPr lang="tr-TR" sz="1800" dirty="0" err="1">
                <a:solidFill>
                  <a:srgbClr val="000000"/>
                </a:solidFill>
                <a:highlight>
                  <a:srgbClr val="FFFFFF"/>
                </a:highlight>
                <a:latin typeface="Cascadia Mono" panose="020B0609020000020004" pitchFamily="49" charset="0"/>
              </a:rPr>
              <a:t>selectedCustomerId</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Product_Id</a:t>
            </a:r>
            <a:r>
              <a:rPr lang="tr-TR" sz="1800" dirty="0">
                <a:solidFill>
                  <a:srgbClr val="000000"/>
                </a:solidFill>
                <a:highlight>
                  <a:srgbClr val="FFFFFF"/>
                </a:highlight>
                <a:latin typeface="Cascadia Mono" panose="020B0609020000020004" pitchFamily="49" charset="0"/>
              </a:rPr>
              <a:t> = </a:t>
            </a:r>
            <a:r>
              <a:rPr lang="tr-TR" sz="1800" dirty="0" err="1">
                <a:solidFill>
                  <a:srgbClr val="000000"/>
                </a:solidFill>
                <a:highlight>
                  <a:srgbClr val="FFFFFF"/>
                </a:highlight>
                <a:latin typeface="Cascadia Mono" panose="020B0609020000020004" pitchFamily="49" charset="0"/>
              </a:rPr>
              <a:t>selectedProductId</a:t>
            </a:r>
            <a:endParaRPr lang="tr-TR" sz="1800" dirty="0">
              <a:solidFill>
                <a:srgbClr val="000000"/>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    };</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a:solidFill>
                  <a:srgbClr val="008000"/>
                </a:solidFill>
                <a:highlight>
                  <a:srgbClr val="FFFFFF"/>
                </a:highlight>
                <a:latin typeface="Cascadia Mono" panose="020B0609020000020004" pitchFamily="49" charset="0"/>
              </a:rPr>
              <a:t>// CustomerProduct tablosuna yeni kaydımızı ekliyoruz</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db.CustomerProducts.Add</a:t>
            </a:r>
            <a:r>
              <a:rPr lang="tr-TR" sz="1800" dirty="0">
                <a:solidFill>
                  <a:srgbClr val="000000"/>
                </a:solidFill>
                <a:highlight>
                  <a:srgbClr val="FFFFFF"/>
                </a:highlight>
                <a:latin typeface="Cascadia Mono" panose="020B0609020000020004" pitchFamily="49" charset="0"/>
              </a:rPr>
              <a:t>(</a:t>
            </a:r>
            <a:r>
              <a:rPr lang="tr-TR" sz="1800" dirty="0" err="1">
                <a:solidFill>
                  <a:srgbClr val="000000"/>
                </a:solidFill>
                <a:highlight>
                  <a:srgbClr val="FFFFFF"/>
                </a:highlight>
                <a:latin typeface="Cascadia Mono" panose="020B0609020000020004" pitchFamily="49" charset="0"/>
              </a:rPr>
              <a:t>newRecord</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db.SaveChanges</a:t>
            </a:r>
            <a:r>
              <a:rPr lang="tr-TR" sz="1800" dirty="0">
                <a:solidFill>
                  <a:srgbClr val="000000"/>
                </a:solidFill>
                <a:highlight>
                  <a:srgbClr val="FFFFFF"/>
                </a:highlight>
                <a:latin typeface="Cascadia Mono" panose="020B0609020000020004" pitchFamily="49" charset="0"/>
              </a:rPr>
              <a:t>();</a:t>
            </a:r>
          </a:p>
          <a:p>
            <a:pPr marL="0" indent="0">
              <a:buNone/>
            </a:pPr>
            <a:endParaRPr lang="tr-TR" sz="1800" dirty="0">
              <a:solidFill>
                <a:srgbClr val="000000"/>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MessageBox</a:t>
            </a:r>
            <a:r>
              <a:rPr lang="tr-TR" sz="1800" dirty="0" err="1">
                <a:solidFill>
                  <a:srgbClr val="000000"/>
                </a:solidFill>
                <a:highlight>
                  <a:srgbClr val="FFFFFF"/>
                </a:highlight>
                <a:latin typeface="Cascadia Mono" panose="020B0609020000020004" pitchFamily="49" charset="0"/>
              </a:rPr>
              <a:t>.Show</a:t>
            </a:r>
            <a:r>
              <a:rPr lang="tr-TR" sz="1800" dirty="0">
                <a:solidFill>
                  <a:srgbClr val="000000"/>
                </a:solidFill>
                <a:highlight>
                  <a:srgbClr val="FFFFFF"/>
                </a:highlight>
                <a:latin typeface="Cascadia Mono" panose="020B0609020000020004" pitchFamily="49" charset="0"/>
              </a:rPr>
              <a:t>(</a:t>
            </a:r>
            <a:r>
              <a:rPr lang="tr-TR" sz="1800" dirty="0">
                <a:solidFill>
                  <a:srgbClr val="A31515"/>
                </a:solidFill>
                <a:highlight>
                  <a:srgbClr val="FFFFFF"/>
                </a:highlight>
                <a:latin typeface="Cascadia Mono" panose="020B0609020000020004" pitchFamily="49" charset="0"/>
              </a:rPr>
              <a:t>"Kayıt başarıyla eklendi."</a:t>
            </a:r>
            <a:r>
              <a:rPr lang="tr-TR" sz="1800" dirty="0">
                <a:solidFill>
                  <a:srgbClr val="000000"/>
                </a:solidFill>
                <a:highlight>
                  <a:srgbClr val="FFFFFF"/>
                </a:highlight>
                <a:latin typeface="Cascadia Mono" panose="020B0609020000020004" pitchFamily="49" charset="0"/>
              </a:rPr>
              <a:t>);</a:t>
            </a:r>
          </a:p>
          <a:p>
            <a:pPr marL="0" indent="0">
              <a:buNone/>
            </a:pPr>
            <a:endParaRPr lang="tr-TR" sz="1800" dirty="0">
              <a:solidFill>
                <a:srgbClr val="000000"/>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    </a:t>
            </a:r>
            <a:r>
              <a:rPr lang="tr-TR" sz="1800" dirty="0">
                <a:solidFill>
                  <a:srgbClr val="008000"/>
                </a:solidFill>
                <a:highlight>
                  <a:srgbClr val="FFFFFF"/>
                </a:highlight>
                <a:latin typeface="Cascadia Mono" panose="020B0609020000020004" pitchFamily="49" charset="0"/>
              </a:rPr>
              <a:t>// Listeleme işleminin tanımlı olduğu </a:t>
            </a:r>
            <a:r>
              <a:rPr lang="tr-TR" sz="1800" dirty="0" err="1">
                <a:solidFill>
                  <a:srgbClr val="008000"/>
                </a:solidFill>
                <a:highlight>
                  <a:srgbClr val="FFFFFF"/>
                </a:highlight>
                <a:latin typeface="Cascadia Mono" panose="020B0609020000020004" pitchFamily="49" charset="0"/>
              </a:rPr>
              <a:t>btn_listele'nin</a:t>
            </a:r>
            <a:r>
              <a:rPr lang="tr-TR" sz="1800" dirty="0">
                <a:solidFill>
                  <a:srgbClr val="008000"/>
                </a:solidFill>
                <a:highlight>
                  <a:srgbClr val="FFFFFF"/>
                </a:highlight>
                <a:latin typeface="Cascadia Mono" panose="020B0609020000020004" pitchFamily="49" charset="0"/>
              </a:rPr>
              <a:t> kodlarını çalıştırıyoruz</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btn_listele.PerformClick</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a:t>
            </a:r>
          </a:p>
          <a:p>
            <a:pPr marL="0" indent="0">
              <a:buNone/>
            </a:pPr>
            <a:r>
              <a:rPr lang="tr-TR" sz="1800" dirty="0" err="1">
                <a:solidFill>
                  <a:srgbClr val="0000FF"/>
                </a:solidFill>
                <a:highlight>
                  <a:srgbClr val="FFFFFF"/>
                </a:highlight>
                <a:latin typeface="Cascadia Mono" panose="020B0609020000020004" pitchFamily="49" charset="0"/>
              </a:rPr>
              <a:t>catch</a:t>
            </a: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Exception</a:t>
            </a: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ex</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MessageBox</a:t>
            </a:r>
            <a:r>
              <a:rPr lang="tr-TR" sz="1800" dirty="0" err="1">
                <a:solidFill>
                  <a:srgbClr val="000000"/>
                </a:solidFill>
                <a:highlight>
                  <a:srgbClr val="FFFFFF"/>
                </a:highlight>
                <a:latin typeface="Cascadia Mono" panose="020B0609020000020004" pitchFamily="49" charset="0"/>
              </a:rPr>
              <a:t>.Show</a:t>
            </a:r>
            <a:r>
              <a:rPr lang="tr-TR" sz="1800" dirty="0">
                <a:solidFill>
                  <a:srgbClr val="000000"/>
                </a:solidFill>
                <a:highlight>
                  <a:srgbClr val="FFFFFF"/>
                </a:highlight>
                <a:latin typeface="Cascadia Mono" panose="020B0609020000020004" pitchFamily="49" charset="0"/>
              </a:rPr>
              <a:t>(</a:t>
            </a:r>
            <a:r>
              <a:rPr lang="tr-TR" sz="1800" dirty="0">
                <a:solidFill>
                  <a:srgbClr val="A31515"/>
                </a:solidFill>
                <a:highlight>
                  <a:srgbClr val="FFFFFF"/>
                </a:highlight>
                <a:latin typeface="Cascadia Mono" panose="020B0609020000020004" pitchFamily="49" charset="0"/>
              </a:rPr>
              <a:t>$"Hata = </a:t>
            </a:r>
            <a:r>
              <a:rPr lang="tr-TR" sz="1800" dirty="0">
                <a:solidFill>
                  <a:srgbClr val="000000"/>
                </a:solidFill>
                <a:highlight>
                  <a:srgbClr val="FFFFFF"/>
                </a:highlight>
                <a:latin typeface="Cascadia Mono" panose="020B0609020000020004" pitchFamily="49" charset="0"/>
              </a:rPr>
              <a:t>{</a:t>
            </a:r>
            <a:r>
              <a:rPr lang="tr-TR" sz="1800" dirty="0" err="1">
                <a:solidFill>
                  <a:srgbClr val="000000"/>
                </a:solidFill>
                <a:highlight>
                  <a:srgbClr val="FFFFFF"/>
                </a:highlight>
                <a:latin typeface="Cascadia Mono" panose="020B0609020000020004" pitchFamily="49" charset="0"/>
              </a:rPr>
              <a:t>ex.Message</a:t>
            </a:r>
            <a:r>
              <a:rPr lang="tr-TR" sz="1800" dirty="0">
                <a:solidFill>
                  <a:srgbClr val="000000"/>
                </a:solidFill>
                <a:highlight>
                  <a:srgbClr val="FFFFFF"/>
                </a:highlight>
                <a:latin typeface="Cascadia Mono" panose="020B0609020000020004" pitchFamily="49" charset="0"/>
              </a:rPr>
              <a:t>}</a:t>
            </a:r>
            <a:r>
              <a:rPr lang="tr-TR" sz="1800" dirty="0">
                <a:solidFill>
                  <a:srgbClr val="A31515"/>
                </a:solidFill>
                <a:highlight>
                  <a:srgbClr val="FFFFFF"/>
                </a:highlight>
                <a:latin typeface="Cascadia Mono" panose="020B0609020000020004" pitchFamily="49" charset="0"/>
              </a:rPr>
              <a:t>"</a:t>
            </a:r>
            <a:r>
              <a:rPr lang="tr-TR" sz="1800" dirty="0">
                <a:solidFill>
                  <a:srgbClr val="000000"/>
                </a:solidFill>
                <a:highlight>
                  <a:srgbClr val="FFFFFF"/>
                </a:highlight>
                <a:latin typeface="Cascadia Mono" panose="020B0609020000020004" pitchFamily="49" charset="0"/>
              </a:rPr>
              <a:t>);}</a:t>
            </a:r>
            <a:endParaRPr lang="tr-TR" sz="1800" dirty="0"/>
          </a:p>
        </p:txBody>
      </p:sp>
    </p:spTree>
    <p:extLst>
      <p:ext uri="{BB962C8B-B14F-4D97-AF65-F5344CB8AC3E}">
        <p14:creationId xmlns:p14="http://schemas.microsoft.com/office/powerpoint/2010/main" val="263136184"/>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8E52B-0FE1-8895-2904-B503A375B08C}"/>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357DE88B-DE2C-ED4A-D699-5A39F92CCBA6}"/>
              </a:ext>
            </a:extLst>
          </p:cNvPr>
          <p:cNvSpPr>
            <a:spLocks noGrp="1"/>
          </p:cNvSpPr>
          <p:nvPr>
            <p:ph type="title"/>
          </p:nvPr>
        </p:nvSpPr>
        <p:spPr>
          <a:xfrm>
            <a:off x="838200" y="248495"/>
            <a:ext cx="10515600" cy="432542"/>
          </a:xfrm>
        </p:spPr>
        <p:txBody>
          <a:bodyPr>
            <a:noAutofit/>
          </a:bodyPr>
          <a:lstStyle/>
          <a:p>
            <a:pPr algn="ctr"/>
            <a:r>
              <a:rPr lang="tr-TR" sz="2800" dirty="0"/>
              <a:t>EKLEME İŞLEMİ (Add Operation)</a:t>
            </a:r>
          </a:p>
        </p:txBody>
      </p:sp>
      <p:pic>
        <p:nvPicPr>
          <p:cNvPr id="5" name="İçerik Yer Tutucusu 4" descr="metin, ekran görüntüsü, yazılım içeren bir resim&#10;&#10;Yapay zeka tarafından oluşturulan içerik yanlış olabilir.">
            <a:extLst>
              <a:ext uri="{FF2B5EF4-FFF2-40B4-BE49-F238E27FC236}">
                <a16:creationId xmlns:a16="http://schemas.microsoft.com/office/drawing/2014/main" id="{0D14702F-1CD1-640E-40A5-47A447479F4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96675" y="873760"/>
            <a:ext cx="7798649" cy="5878701"/>
          </a:xfrm>
        </p:spPr>
      </p:pic>
    </p:spTree>
    <p:extLst>
      <p:ext uri="{BB962C8B-B14F-4D97-AF65-F5344CB8AC3E}">
        <p14:creationId xmlns:p14="http://schemas.microsoft.com/office/powerpoint/2010/main" val="1224506353"/>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51DC3-7189-4637-B1D9-4E291518CC27}"/>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77C2F695-2878-58A8-4D20-B59C7098940B}"/>
              </a:ext>
            </a:extLst>
          </p:cNvPr>
          <p:cNvSpPr>
            <a:spLocks noGrp="1"/>
          </p:cNvSpPr>
          <p:nvPr>
            <p:ph type="title"/>
          </p:nvPr>
        </p:nvSpPr>
        <p:spPr>
          <a:xfrm>
            <a:off x="838200" y="248495"/>
            <a:ext cx="10515600" cy="432542"/>
          </a:xfrm>
        </p:spPr>
        <p:txBody>
          <a:bodyPr>
            <a:noAutofit/>
          </a:bodyPr>
          <a:lstStyle/>
          <a:p>
            <a:pPr algn="ctr"/>
            <a:r>
              <a:rPr lang="tr-TR" sz="2800" dirty="0"/>
              <a:t>EKLEME İŞLEMİ (Add Operation)</a:t>
            </a:r>
          </a:p>
        </p:txBody>
      </p:sp>
      <p:sp>
        <p:nvSpPr>
          <p:cNvPr id="3" name="İçerik Yer Tutucusu 2">
            <a:extLst>
              <a:ext uri="{FF2B5EF4-FFF2-40B4-BE49-F238E27FC236}">
                <a16:creationId xmlns:a16="http://schemas.microsoft.com/office/drawing/2014/main" id="{A19E578B-342A-1945-079F-D05A9872E46B}"/>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Şimdi kodumuzu çalıştırıp ikinci form’a geçiş yapıp </a:t>
            </a:r>
            <a:r>
              <a:rPr lang="tr-TR" sz="1800" dirty="0" err="1"/>
              <a:t>combobox’larda</a:t>
            </a:r>
            <a:r>
              <a:rPr lang="tr-TR" sz="1800" dirty="0"/>
              <a:t> istediğimiz verileri seçip ekle butonuna tıklıyoruz</a:t>
            </a:r>
          </a:p>
        </p:txBody>
      </p:sp>
      <p:pic>
        <p:nvPicPr>
          <p:cNvPr id="5" name="Resim 4" descr="metin, ekran görüntüsü, yazılım, bilgisayar simgesi içeren bir resim&#10;&#10;Yapay zeka tarafından oluşturulan içerik yanlış olabilir.">
            <a:extLst>
              <a:ext uri="{FF2B5EF4-FFF2-40B4-BE49-F238E27FC236}">
                <a16:creationId xmlns:a16="http://schemas.microsoft.com/office/drawing/2014/main" id="{5244108E-BFD5-40B7-F263-FF75624FAD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06341" y="1499711"/>
            <a:ext cx="8579318" cy="5358289"/>
          </a:xfrm>
          <a:prstGeom prst="rect">
            <a:avLst/>
          </a:prstGeom>
        </p:spPr>
      </p:pic>
    </p:spTree>
    <p:extLst>
      <p:ext uri="{BB962C8B-B14F-4D97-AF65-F5344CB8AC3E}">
        <p14:creationId xmlns:p14="http://schemas.microsoft.com/office/powerpoint/2010/main" val="738034034"/>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C8C8D-8322-AC17-C3F2-DD7C58A0EFB9}"/>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C5660E79-96A2-4FE8-4E67-C0B55B9FDD04}"/>
              </a:ext>
            </a:extLst>
          </p:cNvPr>
          <p:cNvSpPr>
            <a:spLocks noGrp="1"/>
          </p:cNvSpPr>
          <p:nvPr>
            <p:ph type="title"/>
          </p:nvPr>
        </p:nvSpPr>
        <p:spPr>
          <a:xfrm>
            <a:off x="838200" y="248495"/>
            <a:ext cx="10515600" cy="432542"/>
          </a:xfrm>
        </p:spPr>
        <p:txBody>
          <a:bodyPr>
            <a:noAutofit/>
          </a:bodyPr>
          <a:lstStyle/>
          <a:p>
            <a:pPr algn="ctr"/>
            <a:r>
              <a:rPr lang="tr-TR" sz="2800" dirty="0"/>
              <a:t>EKLEME İŞLEMİ (Add Operation)</a:t>
            </a:r>
          </a:p>
        </p:txBody>
      </p:sp>
      <p:sp>
        <p:nvSpPr>
          <p:cNvPr id="3" name="İçerik Yer Tutucusu 2">
            <a:extLst>
              <a:ext uri="{FF2B5EF4-FFF2-40B4-BE49-F238E27FC236}">
                <a16:creationId xmlns:a16="http://schemas.microsoft.com/office/drawing/2014/main" id="{1015DD67-72EF-B712-29AD-EBFB0116882A}"/>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İşlemimiz başarılı olduğu için </a:t>
            </a:r>
            <a:r>
              <a:rPr lang="tr-TR" sz="1800" dirty="0" err="1"/>
              <a:t>MessageBox</a:t>
            </a:r>
            <a:r>
              <a:rPr lang="tr-TR" sz="1800" dirty="0"/>
              <a:t> ile uyarısını verdi. Bunu kapatınca, </a:t>
            </a:r>
            <a:r>
              <a:rPr lang="tr-TR" sz="1800" dirty="0" err="1"/>
              <a:t>datagridview’daki</a:t>
            </a:r>
            <a:r>
              <a:rPr lang="tr-TR" sz="1800" dirty="0"/>
              <a:t> liste güncellenecek ve son kaydımız görünecek.</a:t>
            </a:r>
          </a:p>
        </p:txBody>
      </p:sp>
      <p:pic>
        <p:nvPicPr>
          <p:cNvPr id="5" name="Resim 4" descr="metin, ekran görüntüsü, yazılım, bilgisayar simgesi içeren bir resim&#10;&#10;Yapay zeka tarafından oluşturulan içerik yanlış olabilir.">
            <a:extLst>
              <a:ext uri="{FF2B5EF4-FFF2-40B4-BE49-F238E27FC236}">
                <a16:creationId xmlns:a16="http://schemas.microsoft.com/office/drawing/2014/main" id="{524A1A1A-5701-F128-9DA6-2EDA379B9F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4905" y="1553047"/>
            <a:ext cx="8682189" cy="5056458"/>
          </a:xfrm>
          <a:prstGeom prst="rect">
            <a:avLst/>
          </a:prstGeom>
        </p:spPr>
      </p:pic>
    </p:spTree>
    <p:extLst>
      <p:ext uri="{BB962C8B-B14F-4D97-AF65-F5344CB8AC3E}">
        <p14:creationId xmlns:p14="http://schemas.microsoft.com/office/powerpoint/2010/main" val="1944315825"/>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F6D653-95FE-5085-05F5-6710F48D9B36}"/>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290F78A1-5386-E29A-AF4F-332D5D9571D4}"/>
              </a:ext>
            </a:extLst>
          </p:cNvPr>
          <p:cNvSpPr>
            <a:spLocks noGrp="1"/>
          </p:cNvSpPr>
          <p:nvPr>
            <p:ph type="title"/>
          </p:nvPr>
        </p:nvSpPr>
        <p:spPr>
          <a:xfrm>
            <a:off x="838200" y="248495"/>
            <a:ext cx="10515600" cy="432542"/>
          </a:xfrm>
        </p:spPr>
        <p:txBody>
          <a:bodyPr>
            <a:noAutofit/>
          </a:bodyPr>
          <a:lstStyle/>
          <a:p>
            <a:pPr algn="ctr"/>
            <a:r>
              <a:rPr lang="tr-TR" sz="2800" dirty="0"/>
              <a:t>EKLEME İŞLEMİ (Add Operation)</a:t>
            </a:r>
          </a:p>
        </p:txBody>
      </p:sp>
      <p:pic>
        <p:nvPicPr>
          <p:cNvPr id="5" name="İçerik Yer Tutucusu 4" descr="metin, ekran görüntüsü, yazılım, bilgisayar simgesi içeren bir resim&#10;&#10;Yapay zeka tarafından oluşturulan içerik yanlış olabilir.">
            <a:extLst>
              <a:ext uri="{FF2B5EF4-FFF2-40B4-BE49-F238E27FC236}">
                <a16:creationId xmlns:a16="http://schemas.microsoft.com/office/drawing/2014/main" id="{E29F41A9-6D04-98B1-14AC-308DD3B921F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06390" y="846138"/>
            <a:ext cx="10179220" cy="5884862"/>
          </a:xfrm>
        </p:spPr>
      </p:pic>
    </p:spTree>
    <p:extLst>
      <p:ext uri="{BB962C8B-B14F-4D97-AF65-F5344CB8AC3E}">
        <p14:creationId xmlns:p14="http://schemas.microsoft.com/office/powerpoint/2010/main" val="3145766510"/>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DA9F7-83B0-D544-B9FC-A2D3F764AE70}"/>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2748714B-0621-2E77-9465-FA8343BFE34B}"/>
              </a:ext>
            </a:extLst>
          </p:cNvPr>
          <p:cNvSpPr>
            <a:spLocks noGrp="1"/>
          </p:cNvSpPr>
          <p:nvPr>
            <p:ph type="title"/>
          </p:nvPr>
        </p:nvSpPr>
        <p:spPr>
          <a:xfrm>
            <a:off x="838200" y="248495"/>
            <a:ext cx="10515600" cy="432542"/>
          </a:xfrm>
        </p:spPr>
        <p:txBody>
          <a:bodyPr>
            <a:noAutofit/>
          </a:bodyPr>
          <a:lstStyle/>
          <a:p>
            <a:pPr algn="ctr"/>
            <a:r>
              <a:rPr lang="tr-TR" sz="2800" dirty="0"/>
              <a:t>SİLME İŞLEMİ (Delete Operation)</a:t>
            </a:r>
          </a:p>
        </p:txBody>
      </p:sp>
      <p:sp>
        <p:nvSpPr>
          <p:cNvPr id="3" name="İçerik Yer Tutucusu 2">
            <a:extLst>
              <a:ext uri="{FF2B5EF4-FFF2-40B4-BE49-F238E27FC236}">
                <a16:creationId xmlns:a16="http://schemas.microsoft.com/office/drawing/2014/main" id="{74FE2D70-FBE5-8652-9D8A-C6C1AD0AEA58}"/>
              </a:ext>
            </a:extLst>
          </p:cNvPr>
          <p:cNvSpPr>
            <a:spLocks noGrp="1"/>
          </p:cNvSpPr>
          <p:nvPr>
            <p:ph idx="1"/>
          </p:nvPr>
        </p:nvSpPr>
        <p:spPr>
          <a:xfrm>
            <a:off x="838200" y="846306"/>
            <a:ext cx="10515600" cy="5885234"/>
          </a:xfrm>
        </p:spPr>
        <p:txBody>
          <a:bodyPr>
            <a:normAutofit fontScale="85000" lnSpcReduction="20000"/>
          </a:bodyPr>
          <a:lstStyle/>
          <a:p>
            <a:pPr marL="0" indent="0" algn="just">
              <a:lnSpc>
                <a:spcPct val="100000"/>
              </a:lnSpc>
              <a:spcBef>
                <a:spcPts val="600"/>
              </a:spcBef>
              <a:spcAft>
                <a:spcPts val="600"/>
              </a:spcAft>
              <a:buNone/>
            </a:pPr>
            <a:r>
              <a:rPr lang="tr-TR" sz="1800" dirty="0"/>
              <a:t>Son olarak silme işlemi için SİL yazan butonumuza çift tıklayıp try-catch bloklarını açıp aşağıdaki kodu yazıyoruz:</a:t>
            </a:r>
          </a:p>
          <a:p>
            <a:pPr marL="0" indent="0" algn="just">
              <a:lnSpc>
                <a:spcPct val="100000"/>
              </a:lnSpc>
              <a:spcBef>
                <a:spcPts val="600"/>
              </a:spcBef>
              <a:spcAft>
                <a:spcPts val="600"/>
              </a:spcAft>
              <a:buNone/>
            </a:pPr>
            <a:r>
              <a:rPr lang="tr-TR" sz="1800" dirty="0"/>
              <a:t>NOT: ilk olarak kullanıcıya soru soracak. Bu kaydı silmek istiyoruz sorusuna kullanıcı Evet yazan butonu tıklarsa silme işlemi gerçekleşecek. Bundan dolayı ilk olarak soru sorma ve dönen cevabın evet olduğu durum için if blokları açacağız:</a:t>
            </a:r>
          </a:p>
          <a:p>
            <a:pPr marL="0" indent="0">
              <a:buNone/>
            </a:pPr>
            <a:r>
              <a:rPr lang="tr-TR" sz="1800" dirty="0" err="1">
                <a:solidFill>
                  <a:srgbClr val="0000FF"/>
                </a:solidFill>
                <a:highlight>
                  <a:srgbClr val="FFFFFF"/>
                </a:highlight>
                <a:latin typeface="Cascadia Mono" panose="020B0609020000020004" pitchFamily="49" charset="0"/>
              </a:rPr>
              <a:t>try</a:t>
            </a:r>
            <a:endParaRPr lang="tr-TR" sz="1800" dirty="0">
              <a:solidFill>
                <a:srgbClr val="0000FF"/>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DialogResult</a:t>
            </a: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sonuc</a:t>
            </a:r>
            <a:r>
              <a:rPr lang="tr-TR" sz="1800" dirty="0">
                <a:solidFill>
                  <a:srgbClr val="000000"/>
                </a:solidFill>
                <a:highlight>
                  <a:srgbClr val="FFFFFF"/>
                </a:highlight>
                <a:latin typeface="Cascadia Mono" panose="020B0609020000020004" pitchFamily="49" charset="0"/>
              </a:rPr>
              <a:t> = </a:t>
            </a:r>
            <a:r>
              <a:rPr lang="tr-TR" sz="1800" dirty="0" err="1">
                <a:solidFill>
                  <a:srgbClr val="2B91AF"/>
                </a:solidFill>
                <a:highlight>
                  <a:srgbClr val="FFFFFF"/>
                </a:highlight>
                <a:latin typeface="Cascadia Mono" panose="020B0609020000020004" pitchFamily="49" charset="0"/>
              </a:rPr>
              <a:t>MessageBox</a:t>
            </a:r>
            <a:r>
              <a:rPr lang="tr-TR" sz="1800" dirty="0" err="1">
                <a:solidFill>
                  <a:srgbClr val="000000"/>
                </a:solidFill>
                <a:highlight>
                  <a:srgbClr val="FFFFFF"/>
                </a:highlight>
                <a:latin typeface="Cascadia Mono" panose="020B0609020000020004" pitchFamily="49" charset="0"/>
              </a:rPr>
              <a:t>.Show</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a:solidFill>
                  <a:srgbClr val="A31515"/>
                </a:solidFill>
                <a:highlight>
                  <a:srgbClr val="FFFFFF"/>
                </a:highlight>
                <a:latin typeface="Cascadia Mono" panose="020B0609020000020004" pitchFamily="49" charset="0"/>
              </a:rPr>
              <a:t>"Silmek istediğinize emin misiniz?"</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a:solidFill>
                  <a:srgbClr val="A31515"/>
                </a:solidFill>
                <a:highlight>
                  <a:srgbClr val="FFFFFF"/>
                </a:highlight>
                <a:latin typeface="Cascadia Mono" panose="020B0609020000020004" pitchFamily="49" charset="0"/>
              </a:rPr>
              <a:t>"Silme Onayı"</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MessageBoxButtons</a:t>
            </a:r>
            <a:r>
              <a:rPr lang="tr-TR" sz="1800" dirty="0" err="1">
                <a:solidFill>
                  <a:srgbClr val="000000"/>
                </a:solidFill>
                <a:highlight>
                  <a:srgbClr val="FFFFFF"/>
                </a:highlight>
                <a:latin typeface="Cascadia Mono" panose="020B0609020000020004" pitchFamily="49" charset="0"/>
              </a:rPr>
              <a:t>.YesNo</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MessageBoxIcon</a:t>
            </a:r>
            <a:r>
              <a:rPr lang="tr-TR" sz="1800" dirty="0" err="1">
                <a:solidFill>
                  <a:srgbClr val="000000"/>
                </a:solidFill>
                <a:highlight>
                  <a:srgbClr val="FFFFFF"/>
                </a:highlight>
                <a:latin typeface="Cascadia Mono" panose="020B0609020000020004" pitchFamily="49" charset="0"/>
              </a:rPr>
              <a:t>.Question</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a:solidFill>
                  <a:srgbClr val="0000FF"/>
                </a:solidFill>
                <a:highlight>
                  <a:srgbClr val="FFFFFF"/>
                </a:highlight>
                <a:latin typeface="Cascadia Mono" panose="020B0609020000020004" pitchFamily="49" charset="0"/>
              </a:rPr>
              <a:t>if</a:t>
            </a: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sonuc</a:t>
            </a:r>
            <a:r>
              <a:rPr lang="tr-TR" sz="1800" dirty="0">
                <a:solidFill>
                  <a:srgbClr val="000000"/>
                </a:solidFill>
                <a:highlight>
                  <a:srgbClr val="FFFFFF"/>
                </a:highlight>
                <a:latin typeface="Cascadia Mono" panose="020B0609020000020004" pitchFamily="49" charset="0"/>
              </a:rPr>
              <a:t> == </a:t>
            </a:r>
            <a:r>
              <a:rPr lang="tr-TR" sz="1800" dirty="0" err="1">
                <a:solidFill>
                  <a:srgbClr val="2B91AF"/>
                </a:solidFill>
                <a:highlight>
                  <a:srgbClr val="FFFFFF"/>
                </a:highlight>
                <a:latin typeface="Cascadia Mono" panose="020B0609020000020004" pitchFamily="49" charset="0"/>
              </a:rPr>
              <a:t>DialogResult</a:t>
            </a:r>
            <a:r>
              <a:rPr lang="tr-TR" sz="1800" dirty="0" err="1">
                <a:solidFill>
                  <a:srgbClr val="000000"/>
                </a:solidFill>
                <a:highlight>
                  <a:srgbClr val="FFFFFF"/>
                </a:highlight>
                <a:latin typeface="Cascadia Mono" panose="020B0609020000020004" pitchFamily="49" charset="0"/>
              </a:rPr>
              <a:t>.Yes</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p>
          <a:p>
            <a:pPr marL="0" indent="0">
              <a:buNone/>
            </a:pPr>
            <a:endParaRPr lang="tr-TR" sz="1800" dirty="0">
              <a:solidFill>
                <a:srgbClr val="000000"/>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    }</a:t>
            </a:r>
          </a:p>
          <a:p>
            <a:pPr marL="0" indent="0">
              <a:buNone/>
            </a:pPr>
            <a:r>
              <a:rPr lang="tr-TR" sz="1800" dirty="0">
                <a:solidFill>
                  <a:srgbClr val="000000"/>
                </a:solidFill>
                <a:highlight>
                  <a:srgbClr val="FFFFFF"/>
                </a:highlight>
                <a:latin typeface="Cascadia Mono" panose="020B0609020000020004" pitchFamily="49" charset="0"/>
              </a:rPr>
              <a:t>}</a:t>
            </a:r>
          </a:p>
          <a:p>
            <a:pPr marL="0" indent="0">
              <a:buNone/>
            </a:pPr>
            <a:r>
              <a:rPr lang="tr-TR" sz="1800" dirty="0" err="1">
                <a:solidFill>
                  <a:srgbClr val="0000FF"/>
                </a:solidFill>
                <a:highlight>
                  <a:srgbClr val="FFFFFF"/>
                </a:highlight>
                <a:latin typeface="Cascadia Mono" panose="020B0609020000020004" pitchFamily="49" charset="0"/>
              </a:rPr>
              <a:t>catch</a:t>
            </a: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Exception</a:t>
            </a: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ex</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MessageBox</a:t>
            </a:r>
            <a:r>
              <a:rPr lang="tr-TR" sz="1800" dirty="0" err="1">
                <a:solidFill>
                  <a:srgbClr val="000000"/>
                </a:solidFill>
                <a:highlight>
                  <a:srgbClr val="FFFFFF"/>
                </a:highlight>
                <a:latin typeface="Cascadia Mono" panose="020B0609020000020004" pitchFamily="49" charset="0"/>
              </a:rPr>
              <a:t>.Show</a:t>
            </a:r>
            <a:r>
              <a:rPr lang="tr-TR" sz="1800" dirty="0">
                <a:solidFill>
                  <a:srgbClr val="000000"/>
                </a:solidFill>
                <a:highlight>
                  <a:srgbClr val="FFFFFF"/>
                </a:highlight>
                <a:latin typeface="Cascadia Mono" panose="020B0609020000020004" pitchFamily="49" charset="0"/>
              </a:rPr>
              <a:t>(</a:t>
            </a:r>
            <a:r>
              <a:rPr lang="tr-TR" sz="1800" dirty="0">
                <a:solidFill>
                  <a:srgbClr val="A31515"/>
                </a:solidFill>
                <a:highlight>
                  <a:srgbClr val="FFFFFF"/>
                </a:highlight>
                <a:latin typeface="Cascadia Mono" panose="020B0609020000020004" pitchFamily="49" charset="0"/>
              </a:rPr>
              <a:t>$"Hata = </a:t>
            </a:r>
            <a:r>
              <a:rPr lang="tr-TR" sz="1800" dirty="0">
                <a:solidFill>
                  <a:srgbClr val="000000"/>
                </a:solidFill>
                <a:highlight>
                  <a:srgbClr val="FFFFFF"/>
                </a:highlight>
                <a:latin typeface="Cascadia Mono" panose="020B0609020000020004" pitchFamily="49" charset="0"/>
              </a:rPr>
              <a:t>{</a:t>
            </a:r>
            <a:r>
              <a:rPr lang="tr-TR" sz="1800" dirty="0" err="1">
                <a:solidFill>
                  <a:srgbClr val="000000"/>
                </a:solidFill>
                <a:highlight>
                  <a:srgbClr val="FFFFFF"/>
                </a:highlight>
                <a:latin typeface="Cascadia Mono" panose="020B0609020000020004" pitchFamily="49" charset="0"/>
              </a:rPr>
              <a:t>ex.Message</a:t>
            </a:r>
            <a:r>
              <a:rPr lang="tr-TR" sz="1800" dirty="0">
                <a:solidFill>
                  <a:srgbClr val="000000"/>
                </a:solidFill>
                <a:highlight>
                  <a:srgbClr val="FFFFFF"/>
                </a:highlight>
                <a:latin typeface="Cascadia Mono" panose="020B0609020000020004" pitchFamily="49" charset="0"/>
              </a:rPr>
              <a:t>}</a:t>
            </a:r>
            <a:r>
              <a:rPr lang="tr-TR" sz="1800" dirty="0">
                <a:solidFill>
                  <a:srgbClr val="A31515"/>
                </a:solidFill>
                <a:highlight>
                  <a:srgbClr val="FFFFFF"/>
                </a:highlight>
                <a:latin typeface="Cascadia Mono" panose="020B0609020000020004" pitchFamily="49" charset="0"/>
              </a:rPr>
              <a:t>"</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a:t>
            </a:r>
            <a:endParaRPr lang="tr-TR" sz="1800" dirty="0"/>
          </a:p>
        </p:txBody>
      </p:sp>
    </p:spTree>
    <p:extLst>
      <p:ext uri="{BB962C8B-B14F-4D97-AF65-F5344CB8AC3E}">
        <p14:creationId xmlns:p14="http://schemas.microsoft.com/office/powerpoint/2010/main" val="1660523173"/>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C66F93-B141-E29F-7189-EC27064C0BAD}"/>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2400C45C-1744-DA4C-763E-074DD2509220}"/>
              </a:ext>
            </a:extLst>
          </p:cNvPr>
          <p:cNvSpPr>
            <a:spLocks noGrp="1"/>
          </p:cNvSpPr>
          <p:nvPr>
            <p:ph type="title"/>
          </p:nvPr>
        </p:nvSpPr>
        <p:spPr>
          <a:xfrm>
            <a:off x="838200" y="248495"/>
            <a:ext cx="10515600" cy="432542"/>
          </a:xfrm>
        </p:spPr>
        <p:txBody>
          <a:bodyPr>
            <a:noAutofit/>
          </a:bodyPr>
          <a:lstStyle/>
          <a:p>
            <a:pPr algn="ctr"/>
            <a:r>
              <a:rPr lang="tr-TR" sz="2800" dirty="0"/>
              <a:t>SİLME İŞLEMİ (Delete Operation)</a:t>
            </a:r>
          </a:p>
        </p:txBody>
      </p:sp>
      <p:pic>
        <p:nvPicPr>
          <p:cNvPr id="5" name="İçerik Yer Tutucusu 4" descr="metin, ekran görüntüsü, yazılım, yazı tipi içeren bir resim&#10;&#10;Yapay zeka tarafından oluşturulan içerik yanlış olabilir.">
            <a:extLst>
              <a:ext uri="{FF2B5EF4-FFF2-40B4-BE49-F238E27FC236}">
                <a16:creationId xmlns:a16="http://schemas.microsoft.com/office/drawing/2014/main" id="{1BD169BC-CF8D-EEC7-D643-6880AF4B8F3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50688" y="754019"/>
            <a:ext cx="7154435" cy="5056429"/>
          </a:xfrm>
        </p:spPr>
      </p:pic>
      <p:sp>
        <p:nvSpPr>
          <p:cNvPr id="6" name="Metin kutusu 5">
            <a:extLst>
              <a:ext uri="{FF2B5EF4-FFF2-40B4-BE49-F238E27FC236}">
                <a16:creationId xmlns:a16="http://schemas.microsoft.com/office/drawing/2014/main" id="{51176299-62CF-7158-C3A9-11AEE2D3E2EB}"/>
              </a:ext>
            </a:extLst>
          </p:cNvPr>
          <p:cNvSpPr txBox="1"/>
          <p:nvPr/>
        </p:nvSpPr>
        <p:spPr>
          <a:xfrm>
            <a:off x="2541533" y="6103981"/>
            <a:ext cx="7108934" cy="369332"/>
          </a:xfrm>
          <a:prstGeom prst="rect">
            <a:avLst/>
          </a:prstGeom>
          <a:noFill/>
        </p:spPr>
        <p:txBody>
          <a:bodyPr wrap="none" rtlCol="0">
            <a:spAutoFit/>
          </a:bodyPr>
          <a:lstStyle/>
          <a:p>
            <a:r>
              <a:rPr lang="tr-TR" dirty="0"/>
              <a:t>NOT: Sonraki sayfadaki kodları buradaki if blokunun içerisine yazıyoruz!</a:t>
            </a:r>
          </a:p>
        </p:txBody>
      </p:sp>
    </p:spTree>
    <p:extLst>
      <p:ext uri="{BB962C8B-B14F-4D97-AF65-F5344CB8AC3E}">
        <p14:creationId xmlns:p14="http://schemas.microsoft.com/office/powerpoint/2010/main" val="1490086677"/>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71DCE-ADEF-B723-96A7-136849B70AAB}"/>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33AE50DB-0A3A-1F11-7EDF-9384E9F30B80}"/>
              </a:ext>
            </a:extLst>
          </p:cNvPr>
          <p:cNvSpPr>
            <a:spLocks noGrp="1"/>
          </p:cNvSpPr>
          <p:nvPr>
            <p:ph type="title"/>
          </p:nvPr>
        </p:nvSpPr>
        <p:spPr>
          <a:xfrm>
            <a:off x="838200" y="248495"/>
            <a:ext cx="10515600" cy="432542"/>
          </a:xfrm>
        </p:spPr>
        <p:txBody>
          <a:bodyPr>
            <a:noAutofit/>
          </a:bodyPr>
          <a:lstStyle/>
          <a:p>
            <a:pPr algn="ctr"/>
            <a:r>
              <a:rPr lang="tr-TR" sz="2800" dirty="0"/>
              <a:t>SİLME İŞLEMİ (Delete Operation)</a:t>
            </a:r>
          </a:p>
        </p:txBody>
      </p:sp>
      <p:sp>
        <p:nvSpPr>
          <p:cNvPr id="3" name="İçerik Yer Tutucusu 2">
            <a:extLst>
              <a:ext uri="{FF2B5EF4-FFF2-40B4-BE49-F238E27FC236}">
                <a16:creationId xmlns:a16="http://schemas.microsoft.com/office/drawing/2014/main" id="{FD9875D5-FC44-25C5-5194-4A4205003C10}"/>
              </a:ext>
            </a:extLst>
          </p:cNvPr>
          <p:cNvSpPr>
            <a:spLocks noGrp="1"/>
          </p:cNvSpPr>
          <p:nvPr>
            <p:ph idx="1"/>
          </p:nvPr>
        </p:nvSpPr>
        <p:spPr>
          <a:xfrm>
            <a:off x="838200" y="846306"/>
            <a:ext cx="10515600" cy="5885234"/>
          </a:xfrm>
        </p:spPr>
        <p:txBody>
          <a:bodyPr>
            <a:normAutofit fontScale="62500" lnSpcReduction="20000"/>
          </a:bodyPr>
          <a:lstStyle/>
          <a:p>
            <a:pPr marL="0" indent="0">
              <a:buNone/>
            </a:pPr>
            <a:r>
              <a:rPr lang="tr-TR" sz="1800" dirty="0">
                <a:solidFill>
                  <a:srgbClr val="008000"/>
                </a:solidFill>
                <a:highlight>
                  <a:srgbClr val="FFFFFF"/>
                </a:highlight>
                <a:latin typeface="Cascadia Mono" panose="020B0609020000020004" pitchFamily="49" charset="0"/>
              </a:rPr>
              <a:t>// </a:t>
            </a:r>
            <a:r>
              <a:rPr lang="tr-TR" sz="1800" dirty="0" err="1">
                <a:solidFill>
                  <a:srgbClr val="008000"/>
                </a:solidFill>
                <a:highlight>
                  <a:srgbClr val="FFFFFF"/>
                </a:highlight>
                <a:latin typeface="Cascadia Mono" panose="020B0609020000020004" pitchFamily="49" charset="0"/>
              </a:rPr>
              <a:t>DataGridView’da</a:t>
            </a:r>
            <a:r>
              <a:rPr lang="tr-TR" sz="1800" dirty="0">
                <a:solidFill>
                  <a:srgbClr val="008000"/>
                </a:solidFill>
                <a:highlight>
                  <a:srgbClr val="FFFFFF"/>
                </a:highlight>
                <a:latin typeface="Cascadia Mono" panose="020B0609020000020004" pitchFamily="49" charset="0"/>
              </a:rPr>
              <a:t> bir satır seçili mi?</a:t>
            </a:r>
          </a:p>
          <a:p>
            <a:pPr marL="0" indent="0">
              <a:buNone/>
            </a:pPr>
            <a:r>
              <a:rPr lang="tr-TR" sz="1800" dirty="0">
                <a:solidFill>
                  <a:srgbClr val="0000FF"/>
                </a:solidFill>
                <a:highlight>
                  <a:srgbClr val="FFFFFF"/>
                </a:highlight>
                <a:latin typeface="Cascadia Mono" panose="020B0609020000020004" pitchFamily="49" charset="0"/>
              </a:rPr>
              <a:t>if</a:t>
            </a:r>
            <a:r>
              <a:rPr lang="tr-TR" sz="1800" dirty="0">
                <a:solidFill>
                  <a:srgbClr val="000000"/>
                </a:solidFill>
                <a:highlight>
                  <a:srgbClr val="FFFFFF"/>
                </a:highlight>
                <a:latin typeface="Cascadia Mono" panose="020B0609020000020004" pitchFamily="49" charset="0"/>
              </a:rPr>
              <a:t> (dataGridView1.CurrentRow != </a:t>
            </a:r>
            <a:r>
              <a:rPr lang="tr-TR" sz="1800" dirty="0" err="1">
                <a:solidFill>
                  <a:srgbClr val="0000FF"/>
                </a:solidFill>
                <a:highlight>
                  <a:srgbClr val="FFFFFF"/>
                </a:highlight>
                <a:latin typeface="Cascadia Mono" panose="020B0609020000020004" pitchFamily="49" charset="0"/>
              </a:rPr>
              <a:t>null</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a:solidFill>
                  <a:srgbClr val="008000"/>
                </a:solidFill>
                <a:highlight>
                  <a:srgbClr val="FFFFFF"/>
                </a:highlight>
                <a:latin typeface="Cascadia Mono" panose="020B0609020000020004" pitchFamily="49" charset="0"/>
              </a:rPr>
              <a:t>// Seçilen satırdaki </a:t>
            </a:r>
            <a:r>
              <a:rPr lang="tr-TR" sz="1800" dirty="0" err="1">
                <a:solidFill>
                  <a:srgbClr val="008000"/>
                </a:solidFill>
                <a:highlight>
                  <a:srgbClr val="FFFFFF"/>
                </a:highlight>
                <a:latin typeface="Cascadia Mono" panose="020B0609020000020004" pitchFamily="49" charset="0"/>
              </a:rPr>
              <a:t>CusPro_Id</a:t>
            </a:r>
            <a:r>
              <a:rPr lang="tr-TR" sz="1800" dirty="0">
                <a:solidFill>
                  <a:srgbClr val="008000"/>
                </a:solidFill>
                <a:highlight>
                  <a:srgbClr val="FFFFFF"/>
                </a:highlight>
                <a:latin typeface="Cascadia Mono" panose="020B0609020000020004" pitchFamily="49" charset="0"/>
              </a:rPr>
              <a:t> değerini alıyoruz</a:t>
            </a:r>
          </a:p>
          <a:p>
            <a:pPr marL="0" indent="0">
              <a:buNone/>
            </a:pP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int</a:t>
            </a:r>
            <a:r>
              <a:rPr lang="en-US" sz="1800" dirty="0">
                <a:solidFill>
                  <a:srgbClr val="000000"/>
                </a:solidFill>
                <a:highlight>
                  <a:srgbClr val="FFFFFF"/>
                </a:highlight>
                <a:latin typeface="Cascadia Mono" panose="020B0609020000020004" pitchFamily="49" charset="0"/>
              </a:rPr>
              <a:t> </a:t>
            </a:r>
            <a:r>
              <a:rPr lang="en-US" sz="1800" dirty="0" err="1">
                <a:solidFill>
                  <a:srgbClr val="000000"/>
                </a:solidFill>
                <a:highlight>
                  <a:srgbClr val="FFFFFF"/>
                </a:highlight>
                <a:latin typeface="Cascadia Mono" panose="020B0609020000020004" pitchFamily="49" charset="0"/>
              </a:rPr>
              <a:t>selectedId</a:t>
            </a:r>
            <a:r>
              <a:rPr lang="en-US" sz="1800" dirty="0">
                <a:solidFill>
                  <a:srgbClr val="000000"/>
                </a:solidFill>
                <a:highlight>
                  <a:srgbClr val="FFFFFF"/>
                </a:highlight>
                <a:latin typeface="Cascadia Mono" panose="020B0609020000020004" pitchFamily="49" charset="0"/>
              </a:rPr>
              <a:t> = </a:t>
            </a:r>
            <a:r>
              <a:rPr lang="en-US" sz="1800" dirty="0">
                <a:solidFill>
                  <a:srgbClr val="2B91AF"/>
                </a:solidFill>
                <a:highlight>
                  <a:srgbClr val="FFFFFF"/>
                </a:highlight>
                <a:latin typeface="Cascadia Mono" panose="020B0609020000020004" pitchFamily="49" charset="0"/>
              </a:rPr>
              <a:t>Convert</a:t>
            </a:r>
            <a:r>
              <a:rPr lang="en-US" sz="1800" dirty="0">
                <a:solidFill>
                  <a:srgbClr val="000000"/>
                </a:solidFill>
                <a:highlight>
                  <a:srgbClr val="FFFFFF"/>
                </a:highlight>
                <a:latin typeface="Cascadia Mono" panose="020B0609020000020004" pitchFamily="49" charset="0"/>
              </a:rPr>
              <a:t>.ToInt32(dataGridView1.CurrentRow.Cells[</a:t>
            </a:r>
            <a:r>
              <a:rPr lang="en-US" sz="1800" dirty="0">
                <a:solidFill>
                  <a:srgbClr val="A31515"/>
                </a:solidFill>
                <a:highlight>
                  <a:srgbClr val="FFFFFF"/>
                </a:highlight>
                <a:latin typeface="Cascadia Mono" panose="020B0609020000020004" pitchFamily="49" charset="0"/>
              </a:rPr>
              <a:t>"</a:t>
            </a:r>
            <a:r>
              <a:rPr lang="en-US" sz="1800" dirty="0" err="1">
                <a:solidFill>
                  <a:srgbClr val="A31515"/>
                </a:solidFill>
                <a:highlight>
                  <a:srgbClr val="FFFFFF"/>
                </a:highlight>
                <a:latin typeface="Cascadia Mono" panose="020B0609020000020004" pitchFamily="49" charset="0"/>
              </a:rPr>
              <a:t>CusPro_Id</a:t>
            </a:r>
            <a:r>
              <a:rPr lang="en-US" sz="1800" dirty="0">
                <a:solidFill>
                  <a:srgbClr val="A31515"/>
                </a:solidFill>
                <a:highlight>
                  <a:srgbClr val="FFFFFF"/>
                </a:highlight>
                <a:latin typeface="Cascadia Mono" panose="020B0609020000020004" pitchFamily="49" charset="0"/>
              </a:rPr>
              <a:t>"</a:t>
            </a:r>
            <a:r>
              <a:rPr lang="en-US" sz="1800" dirty="0">
                <a:solidFill>
                  <a:srgbClr val="000000"/>
                </a:solidFill>
                <a:highlight>
                  <a:srgbClr val="FFFFFF"/>
                </a:highlight>
                <a:latin typeface="Cascadia Mono" panose="020B0609020000020004" pitchFamily="49" charset="0"/>
              </a:rPr>
              <a:t>].Value);</a:t>
            </a:r>
          </a:p>
          <a:p>
            <a:pPr marL="0" indent="0">
              <a:buNone/>
            </a:pPr>
            <a:endParaRPr lang="tr-TR" sz="1800" dirty="0">
              <a:solidFill>
                <a:srgbClr val="000000"/>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    </a:t>
            </a:r>
            <a:r>
              <a:rPr lang="tr-TR" sz="1800" dirty="0">
                <a:solidFill>
                  <a:srgbClr val="008000"/>
                </a:solidFill>
                <a:highlight>
                  <a:srgbClr val="FFFFFF"/>
                </a:highlight>
                <a:latin typeface="Cascadia Mono" panose="020B0609020000020004" pitchFamily="49" charset="0"/>
              </a:rPr>
              <a:t>// İlgili </a:t>
            </a:r>
            <a:r>
              <a:rPr lang="tr-TR" sz="1800" dirty="0" err="1">
                <a:solidFill>
                  <a:srgbClr val="008000"/>
                </a:solidFill>
                <a:highlight>
                  <a:srgbClr val="FFFFFF"/>
                </a:highlight>
                <a:latin typeface="Cascadia Mono" panose="020B0609020000020004" pitchFamily="49" charset="0"/>
              </a:rPr>
              <a:t>veritabanı</a:t>
            </a:r>
            <a:r>
              <a:rPr lang="tr-TR" sz="1800" dirty="0">
                <a:solidFill>
                  <a:srgbClr val="008000"/>
                </a:solidFill>
                <a:highlight>
                  <a:srgbClr val="FFFFFF"/>
                </a:highlight>
                <a:latin typeface="Cascadia Mono" panose="020B0609020000020004" pitchFamily="49" charset="0"/>
              </a:rPr>
              <a:t> kaydını buluyoruz</a:t>
            </a:r>
          </a:p>
          <a:p>
            <a:pPr marL="0" indent="0">
              <a:buNone/>
            </a:pP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var</a:t>
            </a:r>
            <a:r>
              <a:rPr lang="en-US" sz="1800" dirty="0">
                <a:solidFill>
                  <a:srgbClr val="000000"/>
                </a:solidFill>
                <a:highlight>
                  <a:srgbClr val="FFFFFF"/>
                </a:highlight>
                <a:latin typeface="Cascadia Mono" panose="020B0609020000020004" pitchFamily="49" charset="0"/>
              </a:rPr>
              <a:t> </a:t>
            </a:r>
            <a:r>
              <a:rPr lang="en-US" sz="1800" dirty="0" err="1">
                <a:solidFill>
                  <a:srgbClr val="000000"/>
                </a:solidFill>
                <a:highlight>
                  <a:srgbClr val="FFFFFF"/>
                </a:highlight>
                <a:latin typeface="Cascadia Mono" panose="020B0609020000020004" pitchFamily="49" charset="0"/>
              </a:rPr>
              <a:t>recordToDelete</a:t>
            </a:r>
            <a:r>
              <a:rPr lang="en-US" sz="1800" dirty="0">
                <a:solidFill>
                  <a:srgbClr val="000000"/>
                </a:solidFill>
                <a:highlight>
                  <a:srgbClr val="FFFFFF"/>
                </a:highlight>
                <a:latin typeface="Cascadia Mono" panose="020B0609020000020004" pitchFamily="49" charset="0"/>
              </a:rPr>
              <a:t> = </a:t>
            </a:r>
            <a:r>
              <a:rPr lang="en-US" sz="1800" dirty="0" err="1">
                <a:solidFill>
                  <a:srgbClr val="000000"/>
                </a:solidFill>
                <a:highlight>
                  <a:srgbClr val="FFFFFF"/>
                </a:highlight>
                <a:latin typeface="Cascadia Mono" panose="020B0609020000020004" pitchFamily="49" charset="0"/>
              </a:rPr>
              <a:t>db.CustomerProducts.Find</a:t>
            </a:r>
            <a:r>
              <a:rPr lang="en-US" sz="1800" dirty="0">
                <a:solidFill>
                  <a:srgbClr val="000000"/>
                </a:solidFill>
                <a:highlight>
                  <a:srgbClr val="FFFFFF"/>
                </a:highlight>
                <a:latin typeface="Cascadia Mono" panose="020B0609020000020004" pitchFamily="49" charset="0"/>
              </a:rPr>
              <a:t>(</a:t>
            </a:r>
            <a:r>
              <a:rPr lang="en-US" sz="1800" dirty="0" err="1">
                <a:solidFill>
                  <a:srgbClr val="000000"/>
                </a:solidFill>
                <a:highlight>
                  <a:srgbClr val="FFFFFF"/>
                </a:highlight>
                <a:latin typeface="Cascadia Mono" panose="020B0609020000020004" pitchFamily="49" charset="0"/>
              </a:rPr>
              <a:t>selectedId</a:t>
            </a:r>
            <a:r>
              <a:rPr lang="en-US" sz="1800" dirty="0">
                <a:solidFill>
                  <a:srgbClr val="000000"/>
                </a:solidFill>
                <a:highlight>
                  <a:srgbClr val="FFFFFF"/>
                </a:highlight>
                <a:latin typeface="Cascadia Mono" panose="020B0609020000020004" pitchFamily="49" charset="0"/>
              </a:rPr>
              <a:t>);</a:t>
            </a:r>
          </a:p>
          <a:p>
            <a:pPr marL="0" indent="0">
              <a:buNone/>
            </a:pPr>
            <a:endParaRPr lang="tr-TR" sz="1800" dirty="0">
              <a:solidFill>
                <a:srgbClr val="000000"/>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    </a:t>
            </a:r>
            <a:r>
              <a:rPr lang="tr-TR" sz="1800" dirty="0">
                <a:solidFill>
                  <a:srgbClr val="0000FF"/>
                </a:solidFill>
                <a:highlight>
                  <a:srgbClr val="FFFFFF"/>
                </a:highlight>
                <a:latin typeface="Cascadia Mono" panose="020B0609020000020004" pitchFamily="49" charset="0"/>
              </a:rPr>
              <a:t>if</a:t>
            </a: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recordToDelete</a:t>
            </a:r>
            <a:r>
              <a:rPr lang="tr-TR" sz="1800" dirty="0">
                <a:solidFill>
                  <a:srgbClr val="000000"/>
                </a:solidFill>
                <a:highlight>
                  <a:srgbClr val="FFFFFF"/>
                </a:highlight>
                <a:latin typeface="Cascadia Mono" panose="020B0609020000020004" pitchFamily="49" charset="0"/>
              </a:rPr>
              <a:t> != </a:t>
            </a:r>
            <a:r>
              <a:rPr lang="tr-TR" sz="1800" dirty="0" err="1">
                <a:solidFill>
                  <a:srgbClr val="0000FF"/>
                </a:solidFill>
                <a:highlight>
                  <a:srgbClr val="FFFFFF"/>
                </a:highlight>
                <a:latin typeface="Cascadia Mono" panose="020B0609020000020004" pitchFamily="49" charset="0"/>
              </a:rPr>
              <a:t>null</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a:solidFill>
                  <a:srgbClr val="008000"/>
                </a:solidFill>
                <a:highlight>
                  <a:srgbClr val="FFFFFF"/>
                </a:highlight>
                <a:latin typeface="Cascadia Mono" panose="020B0609020000020004" pitchFamily="49" charset="0"/>
              </a:rPr>
              <a:t>// Kaydı siliyoruz</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db.CustomerProducts.Remove</a:t>
            </a:r>
            <a:r>
              <a:rPr lang="tr-TR" sz="1800" dirty="0">
                <a:solidFill>
                  <a:srgbClr val="000000"/>
                </a:solidFill>
                <a:highlight>
                  <a:srgbClr val="FFFFFF"/>
                </a:highlight>
                <a:latin typeface="Cascadia Mono" panose="020B0609020000020004" pitchFamily="49" charset="0"/>
              </a:rPr>
              <a:t>(</a:t>
            </a:r>
            <a:r>
              <a:rPr lang="tr-TR" sz="1800" dirty="0" err="1">
                <a:solidFill>
                  <a:srgbClr val="000000"/>
                </a:solidFill>
                <a:highlight>
                  <a:srgbClr val="FFFFFF"/>
                </a:highlight>
                <a:latin typeface="Cascadia Mono" panose="020B0609020000020004" pitchFamily="49" charset="0"/>
              </a:rPr>
              <a:t>recordToDelete</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db.SaveChanges</a:t>
            </a:r>
            <a:r>
              <a:rPr lang="tr-TR" sz="1800" dirty="0">
                <a:solidFill>
                  <a:srgbClr val="000000"/>
                </a:solidFill>
                <a:highlight>
                  <a:srgbClr val="FFFFFF"/>
                </a:highlight>
                <a:latin typeface="Cascadia Mono" panose="020B0609020000020004" pitchFamily="49" charset="0"/>
              </a:rPr>
              <a:t>();</a:t>
            </a:r>
          </a:p>
          <a:p>
            <a:pPr marL="0" indent="0">
              <a:buNone/>
            </a:pPr>
            <a:endParaRPr lang="tr-TR" sz="1800" dirty="0">
              <a:solidFill>
                <a:srgbClr val="000000"/>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MessageBox</a:t>
            </a:r>
            <a:r>
              <a:rPr lang="tr-TR" sz="1800" dirty="0" err="1">
                <a:solidFill>
                  <a:srgbClr val="000000"/>
                </a:solidFill>
                <a:highlight>
                  <a:srgbClr val="FFFFFF"/>
                </a:highlight>
                <a:latin typeface="Cascadia Mono" panose="020B0609020000020004" pitchFamily="49" charset="0"/>
              </a:rPr>
              <a:t>.Show</a:t>
            </a:r>
            <a:r>
              <a:rPr lang="tr-TR" sz="1800" dirty="0">
                <a:solidFill>
                  <a:srgbClr val="000000"/>
                </a:solidFill>
                <a:highlight>
                  <a:srgbClr val="FFFFFF"/>
                </a:highlight>
                <a:latin typeface="Cascadia Mono" panose="020B0609020000020004" pitchFamily="49" charset="0"/>
              </a:rPr>
              <a:t>(</a:t>
            </a:r>
            <a:r>
              <a:rPr lang="tr-TR" sz="1800" dirty="0">
                <a:solidFill>
                  <a:srgbClr val="A31515"/>
                </a:solidFill>
                <a:highlight>
                  <a:srgbClr val="FFFFFF"/>
                </a:highlight>
                <a:latin typeface="Cascadia Mono" panose="020B0609020000020004" pitchFamily="49" charset="0"/>
              </a:rPr>
              <a:t>"Kayıt başarıyla silindi."</a:t>
            </a:r>
            <a:r>
              <a:rPr lang="tr-TR" sz="1800" dirty="0">
                <a:solidFill>
                  <a:srgbClr val="000000"/>
                </a:solidFill>
                <a:highlight>
                  <a:srgbClr val="FFFFFF"/>
                </a:highlight>
                <a:latin typeface="Cascadia Mono" panose="020B0609020000020004" pitchFamily="49" charset="0"/>
              </a:rPr>
              <a:t>);</a:t>
            </a:r>
          </a:p>
          <a:p>
            <a:pPr marL="0" indent="0">
              <a:buNone/>
            </a:pPr>
            <a:endParaRPr lang="tr-TR" sz="1800" dirty="0">
              <a:solidFill>
                <a:srgbClr val="000000"/>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        </a:t>
            </a:r>
            <a:r>
              <a:rPr lang="tr-TR" sz="1800" dirty="0">
                <a:solidFill>
                  <a:srgbClr val="008000"/>
                </a:solidFill>
                <a:highlight>
                  <a:srgbClr val="FFFFFF"/>
                </a:highlight>
                <a:latin typeface="Cascadia Mono" panose="020B0609020000020004" pitchFamily="49" charset="0"/>
              </a:rPr>
              <a:t>// </a:t>
            </a:r>
            <a:r>
              <a:rPr lang="tr-TR" sz="1800" dirty="0" err="1">
                <a:solidFill>
                  <a:srgbClr val="008000"/>
                </a:solidFill>
                <a:highlight>
                  <a:srgbClr val="FFFFFF"/>
                </a:highlight>
                <a:latin typeface="Cascadia Mono" panose="020B0609020000020004" pitchFamily="49" charset="0"/>
              </a:rPr>
              <a:t>DatagridvieW'daki</a:t>
            </a:r>
            <a:r>
              <a:rPr lang="tr-TR" sz="1800" dirty="0">
                <a:solidFill>
                  <a:srgbClr val="008000"/>
                </a:solidFill>
                <a:highlight>
                  <a:srgbClr val="FFFFFF"/>
                </a:highlight>
                <a:latin typeface="Cascadia Mono" panose="020B0609020000020004" pitchFamily="49" charset="0"/>
              </a:rPr>
              <a:t> listeyi güncelliyoruz</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btn_listele.PerformClick</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a:solidFill>
                  <a:srgbClr val="0000FF"/>
                </a:solidFill>
                <a:highlight>
                  <a:srgbClr val="FFFFFF"/>
                </a:highlight>
                <a:latin typeface="Cascadia Mono" panose="020B0609020000020004" pitchFamily="49" charset="0"/>
              </a:rPr>
              <a:t>else</a:t>
            </a:r>
          </a:p>
          <a:p>
            <a:pPr marL="0" indent="0">
              <a:buNone/>
            </a:pPr>
            <a:r>
              <a:rPr lang="tr-TR" sz="1800" dirty="0">
                <a:solidFill>
                  <a:srgbClr val="000000"/>
                </a:solidFill>
                <a:highlight>
                  <a:srgbClr val="FFFFFF"/>
                </a:highlight>
                <a:latin typeface="Cascadia Mono" panose="020B0609020000020004" pitchFamily="49" charset="0"/>
              </a:rPr>
              <a:t>    {</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MessageBox</a:t>
            </a:r>
            <a:r>
              <a:rPr lang="tr-TR" sz="1800" dirty="0" err="1">
                <a:solidFill>
                  <a:srgbClr val="000000"/>
                </a:solidFill>
                <a:highlight>
                  <a:srgbClr val="FFFFFF"/>
                </a:highlight>
                <a:latin typeface="Cascadia Mono" panose="020B0609020000020004" pitchFamily="49" charset="0"/>
              </a:rPr>
              <a:t>.Show</a:t>
            </a:r>
            <a:r>
              <a:rPr lang="tr-TR" sz="1800" dirty="0">
                <a:solidFill>
                  <a:srgbClr val="000000"/>
                </a:solidFill>
                <a:highlight>
                  <a:srgbClr val="FFFFFF"/>
                </a:highlight>
                <a:latin typeface="Cascadia Mono" panose="020B0609020000020004" pitchFamily="49" charset="0"/>
              </a:rPr>
              <a:t>(</a:t>
            </a:r>
            <a:r>
              <a:rPr lang="tr-TR" sz="1800" dirty="0">
                <a:solidFill>
                  <a:srgbClr val="A31515"/>
                </a:solidFill>
                <a:highlight>
                  <a:srgbClr val="FFFFFF"/>
                </a:highlight>
                <a:latin typeface="Cascadia Mono" panose="020B0609020000020004" pitchFamily="49" charset="0"/>
              </a:rPr>
              <a:t>"Kayıt bulunamadı."</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endParaRPr lang="tr-TR" sz="1800" dirty="0"/>
          </a:p>
        </p:txBody>
      </p:sp>
    </p:spTree>
    <p:extLst>
      <p:ext uri="{BB962C8B-B14F-4D97-AF65-F5344CB8AC3E}">
        <p14:creationId xmlns:p14="http://schemas.microsoft.com/office/powerpoint/2010/main" val="2840395760"/>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2E069E-D1CE-52BD-E702-7A38A355358E}"/>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7829E830-C66E-3890-1624-2814D0566CA8}"/>
              </a:ext>
            </a:extLst>
          </p:cNvPr>
          <p:cNvSpPr>
            <a:spLocks noGrp="1"/>
          </p:cNvSpPr>
          <p:nvPr>
            <p:ph type="title"/>
          </p:nvPr>
        </p:nvSpPr>
        <p:spPr>
          <a:xfrm>
            <a:off x="838200" y="248495"/>
            <a:ext cx="10515600" cy="432542"/>
          </a:xfrm>
        </p:spPr>
        <p:txBody>
          <a:bodyPr>
            <a:noAutofit/>
          </a:bodyPr>
          <a:lstStyle/>
          <a:p>
            <a:pPr algn="ctr"/>
            <a:r>
              <a:rPr lang="tr-TR" sz="2800" dirty="0"/>
              <a:t>SİLME İŞLEMİ (Delete Operation)</a:t>
            </a:r>
          </a:p>
        </p:txBody>
      </p:sp>
      <p:pic>
        <p:nvPicPr>
          <p:cNvPr id="5" name="İçerik Yer Tutucusu 4" descr="metin, ekran görüntüsü, yazılım içeren bir resim&#10;&#10;Yapay zeka tarafından oluşturulan içerik yanlış olabilir.">
            <a:extLst>
              <a:ext uri="{FF2B5EF4-FFF2-40B4-BE49-F238E27FC236}">
                <a16:creationId xmlns:a16="http://schemas.microsoft.com/office/drawing/2014/main" id="{FCF48E3D-6201-075B-3883-10D65B025C9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66446" y="681037"/>
            <a:ext cx="7859107" cy="6180226"/>
          </a:xfrm>
        </p:spPr>
      </p:pic>
    </p:spTree>
    <p:extLst>
      <p:ext uri="{BB962C8B-B14F-4D97-AF65-F5344CB8AC3E}">
        <p14:creationId xmlns:p14="http://schemas.microsoft.com/office/powerpoint/2010/main" val="4147882508"/>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628EB-82F2-7C70-E2AB-07CD1515D93C}"/>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D35C2334-8AE2-DECB-9D05-4193D6831163}"/>
              </a:ext>
            </a:extLst>
          </p:cNvPr>
          <p:cNvSpPr>
            <a:spLocks noGrp="1"/>
          </p:cNvSpPr>
          <p:nvPr>
            <p:ph type="title"/>
          </p:nvPr>
        </p:nvSpPr>
        <p:spPr>
          <a:xfrm>
            <a:off x="838200" y="248495"/>
            <a:ext cx="10515600" cy="432542"/>
          </a:xfrm>
        </p:spPr>
        <p:txBody>
          <a:bodyPr>
            <a:noAutofit/>
          </a:bodyPr>
          <a:lstStyle/>
          <a:p>
            <a:pPr algn="ctr"/>
            <a:r>
              <a:rPr lang="tr-TR" sz="2800" dirty="0"/>
              <a:t>SİLME İŞLEMİ (Delete Operation)</a:t>
            </a:r>
          </a:p>
        </p:txBody>
      </p:sp>
      <p:sp>
        <p:nvSpPr>
          <p:cNvPr id="3" name="İçerik Yer Tutucusu 2">
            <a:extLst>
              <a:ext uri="{FF2B5EF4-FFF2-40B4-BE49-F238E27FC236}">
                <a16:creationId xmlns:a16="http://schemas.microsoft.com/office/drawing/2014/main" id="{15D4D888-E0E7-B221-4CBD-F6B664B99908}"/>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Şimdi kodumuzu çalıştırıp, ikinci form’a geçiş yapıp seçtiğimiz bir kaydı silmeye çalışalım. Bu örnekte ikinci kaydı silmek istiyoruz. Görüldüğü gibi ilk olarak silme işlemiyle ilgili uyarı verdi:</a:t>
            </a:r>
          </a:p>
        </p:txBody>
      </p:sp>
      <p:pic>
        <p:nvPicPr>
          <p:cNvPr id="5" name="Resim 4" descr="metin, ekran görüntüsü, yazılım, bilgisayar simgesi içeren bir resim&#10;&#10;Yapay zeka tarafından oluşturulan içerik yanlış olabilir.">
            <a:extLst>
              <a:ext uri="{FF2B5EF4-FFF2-40B4-BE49-F238E27FC236}">
                <a16:creationId xmlns:a16="http://schemas.microsoft.com/office/drawing/2014/main" id="{70911B37-6982-DC37-9AB2-B1E80938AC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44444" y="1518410"/>
            <a:ext cx="8503112" cy="4972829"/>
          </a:xfrm>
          <a:prstGeom prst="rect">
            <a:avLst/>
          </a:prstGeom>
        </p:spPr>
      </p:pic>
    </p:spTree>
    <p:extLst>
      <p:ext uri="{BB962C8B-B14F-4D97-AF65-F5344CB8AC3E}">
        <p14:creationId xmlns:p14="http://schemas.microsoft.com/office/powerpoint/2010/main" val="1355309879"/>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8AAFE-F3A6-4C35-B6FE-505F360CFF32}"/>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4A9C310D-647E-243B-314D-3FA4D83C0B56}"/>
              </a:ext>
            </a:extLst>
          </p:cNvPr>
          <p:cNvSpPr>
            <a:spLocks noGrp="1"/>
          </p:cNvSpPr>
          <p:nvPr>
            <p:ph type="title"/>
          </p:nvPr>
        </p:nvSpPr>
        <p:spPr>
          <a:xfrm>
            <a:off x="838200" y="248495"/>
            <a:ext cx="10515600" cy="432542"/>
          </a:xfrm>
        </p:spPr>
        <p:txBody>
          <a:bodyPr>
            <a:noAutofit/>
          </a:bodyPr>
          <a:lstStyle/>
          <a:p>
            <a:pPr algn="ctr"/>
            <a:r>
              <a:rPr lang="tr-TR" sz="2800" dirty="0"/>
              <a:t>SİLME İŞLEMİ (Delete Operation)</a:t>
            </a:r>
          </a:p>
        </p:txBody>
      </p:sp>
      <p:sp>
        <p:nvSpPr>
          <p:cNvPr id="3" name="İçerik Yer Tutucusu 2">
            <a:extLst>
              <a:ext uri="{FF2B5EF4-FFF2-40B4-BE49-F238E27FC236}">
                <a16:creationId xmlns:a16="http://schemas.microsoft.com/office/drawing/2014/main" id="{C70781BA-C98C-6BC9-77AE-91FE17592E62}"/>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Evet dedikten sonra silme işlemi başarılı olduğu için bize uyarı veriyor:</a:t>
            </a:r>
          </a:p>
        </p:txBody>
      </p:sp>
      <p:pic>
        <p:nvPicPr>
          <p:cNvPr id="5" name="Resim 4" descr="metin, ekran görüntüsü, yazılım, ekran, görüntüleme içeren bir resim&#10;&#10;Yapay zeka tarafından oluşturulan içerik yanlış olabilir.">
            <a:extLst>
              <a:ext uri="{FF2B5EF4-FFF2-40B4-BE49-F238E27FC236}">
                <a16:creationId xmlns:a16="http://schemas.microsoft.com/office/drawing/2014/main" id="{FE0DA5BF-9DD7-5ACB-3E90-E98211ADA1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98059" y="1397140"/>
            <a:ext cx="8995881" cy="5334400"/>
          </a:xfrm>
          <a:prstGeom prst="rect">
            <a:avLst/>
          </a:prstGeom>
        </p:spPr>
      </p:pic>
    </p:spTree>
    <p:extLst>
      <p:ext uri="{BB962C8B-B14F-4D97-AF65-F5344CB8AC3E}">
        <p14:creationId xmlns:p14="http://schemas.microsoft.com/office/powerpoint/2010/main" val="2619043075"/>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12E8A6-C968-298E-CEE5-28D3C5F4F1B6}"/>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F03B577D-A84C-EE35-5875-244608971915}"/>
              </a:ext>
            </a:extLst>
          </p:cNvPr>
          <p:cNvSpPr>
            <a:spLocks noGrp="1"/>
          </p:cNvSpPr>
          <p:nvPr>
            <p:ph type="title"/>
          </p:nvPr>
        </p:nvSpPr>
        <p:spPr>
          <a:xfrm>
            <a:off x="838200" y="248495"/>
            <a:ext cx="10515600" cy="432542"/>
          </a:xfrm>
        </p:spPr>
        <p:txBody>
          <a:bodyPr>
            <a:noAutofit/>
          </a:bodyPr>
          <a:lstStyle/>
          <a:p>
            <a:pPr algn="ctr"/>
            <a:r>
              <a:rPr lang="tr-TR" sz="2800" dirty="0"/>
              <a:t>SİLME İŞLEMİ (Delete Operation)</a:t>
            </a:r>
          </a:p>
        </p:txBody>
      </p:sp>
      <p:sp>
        <p:nvSpPr>
          <p:cNvPr id="3" name="İçerik Yer Tutucusu 2">
            <a:extLst>
              <a:ext uri="{FF2B5EF4-FFF2-40B4-BE49-F238E27FC236}">
                <a16:creationId xmlns:a16="http://schemas.microsoft.com/office/drawing/2014/main" id="{211AE384-9D6A-4C8A-026A-9FEDA9BB58A5}"/>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Uyarıyı kapattıktan sonra </a:t>
            </a:r>
            <a:r>
              <a:rPr lang="tr-TR" sz="1800" dirty="0" err="1"/>
              <a:t>datagridview’in</a:t>
            </a:r>
            <a:r>
              <a:rPr lang="tr-TR" sz="1800" dirty="0"/>
              <a:t> güncellendiğini ve kaydın artık olmadığını görebiliyoruz:</a:t>
            </a:r>
          </a:p>
        </p:txBody>
      </p:sp>
      <p:pic>
        <p:nvPicPr>
          <p:cNvPr id="5" name="Resim 4" descr="metin, elektronik donanım, ekran görüntüsü, ekran, görüntüleme içeren bir resim&#10;&#10;Yapay zeka tarafından oluşturulan içerik yanlış olabilir.">
            <a:extLst>
              <a:ext uri="{FF2B5EF4-FFF2-40B4-BE49-F238E27FC236}">
                <a16:creationId xmlns:a16="http://schemas.microsoft.com/office/drawing/2014/main" id="{16A0F5B0-483D-D8BB-0238-ED36982365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10125" y="1291979"/>
            <a:ext cx="8971750" cy="5317526"/>
          </a:xfrm>
          <a:prstGeom prst="rect">
            <a:avLst/>
          </a:prstGeom>
        </p:spPr>
      </p:pic>
    </p:spTree>
    <p:extLst>
      <p:ext uri="{BB962C8B-B14F-4D97-AF65-F5344CB8AC3E}">
        <p14:creationId xmlns:p14="http://schemas.microsoft.com/office/powerpoint/2010/main" val="423075044"/>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65456-AF9A-973D-F7FE-D09C7DEEED9F}"/>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959C8D7D-F171-115D-2476-E5A7B0E3B3D7}"/>
              </a:ext>
            </a:extLst>
          </p:cNvPr>
          <p:cNvSpPr>
            <a:spLocks noGrp="1"/>
          </p:cNvSpPr>
          <p:nvPr>
            <p:ph type="title"/>
          </p:nvPr>
        </p:nvSpPr>
        <p:spPr>
          <a:xfrm>
            <a:off x="838200" y="248495"/>
            <a:ext cx="10515600" cy="432542"/>
          </a:xfrm>
        </p:spPr>
        <p:txBody>
          <a:bodyPr>
            <a:noAutofit/>
          </a:bodyPr>
          <a:lstStyle/>
          <a:p>
            <a:pPr algn="ctr"/>
            <a:r>
              <a:rPr lang="tr-TR" sz="2800" dirty="0"/>
              <a:t>EK İŞLEMLER-LINQ Sorguları</a:t>
            </a:r>
          </a:p>
        </p:txBody>
      </p:sp>
      <p:sp>
        <p:nvSpPr>
          <p:cNvPr id="3" name="İçerik Yer Tutucusu 2">
            <a:extLst>
              <a:ext uri="{FF2B5EF4-FFF2-40B4-BE49-F238E27FC236}">
                <a16:creationId xmlns:a16="http://schemas.microsoft.com/office/drawing/2014/main" id="{5C51A430-EB42-C21D-2608-478C0A97A7EE}"/>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Bu işlemle birlikte veri tabanımızdaki temel işlemlerin tamamını bitirmiş olduk.</a:t>
            </a:r>
          </a:p>
          <a:p>
            <a:pPr marL="0" indent="0" algn="just">
              <a:lnSpc>
                <a:spcPct val="100000"/>
              </a:lnSpc>
              <a:spcBef>
                <a:spcPts val="600"/>
              </a:spcBef>
              <a:spcAft>
                <a:spcPts val="600"/>
              </a:spcAft>
              <a:buNone/>
            </a:pPr>
            <a:r>
              <a:rPr lang="tr-TR" sz="1800" dirty="0"/>
              <a:t>Şimdi, ikinci formumuza bir groupbox ve bu groupbox’ın içerisine de iki tane RadioButton ekliyoruz. Burada amacımız, ilk </a:t>
            </a:r>
            <a:r>
              <a:rPr lang="tr-TR" sz="1800" dirty="0" err="1"/>
              <a:t>RadioButton’a</a:t>
            </a:r>
            <a:r>
              <a:rPr lang="tr-TR" sz="1800" dirty="0"/>
              <a:t> tıklandığında bize en çok ürün alan müşterinin adını ve aldığı ürün sayısını getirsin istiyoruz.</a:t>
            </a:r>
          </a:p>
          <a:p>
            <a:pPr marL="0" indent="0" algn="just">
              <a:lnSpc>
                <a:spcPct val="100000"/>
              </a:lnSpc>
              <a:spcBef>
                <a:spcPts val="600"/>
              </a:spcBef>
              <a:spcAft>
                <a:spcPts val="600"/>
              </a:spcAft>
              <a:buNone/>
            </a:pPr>
            <a:r>
              <a:rPr lang="tr-TR" sz="1800" dirty="0"/>
              <a:t>İkinci </a:t>
            </a:r>
            <a:r>
              <a:rPr lang="tr-TR" sz="1800" dirty="0" err="1"/>
              <a:t>RadioButton’a</a:t>
            </a:r>
            <a:r>
              <a:rPr lang="tr-TR" sz="1800" dirty="0"/>
              <a:t> da tıklandığında bize aldığı ürünlerin toplam fiyatı en yüksek müşteriyi ve ürünlerin toplam fiyat bilgisini getirsin istiyoruz.</a:t>
            </a:r>
          </a:p>
          <a:p>
            <a:pPr marL="0" indent="0" algn="just">
              <a:lnSpc>
                <a:spcPct val="100000"/>
              </a:lnSpc>
              <a:spcBef>
                <a:spcPts val="600"/>
              </a:spcBef>
              <a:spcAft>
                <a:spcPts val="600"/>
              </a:spcAft>
              <a:buNone/>
            </a:pPr>
            <a:r>
              <a:rPr lang="tr-TR" sz="1800" dirty="0"/>
              <a:t>Bunları LINQ sorgusu ile yapacağız.</a:t>
            </a:r>
          </a:p>
          <a:p>
            <a:pPr marL="0" indent="0" algn="just">
              <a:lnSpc>
                <a:spcPct val="100000"/>
              </a:lnSpc>
              <a:spcBef>
                <a:spcPts val="600"/>
              </a:spcBef>
              <a:spcAft>
                <a:spcPts val="600"/>
              </a:spcAft>
              <a:buNone/>
            </a:pPr>
            <a:r>
              <a:rPr lang="tr-TR" sz="1800" dirty="0"/>
              <a:t>Bunun için 2 adet </a:t>
            </a:r>
            <a:r>
              <a:rPr lang="tr-TR" sz="1800" dirty="0" err="1"/>
              <a:t>label</a:t>
            </a:r>
            <a:r>
              <a:rPr lang="tr-TR" sz="1800" dirty="0"/>
              <a:t> bileşenine de ihtiyacımız var.</a:t>
            </a:r>
          </a:p>
          <a:p>
            <a:pPr marL="0" indent="0" algn="just">
              <a:lnSpc>
                <a:spcPct val="100000"/>
              </a:lnSpc>
              <a:spcBef>
                <a:spcPts val="600"/>
              </a:spcBef>
              <a:spcAft>
                <a:spcPts val="600"/>
              </a:spcAft>
              <a:buNone/>
            </a:pPr>
            <a:r>
              <a:rPr lang="tr-TR" sz="1800" dirty="0"/>
              <a:t>Bu sorgunun cevaplarını bu </a:t>
            </a:r>
            <a:r>
              <a:rPr lang="tr-TR" sz="1800" dirty="0" err="1"/>
              <a:t>label</a:t>
            </a:r>
            <a:r>
              <a:rPr lang="tr-TR" sz="1800" dirty="0"/>
              <a:t> değişkenlerine yazdıracağız çünkü</a:t>
            </a:r>
          </a:p>
          <a:p>
            <a:pPr marL="0" indent="0" algn="just">
              <a:lnSpc>
                <a:spcPct val="100000"/>
              </a:lnSpc>
              <a:spcBef>
                <a:spcPts val="600"/>
              </a:spcBef>
              <a:spcAft>
                <a:spcPts val="600"/>
              </a:spcAft>
              <a:buNone/>
            </a:pPr>
            <a:r>
              <a:rPr lang="tr-TR" sz="1800" dirty="0"/>
              <a:t>Bileşenlerin name (id) bilgileri şöyle olacak:</a:t>
            </a:r>
          </a:p>
          <a:p>
            <a:pPr marL="0" indent="0" algn="just">
              <a:lnSpc>
                <a:spcPct val="100000"/>
              </a:lnSpc>
              <a:spcBef>
                <a:spcPts val="600"/>
              </a:spcBef>
              <a:spcAft>
                <a:spcPts val="600"/>
              </a:spcAft>
              <a:buNone/>
            </a:pPr>
            <a:r>
              <a:rPr lang="tr-TR" sz="1800" dirty="0" err="1"/>
              <a:t>RadioButton’lar</a:t>
            </a:r>
            <a:r>
              <a:rPr lang="tr-TR" sz="1800" dirty="0"/>
              <a:t> için rd_1, rd_2 (sorgu1, sorgu2’ye karşılık gelecekler)</a:t>
            </a:r>
          </a:p>
          <a:p>
            <a:pPr marL="0" indent="0" algn="just">
              <a:lnSpc>
                <a:spcPct val="100000"/>
              </a:lnSpc>
              <a:spcBef>
                <a:spcPts val="600"/>
              </a:spcBef>
              <a:spcAft>
                <a:spcPts val="600"/>
              </a:spcAft>
              <a:buNone/>
            </a:pPr>
            <a:r>
              <a:rPr lang="tr-TR" sz="1800" dirty="0"/>
              <a:t>lbl_1, lbl_2 (yanıt1 ve yanıt2’ye karşılık gelecekler)</a:t>
            </a:r>
          </a:p>
        </p:txBody>
      </p:sp>
    </p:spTree>
    <p:extLst>
      <p:ext uri="{BB962C8B-B14F-4D97-AF65-F5344CB8AC3E}">
        <p14:creationId xmlns:p14="http://schemas.microsoft.com/office/powerpoint/2010/main" val="4067331835"/>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C0F62-0F0E-AD83-283D-A2A627CE7437}"/>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B365FF98-4A40-7DFB-2A97-DD8B22412CEB}"/>
              </a:ext>
            </a:extLst>
          </p:cNvPr>
          <p:cNvSpPr>
            <a:spLocks noGrp="1"/>
          </p:cNvSpPr>
          <p:nvPr>
            <p:ph type="title"/>
          </p:nvPr>
        </p:nvSpPr>
        <p:spPr>
          <a:xfrm>
            <a:off x="838200" y="248495"/>
            <a:ext cx="10515600" cy="432542"/>
          </a:xfrm>
        </p:spPr>
        <p:txBody>
          <a:bodyPr>
            <a:noAutofit/>
          </a:bodyPr>
          <a:lstStyle/>
          <a:p>
            <a:pPr algn="ctr"/>
            <a:r>
              <a:rPr lang="tr-TR" sz="2800" dirty="0"/>
              <a:t>EK İŞLEMLER-LINQ Sorguları</a:t>
            </a:r>
          </a:p>
        </p:txBody>
      </p:sp>
      <p:sp>
        <p:nvSpPr>
          <p:cNvPr id="3" name="İçerik Yer Tutucusu 2">
            <a:extLst>
              <a:ext uri="{FF2B5EF4-FFF2-40B4-BE49-F238E27FC236}">
                <a16:creationId xmlns:a16="http://schemas.microsoft.com/office/drawing/2014/main" id="{DEA29A4A-B031-2AE6-9223-852CAECBFF05}"/>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Ekleme işlemlerinden sonra formumuzun son hali aşağıdaki gibidir:</a:t>
            </a:r>
          </a:p>
        </p:txBody>
      </p:sp>
      <p:pic>
        <p:nvPicPr>
          <p:cNvPr id="5" name="Resim 4" descr="metin, ekran görüntüsü, yazılım, bilgisayar simgesi içeren bir resim&#10;&#10;Yapay zeka tarafından oluşturulan içerik yanlış olabilir.">
            <a:extLst>
              <a:ext uri="{FF2B5EF4-FFF2-40B4-BE49-F238E27FC236}">
                <a16:creationId xmlns:a16="http://schemas.microsoft.com/office/drawing/2014/main" id="{7F00DB67-BECD-3758-B3A8-C565511ADA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7414" y="1160393"/>
            <a:ext cx="9157172" cy="5571147"/>
          </a:xfrm>
          <a:prstGeom prst="rect">
            <a:avLst/>
          </a:prstGeom>
        </p:spPr>
      </p:pic>
    </p:spTree>
    <p:extLst>
      <p:ext uri="{BB962C8B-B14F-4D97-AF65-F5344CB8AC3E}">
        <p14:creationId xmlns:p14="http://schemas.microsoft.com/office/powerpoint/2010/main" val="857151895"/>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4AE70E-0C1B-95C8-E140-4292DD49A45F}"/>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EEFA9785-D38B-0DC3-71C8-4CD1E6163ABD}"/>
              </a:ext>
            </a:extLst>
          </p:cNvPr>
          <p:cNvSpPr>
            <a:spLocks noGrp="1"/>
          </p:cNvSpPr>
          <p:nvPr>
            <p:ph type="title"/>
          </p:nvPr>
        </p:nvSpPr>
        <p:spPr>
          <a:xfrm>
            <a:off x="838200" y="248495"/>
            <a:ext cx="10515600" cy="432542"/>
          </a:xfrm>
        </p:spPr>
        <p:txBody>
          <a:bodyPr>
            <a:noAutofit/>
          </a:bodyPr>
          <a:lstStyle/>
          <a:p>
            <a:pPr algn="ctr"/>
            <a:r>
              <a:rPr lang="tr-TR" sz="2800" dirty="0"/>
              <a:t>EK İŞLEMLER-LINQ Sorguları</a:t>
            </a:r>
          </a:p>
        </p:txBody>
      </p:sp>
      <p:sp>
        <p:nvSpPr>
          <p:cNvPr id="3" name="İçerik Yer Tutucusu 2">
            <a:extLst>
              <a:ext uri="{FF2B5EF4-FFF2-40B4-BE49-F238E27FC236}">
                <a16:creationId xmlns:a16="http://schemas.microsoft.com/office/drawing/2014/main" id="{4214D786-F80D-E807-ACC2-EB719CCED0B1}"/>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err="1"/>
              <a:t>RadioButton’lara</a:t>
            </a:r>
            <a:r>
              <a:rPr lang="tr-TR" sz="1800" dirty="0"/>
              <a:t> tıklandığı zaman bu işlemler yapılsın istediğimiz için </a:t>
            </a:r>
            <a:r>
              <a:rPr lang="tr-TR" sz="1800" dirty="0" err="1"/>
              <a:t>RadioButton’ların</a:t>
            </a:r>
            <a:r>
              <a:rPr lang="tr-TR" sz="1800" dirty="0"/>
              <a:t> </a:t>
            </a:r>
            <a:r>
              <a:rPr lang="tr-TR" sz="1800" dirty="0" err="1"/>
              <a:t>CheckedChanged</a:t>
            </a:r>
            <a:r>
              <a:rPr lang="tr-TR" sz="1800" dirty="0"/>
              <a:t> olayına (</a:t>
            </a:r>
            <a:r>
              <a:rPr lang="tr-TR" sz="1800" dirty="0" err="1"/>
              <a:t>event</a:t>
            </a:r>
            <a:r>
              <a:rPr lang="tr-TR" sz="1800" dirty="0"/>
              <a:t>) bu kodu yazacağız. Şimdi ilk olarak form üzerindeki 1. </a:t>
            </a:r>
            <a:r>
              <a:rPr lang="tr-TR" sz="1800" dirty="0" err="1"/>
              <a:t>radiobutton’umuza</a:t>
            </a:r>
            <a:r>
              <a:rPr lang="tr-TR" sz="1800" dirty="0"/>
              <a:t> bir defa sol tıklayıp sağ alt taraftaki Özellikler (Properties) penceresinden şimşek simgesine tıklayıp </a:t>
            </a:r>
            <a:r>
              <a:rPr lang="tr-TR" sz="1800" dirty="0" err="1"/>
              <a:t>CheckedChanged</a:t>
            </a:r>
            <a:r>
              <a:rPr lang="tr-TR" sz="1800" dirty="0"/>
              <a:t> yazan yerin yanındaki boş alana çift tıklayınız.</a:t>
            </a:r>
          </a:p>
        </p:txBody>
      </p:sp>
      <p:pic>
        <p:nvPicPr>
          <p:cNvPr id="5" name="Resim 4" descr="metin, ekran görüntüsü, yazılım, multimedya yazılımı içeren bir resim&#10;&#10;Yapay zeka tarafından oluşturulan içerik yanlış olabilir.">
            <a:extLst>
              <a:ext uri="{FF2B5EF4-FFF2-40B4-BE49-F238E27FC236}">
                <a16:creationId xmlns:a16="http://schemas.microsoft.com/office/drawing/2014/main" id="{44BD882C-ADFF-5AD3-B6CD-B8D7973F49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27788" y="2129860"/>
            <a:ext cx="6336424" cy="4766949"/>
          </a:xfrm>
          <a:prstGeom prst="rect">
            <a:avLst/>
          </a:prstGeom>
        </p:spPr>
      </p:pic>
    </p:spTree>
    <p:extLst>
      <p:ext uri="{BB962C8B-B14F-4D97-AF65-F5344CB8AC3E}">
        <p14:creationId xmlns:p14="http://schemas.microsoft.com/office/powerpoint/2010/main" val="2841093240"/>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2B051-186B-7081-ECE7-E49CE7ACCFC7}"/>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19A202F0-DC22-D5D1-9E90-0E4B99DDA8AD}"/>
              </a:ext>
            </a:extLst>
          </p:cNvPr>
          <p:cNvSpPr>
            <a:spLocks noGrp="1"/>
          </p:cNvSpPr>
          <p:nvPr>
            <p:ph type="title"/>
          </p:nvPr>
        </p:nvSpPr>
        <p:spPr>
          <a:xfrm>
            <a:off x="838200" y="248495"/>
            <a:ext cx="10515600" cy="432542"/>
          </a:xfrm>
        </p:spPr>
        <p:txBody>
          <a:bodyPr>
            <a:noAutofit/>
          </a:bodyPr>
          <a:lstStyle/>
          <a:p>
            <a:pPr algn="ctr"/>
            <a:r>
              <a:rPr lang="tr-TR" sz="2800" dirty="0"/>
              <a:t>EK İŞLEMLER-LINQ Sorguları</a:t>
            </a:r>
          </a:p>
        </p:txBody>
      </p:sp>
      <p:sp>
        <p:nvSpPr>
          <p:cNvPr id="3" name="İçerik Yer Tutucusu 2">
            <a:extLst>
              <a:ext uri="{FF2B5EF4-FFF2-40B4-BE49-F238E27FC236}">
                <a16:creationId xmlns:a16="http://schemas.microsoft.com/office/drawing/2014/main" id="{69644622-57BE-21A8-EA9C-65355A216677}"/>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Her zamanki gibi önce try-catch bloklarını açıyoruz:</a:t>
            </a:r>
          </a:p>
          <a:p>
            <a:pPr marL="0" indent="0">
              <a:buNone/>
            </a:pPr>
            <a:r>
              <a:rPr lang="en-US" sz="1800" dirty="0">
                <a:solidFill>
                  <a:srgbClr val="0000FF"/>
                </a:solidFill>
                <a:highlight>
                  <a:srgbClr val="FFFFFF"/>
                </a:highlight>
                <a:latin typeface="Cascadia Mono" panose="020B0609020000020004" pitchFamily="49" charset="0"/>
              </a:rPr>
              <a:t>private</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void</a:t>
            </a:r>
            <a:r>
              <a:rPr lang="en-US" sz="1800" dirty="0">
                <a:solidFill>
                  <a:srgbClr val="000000"/>
                </a:solidFill>
                <a:highlight>
                  <a:srgbClr val="FFFFFF"/>
                </a:highlight>
                <a:latin typeface="Cascadia Mono" panose="020B0609020000020004" pitchFamily="49" charset="0"/>
              </a:rPr>
              <a:t> rd_1_CheckedChanged(</a:t>
            </a:r>
            <a:r>
              <a:rPr lang="en-US" sz="1800" dirty="0">
                <a:solidFill>
                  <a:srgbClr val="0000FF"/>
                </a:solidFill>
                <a:highlight>
                  <a:srgbClr val="FFFFFF"/>
                </a:highlight>
                <a:latin typeface="Cascadia Mono" panose="020B0609020000020004" pitchFamily="49" charset="0"/>
              </a:rPr>
              <a:t>object</a:t>
            </a:r>
            <a:r>
              <a:rPr lang="en-US" sz="1800" dirty="0">
                <a:solidFill>
                  <a:srgbClr val="000000"/>
                </a:solidFill>
                <a:highlight>
                  <a:srgbClr val="FFFFFF"/>
                </a:highlight>
                <a:latin typeface="Cascadia Mono" panose="020B0609020000020004" pitchFamily="49" charset="0"/>
              </a:rPr>
              <a:t> sender, </a:t>
            </a:r>
            <a:r>
              <a:rPr lang="en-US" sz="1800" dirty="0" err="1">
                <a:solidFill>
                  <a:srgbClr val="2B91AF"/>
                </a:solidFill>
                <a:highlight>
                  <a:srgbClr val="FFFFFF"/>
                </a:highlight>
                <a:latin typeface="Cascadia Mono" panose="020B0609020000020004" pitchFamily="49" charset="0"/>
              </a:rPr>
              <a:t>EventArgs</a:t>
            </a:r>
            <a:r>
              <a:rPr lang="en-US" sz="1800" dirty="0">
                <a:solidFill>
                  <a:srgbClr val="000000"/>
                </a:solidFill>
                <a:highlight>
                  <a:srgbClr val="FFFFFF"/>
                </a:highlight>
                <a:latin typeface="Cascadia Mono" panose="020B0609020000020004" pitchFamily="49" charset="0"/>
              </a:rPr>
              <a:t> e)</a:t>
            </a:r>
          </a:p>
          <a:p>
            <a:pPr marL="0" indent="0">
              <a:buNone/>
            </a:pP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0000FF"/>
                </a:solidFill>
                <a:highlight>
                  <a:srgbClr val="FFFFFF"/>
                </a:highlight>
                <a:latin typeface="Cascadia Mono" panose="020B0609020000020004" pitchFamily="49" charset="0"/>
              </a:rPr>
              <a:t>try</a:t>
            </a:r>
            <a:endParaRPr lang="tr-TR" sz="1800" dirty="0">
              <a:solidFill>
                <a:srgbClr val="0000FF"/>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    {</a:t>
            </a:r>
          </a:p>
          <a:p>
            <a:pPr marL="0" indent="0">
              <a:buNone/>
            </a:pPr>
            <a:endParaRPr lang="tr-TR" sz="1800" dirty="0">
              <a:solidFill>
                <a:srgbClr val="000000"/>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    }</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0000FF"/>
                </a:solidFill>
                <a:highlight>
                  <a:srgbClr val="FFFFFF"/>
                </a:highlight>
                <a:latin typeface="Cascadia Mono" panose="020B0609020000020004" pitchFamily="49" charset="0"/>
              </a:rPr>
              <a:t>catch</a:t>
            </a: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Exception</a:t>
            </a: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ex</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p>
          <a:p>
            <a:pPr marL="0" indent="0">
              <a:buNone/>
            </a:pPr>
            <a:endParaRPr lang="tr-TR" sz="1800" dirty="0">
              <a:solidFill>
                <a:srgbClr val="000000"/>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MessageBox</a:t>
            </a:r>
            <a:r>
              <a:rPr lang="tr-TR" sz="1800" dirty="0" err="1">
                <a:solidFill>
                  <a:srgbClr val="000000"/>
                </a:solidFill>
                <a:highlight>
                  <a:srgbClr val="FFFFFF"/>
                </a:highlight>
                <a:latin typeface="Cascadia Mono" panose="020B0609020000020004" pitchFamily="49" charset="0"/>
              </a:rPr>
              <a:t>.Show</a:t>
            </a:r>
            <a:r>
              <a:rPr lang="tr-TR" sz="1800" dirty="0">
                <a:solidFill>
                  <a:srgbClr val="000000"/>
                </a:solidFill>
                <a:highlight>
                  <a:srgbClr val="FFFFFF"/>
                </a:highlight>
                <a:latin typeface="Cascadia Mono" panose="020B0609020000020004" pitchFamily="49" charset="0"/>
              </a:rPr>
              <a:t>(</a:t>
            </a:r>
            <a:r>
              <a:rPr lang="tr-TR" sz="1800" dirty="0">
                <a:solidFill>
                  <a:srgbClr val="A31515"/>
                </a:solidFill>
                <a:highlight>
                  <a:srgbClr val="FFFFFF"/>
                </a:highlight>
                <a:latin typeface="Cascadia Mono" panose="020B0609020000020004" pitchFamily="49" charset="0"/>
              </a:rPr>
              <a:t>$"Hata = </a:t>
            </a:r>
            <a:r>
              <a:rPr lang="tr-TR" sz="1800" dirty="0">
                <a:solidFill>
                  <a:srgbClr val="000000"/>
                </a:solidFill>
                <a:highlight>
                  <a:srgbClr val="FFFFFF"/>
                </a:highlight>
                <a:latin typeface="Cascadia Mono" panose="020B0609020000020004" pitchFamily="49" charset="0"/>
              </a:rPr>
              <a:t>{</a:t>
            </a:r>
            <a:r>
              <a:rPr lang="tr-TR" sz="1800" dirty="0" err="1">
                <a:solidFill>
                  <a:srgbClr val="000000"/>
                </a:solidFill>
                <a:highlight>
                  <a:srgbClr val="FFFFFF"/>
                </a:highlight>
                <a:latin typeface="Cascadia Mono" panose="020B0609020000020004" pitchFamily="49" charset="0"/>
              </a:rPr>
              <a:t>ex.Message</a:t>
            </a:r>
            <a:r>
              <a:rPr lang="tr-TR" sz="1800" dirty="0">
                <a:solidFill>
                  <a:srgbClr val="000000"/>
                </a:solidFill>
                <a:highlight>
                  <a:srgbClr val="FFFFFF"/>
                </a:highlight>
                <a:latin typeface="Cascadia Mono" panose="020B0609020000020004" pitchFamily="49" charset="0"/>
              </a:rPr>
              <a:t>}</a:t>
            </a:r>
            <a:r>
              <a:rPr lang="tr-TR" sz="1800" dirty="0">
                <a:solidFill>
                  <a:srgbClr val="A31515"/>
                </a:solidFill>
                <a:highlight>
                  <a:srgbClr val="FFFFFF"/>
                </a:highlight>
                <a:latin typeface="Cascadia Mono" panose="020B0609020000020004" pitchFamily="49" charset="0"/>
              </a:rPr>
              <a:t>"</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p>
          <a:p>
            <a:pPr marL="0" indent="0">
              <a:buNone/>
            </a:pP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Daha sonra </a:t>
            </a:r>
            <a:r>
              <a:rPr lang="tr-TR" sz="1800" dirty="0" err="1">
                <a:solidFill>
                  <a:srgbClr val="000000"/>
                </a:solidFill>
                <a:highlight>
                  <a:srgbClr val="FFFFFF"/>
                </a:highlight>
                <a:latin typeface="Cascadia Mono" panose="020B0609020000020004" pitchFamily="49" charset="0"/>
              </a:rPr>
              <a:t>try</a:t>
            </a:r>
            <a:r>
              <a:rPr lang="tr-TR" sz="1800" dirty="0">
                <a:solidFill>
                  <a:srgbClr val="000000"/>
                </a:solidFill>
                <a:highlight>
                  <a:srgbClr val="FFFFFF"/>
                </a:highlight>
                <a:latin typeface="Cascadia Mono" panose="020B0609020000020004" pitchFamily="49" charset="0"/>
              </a:rPr>
              <a:t> blokları içerisine diğer sayfadaki kodları yazıyoruz</a:t>
            </a:r>
            <a:endParaRPr lang="tr-TR" sz="1800" dirty="0"/>
          </a:p>
        </p:txBody>
      </p:sp>
    </p:spTree>
    <p:extLst>
      <p:ext uri="{BB962C8B-B14F-4D97-AF65-F5344CB8AC3E}">
        <p14:creationId xmlns:p14="http://schemas.microsoft.com/office/powerpoint/2010/main" val="2368044131"/>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BC7D7E-916D-1BCC-12D7-C39E9E541C19}"/>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32C5D181-F8CC-5B8D-9420-D39DED5B1BF3}"/>
              </a:ext>
            </a:extLst>
          </p:cNvPr>
          <p:cNvSpPr>
            <a:spLocks noGrp="1"/>
          </p:cNvSpPr>
          <p:nvPr>
            <p:ph type="title"/>
          </p:nvPr>
        </p:nvSpPr>
        <p:spPr>
          <a:xfrm>
            <a:off x="838200" y="248495"/>
            <a:ext cx="10515600" cy="432542"/>
          </a:xfrm>
        </p:spPr>
        <p:txBody>
          <a:bodyPr>
            <a:noAutofit/>
          </a:bodyPr>
          <a:lstStyle/>
          <a:p>
            <a:pPr algn="ctr"/>
            <a:r>
              <a:rPr lang="tr-TR" sz="2800" dirty="0"/>
              <a:t>EK İŞLEMLER-LINQ Sorguları</a:t>
            </a:r>
          </a:p>
        </p:txBody>
      </p:sp>
      <p:sp>
        <p:nvSpPr>
          <p:cNvPr id="3" name="İçerik Yer Tutucusu 2">
            <a:extLst>
              <a:ext uri="{FF2B5EF4-FFF2-40B4-BE49-F238E27FC236}">
                <a16:creationId xmlns:a16="http://schemas.microsoft.com/office/drawing/2014/main" id="{AF6CFF94-F30E-1F47-7690-E586E138CA47}"/>
              </a:ext>
            </a:extLst>
          </p:cNvPr>
          <p:cNvSpPr>
            <a:spLocks noGrp="1"/>
          </p:cNvSpPr>
          <p:nvPr>
            <p:ph idx="1"/>
          </p:nvPr>
        </p:nvSpPr>
        <p:spPr>
          <a:xfrm>
            <a:off x="838200" y="846306"/>
            <a:ext cx="10515600" cy="5885234"/>
          </a:xfrm>
        </p:spPr>
        <p:txBody>
          <a:bodyPr>
            <a:normAutofit fontScale="47500" lnSpcReduction="20000"/>
          </a:bodyPr>
          <a:lstStyle/>
          <a:p>
            <a:pPr marL="0" indent="0">
              <a:buNone/>
            </a:pPr>
            <a:r>
              <a:rPr lang="tr-TR" sz="1800" dirty="0">
                <a:solidFill>
                  <a:srgbClr val="008000"/>
                </a:solidFill>
                <a:highlight>
                  <a:srgbClr val="FFFFFF"/>
                </a:highlight>
                <a:latin typeface="Cascadia Mono" panose="020B0609020000020004" pitchFamily="49" charset="0"/>
              </a:rPr>
              <a:t>// Eğer radioButton1 seçiliyse işlem yap</a:t>
            </a:r>
          </a:p>
          <a:p>
            <a:pPr marL="0" indent="0">
              <a:buNone/>
            </a:pPr>
            <a:r>
              <a:rPr lang="tr-TR" sz="1800" dirty="0">
                <a:solidFill>
                  <a:srgbClr val="0000FF"/>
                </a:solidFill>
                <a:highlight>
                  <a:srgbClr val="FFFFFF"/>
                </a:highlight>
                <a:latin typeface="Cascadia Mono" panose="020B0609020000020004" pitchFamily="49" charset="0"/>
              </a:rPr>
              <a:t>if</a:t>
            </a:r>
            <a:r>
              <a:rPr lang="tr-TR" sz="1800" dirty="0">
                <a:solidFill>
                  <a:srgbClr val="000000"/>
                </a:solidFill>
                <a:highlight>
                  <a:srgbClr val="FFFFFF"/>
                </a:highlight>
                <a:latin typeface="Cascadia Mono" panose="020B0609020000020004" pitchFamily="49" charset="0"/>
              </a:rPr>
              <a:t> (rd_1.Checked)</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a:solidFill>
                  <a:srgbClr val="008000"/>
                </a:solidFill>
                <a:highlight>
                  <a:srgbClr val="FFFFFF"/>
                </a:highlight>
                <a:latin typeface="Cascadia Mono" panose="020B0609020000020004" pitchFamily="49" charset="0"/>
              </a:rPr>
              <a:t>// CustomerProduct tablosunu müşteriye göre grupla</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a:solidFill>
                  <a:srgbClr val="0000FF"/>
                </a:solidFill>
                <a:highlight>
                  <a:srgbClr val="FFFFFF"/>
                </a:highlight>
                <a:latin typeface="Cascadia Mono" panose="020B0609020000020004" pitchFamily="49" charset="0"/>
              </a:rPr>
              <a:t>var</a:t>
            </a: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result</a:t>
            </a:r>
            <a:r>
              <a:rPr lang="tr-TR" sz="1800" dirty="0">
                <a:solidFill>
                  <a:srgbClr val="000000"/>
                </a:solidFill>
                <a:highlight>
                  <a:srgbClr val="FFFFFF"/>
                </a:highlight>
                <a:latin typeface="Cascadia Mono" panose="020B0609020000020004" pitchFamily="49" charset="0"/>
              </a:rPr>
              <a:t> = </a:t>
            </a:r>
            <a:r>
              <a:rPr lang="tr-TR" sz="1800" dirty="0" err="1">
                <a:solidFill>
                  <a:srgbClr val="000000"/>
                </a:solidFill>
                <a:highlight>
                  <a:srgbClr val="FFFFFF"/>
                </a:highlight>
                <a:latin typeface="Cascadia Mono" panose="020B0609020000020004" pitchFamily="49" charset="0"/>
              </a:rPr>
              <a:t>db.CustomerProducts</a:t>
            </a:r>
            <a:endParaRPr lang="tr-TR" sz="1800" dirty="0">
              <a:solidFill>
                <a:srgbClr val="000000"/>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GroupBy</a:t>
            </a:r>
            <a:r>
              <a:rPr lang="tr-TR" sz="1800" dirty="0">
                <a:solidFill>
                  <a:srgbClr val="000000"/>
                </a:solidFill>
                <a:highlight>
                  <a:srgbClr val="FFFFFF"/>
                </a:highlight>
                <a:latin typeface="Cascadia Mono" panose="020B0609020000020004" pitchFamily="49" charset="0"/>
              </a:rPr>
              <a:t>(</a:t>
            </a:r>
            <a:r>
              <a:rPr lang="tr-TR" sz="1800" dirty="0" err="1">
                <a:solidFill>
                  <a:srgbClr val="000000"/>
                </a:solidFill>
                <a:highlight>
                  <a:srgbClr val="FFFFFF"/>
                </a:highlight>
                <a:latin typeface="Cascadia Mono" panose="020B0609020000020004" pitchFamily="49" charset="0"/>
              </a:rPr>
              <a:t>cp</a:t>
            </a:r>
            <a:r>
              <a:rPr lang="tr-TR" sz="1800" dirty="0">
                <a:solidFill>
                  <a:srgbClr val="000000"/>
                </a:solidFill>
                <a:highlight>
                  <a:srgbClr val="FFFFFF"/>
                </a:highlight>
                <a:latin typeface="Cascadia Mono" panose="020B0609020000020004" pitchFamily="49" charset="0"/>
              </a:rPr>
              <a:t> =&gt; </a:t>
            </a:r>
            <a:r>
              <a:rPr lang="tr-TR" sz="1800" dirty="0" err="1">
                <a:solidFill>
                  <a:srgbClr val="0000FF"/>
                </a:solidFill>
                <a:highlight>
                  <a:srgbClr val="FFFFFF"/>
                </a:highlight>
                <a:latin typeface="Cascadia Mono" panose="020B0609020000020004" pitchFamily="49" charset="0"/>
              </a:rPr>
              <a:t>new</a:t>
            </a:r>
            <a:endParaRPr lang="tr-TR" sz="1800" dirty="0">
              <a:solidFill>
                <a:srgbClr val="0000FF"/>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        {   </a:t>
            </a:r>
            <a:r>
              <a:rPr lang="tr-TR" sz="1800" dirty="0" err="1">
                <a:solidFill>
                  <a:srgbClr val="000000"/>
                </a:solidFill>
                <a:highlight>
                  <a:srgbClr val="FFFFFF"/>
                </a:highlight>
                <a:latin typeface="Cascadia Mono" panose="020B0609020000020004" pitchFamily="49" charset="0"/>
              </a:rPr>
              <a:t>cp.Customer.Customer_Id</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cp.Customer.Customer_Name</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cp.Customer.Customer_Surname</a:t>
            </a:r>
            <a:endParaRPr lang="tr-TR" sz="1800" dirty="0">
              <a:solidFill>
                <a:srgbClr val="000000"/>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        })</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a:solidFill>
                  <a:srgbClr val="008000"/>
                </a:solidFill>
                <a:highlight>
                  <a:srgbClr val="FFFFFF"/>
                </a:highlight>
                <a:latin typeface="Cascadia Mono" panose="020B0609020000020004" pitchFamily="49" charset="0"/>
              </a:rPr>
              <a:t>// Her grup için müşteri adı, soyadı ve toplam ürün sayısını al</a:t>
            </a:r>
          </a:p>
          <a:p>
            <a:pPr marL="0" indent="0">
              <a:buNone/>
            </a:pPr>
            <a:r>
              <a:rPr lang="tr-TR" sz="1800" dirty="0">
                <a:solidFill>
                  <a:srgbClr val="000000"/>
                </a:solidFill>
                <a:highlight>
                  <a:srgbClr val="FFFFFF"/>
                </a:highlight>
                <a:latin typeface="Cascadia Mono" panose="020B0609020000020004" pitchFamily="49" charset="0"/>
              </a:rPr>
              <a:t>        .Select(g =&gt; </a:t>
            </a:r>
            <a:r>
              <a:rPr lang="tr-TR" sz="1800" dirty="0" err="1">
                <a:solidFill>
                  <a:srgbClr val="0000FF"/>
                </a:solidFill>
                <a:highlight>
                  <a:srgbClr val="FFFFFF"/>
                </a:highlight>
                <a:latin typeface="Cascadia Mono" panose="020B0609020000020004" pitchFamily="49" charset="0"/>
              </a:rPr>
              <a:t>new</a:t>
            </a:r>
            <a:endParaRPr lang="tr-TR" sz="1800" dirty="0">
              <a:solidFill>
                <a:srgbClr val="0000FF"/>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        {</a:t>
            </a:r>
            <a:r>
              <a:rPr lang="en-US" sz="1800" dirty="0">
                <a:solidFill>
                  <a:srgbClr val="000000"/>
                </a:solidFill>
                <a:highlight>
                  <a:srgbClr val="FFFFFF"/>
                </a:highlight>
                <a:latin typeface="Cascadia Mono" panose="020B0609020000020004" pitchFamily="49" charset="0"/>
              </a:rPr>
              <a:t>   </a:t>
            </a:r>
            <a:r>
              <a:rPr lang="en-US" sz="1800" dirty="0" err="1">
                <a:solidFill>
                  <a:srgbClr val="000000"/>
                </a:solidFill>
                <a:highlight>
                  <a:srgbClr val="FFFFFF"/>
                </a:highlight>
                <a:latin typeface="Cascadia Mono" panose="020B0609020000020004" pitchFamily="49" charset="0"/>
              </a:rPr>
              <a:t>FullName</a:t>
            </a:r>
            <a:r>
              <a:rPr lang="en-US" sz="1800" dirty="0">
                <a:solidFill>
                  <a:srgbClr val="000000"/>
                </a:solidFill>
                <a:highlight>
                  <a:srgbClr val="FFFFFF"/>
                </a:highlight>
                <a:latin typeface="Cascadia Mono" panose="020B0609020000020004" pitchFamily="49" charset="0"/>
              </a:rPr>
              <a:t> = </a:t>
            </a:r>
            <a:r>
              <a:rPr lang="en-US" sz="1800" dirty="0" err="1">
                <a:solidFill>
                  <a:srgbClr val="000000"/>
                </a:solidFill>
                <a:highlight>
                  <a:srgbClr val="FFFFFF"/>
                </a:highlight>
                <a:latin typeface="Cascadia Mono" panose="020B0609020000020004" pitchFamily="49" charset="0"/>
              </a:rPr>
              <a:t>g.Key.Customer_Name</a:t>
            </a:r>
            <a:r>
              <a:rPr lang="en-US" sz="1800" dirty="0">
                <a:solidFill>
                  <a:srgbClr val="000000"/>
                </a:solidFill>
                <a:highlight>
                  <a:srgbClr val="FFFFFF"/>
                </a:highlight>
                <a:latin typeface="Cascadia Mono" panose="020B0609020000020004" pitchFamily="49" charset="0"/>
              </a:rPr>
              <a:t> + </a:t>
            </a:r>
            <a:r>
              <a:rPr lang="en-US" sz="1800" dirty="0">
                <a:solidFill>
                  <a:srgbClr val="A31515"/>
                </a:solidFill>
                <a:highlight>
                  <a:srgbClr val="FFFFFF"/>
                </a:highlight>
                <a:latin typeface="Cascadia Mono" panose="020B0609020000020004" pitchFamily="49" charset="0"/>
              </a:rPr>
              <a:t>" "</a:t>
            </a:r>
            <a:r>
              <a:rPr lang="en-US" sz="1800" dirty="0">
                <a:solidFill>
                  <a:srgbClr val="000000"/>
                </a:solidFill>
                <a:highlight>
                  <a:srgbClr val="FFFFFF"/>
                </a:highlight>
                <a:latin typeface="Cascadia Mono" panose="020B0609020000020004" pitchFamily="49" charset="0"/>
              </a:rPr>
              <a:t> + </a:t>
            </a:r>
            <a:r>
              <a:rPr lang="en-US" sz="1800" dirty="0" err="1">
                <a:solidFill>
                  <a:srgbClr val="000000"/>
                </a:solidFill>
                <a:highlight>
                  <a:srgbClr val="FFFFFF"/>
                </a:highlight>
                <a:latin typeface="Cascadia Mono" panose="020B0609020000020004" pitchFamily="49" charset="0"/>
              </a:rPr>
              <a:t>g.Key.Customer_Surname</a:t>
            </a:r>
            <a:r>
              <a:rPr lang="en-US"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TotalCount</a:t>
            </a:r>
            <a:r>
              <a:rPr lang="tr-TR" sz="1800" dirty="0">
                <a:solidFill>
                  <a:srgbClr val="000000"/>
                </a:solidFill>
                <a:highlight>
                  <a:srgbClr val="FFFFFF"/>
                </a:highlight>
                <a:latin typeface="Cascadia Mono" panose="020B0609020000020004" pitchFamily="49" charset="0"/>
              </a:rPr>
              <a:t> = </a:t>
            </a:r>
            <a:r>
              <a:rPr lang="tr-TR" sz="1800" dirty="0" err="1">
                <a:solidFill>
                  <a:srgbClr val="000000"/>
                </a:solidFill>
                <a:highlight>
                  <a:srgbClr val="FFFFFF"/>
                </a:highlight>
                <a:latin typeface="Cascadia Mono" panose="020B0609020000020004" pitchFamily="49" charset="0"/>
              </a:rPr>
              <a:t>g.Count</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a:solidFill>
                  <a:srgbClr val="008000"/>
                </a:solidFill>
                <a:highlight>
                  <a:srgbClr val="FFFFFF"/>
                </a:highlight>
                <a:latin typeface="Cascadia Mono" panose="020B0609020000020004" pitchFamily="49" charset="0"/>
              </a:rPr>
              <a:t>// Ürün sayısına göre azalan sırala (en çok ürünü alan en üstte)</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OrderByDescending</a:t>
            </a:r>
            <a:r>
              <a:rPr lang="tr-TR" sz="1800" dirty="0">
                <a:solidFill>
                  <a:srgbClr val="000000"/>
                </a:solidFill>
                <a:highlight>
                  <a:srgbClr val="FFFFFF"/>
                </a:highlight>
                <a:latin typeface="Cascadia Mono" panose="020B0609020000020004" pitchFamily="49" charset="0"/>
              </a:rPr>
              <a:t>(x =&gt; </a:t>
            </a:r>
            <a:r>
              <a:rPr lang="tr-TR" sz="1800" dirty="0" err="1">
                <a:solidFill>
                  <a:srgbClr val="000000"/>
                </a:solidFill>
                <a:highlight>
                  <a:srgbClr val="FFFFFF"/>
                </a:highlight>
                <a:latin typeface="Cascadia Mono" panose="020B0609020000020004" pitchFamily="49" charset="0"/>
              </a:rPr>
              <a:t>x.TotalCount</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a:solidFill>
                  <a:srgbClr val="008000"/>
                </a:solidFill>
                <a:highlight>
                  <a:srgbClr val="FFFFFF"/>
                </a:highlight>
                <a:latin typeface="Cascadia Mono" panose="020B0609020000020004" pitchFamily="49" charset="0"/>
              </a:rPr>
              <a:t>// En çok ürün alan müşteriyi al</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FirstOrDefault</a:t>
            </a:r>
            <a:r>
              <a:rPr lang="tr-TR" sz="1800" dirty="0">
                <a:solidFill>
                  <a:srgbClr val="000000"/>
                </a:solidFill>
                <a:highlight>
                  <a:srgbClr val="FFFFFF"/>
                </a:highlight>
                <a:latin typeface="Cascadia Mono" panose="020B0609020000020004" pitchFamily="49" charset="0"/>
              </a:rPr>
              <a:t>();</a:t>
            </a:r>
          </a:p>
          <a:p>
            <a:pPr marL="0" indent="0">
              <a:buNone/>
            </a:pPr>
            <a:r>
              <a:rPr lang="it-IT" sz="1800" dirty="0">
                <a:solidFill>
                  <a:srgbClr val="000000"/>
                </a:solidFill>
                <a:highlight>
                  <a:srgbClr val="FFFFFF"/>
                </a:highlight>
                <a:latin typeface="Cascadia Mono" panose="020B0609020000020004" pitchFamily="49" charset="0"/>
              </a:rPr>
              <a:t>    </a:t>
            </a:r>
            <a:r>
              <a:rPr lang="it-IT" sz="1800" dirty="0">
                <a:solidFill>
                  <a:srgbClr val="008000"/>
                </a:solidFill>
                <a:highlight>
                  <a:srgbClr val="FFFFFF"/>
                </a:highlight>
                <a:latin typeface="Cascadia Mono" panose="020B0609020000020004" pitchFamily="49" charset="0"/>
              </a:rPr>
              <a:t>// Eğer sonuç varsa label1'e yaz</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a:solidFill>
                  <a:srgbClr val="0000FF"/>
                </a:solidFill>
                <a:highlight>
                  <a:srgbClr val="FFFFFF"/>
                </a:highlight>
                <a:latin typeface="Cascadia Mono" panose="020B0609020000020004" pitchFamily="49" charset="0"/>
              </a:rPr>
              <a:t>if</a:t>
            </a: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result</a:t>
            </a:r>
            <a:r>
              <a:rPr lang="tr-TR" sz="1800" dirty="0">
                <a:solidFill>
                  <a:srgbClr val="000000"/>
                </a:solidFill>
                <a:highlight>
                  <a:srgbClr val="FFFFFF"/>
                </a:highlight>
                <a:latin typeface="Cascadia Mono" panose="020B0609020000020004" pitchFamily="49" charset="0"/>
              </a:rPr>
              <a:t> != </a:t>
            </a:r>
            <a:r>
              <a:rPr lang="tr-TR" sz="1800" dirty="0" err="1">
                <a:solidFill>
                  <a:srgbClr val="0000FF"/>
                </a:solidFill>
                <a:highlight>
                  <a:srgbClr val="FFFFFF"/>
                </a:highlight>
                <a:latin typeface="Cascadia Mono" panose="020B0609020000020004" pitchFamily="49" charset="0"/>
              </a:rPr>
              <a:t>null</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p>
          <a:p>
            <a:pPr marL="0" indent="0">
              <a:buNone/>
            </a:pPr>
            <a:r>
              <a:rPr lang="tr-TR" sz="1800" dirty="0">
                <a:solidFill>
                  <a:srgbClr val="000000"/>
                </a:solidFill>
                <a:highlight>
                  <a:srgbClr val="FFFFFF"/>
                </a:highlight>
                <a:latin typeface="Cascadia Mono" panose="020B0609020000020004" pitchFamily="49" charset="0"/>
              </a:rPr>
              <a:t>        lbl_1.Text = </a:t>
            </a:r>
            <a:r>
              <a:rPr lang="tr-TR" sz="1800" dirty="0">
                <a:solidFill>
                  <a:srgbClr val="A31515"/>
                </a:solidFill>
                <a:highlight>
                  <a:srgbClr val="FFFFFF"/>
                </a:highlight>
                <a:latin typeface="Cascadia Mono" panose="020B0609020000020004" pitchFamily="49" charset="0"/>
              </a:rPr>
              <a:t>$"</a:t>
            </a:r>
            <a:r>
              <a:rPr lang="tr-TR" sz="1800" dirty="0">
                <a:solidFill>
                  <a:srgbClr val="000000"/>
                </a:solidFill>
                <a:highlight>
                  <a:srgbClr val="FFFFFF"/>
                </a:highlight>
                <a:latin typeface="Cascadia Mono" panose="020B0609020000020004" pitchFamily="49" charset="0"/>
              </a:rPr>
              <a:t>{</a:t>
            </a:r>
            <a:r>
              <a:rPr lang="tr-TR" sz="1800" dirty="0" err="1">
                <a:solidFill>
                  <a:srgbClr val="000000"/>
                </a:solidFill>
                <a:highlight>
                  <a:srgbClr val="FFFFFF"/>
                </a:highlight>
                <a:latin typeface="Cascadia Mono" panose="020B0609020000020004" pitchFamily="49" charset="0"/>
              </a:rPr>
              <a:t>result.FullName</a:t>
            </a:r>
            <a:r>
              <a:rPr lang="tr-TR" sz="1800" dirty="0">
                <a:solidFill>
                  <a:srgbClr val="000000"/>
                </a:solidFill>
                <a:highlight>
                  <a:srgbClr val="FFFFFF"/>
                </a:highlight>
                <a:latin typeface="Cascadia Mono" panose="020B0609020000020004" pitchFamily="49" charset="0"/>
              </a:rPr>
              <a:t>}</a:t>
            </a:r>
            <a:r>
              <a:rPr lang="tr-TR" sz="1800" dirty="0">
                <a:solidFill>
                  <a:srgbClr val="A31515"/>
                </a:solidFill>
                <a:highlight>
                  <a:srgbClr val="FFFFFF"/>
                </a:highlight>
                <a:latin typeface="Cascadia Mono" panose="020B0609020000020004" pitchFamily="49" charset="0"/>
              </a:rPr>
              <a:t> </a:t>
            </a:r>
            <a:r>
              <a:rPr lang="tr-TR" sz="1800" dirty="0">
                <a:solidFill>
                  <a:srgbClr val="000000"/>
                </a:solidFill>
                <a:highlight>
                  <a:srgbClr val="FFFFFF"/>
                </a:highlight>
                <a:latin typeface="Cascadia Mono" panose="020B0609020000020004" pitchFamily="49" charset="0"/>
              </a:rPr>
              <a:t>{</a:t>
            </a:r>
            <a:r>
              <a:rPr lang="tr-TR" sz="1800" dirty="0" err="1">
                <a:solidFill>
                  <a:srgbClr val="000000"/>
                </a:solidFill>
                <a:highlight>
                  <a:srgbClr val="FFFFFF"/>
                </a:highlight>
                <a:latin typeface="Cascadia Mono" panose="020B0609020000020004" pitchFamily="49" charset="0"/>
              </a:rPr>
              <a:t>result.TotalCount</a:t>
            </a:r>
            <a:r>
              <a:rPr lang="tr-TR" sz="1800" dirty="0">
                <a:solidFill>
                  <a:srgbClr val="000000"/>
                </a:solidFill>
                <a:highlight>
                  <a:srgbClr val="FFFFFF"/>
                </a:highlight>
                <a:latin typeface="Cascadia Mono" panose="020B0609020000020004" pitchFamily="49" charset="0"/>
              </a:rPr>
              <a:t>}</a:t>
            </a:r>
            <a:r>
              <a:rPr lang="tr-TR" sz="1800" dirty="0">
                <a:solidFill>
                  <a:srgbClr val="A31515"/>
                </a:solidFill>
                <a:highlight>
                  <a:srgbClr val="FFFFFF"/>
                </a:highlight>
                <a:latin typeface="Cascadia Mono" panose="020B0609020000020004" pitchFamily="49" charset="0"/>
              </a:rPr>
              <a:t> ürün almış"</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a:solidFill>
                  <a:srgbClr val="0000FF"/>
                </a:solidFill>
                <a:highlight>
                  <a:srgbClr val="FFFFFF"/>
                </a:highlight>
                <a:latin typeface="Cascadia Mono" panose="020B0609020000020004" pitchFamily="49" charset="0"/>
              </a:rPr>
              <a:t>else</a:t>
            </a:r>
          </a:p>
          <a:p>
            <a:pPr marL="0" indent="0">
              <a:buNone/>
            </a:pPr>
            <a:r>
              <a:rPr lang="tr-TR" sz="1800" dirty="0">
                <a:solidFill>
                  <a:srgbClr val="000000"/>
                </a:solidFill>
                <a:highlight>
                  <a:srgbClr val="FFFFFF"/>
                </a:highlight>
                <a:latin typeface="Cascadia Mono" panose="020B0609020000020004" pitchFamily="49" charset="0"/>
              </a:rPr>
              <a:t>    { lbl_1.Text = </a:t>
            </a:r>
            <a:r>
              <a:rPr lang="tr-TR" sz="1800" dirty="0">
                <a:solidFill>
                  <a:srgbClr val="A31515"/>
                </a:solidFill>
                <a:highlight>
                  <a:srgbClr val="FFFFFF"/>
                </a:highlight>
                <a:latin typeface="Cascadia Mono" panose="020B0609020000020004" pitchFamily="49" charset="0"/>
              </a:rPr>
              <a:t>"Kayıt bulunamadı."</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a:t>
            </a:r>
            <a:endParaRPr lang="tr-TR" sz="1800" dirty="0"/>
          </a:p>
        </p:txBody>
      </p:sp>
    </p:spTree>
    <p:extLst>
      <p:ext uri="{BB962C8B-B14F-4D97-AF65-F5344CB8AC3E}">
        <p14:creationId xmlns:p14="http://schemas.microsoft.com/office/powerpoint/2010/main" val="1405509710"/>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B9451-0DFC-3A0E-A27D-BF90E8F35AD4}"/>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B77C44D0-EFCD-2AA9-5014-C2F74EA3642B}"/>
              </a:ext>
            </a:extLst>
          </p:cNvPr>
          <p:cNvSpPr>
            <a:spLocks noGrp="1"/>
          </p:cNvSpPr>
          <p:nvPr>
            <p:ph type="title"/>
          </p:nvPr>
        </p:nvSpPr>
        <p:spPr>
          <a:xfrm>
            <a:off x="838200" y="248495"/>
            <a:ext cx="10515600" cy="432542"/>
          </a:xfrm>
        </p:spPr>
        <p:txBody>
          <a:bodyPr>
            <a:noAutofit/>
          </a:bodyPr>
          <a:lstStyle/>
          <a:p>
            <a:pPr algn="ctr"/>
            <a:r>
              <a:rPr lang="tr-TR" sz="2800" dirty="0"/>
              <a:t>EK İŞLEMLER-LINQ Sorguları</a:t>
            </a:r>
          </a:p>
        </p:txBody>
      </p:sp>
      <p:pic>
        <p:nvPicPr>
          <p:cNvPr id="5" name="İçerik Yer Tutucusu 4" descr="metin, ekran görüntüsü, yazılım içeren bir resim&#10;&#10;Yapay zeka tarafından oluşturulan içerik yanlış olabilir.">
            <a:extLst>
              <a:ext uri="{FF2B5EF4-FFF2-40B4-BE49-F238E27FC236}">
                <a16:creationId xmlns:a16="http://schemas.microsoft.com/office/drawing/2014/main" id="{708B5C89-6097-5C2F-4719-63012673FF0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90364" y="735154"/>
            <a:ext cx="6411271" cy="6122846"/>
          </a:xfrm>
        </p:spPr>
      </p:pic>
    </p:spTree>
    <p:extLst>
      <p:ext uri="{BB962C8B-B14F-4D97-AF65-F5344CB8AC3E}">
        <p14:creationId xmlns:p14="http://schemas.microsoft.com/office/powerpoint/2010/main" val="624447915"/>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0DEFF4-BC39-7F1F-3FCF-A29313533A8F}"/>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352A3809-1F5D-3156-0FF4-66BBAFD3226B}"/>
              </a:ext>
            </a:extLst>
          </p:cNvPr>
          <p:cNvSpPr>
            <a:spLocks noGrp="1"/>
          </p:cNvSpPr>
          <p:nvPr>
            <p:ph type="title"/>
          </p:nvPr>
        </p:nvSpPr>
        <p:spPr>
          <a:xfrm>
            <a:off x="838200" y="248495"/>
            <a:ext cx="10515600" cy="432542"/>
          </a:xfrm>
        </p:spPr>
        <p:txBody>
          <a:bodyPr>
            <a:noAutofit/>
          </a:bodyPr>
          <a:lstStyle/>
          <a:p>
            <a:pPr algn="ctr"/>
            <a:r>
              <a:rPr lang="tr-TR" sz="2800" dirty="0"/>
              <a:t>EK İŞLEMLER-LINQ Sorguları</a:t>
            </a:r>
          </a:p>
        </p:txBody>
      </p:sp>
      <p:sp>
        <p:nvSpPr>
          <p:cNvPr id="3" name="İçerik Yer Tutucusu 2">
            <a:extLst>
              <a:ext uri="{FF2B5EF4-FFF2-40B4-BE49-F238E27FC236}">
                <a16:creationId xmlns:a16="http://schemas.microsoft.com/office/drawing/2014/main" id="{A2108AB5-69D2-2684-791F-8A23384784FB}"/>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Bu işlemi yapmadan önce bir kullanıcıya bir ürün daha aldıralım ki kodumuz sağlıklı bir sonuç versin. Çünkü şu ana kadar 3 müşteri 1 ürün almıştı.</a:t>
            </a:r>
          </a:p>
          <a:p>
            <a:pPr marL="0" indent="0" algn="just">
              <a:lnSpc>
                <a:spcPct val="100000"/>
              </a:lnSpc>
              <a:spcBef>
                <a:spcPts val="600"/>
              </a:spcBef>
              <a:spcAft>
                <a:spcPts val="600"/>
              </a:spcAft>
              <a:buNone/>
            </a:pPr>
            <a:r>
              <a:rPr lang="tr-TR" sz="1800" dirty="0"/>
              <a:t>Furkan müşterisine bir ürün daha aldırıyoruz.</a:t>
            </a:r>
          </a:p>
        </p:txBody>
      </p:sp>
      <p:pic>
        <p:nvPicPr>
          <p:cNvPr id="7" name="Resim 6" descr="metin, ekran görüntüsü, yazılım, bilgisayar simgesi içeren bir resim&#10;&#10;Yapay zeka tarafından oluşturulan içerik yanlış olabilir.">
            <a:extLst>
              <a:ext uri="{FF2B5EF4-FFF2-40B4-BE49-F238E27FC236}">
                <a16:creationId xmlns:a16="http://schemas.microsoft.com/office/drawing/2014/main" id="{B7BBC101-14BE-8F32-D916-36076D5398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60038" y="1977158"/>
            <a:ext cx="7871923" cy="4688342"/>
          </a:xfrm>
          <a:prstGeom prst="rect">
            <a:avLst/>
          </a:prstGeom>
        </p:spPr>
      </p:pic>
    </p:spTree>
    <p:extLst>
      <p:ext uri="{BB962C8B-B14F-4D97-AF65-F5344CB8AC3E}">
        <p14:creationId xmlns:p14="http://schemas.microsoft.com/office/powerpoint/2010/main" val="1107432965"/>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A2BF4-7D2A-359D-CE65-22E638E8513D}"/>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0FEBA45F-56B1-2A2F-0FF7-3E896C17C4A2}"/>
              </a:ext>
            </a:extLst>
          </p:cNvPr>
          <p:cNvSpPr>
            <a:spLocks noGrp="1"/>
          </p:cNvSpPr>
          <p:nvPr>
            <p:ph type="title"/>
          </p:nvPr>
        </p:nvSpPr>
        <p:spPr>
          <a:xfrm>
            <a:off x="838200" y="248495"/>
            <a:ext cx="10515600" cy="432542"/>
          </a:xfrm>
        </p:spPr>
        <p:txBody>
          <a:bodyPr>
            <a:noAutofit/>
          </a:bodyPr>
          <a:lstStyle/>
          <a:p>
            <a:pPr algn="ctr"/>
            <a:r>
              <a:rPr lang="tr-TR" sz="2800" dirty="0"/>
              <a:t>EK İŞLEMLER-LINQ Sorguları</a:t>
            </a:r>
          </a:p>
        </p:txBody>
      </p:sp>
      <p:sp>
        <p:nvSpPr>
          <p:cNvPr id="3" name="İçerik Yer Tutucusu 2">
            <a:extLst>
              <a:ext uri="{FF2B5EF4-FFF2-40B4-BE49-F238E27FC236}">
                <a16:creationId xmlns:a16="http://schemas.microsoft.com/office/drawing/2014/main" id="{CB952855-8A25-9EAC-F268-927F61CA8E53}"/>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Şimdi kodumuzu çalıştırıp ikinci forma geçiş yapıp ilk </a:t>
            </a:r>
            <a:r>
              <a:rPr lang="tr-TR" sz="1800" dirty="0" err="1"/>
              <a:t>radiobutton’a</a:t>
            </a:r>
            <a:r>
              <a:rPr lang="tr-TR" sz="1800" dirty="0"/>
              <a:t> tıklıyoruz:</a:t>
            </a:r>
          </a:p>
        </p:txBody>
      </p:sp>
      <p:pic>
        <p:nvPicPr>
          <p:cNvPr id="7" name="Resim 6" descr="ekran görüntüsü, metin, yazılım, bilgisayar simgesi içeren bir resim&#10;&#10;Yapay zeka tarafından oluşturulan içerik yanlış olabilir.">
            <a:extLst>
              <a:ext uri="{FF2B5EF4-FFF2-40B4-BE49-F238E27FC236}">
                <a16:creationId xmlns:a16="http://schemas.microsoft.com/office/drawing/2014/main" id="{6A50B9BF-DC5B-58B2-E62C-A19D2A7961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79038" y="1467333"/>
            <a:ext cx="8633923" cy="5142172"/>
          </a:xfrm>
          <a:prstGeom prst="rect">
            <a:avLst/>
          </a:prstGeom>
        </p:spPr>
      </p:pic>
    </p:spTree>
    <p:extLst>
      <p:ext uri="{BB962C8B-B14F-4D97-AF65-F5344CB8AC3E}">
        <p14:creationId xmlns:p14="http://schemas.microsoft.com/office/powerpoint/2010/main" val="3529886108"/>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8DDC3-DF3C-1D57-DCE2-2FF29D4AC7EC}"/>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4B242E01-D33C-3DA0-B781-584E542BA3E6}"/>
              </a:ext>
            </a:extLst>
          </p:cNvPr>
          <p:cNvSpPr>
            <a:spLocks noGrp="1"/>
          </p:cNvSpPr>
          <p:nvPr>
            <p:ph type="title"/>
          </p:nvPr>
        </p:nvSpPr>
        <p:spPr>
          <a:xfrm>
            <a:off x="838200" y="248495"/>
            <a:ext cx="10515600" cy="432542"/>
          </a:xfrm>
        </p:spPr>
        <p:txBody>
          <a:bodyPr>
            <a:noAutofit/>
          </a:bodyPr>
          <a:lstStyle/>
          <a:p>
            <a:pPr algn="ctr"/>
            <a:r>
              <a:rPr lang="tr-TR" sz="2800" dirty="0"/>
              <a:t>EK İŞLEMLER-LINQ Sorguları</a:t>
            </a:r>
          </a:p>
        </p:txBody>
      </p:sp>
      <p:sp>
        <p:nvSpPr>
          <p:cNvPr id="3" name="İçerik Yer Tutucusu 2">
            <a:extLst>
              <a:ext uri="{FF2B5EF4-FFF2-40B4-BE49-F238E27FC236}">
                <a16:creationId xmlns:a16="http://schemas.microsoft.com/office/drawing/2014/main" id="{C92937E1-3D3D-8584-ABC8-80362E04392A}"/>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Görüldüğü gibi kodumuz başarılı bir şekilde çalıştı ve doğru sonucu verdi:</a:t>
            </a:r>
          </a:p>
        </p:txBody>
      </p:sp>
      <p:pic>
        <p:nvPicPr>
          <p:cNvPr id="5" name="Resim 4" descr="metin, ekran görüntüsü, yazılım, ekran, görüntüleme içeren bir resim&#10;&#10;Yapay zeka tarafından oluşturulan içerik yanlış olabilir.">
            <a:extLst>
              <a:ext uri="{FF2B5EF4-FFF2-40B4-BE49-F238E27FC236}">
                <a16:creationId xmlns:a16="http://schemas.microsoft.com/office/drawing/2014/main" id="{6D92424A-E739-C4E6-C416-B365B06FD9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0445" y="1444373"/>
            <a:ext cx="8931110" cy="5287167"/>
          </a:xfrm>
          <a:prstGeom prst="rect">
            <a:avLst/>
          </a:prstGeom>
        </p:spPr>
      </p:pic>
    </p:spTree>
    <p:extLst>
      <p:ext uri="{BB962C8B-B14F-4D97-AF65-F5344CB8AC3E}">
        <p14:creationId xmlns:p14="http://schemas.microsoft.com/office/powerpoint/2010/main" val="319366082"/>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278D92-18BB-61C9-6C26-861ADD58CA93}"/>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9BAEB3DE-44EC-9FE6-3D27-E8A5B264E4C4}"/>
              </a:ext>
            </a:extLst>
          </p:cNvPr>
          <p:cNvSpPr>
            <a:spLocks noGrp="1"/>
          </p:cNvSpPr>
          <p:nvPr>
            <p:ph type="title"/>
          </p:nvPr>
        </p:nvSpPr>
        <p:spPr>
          <a:xfrm>
            <a:off x="838200" y="248495"/>
            <a:ext cx="10515600" cy="432542"/>
          </a:xfrm>
        </p:spPr>
        <p:txBody>
          <a:bodyPr>
            <a:noAutofit/>
          </a:bodyPr>
          <a:lstStyle/>
          <a:p>
            <a:pPr algn="ctr"/>
            <a:r>
              <a:rPr lang="tr-TR" sz="2800" dirty="0"/>
              <a:t>EK İŞLEMLER-LINQ Sorguları</a:t>
            </a:r>
          </a:p>
        </p:txBody>
      </p:sp>
      <p:sp>
        <p:nvSpPr>
          <p:cNvPr id="3" name="İçerik Yer Tutucusu 2">
            <a:extLst>
              <a:ext uri="{FF2B5EF4-FFF2-40B4-BE49-F238E27FC236}">
                <a16:creationId xmlns:a16="http://schemas.microsoft.com/office/drawing/2014/main" id="{C3FB933C-B7C2-6B0C-F04B-C18E90A53742}"/>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Şimdi sıra geldi aynı şekilde ikinci </a:t>
            </a:r>
            <a:r>
              <a:rPr lang="tr-TR" sz="1800" dirty="0" err="1"/>
              <a:t>radiobutton’un</a:t>
            </a:r>
            <a:r>
              <a:rPr lang="tr-TR" sz="1800" dirty="0"/>
              <a:t> </a:t>
            </a:r>
            <a:r>
              <a:rPr lang="tr-TR" sz="1800" dirty="0" err="1"/>
              <a:t>CheckedChanged</a:t>
            </a:r>
            <a:r>
              <a:rPr lang="tr-TR" sz="1800" dirty="0"/>
              <a:t> olayına kod yazmaya. Aşağıdaki gibi try-catch blokları açıp sonra da diğer sayfadaki kodları </a:t>
            </a:r>
            <a:r>
              <a:rPr lang="tr-TR" sz="1800" dirty="0" err="1"/>
              <a:t>try</a:t>
            </a:r>
            <a:r>
              <a:rPr lang="tr-TR" sz="1800" dirty="0"/>
              <a:t> blokunun içine yazacağız:</a:t>
            </a:r>
          </a:p>
          <a:p>
            <a:pPr marL="0" indent="0">
              <a:buNone/>
            </a:pPr>
            <a:r>
              <a:rPr lang="en-US" sz="1800" dirty="0">
                <a:solidFill>
                  <a:srgbClr val="0000FF"/>
                </a:solidFill>
                <a:highlight>
                  <a:srgbClr val="FFFFFF"/>
                </a:highlight>
                <a:latin typeface="Cascadia Mono" panose="020B0609020000020004" pitchFamily="49" charset="0"/>
              </a:rPr>
              <a:t>private</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void</a:t>
            </a:r>
            <a:r>
              <a:rPr lang="en-US" sz="1800" dirty="0">
                <a:solidFill>
                  <a:srgbClr val="000000"/>
                </a:solidFill>
                <a:highlight>
                  <a:srgbClr val="FFFFFF"/>
                </a:highlight>
                <a:latin typeface="Cascadia Mono" panose="020B0609020000020004" pitchFamily="49" charset="0"/>
              </a:rPr>
              <a:t> rd_2_CheckedChanged(</a:t>
            </a:r>
            <a:r>
              <a:rPr lang="en-US" sz="1800" dirty="0">
                <a:solidFill>
                  <a:srgbClr val="0000FF"/>
                </a:solidFill>
                <a:highlight>
                  <a:srgbClr val="FFFFFF"/>
                </a:highlight>
                <a:latin typeface="Cascadia Mono" panose="020B0609020000020004" pitchFamily="49" charset="0"/>
              </a:rPr>
              <a:t>object</a:t>
            </a:r>
            <a:r>
              <a:rPr lang="en-US" sz="1800" dirty="0">
                <a:solidFill>
                  <a:srgbClr val="000000"/>
                </a:solidFill>
                <a:highlight>
                  <a:srgbClr val="FFFFFF"/>
                </a:highlight>
                <a:latin typeface="Cascadia Mono" panose="020B0609020000020004" pitchFamily="49" charset="0"/>
              </a:rPr>
              <a:t> sender, </a:t>
            </a:r>
            <a:r>
              <a:rPr lang="en-US" sz="1800" dirty="0" err="1">
                <a:solidFill>
                  <a:srgbClr val="2B91AF"/>
                </a:solidFill>
                <a:highlight>
                  <a:srgbClr val="FFFFFF"/>
                </a:highlight>
                <a:latin typeface="Cascadia Mono" panose="020B0609020000020004" pitchFamily="49" charset="0"/>
              </a:rPr>
              <a:t>EventArgs</a:t>
            </a:r>
            <a:r>
              <a:rPr lang="en-US" sz="1800" dirty="0">
                <a:solidFill>
                  <a:srgbClr val="000000"/>
                </a:solidFill>
                <a:highlight>
                  <a:srgbClr val="FFFFFF"/>
                </a:highlight>
                <a:latin typeface="Cascadia Mono" panose="020B0609020000020004" pitchFamily="49" charset="0"/>
              </a:rPr>
              <a:t> e)</a:t>
            </a:r>
          </a:p>
          <a:p>
            <a:pPr marL="0" indent="0">
              <a:buNone/>
            </a:pP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0000FF"/>
                </a:solidFill>
                <a:highlight>
                  <a:srgbClr val="FFFFFF"/>
                </a:highlight>
                <a:latin typeface="Cascadia Mono" panose="020B0609020000020004" pitchFamily="49" charset="0"/>
              </a:rPr>
              <a:t>try</a:t>
            </a:r>
            <a:endParaRPr lang="tr-TR" sz="1800" dirty="0">
              <a:solidFill>
                <a:srgbClr val="0000FF"/>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    {</a:t>
            </a:r>
          </a:p>
          <a:p>
            <a:pPr marL="0" indent="0">
              <a:buNone/>
            </a:pPr>
            <a:endParaRPr lang="tr-TR" sz="1800" dirty="0">
              <a:solidFill>
                <a:srgbClr val="000000"/>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    }</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0000FF"/>
                </a:solidFill>
                <a:highlight>
                  <a:srgbClr val="FFFFFF"/>
                </a:highlight>
                <a:latin typeface="Cascadia Mono" panose="020B0609020000020004" pitchFamily="49" charset="0"/>
              </a:rPr>
              <a:t>catch</a:t>
            </a: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Exception</a:t>
            </a: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ex</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p>
          <a:p>
            <a:pPr marL="0" indent="0">
              <a:buNone/>
            </a:pPr>
            <a:endParaRPr lang="tr-TR" sz="1800" dirty="0">
              <a:solidFill>
                <a:srgbClr val="000000"/>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2B91AF"/>
                </a:solidFill>
                <a:highlight>
                  <a:srgbClr val="FFFFFF"/>
                </a:highlight>
                <a:latin typeface="Cascadia Mono" panose="020B0609020000020004" pitchFamily="49" charset="0"/>
              </a:rPr>
              <a:t>MessageBox</a:t>
            </a:r>
            <a:r>
              <a:rPr lang="tr-TR" sz="1800" dirty="0" err="1">
                <a:solidFill>
                  <a:srgbClr val="000000"/>
                </a:solidFill>
                <a:highlight>
                  <a:srgbClr val="FFFFFF"/>
                </a:highlight>
                <a:latin typeface="Cascadia Mono" panose="020B0609020000020004" pitchFamily="49" charset="0"/>
              </a:rPr>
              <a:t>.Show</a:t>
            </a:r>
            <a:r>
              <a:rPr lang="tr-TR" sz="1800" dirty="0">
                <a:solidFill>
                  <a:srgbClr val="000000"/>
                </a:solidFill>
                <a:highlight>
                  <a:srgbClr val="FFFFFF"/>
                </a:highlight>
                <a:latin typeface="Cascadia Mono" panose="020B0609020000020004" pitchFamily="49" charset="0"/>
              </a:rPr>
              <a:t>(</a:t>
            </a:r>
            <a:r>
              <a:rPr lang="tr-TR" sz="1800" dirty="0">
                <a:solidFill>
                  <a:srgbClr val="A31515"/>
                </a:solidFill>
                <a:highlight>
                  <a:srgbClr val="FFFFFF"/>
                </a:highlight>
                <a:latin typeface="Cascadia Mono" panose="020B0609020000020004" pitchFamily="49" charset="0"/>
              </a:rPr>
              <a:t>$"Hata = </a:t>
            </a:r>
            <a:r>
              <a:rPr lang="tr-TR" sz="1800" dirty="0">
                <a:solidFill>
                  <a:srgbClr val="000000"/>
                </a:solidFill>
                <a:highlight>
                  <a:srgbClr val="FFFFFF"/>
                </a:highlight>
                <a:latin typeface="Cascadia Mono" panose="020B0609020000020004" pitchFamily="49" charset="0"/>
              </a:rPr>
              <a:t>{</a:t>
            </a:r>
            <a:r>
              <a:rPr lang="tr-TR" sz="1800" dirty="0" err="1">
                <a:solidFill>
                  <a:srgbClr val="000000"/>
                </a:solidFill>
                <a:highlight>
                  <a:srgbClr val="FFFFFF"/>
                </a:highlight>
                <a:latin typeface="Cascadia Mono" panose="020B0609020000020004" pitchFamily="49" charset="0"/>
              </a:rPr>
              <a:t>ex.Message</a:t>
            </a:r>
            <a:r>
              <a:rPr lang="tr-TR" sz="1800" dirty="0">
                <a:solidFill>
                  <a:srgbClr val="000000"/>
                </a:solidFill>
                <a:highlight>
                  <a:srgbClr val="FFFFFF"/>
                </a:highlight>
                <a:latin typeface="Cascadia Mono" panose="020B0609020000020004" pitchFamily="49" charset="0"/>
              </a:rPr>
              <a:t>}</a:t>
            </a:r>
            <a:r>
              <a:rPr lang="tr-TR" sz="1800" dirty="0">
                <a:solidFill>
                  <a:srgbClr val="A31515"/>
                </a:solidFill>
                <a:highlight>
                  <a:srgbClr val="FFFFFF"/>
                </a:highlight>
                <a:latin typeface="Cascadia Mono" panose="020B0609020000020004" pitchFamily="49" charset="0"/>
              </a:rPr>
              <a:t>"</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p>
          <a:p>
            <a:pPr marL="0" indent="0">
              <a:buNone/>
            </a:pPr>
            <a:r>
              <a:rPr lang="tr-TR" sz="1800" dirty="0">
                <a:solidFill>
                  <a:srgbClr val="000000"/>
                </a:solidFill>
                <a:highlight>
                  <a:srgbClr val="FFFFFF"/>
                </a:highlight>
                <a:latin typeface="Cascadia Mono" panose="020B0609020000020004" pitchFamily="49" charset="0"/>
              </a:rPr>
              <a:t>}</a:t>
            </a:r>
            <a:endParaRPr lang="tr-TR" sz="1800" dirty="0"/>
          </a:p>
          <a:p>
            <a:pPr marL="0" indent="0" algn="just">
              <a:lnSpc>
                <a:spcPct val="100000"/>
              </a:lnSpc>
              <a:spcBef>
                <a:spcPts val="600"/>
              </a:spcBef>
              <a:spcAft>
                <a:spcPts val="600"/>
              </a:spcAft>
              <a:buNone/>
            </a:pPr>
            <a:endParaRPr lang="tr-TR" sz="1800" dirty="0"/>
          </a:p>
        </p:txBody>
      </p:sp>
    </p:spTree>
    <p:extLst>
      <p:ext uri="{BB962C8B-B14F-4D97-AF65-F5344CB8AC3E}">
        <p14:creationId xmlns:p14="http://schemas.microsoft.com/office/powerpoint/2010/main" val="1659517196"/>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0CB509-1CA6-BFA5-18E5-1EFB77042628}"/>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4CF01445-56A0-7515-5C3B-8AD7F59450EB}"/>
              </a:ext>
            </a:extLst>
          </p:cNvPr>
          <p:cNvSpPr>
            <a:spLocks noGrp="1"/>
          </p:cNvSpPr>
          <p:nvPr>
            <p:ph type="title"/>
          </p:nvPr>
        </p:nvSpPr>
        <p:spPr>
          <a:xfrm>
            <a:off x="838200" y="248495"/>
            <a:ext cx="10515600" cy="432542"/>
          </a:xfrm>
        </p:spPr>
        <p:txBody>
          <a:bodyPr>
            <a:noAutofit/>
          </a:bodyPr>
          <a:lstStyle/>
          <a:p>
            <a:pPr algn="ctr"/>
            <a:r>
              <a:rPr lang="tr-TR" sz="2800" dirty="0"/>
              <a:t>EK İŞLEMLER-LINQ Sorguları</a:t>
            </a:r>
          </a:p>
        </p:txBody>
      </p:sp>
      <p:pic>
        <p:nvPicPr>
          <p:cNvPr id="5" name="İçerik Yer Tutucusu 4" descr="metin, ekran görüntüsü, yazı tipi, yazılım içeren bir resim&#10;&#10;Yapay zeka tarafından oluşturulan içerik yanlış olabilir.">
            <a:extLst>
              <a:ext uri="{FF2B5EF4-FFF2-40B4-BE49-F238E27FC236}">
                <a16:creationId xmlns:a16="http://schemas.microsoft.com/office/drawing/2014/main" id="{3270E5CA-265D-6630-633D-B72F795BBA3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12494" y="1528911"/>
            <a:ext cx="6967012" cy="2890689"/>
          </a:xfrm>
        </p:spPr>
      </p:pic>
    </p:spTree>
    <p:extLst>
      <p:ext uri="{BB962C8B-B14F-4D97-AF65-F5344CB8AC3E}">
        <p14:creationId xmlns:p14="http://schemas.microsoft.com/office/powerpoint/2010/main" val="3218692770"/>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39D73-A584-7429-869E-8183BA7A7C72}"/>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70296C58-EE01-2F88-2BB4-64ED028A2F3F}"/>
              </a:ext>
            </a:extLst>
          </p:cNvPr>
          <p:cNvSpPr>
            <a:spLocks noGrp="1"/>
          </p:cNvSpPr>
          <p:nvPr>
            <p:ph type="title"/>
          </p:nvPr>
        </p:nvSpPr>
        <p:spPr>
          <a:xfrm>
            <a:off x="838200" y="248495"/>
            <a:ext cx="10515600" cy="432542"/>
          </a:xfrm>
        </p:spPr>
        <p:txBody>
          <a:bodyPr>
            <a:noAutofit/>
          </a:bodyPr>
          <a:lstStyle/>
          <a:p>
            <a:pPr algn="ctr"/>
            <a:r>
              <a:rPr lang="tr-TR" sz="2800" dirty="0"/>
              <a:t>EK İŞLEMLER-LINQ Sorguları</a:t>
            </a:r>
          </a:p>
        </p:txBody>
      </p:sp>
      <p:sp>
        <p:nvSpPr>
          <p:cNvPr id="3" name="İçerik Yer Tutucusu 2">
            <a:extLst>
              <a:ext uri="{FF2B5EF4-FFF2-40B4-BE49-F238E27FC236}">
                <a16:creationId xmlns:a16="http://schemas.microsoft.com/office/drawing/2014/main" id="{34C6EA23-CEAE-E5A6-3716-291763FA8D4D}"/>
              </a:ext>
            </a:extLst>
          </p:cNvPr>
          <p:cNvSpPr>
            <a:spLocks noGrp="1"/>
          </p:cNvSpPr>
          <p:nvPr>
            <p:ph idx="1"/>
          </p:nvPr>
        </p:nvSpPr>
        <p:spPr>
          <a:xfrm>
            <a:off x="838200" y="846306"/>
            <a:ext cx="10515600" cy="5885234"/>
          </a:xfrm>
        </p:spPr>
        <p:txBody>
          <a:bodyPr>
            <a:normAutofit fontScale="55000" lnSpcReduction="20000"/>
          </a:bodyPr>
          <a:lstStyle/>
          <a:p>
            <a:pPr marL="0" indent="0">
              <a:buNone/>
            </a:pPr>
            <a:r>
              <a:rPr lang="tr-TR" sz="1800" dirty="0">
                <a:solidFill>
                  <a:srgbClr val="008000"/>
                </a:solidFill>
                <a:highlight>
                  <a:srgbClr val="FFFFFF"/>
                </a:highlight>
                <a:latin typeface="Cascadia Mono" panose="020B0609020000020004" pitchFamily="49" charset="0"/>
              </a:rPr>
              <a:t>// Eğer radioButton2 seçiliyse işlem yap</a:t>
            </a:r>
          </a:p>
          <a:p>
            <a:pPr marL="0" indent="0">
              <a:buNone/>
            </a:pPr>
            <a:r>
              <a:rPr lang="tr-TR" sz="1800" dirty="0">
                <a:solidFill>
                  <a:srgbClr val="0000FF"/>
                </a:solidFill>
                <a:highlight>
                  <a:srgbClr val="FFFFFF"/>
                </a:highlight>
                <a:latin typeface="Cascadia Mono" panose="020B0609020000020004" pitchFamily="49" charset="0"/>
              </a:rPr>
              <a:t>if</a:t>
            </a:r>
            <a:r>
              <a:rPr lang="tr-TR" sz="1800" dirty="0">
                <a:solidFill>
                  <a:srgbClr val="000000"/>
                </a:solidFill>
                <a:highlight>
                  <a:srgbClr val="FFFFFF"/>
                </a:highlight>
                <a:latin typeface="Cascadia Mono" panose="020B0609020000020004" pitchFamily="49" charset="0"/>
              </a:rPr>
              <a:t> (rd_2.Checked)</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a:solidFill>
                  <a:srgbClr val="008000"/>
                </a:solidFill>
                <a:highlight>
                  <a:srgbClr val="FFFFFF"/>
                </a:highlight>
                <a:latin typeface="Cascadia Mono" panose="020B0609020000020004" pitchFamily="49" charset="0"/>
              </a:rPr>
              <a:t>// CustomerProduct tablosunu, ilişkili ürünleri de dahil ederek sorgula</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a:solidFill>
                  <a:srgbClr val="0000FF"/>
                </a:solidFill>
                <a:highlight>
                  <a:srgbClr val="FFFFFF"/>
                </a:highlight>
                <a:latin typeface="Cascadia Mono" panose="020B0609020000020004" pitchFamily="49" charset="0"/>
              </a:rPr>
              <a:t>var</a:t>
            </a: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result</a:t>
            </a:r>
            <a:r>
              <a:rPr lang="tr-TR" sz="1800" dirty="0">
                <a:solidFill>
                  <a:srgbClr val="000000"/>
                </a:solidFill>
                <a:highlight>
                  <a:srgbClr val="FFFFFF"/>
                </a:highlight>
                <a:latin typeface="Cascadia Mono" panose="020B0609020000020004" pitchFamily="49" charset="0"/>
              </a:rPr>
              <a:t> = </a:t>
            </a:r>
            <a:r>
              <a:rPr lang="tr-TR" sz="1800" dirty="0" err="1">
                <a:solidFill>
                  <a:srgbClr val="000000"/>
                </a:solidFill>
                <a:highlight>
                  <a:srgbClr val="FFFFFF"/>
                </a:highlight>
                <a:latin typeface="Cascadia Mono" panose="020B0609020000020004" pitchFamily="49" charset="0"/>
              </a:rPr>
              <a:t>db.CustomerProducts</a:t>
            </a:r>
            <a:endParaRPr lang="tr-TR" sz="1800" dirty="0">
              <a:solidFill>
                <a:srgbClr val="000000"/>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Include</a:t>
            </a:r>
            <a:r>
              <a:rPr lang="tr-TR" sz="1800" dirty="0">
                <a:solidFill>
                  <a:srgbClr val="000000"/>
                </a:solidFill>
                <a:highlight>
                  <a:srgbClr val="FFFFFF"/>
                </a:highlight>
                <a:latin typeface="Cascadia Mono" panose="020B0609020000020004" pitchFamily="49" charset="0"/>
              </a:rPr>
              <a:t>(</a:t>
            </a:r>
            <a:r>
              <a:rPr lang="tr-TR" sz="1800" dirty="0" err="1">
                <a:solidFill>
                  <a:srgbClr val="000000"/>
                </a:solidFill>
                <a:highlight>
                  <a:srgbClr val="FFFFFF"/>
                </a:highlight>
                <a:latin typeface="Cascadia Mono" panose="020B0609020000020004" pitchFamily="49" charset="0"/>
              </a:rPr>
              <a:t>cp</a:t>
            </a:r>
            <a:r>
              <a:rPr lang="tr-TR" sz="1800" dirty="0">
                <a:solidFill>
                  <a:srgbClr val="000000"/>
                </a:solidFill>
                <a:highlight>
                  <a:srgbClr val="FFFFFF"/>
                </a:highlight>
                <a:latin typeface="Cascadia Mono" panose="020B0609020000020004" pitchFamily="49" charset="0"/>
              </a:rPr>
              <a:t> =&gt; </a:t>
            </a:r>
            <a:r>
              <a:rPr lang="tr-TR" sz="1800" dirty="0" err="1">
                <a:solidFill>
                  <a:srgbClr val="000000"/>
                </a:solidFill>
                <a:highlight>
                  <a:srgbClr val="FFFFFF"/>
                </a:highlight>
                <a:latin typeface="Cascadia Mono" panose="020B0609020000020004" pitchFamily="49" charset="0"/>
              </a:rPr>
              <a:t>cp.Product</a:t>
            </a:r>
            <a:r>
              <a:rPr lang="tr-TR" sz="1800" dirty="0">
                <a:solidFill>
                  <a:srgbClr val="000000"/>
                </a:solidFill>
                <a:highlight>
                  <a:srgbClr val="FFFFFF"/>
                </a:highlight>
                <a:latin typeface="Cascadia Mono" panose="020B0609020000020004" pitchFamily="49" charset="0"/>
              </a:rPr>
              <a:t>) </a:t>
            </a:r>
            <a:r>
              <a:rPr lang="tr-TR" sz="1800" dirty="0">
                <a:solidFill>
                  <a:srgbClr val="008000"/>
                </a:solidFill>
                <a:highlight>
                  <a:srgbClr val="FFFFFF"/>
                </a:highlight>
                <a:latin typeface="Cascadia Mono" panose="020B0609020000020004" pitchFamily="49" charset="0"/>
              </a:rPr>
              <a:t>// Ürün fiyat bilgisine erişebilmek için</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GroupBy</a:t>
            </a:r>
            <a:r>
              <a:rPr lang="tr-TR" sz="1800" dirty="0">
                <a:solidFill>
                  <a:srgbClr val="000000"/>
                </a:solidFill>
                <a:highlight>
                  <a:srgbClr val="FFFFFF"/>
                </a:highlight>
                <a:latin typeface="Cascadia Mono" panose="020B0609020000020004" pitchFamily="49" charset="0"/>
              </a:rPr>
              <a:t>(</a:t>
            </a:r>
            <a:r>
              <a:rPr lang="tr-TR" sz="1800" dirty="0" err="1">
                <a:solidFill>
                  <a:srgbClr val="000000"/>
                </a:solidFill>
                <a:highlight>
                  <a:srgbClr val="FFFFFF"/>
                </a:highlight>
                <a:latin typeface="Cascadia Mono" panose="020B0609020000020004" pitchFamily="49" charset="0"/>
              </a:rPr>
              <a:t>cp</a:t>
            </a:r>
            <a:r>
              <a:rPr lang="tr-TR" sz="1800" dirty="0">
                <a:solidFill>
                  <a:srgbClr val="000000"/>
                </a:solidFill>
                <a:highlight>
                  <a:srgbClr val="FFFFFF"/>
                </a:highlight>
                <a:latin typeface="Cascadia Mono" panose="020B0609020000020004" pitchFamily="49" charset="0"/>
              </a:rPr>
              <a:t> =&gt; </a:t>
            </a:r>
            <a:r>
              <a:rPr lang="tr-TR" sz="1800" dirty="0" err="1">
                <a:solidFill>
                  <a:srgbClr val="0000FF"/>
                </a:solidFill>
                <a:highlight>
                  <a:srgbClr val="FFFFFF"/>
                </a:highlight>
                <a:latin typeface="Cascadia Mono" panose="020B0609020000020004" pitchFamily="49" charset="0"/>
              </a:rPr>
              <a:t>new</a:t>
            </a:r>
            <a:endParaRPr lang="tr-TR" sz="1800" dirty="0">
              <a:solidFill>
                <a:srgbClr val="0000FF"/>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        {   </a:t>
            </a:r>
            <a:r>
              <a:rPr lang="tr-TR" sz="1800" dirty="0" err="1">
                <a:solidFill>
                  <a:srgbClr val="000000"/>
                </a:solidFill>
                <a:highlight>
                  <a:srgbClr val="FFFFFF"/>
                </a:highlight>
                <a:latin typeface="Cascadia Mono" panose="020B0609020000020004" pitchFamily="49" charset="0"/>
              </a:rPr>
              <a:t>cp.Customer.Customer_Id</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cp.Customer.Customer_Name</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cp.Customer.Customer_Surname</a:t>
            </a:r>
            <a:endParaRPr lang="tr-TR" sz="1800" dirty="0">
              <a:solidFill>
                <a:srgbClr val="000000"/>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        })</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a:solidFill>
                  <a:srgbClr val="008000"/>
                </a:solidFill>
                <a:highlight>
                  <a:srgbClr val="FFFFFF"/>
                </a:highlight>
                <a:latin typeface="Cascadia Mono" panose="020B0609020000020004" pitchFamily="49" charset="0"/>
              </a:rPr>
              <a:t>// Her grup için müşteri adı, soyadı ve aldığı ürünlerin toplam fiyatını al</a:t>
            </a:r>
          </a:p>
          <a:p>
            <a:pPr marL="0" indent="0">
              <a:buNone/>
            </a:pPr>
            <a:r>
              <a:rPr lang="tr-TR" sz="1800" dirty="0">
                <a:solidFill>
                  <a:srgbClr val="000000"/>
                </a:solidFill>
                <a:highlight>
                  <a:srgbClr val="FFFFFF"/>
                </a:highlight>
                <a:latin typeface="Cascadia Mono" panose="020B0609020000020004" pitchFamily="49" charset="0"/>
              </a:rPr>
              <a:t>        .Select(g =&gt; </a:t>
            </a:r>
            <a:r>
              <a:rPr lang="tr-TR" sz="1800" dirty="0" err="1">
                <a:solidFill>
                  <a:srgbClr val="0000FF"/>
                </a:solidFill>
                <a:highlight>
                  <a:srgbClr val="FFFFFF"/>
                </a:highlight>
                <a:latin typeface="Cascadia Mono" panose="020B0609020000020004" pitchFamily="49" charset="0"/>
              </a:rPr>
              <a:t>new</a:t>
            </a:r>
            <a:endParaRPr lang="tr-TR" sz="1800" dirty="0">
              <a:solidFill>
                <a:srgbClr val="0000FF"/>
              </a:solidFill>
              <a:highlight>
                <a:srgbClr val="FFFFFF"/>
              </a:highlight>
              <a:latin typeface="Cascadia Mono" panose="020B0609020000020004" pitchFamily="49" charset="0"/>
            </a:endParaRPr>
          </a:p>
          <a:p>
            <a:pPr marL="0" indent="0">
              <a:buNone/>
            </a:pPr>
            <a:r>
              <a:rPr lang="tr-TR" sz="1800" dirty="0">
                <a:solidFill>
                  <a:srgbClr val="000000"/>
                </a:solidFill>
                <a:highlight>
                  <a:srgbClr val="FFFFFF"/>
                </a:highlight>
                <a:latin typeface="Cascadia Mono" panose="020B0609020000020004" pitchFamily="49" charset="0"/>
              </a:rPr>
              <a:t>        {</a:t>
            </a:r>
            <a:r>
              <a:rPr lang="en-US" sz="1800" dirty="0">
                <a:solidFill>
                  <a:srgbClr val="000000"/>
                </a:solidFill>
                <a:highlight>
                  <a:srgbClr val="FFFFFF"/>
                </a:highlight>
                <a:latin typeface="Cascadia Mono" panose="020B0609020000020004" pitchFamily="49" charset="0"/>
              </a:rPr>
              <a:t>   </a:t>
            </a:r>
            <a:r>
              <a:rPr lang="en-US" sz="1800" dirty="0" err="1">
                <a:solidFill>
                  <a:srgbClr val="000000"/>
                </a:solidFill>
                <a:highlight>
                  <a:srgbClr val="FFFFFF"/>
                </a:highlight>
                <a:latin typeface="Cascadia Mono" panose="020B0609020000020004" pitchFamily="49" charset="0"/>
              </a:rPr>
              <a:t>FullName</a:t>
            </a:r>
            <a:r>
              <a:rPr lang="en-US" sz="1800" dirty="0">
                <a:solidFill>
                  <a:srgbClr val="000000"/>
                </a:solidFill>
                <a:highlight>
                  <a:srgbClr val="FFFFFF"/>
                </a:highlight>
                <a:latin typeface="Cascadia Mono" panose="020B0609020000020004" pitchFamily="49" charset="0"/>
              </a:rPr>
              <a:t> = </a:t>
            </a:r>
            <a:r>
              <a:rPr lang="en-US" sz="1800" dirty="0" err="1">
                <a:solidFill>
                  <a:srgbClr val="000000"/>
                </a:solidFill>
                <a:highlight>
                  <a:srgbClr val="FFFFFF"/>
                </a:highlight>
                <a:latin typeface="Cascadia Mono" panose="020B0609020000020004" pitchFamily="49" charset="0"/>
              </a:rPr>
              <a:t>g.Key.Customer_Name</a:t>
            </a:r>
            <a:r>
              <a:rPr lang="en-US" sz="1800" dirty="0">
                <a:solidFill>
                  <a:srgbClr val="000000"/>
                </a:solidFill>
                <a:highlight>
                  <a:srgbClr val="FFFFFF"/>
                </a:highlight>
                <a:latin typeface="Cascadia Mono" panose="020B0609020000020004" pitchFamily="49" charset="0"/>
              </a:rPr>
              <a:t> + </a:t>
            </a:r>
            <a:r>
              <a:rPr lang="en-US" sz="1800" dirty="0">
                <a:solidFill>
                  <a:srgbClr val="A31515"/>
                </a:solidFill>
                <a:highlight>
                  <a:srgbClr val="FFFFFF"/>
                </a:highlight>
                <a:latin typeface="Cascadia Mono" panose="020B0609020000020004" pitchFamily="49" charset="0"/>
              </a:rPr>
              <a:t>" "</a:t>
            </a:r>
            <a:r>
              <a:rPr lang="en-US" sz="1800" dirty="0">
                <a:solidFill>
                  <a:srgbClr val="000000"/>
                </a:solidFill>
                <a:highlight>
                  <a:srgbClr val="FFFFFF"/>
                </a:highlight>
                <a:latin typeface="Cascadia Mono" panose="020B0609020000020004" pitchFamily="49" charset="0"/>
              </a:rPr>
              <a:t> + </a:t>
            </a:r>
            <a:r>
              <a:rPr lang="en-US" sz="1800" dirty="0" err="1">
                <a:solidFill>
                  <a:srgbClr val="000000"/>
                </a:solidFill>
                <a:highlight>
                  <a:srgbClr val="FFFFFF"/>
                </a:highlight>
                <a:latin typeface="Cascadia Mono" panose="020B0609020000020004" pitchFamily="49" charset="0"/>
              </a:rPr>
              <a:t>g.Key.Customer_Surname</a:t>
            </a:r>
            <a:r>
              <a:rPr lang="en-US" sz="1800" dirty="0">
                <a:solidFill>
                  <a:srgbClr val="000000"/>
                </a:solidFill>
                <a:highlight>
                  <a:srgbClr val="FFFFFF"/>
                </a:highlight>
                <a:latin typeface="Cascadia Mono" panose="020B0609020000020004" pitchFamily="49" charset="0"/>
              </a:rPr>
              <a:t>,</a:t>
            </a:r>
          </a:p>
          <a:p>
            <a:pPr marL="0" indent="0">
              <a:buNone/>
            </a:pPr>
            <a:r>
              <a:rPr lang="en-US" sz="1800" dirty="0">
                <a:solidFill>
                  <a:srgbClr val="000000"/>
                </a:solidFill>
                <a:highlight>
                  <a:srgbClr val="FFFFFF"/>
                </a:highlight>
                <a:latin typeface="Cascadia Mono" panose="020B0609020000020004" pitchFamily="49" charset="0"/>
              </a:rPr>
              <a:t>            </a:t>
            </a:r>
            <a:r>
              <a:rPr lang="en-US" sz="1800" dirty="0" err="1">
                <a:solidFill>
                  <a:srgbClr val="000000"/>
                </a:solidFill>
                <a:highlight>
                  <a:srgbClr val="FFFFFF"/>
                </a:highlight>
                <a:latin typeface="Cascadia Mono" panose="020B0609020000020004" pitchFamily="49" charset="0"/>
              </a:rPr>
              <a:t>TotalPrice</a:t>
            </a:r>
            <a:r>
              <a:rPr lang="en-US" sz="1800" dirty="0">
                <a:solidFill>
                  <a:srgbClr val="000000"/>
                </a:solidFill>
                <a:highlight>
                  <a:srgbClr val="FFFFFF"/>
                </a:highlight>
                <a:latin typeface="Cascadia Mono" panose="020B0609020000020004" pitchFamily="49" charset="0"/>
              </a:rPr>
              <a:t> = </a:t>
            </a:r>
            <a:r>
              <a:rPr lang="en-US" sz="1800" dirty="0" err="1">
                <a:solidFill>
                  <a:srgbClr val="000000"/>
                </a:solidFill>
                <a:highlight>
                  <a:srgbClr val="FFFFFF"/>
                </a:highlight>
                <a:latin typeface="Cascadia Mono" panose="020B0609020000020004" pitchFamily="49" charset="0"/>
              </a:rPr>
              <a:t>g.Sum</a:t>
            </a:r>
            <a:r>
              <a:rPr lang="en-US" sz="1800" dirty="0">
                <a:solidFill>
                  <a:srgbClr val="000000"/>
                </a:solidFill>
                <a:highlight>
                  <a:srgbClr val="FFFFFF"/>
                </a:highlight>
                <a:latin typeface="Cascadia Mono" panose="020B0609020000020004" pitchFamily="49" charset="0"/>
              </a:rPr>
              <a:t>(cp =&gt; </a:t>
            </a:r>
            <a:r>
              <a:rPr lang="en-US" sz="1800" dirty="0" err="1">
                <a:solidFill>
                  <a:srgbClr val="000000"/>
                </a:solidFill>
                <a:highlight>
                  <a:srgbClr val="FFFFFF"/>
                </a:highlight>
                <a:latin typeface="Cascadia Mono" panose="020B0609020000020004" pitchFamily="49" charset="0"/>
              </a:rPr>
              <a:t>cp.Product.Product_Price</a:t>
            </a:r>
            <a:r>
              <a:rPr lang="en-US"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a:solidFill>
                  <a:srgbClr val="008000"/>
                </a:solidFill>
                <a:highlight>
                  <a:srgbClr val="FFFFFF"/>
                </a:highlight>
                <a:latin typeface="Cascadia Mono" panose="020B0609020000020004" pitchFamily="49" charset="0"/>
              </a:rPr>
              <a:t>// Toplam fiyata göre azalan sırala (en pahalı alışveriş en üstte)</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OrderByDescending</a:t>
            </a:r>
            <a:r>
              <a:rPr lang="tr-TR" sz="1800" dirty="0">
                <a:solidFill>
                  <a:srgbClr val="000000"/>
                </a:solidFill>
                <a:highlight>
                  <a:srgbClr val="FFFFFF"/>
                </a:highlight>
                <a:latin typeface="Cascadia Mono" panose="020B0609020000020004" pitchFamily="49" charset="0"/>
              </a:rPr>
              <a:t>(x =&gt; </a:t>
            </a:r>
            <a:r>
              <a:rPr lang="tr-TR" sz="1800" dirty="0" err="1">
                <a:solidFill>
                  <a:srgbClr val="000000"/>
                </a:solidFill>
                <a:highlight>
                  <a:srgbClr val="FFFFFF"/>
                </a:highlight>
                <a:latin typeface="Cascadia Mono" panose="020B0609020000020004" pitchFamily="49" charset="0"/>
              </a:rPr>
              <a:t>x.TotalPrice</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a:solidFill>
                  <a:srgbClr val="008000"/>
                </a:solidFill>
                <a:highlight>
                  <a:srgbClr val="FFFFFF"/>
                </a:highlight>
                <a:latin typeface="Cascadia Mono" panose="020B0609020000020004" pitchFamily="49" charset="0"/>
              </a:rPr>
              <a:t>// En pahalı alışveriş yapan müşteriyi al</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FirstOrDefault</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a:solidFill>
                  <a:srgbClr val="008000"/>
                </a:solidFill>
                <a:highlight>
                  <a:srgbClr val="FFFFFF"/>
                </a:highlight>
                <a:latin typeface="Cascadia Mono" panose="020B0609020000020004" pitchFamily="49" charset="0"/>
              </a:rPr>
              <a:t>// Eğer sonuç varsa label2'ye yaz</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a:solidFill>
                  <a:srgbClr val="0000FF"/>
                </a:solidFill>
                <a:highlight>
                  <a:srgbClr val="FFFFFF"/>
                </a:highlight>
                <a:latin typeface="Cascadia Mono" panose="020B0609020000020004" pitchFamily="49" charset="0"/>
              </a:rPr>
              <a:t>if</a:t>
            </a:r>
            <a:r>
              <a:rPr lang="tr-TR" sz="1800" dirty="0">
                <a:solidFill>
                  <a:srgbClr val="000000"/>
                </a:solidFill>
                <a:highlight>
                  <a:srgbClr val="FFFFFF"/>
                </a:highlight>
                <a:latin typeface="Cascadia Mono" panose="020B0609020000020004" pitchFamily="49" charset="0"/>
              </a:rPr>
              <a:t> (</a:t>
            </a:r>
            <a:r>
              <a:rPr lang="tr-TR" sz="1800" dirty="0" err="1">
                <a:solidFill>
                  <a:srgbClr val="000000"/>
                </a:solidFill>
                <a:highlight>
                  <a:srgbClr val="FFFFFF"/>
                </a:highlight>
                <a:latin typeface="Cascadia Mono" panose="020B0609020000020004" pitchFamily="49" charset="0"/>
              </a:rPr>
              <a:t>result</a:t>
            </a:r>
            <a:r>
              <a:rPr lang="tr-TR" sz="1800" dirty="0">
                <a:solidFill>
                  <a:srgbClr val="000000"/>
                </a:solidFill>
                <a:highlight>
                  <a:srgbClr val="FFFFFF"/>
                </a:highlight>
                <a:latin typeface="Cascadia Mono" panose="020B0609020000020004" pitchFamily="49" charset="0"/>
              </a:rPr>
              <a:t> != </a:t>
            </a:r>
            <a:r>
              <a:rPr lang="tr-TR" sz="1800" dirty="0" err="1">
                <a:solidFill>
                  <a:srgbClr val="0000FF"/>
                </a:solidFill>
                <a:highlight>
                  <a:srgbClr val="FFFFFF"/>
                </a:highlight>
                <a:latin typeface="Cascadia Mono" panose="020B0609020000020004" pitchFamily="49" charset="0"/>
              </a:rPr>
              <a:t>null</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    {  lbl_2.Text = </a:t>
            </a:r>
            <a:r>
              <a:rPr lang="tr-TR" sz="1800" dirty="0">
                <a:solidFill>
                  <a:srgbClr val="A31515"/>
                </a:solidFill>
                <a:highlight>
                  <a:srgbClr val="FFFFFF"/>
                </a:highlight>
                <a:latin typeface="Cascadia Mono" panose="020B0609020000020004" pitchFamily="49" charset="0"/>
              </a:rPr>
              <a:t>$"</a:t>
            </a:r>
            <a:r>
              <a:rPr lang="tr-TR" sz="1800" dirty="0">
                <a:solidFill>
                  <a:srgbClr val="000000"/>
                </a:solidFill>
                <a:highlight>
                  <a:srgbClr val="FFFFFF"/>
                </a:highlight>
                <a:latin typeface="Cascadia Mono" panose="020B0609020000020004" pitchFamily="49" charset="0"/>
              </a:rPr>
              <a:t>{</a:t>
            </a:r>
            <a:r>
              <a:rPr lang="tr-TR" sz="1800" dirty="0" err="1">
                <a:solidFill>
                  <a:srgbClr val="000000"/>
                </a:solidFill>
                <a:highlight>
                  <a:srgbClr val="FFFFFF"/>
                </a:highlight>
                <a:latin typeface="Cascadia Mono" panose="020B0609020000020004" pitchFamily="49" charset="0"/>
              </a:rPr>
              <a:t>result.FullName</a:t>
            </a:r>
            <a:r>
              <a:rPr lang="tr-TR" sz="1800" dirty="0">
                <a:solidFill>
                  <a:srgbClr val="000000"/>
                </a:solidFill>
                <a:highlight>
                  <a:srgbClr val="FFFFFF"/>
                </a:highlight>
                <a:latin typeface="Cascadia Mono" panose="020B0609020000020004" pitchFamily="49" charset="0"/>
              </a:rPr>
              <a:t>}</a:t>
            </a:r>
            <a:r>
              <a:rPr lang="tr-TR" sz="1800" dirty="0">
                <a:solidFill>
                  <a:srgbClr val="A31515"/>
                </a:solidFill>
                <a:highlight>
                  <a:srgbClr val="FFFFFF"/>
                </a:highlight>
                <a:latin typeface="Cascadia Mono" panose="020B0609020000020004" pitchFamily="49" charset="0"/>
              </a:rPr>
              <a:t> </a:t>
            </a:r>
            <a:r>
              <a:rPr lang="tr-TR" sz="1800" dirty="0">
                <a:solidFill>
                  <a:srgbClr val="000000"/>
                </a:solidFill>
                <a:highlight>
                  <a:srgbClr val="FFFFFF"/>
                </a:highlight>
                <a:latin typeface="Cascadia Mono" panose="020B0609020000020004" pitchFamily="49" charset="0"/>
              </a:rPr>
              <a:t>{</a:t>
            </a:r>
            <a:r>
              <a:rPr lang="tr-TR" sz="1800" dirty="0" err="1">
                <a:solidFill>
                  <a:srgbClr val="000000"/>
                </a:solidFill>
                <a:highlight>
                  <a:srgbClr val="FFFFFF"/>
                </a:highlight>
                <a:latin typeface="Cascadia Mono" panose="020B0609020000020004" pitchFamily="49" charset="0"/>
              </a:rPr>
              <a:t>result.TotalPrice</a:t>
            </a:r>
            <a:r>
              <a:rPr lang="tr-TR" sz="1800" dirty="0">
                <a:solidFill>
                  <a:srgbClr val="000000"/>
                </a:solidFill>
                <a:highlight>
                  <a:srgbClr val="FFFFFF"/>
                </a:highlight>
                <a:latin typeface="Cascadia Mono" panose="020B0609020000020004" pitchFamily="49" charset="0"/>
              </a:rPr>
              <a:t>}</a:t>
            </a:r>
            <a:r>
              <a:rPr lang="tr-TR" sz="1800" dirty="0">
                <a:solidFill>
                  <a:srgbClr val="A31515"/>
                </a:solidFill>
                <a:highlight>
                  <a:srgbClr val="FFFFFF"/>
                </a:highlight>
                <a:latin typeface="Cascadia Mono" panose="020B0609020000020004" pitchFamily="49" charset="0"/>
              </a:rPr>
              <a:t> TL"</a:t>
            </a:r>
            <a:r>
              <a:rPr lang="tr-TR" sz="1800" dirty="0">
                <a:solidFill>
                  <a:srgbClr val="000000"/>
                </a:solidFill>
                <a:highlight>
                  <a:srgbClr val="FFFFFF"/>
                </a:highlight>
                <a:latin typeface="Cascadia Mono" panose="020B0609020000020004" pitchFamily="49" charset="0"/>
              </a:rPr>
              <a:t>; }</a:t>
            </a:r>
          </a:p>
          <a:p>
            <a:pPr marL="0" indent="0">
              <a:buNone/>
            </a:pPr>
            <a:r>
              <a:rPr lang="tr-TR" sz="1800" dirty="0">
                <a:solidFill>
                  <a:srgbClr val="000000"/>
                </a:solidFill>
                <a:highlight>
                  <a:srgbClr val="FFFFFF"/>
                </a:highlight>
                <a:latin typeface="Cascadia Mono" panose="020B0609020000020004" pitchFamily="49" charset="0"/>
              </a:rPr>
              <a:t>    </a:t>
            </a:r>
            <a:r>
              <a:rPr lang="tr-TR" sz="1800" dirty="0">
                <a:solidFill>
                  <a:srgbClr val="0000FF"/>
                </a:solidFill>
                <a:highlight>
                  <a:srgbClr val="FFFFFF"/>
                </a:highlight>
                <a:latin typeface="Cascadia Mono" panose="020B0609020000020004" pitchFamily="49" charset="0"/>
              </a:rPr>
              <a:t>else</a:t>
            </a:r>
          </a:p>
          <a:p>
            <a:pPr marL="0" indent="0">
              <a:buNone/>
            </a:pPr>
            <a:r>
              <a:rPr lang="tr-TR" sz="1800" dirty="0">
                <a:solidFill>
                  <a:srgbClr val="000000"/>
                </a:solidFill>
                <a:highlight>
                  <a:srgbClr val="FFFFFF"/>
                </a:highlight>
                <a:latin typeface="Cascadia Mono" panose="020B0609020000020004" pitchFamily="49" charset="0"/>
              </a:rPr>
              <a:t>    {lbl_2.Text = </a:t>
            </a:r>
            <a:r>
              <a:rPr lang="tr-TR" sz="1800" dirty="0">
                <a:solidFill>
                  <a:srgbClr val="A31515"/>
                </a:solidFill>
                <a:highlight>
                  <a:srgbClr val="FFFFFF"/>
                </a:highlight>
                <a:latin typeface="Cascadia Mono" panose="020B0609020000020004" pitchFamily="49" charset="0"/>
              </a:rPr>
              <a:t>"Kayıt bulunamadı."</a:t>
            </a:r>
            <a:r>
              <a:rPr lang="tr-TR" sz="1800" dirty="0">
                <a:solidFill>
                  <a:srgbClr val="000000"/>
                </a:solidFill>
                <a:highlight>
                  <a:srgbClr val="FFFFFF"/>
                </a:highlight>
                <a:latin typeface="Cascadia Mono" panose="020B0609020000020004" pitchFamily="49" charset="0"/>
              </a:rPr>
              <a:t>;}</a:t>
            </a:r>
          </a:p>
          <a:p>
            <a:pPr marL="0" indent="0">
              <a:buNone/>
            </a:pPr>
            <a:r>
              <a:rPr lang="tr-TR" sz="1800" dirty="0">
                <a:solidFill>
                  <a:srgbClr val="000000"/>
                </a:solidFill>
                <a:highlight>
                  <a:srgbClr val="FFFFFF"/>
                </a:highlight>
                <a:latin typeface="Cascadia Mono" panose="020B0609020000020004" pitchFamily="49" charset="0"/>
              </a:rPr>
              <a:t>}</a:t>
            </a:r>
            <a:endParaRPr lang="tr-TR" sz="1800" dirty="0"/>
          </a:p>
        </p:txBody>
      </p:sp>
    </p:spTree>
    <p:extLst>
      <p:ext uri="{BB962C8B-B14F-4D97-AF65-F5344CB8AC3E}">
        <p14:creationId xmlns:p14="http://schemas.microsoft.com/office/powerpoint/2010/main" val="3824565258"/>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E09A1-2891-988E-1B1A-B63B48562824}"/>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7FA61E2D-E88D-D1CB-3676-9A12BC29CD05}"/>
              </a:ext>
            </a:extLst>
          </p:cNvPr>
          <p:cNvSpPr>
            <a:spLocks noGrp="1"/>
          </p:cNvSpPr>
          <p:nvPr>
            <p:ph type="title"/>
          </p:nvPr>
        </p:nvSpPr>
        <p:spPr>
          <a:xfrm>
            <a:off x="838200" y="248495"/>
            <a:ext cx="10515600" cy="432542"/>
          </a:xfrm>
        </p:spPr>
        <p:txBody>
          <a:bodyPr>
            <a:noAutofit/>
          </a:bodyPr>
          <a:lstStyle/>
          <a:p>
            <a:pPr algn="ctr"/>
            <a:r>
              <a:rPr lang="tr-TR" sz="2800" dirty="0"/>
              <a:t>EK İŞLEMLER-LINQ Sorguları</a:t>
            </a:r>
          </a:p>
        </p:txBody>
      </p:sp>
      <p:pic>
        <p:nvPicPr>
          <p:cNvPr id="5" name="İçerik Yer Tutucusu 4" descr="metin, ekran görüntüsü, yazılım içeren bir resim&#10;&#10;Yapay zeka tarafından oluşturulan içerik yanlış olabilir.">
            <a:extLst>
              <a:ext uri="{FF2B5EF4-FFF2-40B4-BE49-F238E27FC236}">
                <a16:creationId xmlns:a16="http://schemas.microsoft.com/office/drawing/2014/main" id="{BB1D8204-8758-7111-C7E4-056CFBAE714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69087" y="681037"/>
            <a:ext cx="6675698" cy="5806943"/>
          </a:xfrm>
        </p:spPr>
      </p:pic>
    </p:spTree>
    <p:extLst>
      <p:ext uri="{BB962C8B-B14F-4D97-AF65-F5344CB8AC3E}">
        <p14:creationId xmlns:p14="http://schemas.microsoft.com/office/powerpoint/2010/main" val="3061006226"/>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69F7E-9C4B-9BFF-550B-0F8DAC755DF9}"/>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EA931BDD-AF97-C339-919F-98B7FEA2FD47}"/>
              </a:ext>
            </a:extLst>
          </p:cNvPr>
          <p:cNvSpPr>
            <a:spLocks noGrp="1"/>
          </p:cNvSpPr>
          <p:nvPr>
            <p:ph type="title"/>
          </p:nvPr>
        </p:nvSpPr>
        <p:spPr>
          <a:xfrm>
            <a:off x="838200" y="248495"/>
            <a:ext cx="10515600" cy="432542"/>
          </a:xfrm>
        </p:spPr>
        <p:txBody>
          <a:bodyPr>
            <a:noAutofit/>
          </a:bodyPr>
          <a:lstStyle/>
          <a:p>
            <a:pPr algn="ctr"/>
            <a:r>
              <a:rPr lang="tr-TR" sz="2800" dirty="0"/>
              <a:t>EK İŞLEMLER-LINQ Sorguları</a:t>
            </a:r>
          </a:p>
        </p:txBody>
      </p:sp>
      <p:sp>
        <p:nvSpPr>
          <p:cNvPr id="3" name="İçerik Yer Tutucusu 2">
            <a:extLst>
              <a:ext uri="{FF2B5EF4-FFF2-40B4-BE49-F238E27FC236}">
                <a16:creationId xmlns:a16="http://schemas.microsoft.com/office/drawing/2014/main" id="{6F9F9822-E9BA-EF1B-40BA-6370A26D0119}"/>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Şimdi programımızı çalıştırıp ikinci forma geçiş yapıyoruz ve ikinci </a:t>
            </a:r>
            <a:r>
              <a:rPr lang="tr-TR" sz="1800" dirty="0" err="1"/>
              <a:t>radiobutton’a</a:t>
            </a:r>
            <a:r>
              <a:rPr lang="tr-TR" sz="1800" dirty="0"/>
              <a:t> tıklıyoruz.</a:t>
            </a:r>
          </a:p>
        </p:txBody>
      </p:sp>
      <p:pic>
        <p:nvPicPr>
          <p:cNvPr id="5" name="Resim 4" descr="metin, ekran görüntüsü, yazılım, ekran, görüntüleme içeren bir resim&#10;&#10;Yapay zeka tarafından oluşturulan içerik yanlış olabilir.">
            <a:extLst>
              <a:ext uri="{FF2B5EF4-FFF2-40B4-BE49-F238E27FC236}">
                <a16:creationId xmlns:a16="http://schemas.microsoft.com/office/drawing/2014/main" id="{4CCD9C31-4F71-09A8-8B02-CF53ECA2D6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15840" y="1233019"/>
            <a:ext cx="8960319" cy="5498521"/>
          </a:xfrm>
          <a:prstGeom prst="rect">
            <a:avLst/>
          </a:prstGeom>
        </p:spPr>
      </p:pic>
    </p:spTree>
    <p:extLst>
      <p:ext uri="{BB962C8B-B14F-4D97-AF65-F5344CB8AC3E}">
        <p14:creationId xmlns:p14="http://schemas.microsoft.com/office/powerpoint/2010/main" val="1655146580"/>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E8986-4165-AE90-A781-4A78A14DA247}"/>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60D020F7-2F21-5849-12FC-5D6C5650B675}"/>
              </a:ext>
            </a:extLst>
          </p:cNvPr>
          <p:cNvSpPr>
            <a:spLocks noGrp="1"/>
          </p:cNvSpPr>
          <p:nvPr>
            <p:ph type="title"/>
          </p:nvPr>
        </p:nvSpPr>
        <p:spPr>
          <a:xfrm>
            <a:off x="838200" y="248495"/>
            <a:ext cx="10515600" cy="432542"/>
          </a:xfrm>
        </p:spPr>
        <p:txBody>
          <a:bodyPr>
            <a:noAutofit/>
          </a:bodyPr>
          <a:lstStyle/>
          <a:p>
            <a:pPr algn="ctr"/>
            <a:r>
              <a:rPr lang="tr-TR" sz="2800" dirty="0"/>
              <a:t>EK İŞLEMLER-LINQ Sorguları</a:t>
            </a:r>
          </a:p>
        </p:txBody>
      </p:sp>
      <p:sp>
        <p:nvSpPr>
          <p:cNvPr id="3" name="İçerik Yer Tutucusu 2">
            <a:extLst>
              <a:ext uri="{FF2B5EF4-FFF2-40B4-BE49-F238E27FC236}">
                <a16:creationId xmlns:a16="http://schemas.microsoft.com/office/drawing/2014/main" id="{8117EC98-9604-7FB4-50AE-CBCC0228FCB5}"/>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Sonucu ilgili </a:t>
            </a:r>
            <a:r>
              <a:rPr lang="tr-TR" sz="1800" dirty="0" err="1"/>
              <a:t>label</a:t>
            </a:r>
            <a:r>
              <a:rPr lang="tr-TR" sz="1800" dirty="0"/>
              <a:t> bileşenine doğru bir skorla yazdırdığını görebiliyoruz:</a:t>
            </a:r>
          </a:p>
        </p:txBody>
      </p:sp>
      <p:pic>
        <p:nvPicPr>
          <p:cNvPr id="5" name="Resim 4" descr="metin, ekran görüntüsü, yazılım, ekran, görüntüleme içeren bir resim&#10;&#10;Yapay zeka tarafından oluşturulan içerik yanlış olabilir.">
            <a:extLst>
              <a:ext uri="{FF2B5EF4-FFF2-40B4-BE49-F238E27FC236}">
                <a16:creationId xmlns:a16="http://schemas.microsoft.com/office/drawing/2014/main" id="{2848F136-C768-94F5-B0B5-DB8D2E9174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90439" y="1289554"/>
            <a:ext cx="9011122" cy="5441986"/>
          </a:xfrm>
          <a:prstGeom prst="rect">
            <a:avLst/>
          </a:prstGeom>
        </p:spPr>
      </p:pic>
    </p:spTree>
    <p:extLst>
      <p:ext uri="{BB962C8B-B14F-4D97-AF65-F5344CB8AC3E}">
        <p14:creationId xmlns:p14="http://schemas.microsoft.com/office/powerpoint/2010/main" val="3592231806"/>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41A90A-0751-800D-9762-310EAFD14ACC}"/>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B5118249-2C49-94F8-5856-BED867DB3080}"/>
              </a:ext>
            </a:extLst>
          </p:cNvPr>
          <p:cNvSpPr>
            <a:spLocks noGrp="1"/>
          </p:cNvSpPr>
          <p:nvPr>
            <p:ph type="title"/>
          </p:nvPr>
        </p:nvSpPr>
        <p:spPr>
          <a:xfrm>
            <a:off x="838200" y="248495"/>
            <a:ext cx="10515600" cy="432542"/>
          </a:xfrm>
        </p:spPr>
        <p:txBody>
          <a:bodyPr>
            <a:noAutofit/>
          </a:bodyPr>
          <a:lstStyle/>
          <a:p>
            <a:pPr algn="ctr"/>
            <a:r>
              <a:rPr lang="tr-TR" sz="2800" dirty="0"/>
              <a:t>EK İŞLEMLER-UML CLASS DIAGRAMS</a:t>
            </a:r>
          </a:p>
        </p:txBody>
      </p:sp>
      <p:sp>
        <p:nvSpPr>
          <p:cNvPr id="3" name="İçerik Yer Tutucusu 2">
            <a:extLst>
              <a:ext uri="{FF2B5EF4-FFF2-40B4-BE49-F238E27FC236}">
                <a16:creationId xmlns:a16="http://schemas.microsoft.com/office/drawing/2014/main" id="{A8D3D833-7E2A-2C15-C1FF-CFAE04423C48}"/>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r>
              <a:rPr lang="tr-TR" sz="1800" dirty="0"/>
              <a:t>Bu işlemle birlikte LINQ sorgularını da tamamlamış oluyoruz.</a:t>
            </a:r>
          </a:p>
          <a:p>
            <a:pPr marL="0" indent="0" algn="just">
              <a:lnSpc>
                <a:spcPct val="100000"/>
              </a:lnSpc>
              <a:spcBef>
                <a:spcPts val="600"/>
              </a:spcBef>
              <a:spcAft>
                <a:spcPts val="600"/>
              </a:spcAft>
              <a:buNone/>
            </a:pPr>
            <a:r>
              <a:rPr lang="tr-TR" sz="1800" dirty="0"/>
              <a:t>Tüm slaytı ayrıntılı bir şekilde inceleyip, özellikle tablo ve bileşen isimlerine dikkatle yaklaşın. Bu kodları, kendi projenize uyarlayıp </a:t>
            </a:r>
            <a:r>
              <a:rPr lang="tr-TR" sz="1800" dirty="0" err="1"/>
              <a:t>EntityFramework</a:t>
            </a:r>
            <a:r>
              <a:rPr lang="tr-TR" sz="1800" dirty="0"/>
              <a:t> konseptinde kendi otomasyonunuzu oluşturun.</a:t>
            </a:r>
          </a:p>
        </p:txBody>
      </p:sp>
    </p:spTree>
    <p:extLst>
      <p:ext uri="{BB962C8B-B14F-4D97-AF65-F5344CB8AC3E}">
        <p14:creationId xmlns:p14="http://schemas.microsoft.com/office/powerpoint/2010/main" val="1074737577"/>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4644E-8522-F69B-FCD8-D9D2DD28E12E}"/>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A117A1A4-30DA-3E95-8D0E-45D905031B57}"/>
              </a:ext>
            </a:extLst>
          </p:cNvPr>
          <p:cNvSpPr>
            <a:spLocks noGrp="1"/>
          </p:cNvSpPr>
          <p:nvPr>
            <p:ph type="title"/>
          </p:nvPr>
        </p:nvSpPr>
        <p:spPr>
          <a:xfrm>
            <a:off x="838200" y="248495"/>
            <a:ext cx="10515600" cy="432542"/>
          </a:xfrm>
        </p:spPr>
        <p:txBody>
          <a:bodyPr>
            <a:noAutofit/>
          </a:bodyPr>
          <a:lstStyle/>
          <a:p>
            <a:pPr algn="ctr"/>
            <a:endParaRPr lang="tr-TR" sz="2800" dirty="0"/>
          </a:p>
        </p:txBody>
      </p:sp>
      <p:sp>
        <p:nvSpPr>
          <p:cNvPr id="3" name="İçerik Yer Tutucusu 2">
            <a:extLst>
              <a:ext uri="{FF2B5EF4-FFF2-40B4-BE49-F238E27FC236}">
                <a16:creationId xmlns:a16="http://schemas.microsoft.com/office/drawing/2014/main" id="{9820629F-CD13-4E10-71DF-15D4F45541DE}"/>
              </a:ext>
            </a:extLst>
          </p:cNvPr>
          <p:cNvSpPr>
            <a:spLocks noGrp="1"/>
          </p:cNvSpPr>
          <p:nvPr>
            <p:ph idx="1"/>
          </p:nvPr>
        </p:nvSpPr>
        <p:spPr>
          <a:xfrm>
            <a:off x="838200" y="846306"/>
            <a:ext cx="10515600" cy="5885234"/>
          </a:xfrm>
        </p:spPr>
        <p:txBody>
          <a:bodyPr>
            <a:normAutofit/>
          </a:bodyPr>
          <a:lstStyle/>
          <a:p>
            <a:pPr marL="0" indent="0" algn="just">
              <a:lnSpc>
                <a:spcPct val="100000"/>
              </a:lnSpc>
              <a:spcBef>
                <a:spcPts val="600"/>
              </a:spcBef>
              <a:spcAft>
                <a:spcPts val="600"/>
              </a:spcAft>
              <a:buNone/>
            </a:pPr>
            <a:endParaRPr lang="tr-TR" sz="1800" dirty="0"/>
          </a:p>
        </p:txBody>
      </p:sp>
    </p:spTree>
    <p:extLst>
      <p:ext uri="{BB962C8B-B14F-4D97-AF65-F5344CB8AC3E}">
        <p14:creationId xmlns:p14="http://schemas.microsoft.com/office/powerpoint/2010/main" val="2524476118"/>
      </p:ext>
    </p:extLst>
  </p:cSld>
  <p:clrMapOvr>
    <a:masterClrMapping/>
  </p:clrMapOvr>
</p:sld>
</file>

<file path=ppt/theme/theme1.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938</TotalTime>
  <Words>11511</Words>
  <Application>Microsoft Office PowerPoint</Application>
  <PresentationFormat>Geniş ekran</PresentationFormat>
  <Paragraphs>1115</Paragraphs>
  <Slides>196</Slides>
  <Notes>0</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196</vt:i4>
      </vt:variant>
    </vt:vector>
  </HeadingPairs>
  <TitlesOfParts>
    <vt:vector size="201" baseType="lpstr">
      <vt:lpstr>Aptos</vt:lpstr>
      <vt:lpstr>Aptos Display</vt:lpstr>
      <vt:lpstr>Arial</vt:lpstr>
      <vt:lpstr>Cascadia Mono</vt:lpstr>
      <vt:lpstr>Office Teması</vt:lpstr>
      <vt:lpstr>ENTITY FRAMEWORK İLE OTOMASYON PROJESİ</vt:lpstr>
      <vt:lpstr>MSSQL İLE VERİ TABANI VE TABLOLARIN OLUŞTURULMASI</vt:lpstr>
      <vt:lpstr>MSSQL İLE VERİ TABANI VE TABLOLARIN OLUŞTURULMASI</vt:lpstr>
      <vt:lpstr>VISUAL STUDIO İLE WINDOWS FORM PROJESİ OLUŞTURULMASI</vt:lpstr>
      <vt:lpstr>VISUAL STUDIO İLE WINDOWS FORM PROJESİ OLUŞTURULMASI</vt:lpstr>
      <vt:lpstr>VISUAL STUDIO İLE WINDOWS FORM PROJESİ OLUŞTURULMASI</vt:lpstr>
      <vt:lpstr>FORM BİLEŞENLERİNİN OLUŞTURULMASI</vt:lpstr>
      <vt:lpstr>FORM BİLEŞENLERİNİN OLUŞTURULMASI</vt:lpstr>
      <vt:lpstr>FORM BİLEŞENLERİNİN OLUŞTURULMASI</vt:lpstr>
      <vt:lpstr>FORM BİLEŞENLERİNİN OLUŞTURULMASI</vt:lpstr>
      <vt:lpstr>PROJEYE ENTITY FRAMEWORK KURULUMU</vt:lpstr>
      <vt:lpstr>PROJEYE ENTITY FRAMEWORK KURULUMU</vt:lpstr>
      <vt:lpstr>PROJEYE ENTITY FRAMEWORK KURULUMU</vt:lpstr>
      <vt:lpstr>PROJEYE ENTITY FRAMEWORK KURULUMU</vt:lpstr>
      <vt:lpstr>PROJEYE ENTITY FRAMEWORK KURULUMU</vt:lpstr>
      <vt:lpstr>PROJEYE ENTITY FRAMEWORK KURULUMU</vt:lpstr>
      <vt:lpstr>PROJEYE ENTITY FRAMEWORK KURULUMU</vt:lpstr>
      <vt:lpstr>PROJEYE ENTITY FRAMEWORK KURULUMU</vt:lpstr>
      <vt:lpstr>ConnectionString Bilgisini Eklemek</vt:lpstr>
      <vt:lpstr>ConnectionString Bilgisini Eklemek</vt:lpstr>
      <vt:lpstr>ConnectionString Bilgisini Eklemek</vt:lpstr>
      <vt:lpstr>ConnectionString Bilgisini Eklemek</vt:lpstr>
      <vt:lpstr>ConnectionString Bilgisini Eklemek</vt:lpstr>
      <vt:lpstr>Model Sınıfını Eklemek</vt:lpstr>
      <vt:lpstr>Model Sınıfını Eklemek</vt:lpstr>
      <vt:lpstr>Model Sınıfını Eklemek</vt:lpstr>
      <vt:lpstr>Model Sınıfını Eklemek</vt:lpstr>
      <vt:lpstr>Model Sınıfını Eklemek</vt:lpstr>
      <vt:lpstr>Model Sınıfını Eklemek</vt:lpstr>
      <vt:lpstr>Model Sınıfını Eklemek</vt:lpstr>
      <vt:lpstr>Model Sınıfını Eklemek</vt:lpstr>
      <vt:lpstr>Model Sınıfını Eklemek</vt:lpstr>
      <vt:lpstr>Model Sınıfını Eklemek</vt:lpstr>
      <vt:lpstr>Veri Tabanı İşlemleri için Sınıf Tanımlamak</vt:lpstr>
      <vt:lpstr>Veri Tabanı İşlemleri için Sınıf Tanımlamak</vt:lpstr>
      <vt:lpstr>Veri Tabanı İşlemleri için Sınıf Tanımlamak</vt:lpstr>
      <vt:lpstr>Veri Tabanı İşlemleri için Sınıf Tanımlamak</vt:lpstr>
      <vt:lpstr>Veri Tabanı İşlemleri için Sınıf Tanımlamak</vt:lpstr>
      <vt:lpstr>Veri Tabanı İşlemleri için Sınıf Tanımlamak</vt:lpstr>
      <vt:lpstr>Listeleme İşlemi (Select operations)</vt:lpstr>
      <vt:lpstr>Listeleme İşlemi (Select operations)</vt:lpstr>
      <vt:lpstr>Listeleme İşlemi (Select operations)</vt:lpstr>
      <vt:lpstr>Listeleme İşlemi (Select operations)</vt:lpstr>
      <vt:lpstr>DÜZELTMELER</vt:lpstr>
      <vt:lpstr>DÜZELTMELER</vt:lpstr>
      <vt:lpstr>DÜZELTMELER (try-catch)</vt:lpstr>
      <vt:lpstr>DÜZELTMELER (try-catch)</vt:lpstr>
      <vt:lpstr>DÜZELTMELER (SÜTUN İSİMLERİ)</vt:lpstr>
      <vt:lpstr>DÜZELTMELER (SÜTUN İSİMLERİ)</vt:lpstr>
      <vt:lpstr>DÜZELTMELER (SÜTUN İSİMLERİ)</vt:lpstr>
      <vt:lpstr>DÜZELTMELER (SÜTUN İSİMLERİ)</vt:lpstr>
      <vt:lpstr>DÜZELTMELER (SÜTUN İSİMLERİ)</vt:lpstr>
      <vt:lpstr>DÜZELTMELER (SÜTUN GİZLEME)</vt:lpstr>
      <vt:lpstr>DÜZELTMELER (SÜTUN GİZLEME)</vt:lpstr>
      <vt:lpstr>DÜZELTMELER (SÜTUN GİZLEME)</vt:lpstr>
      <vt:lpstr>DÜZELTMELER (SÜTUNLARI GENİŞLETME)</vt:lpstr>
      <vt:lpstr>DÜZELTMELER (SÜTUNLARI GENİŞLETME)</vt:lpstr>
      <vt:lpstr>DÜZELTMELER (SÜTUNLARI GENİŞLETME)</vt:lpstr>
      <vt:lpstr>EKLEME İŞLEMİ (Insert Into-Add Operations)</vt:lpstr>
      <vt:lpstr>EKLEME İŞLEMİ (Insert Into-Add Operations)</vt:lpstr>
      <vt:lpstr>EKLEME İŞLEMİ (Insert Into-Add Operations)</vt:lpstr>
      <vt:lpstr>EKLEME İŞLEMİ (Insert Into-Add Operations)</vt:lpstr>
      <vt:lpstr>EKLEME İŞLEMİ (Insert Into-Add Operations)</vt:lpstr>
      <vt:lpstr>EKLEME İŞLEMİ (Insert Into-Add Operations)</vt:lpstr>
      <vt:lpstr>EKLEME İŞLEMİ (Insert Into-Add Operations)</vt:lpstr>
      <vt:lpstr>EKLEME İŞLEMİ (Insert Into-Add Operations)</vt:lpstr>
      <vt:lpstr>EKLEME İŞLEMİ (Insert Into-Add Operations)</vt:lpstr>
      <vt:lpstr>EKLEME İŞLEMİ (Insert Into-Add Operations)</vt:lpstr>
      <vt:lpstr>EKLEME İŞLEMİ (Insert Into-Add Operations)</vt:lpstr>
      <vt:lpstr>EKLEME İŞLEMİ (Insert Into-Add Operations)</vt:lpstr>
      <vt:lpstr>EKLEME İŞLEMİ (Insert Into-Add Operations)</vt:lpstr>
      <vt:lpstr>GÜNCELLEME İŞLEMİ (Update Operations)</vt:lpstr>
      <vt:lpstr>GÜNCELLEME İŞLEMİ (Update Operations)</vt:lpstr>
      <vt:lpstr>GÜNCELLEME İŞLEMİ (Update Operations)</vt:lpstr>
      <vt:lpstr>GÜNCELLEME İŞLEMİ (Update Operations)</vt:lpstr>
      <vt:lpstr>GÜNCELLEME İŞLEMİ (Update Operations)</vt:lpstr>
      <vt:lpstr>GÜNCELLEME İŞLEMİ (Update Operations)</vt:lpstr>
      <vt:lpstr>GÜNCELLEME İŞLEMİ (Update Operations)</vt:lpstr>
      <vt:lpstr>GÜNCELLEME İŞLEMİ (Update Operations)</vt:lpstr>
      <vt:lpstr>GÜNCELLEME İŞLEMİ (Update Operations)</vt:lpstr>
      <vt:lpstr>GÜNCELLEME İŞLEMİ (Update Operations)</vt:lpstr>
      <vt:lpstr>GÜNCELLEME İŞLEMİ (Update Operations)</vt:lpstr>
      <vt:lpstr>GÜNCELLEME İŞLEMİ (Update Operations)</vt:lpstr>
      <vt:lpstr>GÜNCELLEME İŞLEMİ (Update Operations)</vt:lpstr>
      <vt:lpstr>GÜNCELLEME İŞLEMİ (Update Operations)</vt:lpstr>
      <vt:lpstr>GÜNCELLEME İŞLEMİ (Update Operations)</vt:lpstr>
      <vt:lpstr>GÜNCELLEME İŞLEMİ (Update Operations)</vt:lpstr>
      <vt:lpstr>GÜNCELLEME İŞLEMİ (Update Operations)</vt:lpstr>
      <vt:lpstr>GÜNCELLEME İŞLEMİ (Update Operations)</vt:lpstr>
      <vt:lpstr>GÜNCELLEME İŞLEMİ (Update Operations)</vt:lpstr>
      <vt:lpstr>GÜNCELLEME İŞLEMİ (Update Operations)</vt:lpstr>
      <vt:lpstr>GÜNCELLEME İŞLEMİ (Update Operations)</vt:lpstr>
      <vt:lpstr>SİLME İŞLEMİ (Delete Operations)</vt:lpstr>
      <vt:lpstr>SİLME İŞLEMİ (Delete Operations)</vt:lpstr>
      <vt:lpstr>SİLME İŞLEMİ (Delete Operations)</vt:lpstr>
      <vt:lpstr>SİLME İŞLEMİ (Delete Operations)</vt:lpstr>
      <vt:lpstr>SİLME İŞLEMİ (Delete Operations)</vt:lpstr>
      <vt:lpstr>SİLME İŞLEMİ (Delete Operations)</vt:lpstr>
      <vt:lpstr>SİLME İŞLEMİ (Delete Operations)</vt:lpstr>
      <vt:lpstr>SİLME İŞLEMİ (Delete Operations)</vt:lpstr>
      <vt:lpstr>SİLME İŞLEMİ (Delete Operations)</vt:lpstr>
      <vt:lpstr>SİLME İŞLEMİ (Delete Operations)</vt:lpstr>
      <vt:lpstr>SİLME İŞLEMİ (Delete Operations)</vt:lpstr>
      <vt:lpstr>Müşteri ve Ürünlerin Birlikte Gösterilmesi ve İşlemler</vt:lpstr>
      <vt:lpstr>Müşteri ve Ürünlerin Birlikte Gösterilmesi ve İşlemler</vt:lpstr>
      <vt:lpstr>MSSQL’deki Tüm Tabloların Sınıf Olarak Oluşturulması</vt:lpstr>
      <vt:lpstr>Table_Category için Category Sınıfı</vt:lpstr>
      <vt:lpstr>Table_Category için Category Sınıfı</vt:lpstr>
      <vt:lpstr>Table_Category için Category Sınıfı</vt:lpstr>
      <vt:lpstr>Table_Category için Category Sınıfı</vt:lpstr>
      <vt:lpstr>Table_Product için Product sınıfı</vt:lpstr>
      <vt:lpstr>Table_Product için Product sınıfı</vt:lpstr>
      <vt:lpstr>Table_Product için Product sınıfı</vt:lpstr>
      <vt:lpstr>Table_Product için Product sınıfı</vt:lpstr>
      <vt:lpstr>Table_Product için Product sınıfı</vt:lpstr>
      <vt:lpstr>Table_CustomerProduct Tablosu için CustomerProduct Sınıfı</vt:lpstr>
      <vt:lpstr>Table_CustomerProduct Tablosu için CustomerProduct Sınıfı</vt:lpstr>
      <vt:lpstr>Table_CustomerProduct Tablosu için CustomerProduct Sınıfı</vt:lpstr>
      <vt:lpstr>Table_CustomerProduct Tablosu için CustomerProduct Sınıfı</vt:lpstr>
      <vt:lpstr>Customer Sınıfının Düzeltilmesi</vt:lpstr>
      <vt:lpstr>Customer Sınıfının Düzeltilmesi</vt:lpstr>
      <vt:lpstr>Customer Sınıfının Düzeltilmesi</vt:lpstr>
      <vt:lpstr>Customer Sınıfının Düzeltilmesi</vt:lpstr>
      <vt:lpstr>Customer Sınıfının Düzeltilmesi</vt:lpstr>
      <vt:lpstr>CustomerDbContext Sınıfının Düzenlenmesi</vt:lpstr>
      <vt:lpstr>CustomerDbContext Sınıfının Düzenlenmesi</vt:lpstr>
      <vt:lpstr>CustomerDbContext Sınıfının Düzenlenmesi</vt:lpstr>
      <vt:lpstr>CustomerDbContext Sınıfının Düzenlenmesi</vt:lpstr>
      <vt:lpstr>CustomerProduct Sınıfı için Form Oluşturulması</vt:lpstr>
      <vt:lpstr>CustomerProduct Sınıfı için Form Oluşturulması</vt:lpstr>
      <vt:lpstr>CustomerProduct Sınıfı için Form Oluşturulması</vt:lpstr>
      <vt:lpstr>CustomerProduct Sınıfı için Form Oluşturulması</vt:lpstr>
      <vt:lpstr>CustomerProduct Sınıfı için Form Oluşturulması</vt:lpstr>
      <vt:lpstr>CustomerProduct Sınıfı için Form Oluşturulması</vt:lpstr>
      <vt:lpstr>CustomerProduct Sınıfı için Form Oluşturulması</vt:lpstr>
      <vt:lpstr>CustomerProduct Sınıfı için Form Oluşturulması</vt:lpstr>
      <vt:lpstr>CustomerProduct Sınıfı için Form Oluşturulması</vt:lpstr>
      <vt:lpstr>CustomerProduct Sınıfı için Form Oluşturulması</vt:lpstr>
      <vt:lpstr>CustomerProduct Sınıfı için Form Oluşturulması</vt:lpstr>
      <vt:lpstr>CustomerProduct Sınıfı için Form Oluşturulması</vt:lpstr>
      <vt:lpstr>CustomerProduct Sınıfı için Form Oluşturulması</vt:lpstr>
      <vt:lpstr>CustomerProduct Sınıfı için Form Oluşturulması</vt:lpstr>
      <vt:lpstr>CustomerProduct Sınıfı için Form Oluşturulması</vt:lpstr>
      <vt:lpstr>CustomerProduct Sınıfı için Form Oluşturulması</vt:lpstr>
      <vt:lpstr>CustomerProduct Sınıfı için Form Oluşturulması</vt:lpstr>
      <vt:lpstr>CustomerProduct Sınıfı için Form Oluşturulması</vt:lpstr>
      <vt:lpstr>CustomerProduct Sınıfı için Form Oluşturulması</vt:lpstr>
      <vt:lpstr>CustomerProduct Sınıfı için LİSTELEME İşlemi</vt:lpstr>
      <vt:lpstr>CustomerProduct Sınıfı için LİSTELEME İşlemi</vt:lpstr>
      <vt:lpstr>CustomerProduct Sınıfı için LİSTELEME İşlemi</vt:lpstr>
      <vt:lpstr>CustomerProduct Sınıfı için LİSTELEME İşlemi</vt:lpstr>
      <vt:lpstr>CustomerProduct Sınıfı için LİSTELEME İşlemi</vt:lpstr>
      <vt:lpstr>CustomerProduct Sınıfı için LİSTELEME İşlemi</vt:lpstr>
      <vt:lpstr>CustomerProduct Sınıfı için LİSTELEME İşlemi</vt:lpstr>
      <vt:lpstr>CustomerProduct Sınıfı için LİSTELEME İşlemi</vt:lpstr>
      <vt:lpstr>CustomerProduct Sınıfı için LİSTELEME İşlemi</vt:lpstr>
      <vt:lpstr>CustomerProduct Sınıfı için LİSTELEME İşlemi</vt:lpstr>
      <vt:lpstr>CustomerProduct Sınıfı için LİSTELEME İşlemi</vt:lpstr>
      <vt:lpstr>CustomerProduct Sınıfı için LİSTELEME İşlemi</vt:lpstr>
      <vt:lpstr>CustomerProduct Sınıfı için Form Oluşturulması</vt:lpstr>
      <vt:lpstr>Değerlerin Combobox’a Yüklenmesi</vt:lpstr>
      <vt:lpstr>Değerlerin Combobox’a Yüklenmesi</vt:lpstr>
      <vt:lpstr>Değerlerin Combobox’a Yüklenmesi</vt:lpstr>
      <vt:lpstr>Değerlerin Combobox’a Yüklenmesi</vt:lpstr>
      <vt:lpstr>Değerlerin Combobox’a Yüklenmesi</vt:lpstr>
      <vt:lpstr>EKLEME İŞLEMİ (Add Operation)</vt:lpstr>
      <vt:lpstr>EKLEME İŞLEMİ (Add Operation)</vt:lpstr>
      <vt:lpstr>EKLEME İŞLEMİ (Add Operation)</vt:lpstr>
      <vt:lpstr>EKLEME İŞLEMİ (Add Operation)</vt:lpstr>
      <vt:lpstr>EKLEME İŞLEMİ (Add Operation)</vt:lpstr>
      <vt:lpstr>EKLEME İŞLEMİ (Add Operation)</vt:lpstr>
      <vt:lpstr>EKLEME İŞLEMİ (Add Operation)</vt:lpstr>
      <vt:lpstr>SİLME İŞLEMİ (Delete Operation)</vt:lpstr>
      <vt:lpstr>SİLME İŞLEMİ (Delete Operation)</vt:lpstr>
      <vt:lpstr>SİLME İŞLEMİ (Delete Operation)</vt:lpstr>
      <vt:lpstr>SİLME İŞLEMİ (Delete Operation)</vt:lpstr>
      <vt:lpstr>SİLME İŞLEMİ (Delete Operation)</vt:lpstr>
      <vt:lpstr>SİLME İŞLEMİ (Delete Operation)</vt:lpstr>
      <vt:lpstr>SİLME İŞLEMİ (Delete Operation)</vt:lpstr>
      <vt:lpstr>EK İŞLEMLER-LINQ Sorguları</vt:lpstr>
      <vt:lpstr>EK İŞLEMLER-LINQ Sorguları</vt:lpstr>
      <vt:lpstr>EK İŞLEMLER-LINQ Sorguları</vt:lpstr>
      <vt:lpstr>EK İŞLEMLER-LINQ Sorguları</vt:lpstr>
      <vt:lpstr>EK İŞLEMLER-LINQ Sorguları</vt:lpstr>
      <vt:lpstr>EK İŞLEMLER-LINQ Sorguları</vt:lpstr>
      <vt:lpstr>EK İŞLEMLER-LINQ Sorguları</vt:lpstr>
      <vt:lpstr>EK İŞLEMLER-LINQ Sorguları</vt:lpstr>
      <vt:lpstr>EK İŞLEMLER-LINQ Sorguları</vt:lpstr>
      <vt:lpstr>EK İŞLEMLER-LINQ Sorguları</vt:lpstr>
      <vt:lpstr>EK İŞLEMLER-LINQ Sorguları</vt:lpstr>
      <vt:lpstr>EK İŞLEMLER-LINQ Sorguları</vt:lpstr>
      <vt:lpstr>EK İŞLEMLER-LINQ Sorguları</vt:lpstr>
      <vt:lpstr>EK İŞLEMLER-LINQ Sorguları</vt:lpstr>
      <vt:lpstr>EK İŞLEMLER-LINQ Sorguları</vt:lpstr>
      <vt:lpstr>EK İŞLEMLER-UML CLASS DIAGRAMS</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Furkan ATLAN</dc:creator>
  <cp:lastModifiedBy>Furkan ATLAN</cp:lastModifiedBy>
  <cp:revision>617</cp:revision>
  <dcterms:created xsi:type="dcterms:W3CDTF">2025-05-03T15:38:17Z</dcterms:created>
  <dcterms:modified xsi:type="dcterms:W3CDTF">2025-05-04T19:12:27Z</dcterms:modified>
</cp:coreProperties>
</file>